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Lst>
  <p:notesMasterIdLst>
    <p:notesMasterId r:id="rId32"/>
  </p:notesMasterIdLst>
  <p:handoutMasterIdLst>
    <p:handoutMasterId r:id="rId33"/>
  </p:handoutMasterIdLst>
  <p:sldIdLst>
    <p:sldId id="4743" r:id="rId5"/>
    <p:sldId id="4785" r:id="rId6"/>
    <p:sldId id="295" r:id="rId7"/>
    <p:sldId id="256" r:id="rId8"/>
    <p:sldId id="4789" r:id="rId9"/>
    <p:sldId id="4790" r:id="rId10"/>
    <p:sldId id="269" r:id="rId11"/>
    <p:sldId id="270" r:id="rId12"/>
    <p:sldId id="271" r:id="rId13"/>
    <p:sldId id="272" r:id="rId14"/>
    <p:sldId id="273" r:id="rId15"/>
    <p:sldId id="275" r:id="rId16"/>
    <p:sldId id="276" r:id="rId17"/>
    <p:sldId id="277" r:id="rId18"/>
    <p:sldId id="278" r:id="rId19"/>
    <p:sldId id="279" r:id="rId20"/>
    <p:sldId id="280" r:id="rId21"/>
    <p:sldId id="281" r:id="rId22"/>
    <p:sldId id="282" r:id="rId23"/>
    <p:sldId id="283" r:id="rId24"/>
    <p:sldId id="284" r:id="rId25"/>
    <p:sldId id="287" r:id="rId26"/>
    <p:sldId id="289" r:id="rId27"/>
    <p:sldId id="290" r:id="rId28"/>
    <p:sldId id="291" r:id="rId29"/>
    <p:sldId id="292" r:id="rId30"/>
    <p:sldId id="4788" r:id="rId31"/>
  </p:sldIdLst>
  <p:sldSz cx="12192000" cy="6858000"/>
  <p:notesSz cx="7315200" cy="9601200"/>
  <p:custDataLst>
    <p:tags r:id="rId3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4785"/>
            <p14:sldId id="295"/>
            <p14:sldId id="256"/>
            <p14:sldId id="4789"/>
            <p14:sldId id="4790"/>
            <p14:sldId id="269"/>
            <p14:sldId id="270"/>
            <p14:sldId id="271"/>
            <p14:sldId id="272"/>
            <p14:sldId id="273"/>
            <p14:sldId id="275"/>
            <p14:sldId id="276"/>
            <p14:sldId id="277"/>
            <p14:sldId id="278"/>
            <p14:sldId id="279"/>
            <p14:sldId id="280"/>
            <p14:sldId id="281"/>
            <p14:sldId id="282"/>
            <p14:sldId id="283"/>
            <p14:sldId id="284"/>
            <p14:sldId id="287"/>
            <p14:sldId id="289"/>
            <p14:sldId id="290"/>
            <p14:sldId id="291"/>
            <p14:sldId id="292"/>
            <p14:sldId id="478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D723BD"/>
    <a:srgbClr val="C1C6CC"/>
    <a:srgbClr val="5A84FF"/>
    <a:srgbClr val="BDBDBD"/>
    <a:srgbClr val="5858FF"/>
    <a:srgbClr val="BBCDEC"/>
    <a:srgbClr val="000066"/>
    <a:srgbClr val="FFFFFF"/>
    <a:srgbClr val="95D6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2B06F7-6A5C-42A0-8DBA-9196755BD549}" v="1" dt="2025-07-31T12:33:29.4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4" autoAdjust="0"/>
    <p:restoredTop sz="92009" autoAdjust="0"/>
  </p:normalViewPr>
  <p:slideViewPr>
    <p:cSldViewPr snapToGrid="0">
      <p:cViewPr varScale="1">
        <p:scale>
          <a:sx n="98" d="100"/>
          <a:sy n="98" d="100"/>
        </p:scale>
        <p:origin x="852" y="7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e Lazaryan" userId="edf0a458-438d-4fc2-9f33-24202edc9cc9" providerId="ADAL" clId="{BF2B06F7-6A5C-42A0-8DBA-9196755BD549}"/>
    <pc:docChg chg="modSld">
      <pc:chgData name="Nane Lazaryan" userId="edf0a458-438d-4fc2-9f33-24202edc9cc9" providerId="ADAL" clId="{BF2B06F7-6A5C-42A0-8DBA-9196755BD549}" dt="2025-07-31T12:33:29.483" v="0" actId="1076"/>
      <pc:docMkLst>
        <pc:docMk/>
      </pc:docMkLst>
      <pc:sldChg chg="modSp">
        <pc:chgData name="Nane Lazaryan" userId="edf0a458-438d-4fc2-9f33-24202edc9cc9" providerId="ADAL" clId="{BF2B06F7-6A5C-42A0-8DBA-9196755BD549}" dt="2025-07-31T12:33:29.483" v="0" actId="1076"/>
        <pc:sldMkLst>
          <pc:docMk/>
          <pc:sldMk cId="0" sldId="287"/>
        </pc:sldMkLst>
        <pc:spChg chg="mod">
          <ac:chgData name="Nane Lazaryan" userId="edf0a458-438d-4fc2-9f33-24202edc9cc9" providerId="ADAL" clId="{BF2B06F7-6A5C-42A0-8DBA-9196755BD549}" dt="2025-07-31T12:33:29.483" v="0" actId="1076"/>
          <ac:spMkLst>
            <pc:docMk/>
            <pc:sldMk cId="0" sldId="287"/>
            <ac:spMk id="46087" creationId="{AFEB1FEC-06AB-4DC4-A76E-4F55794A2EB6}"/>
          </ac:spMkLst>
        </pc:spChg>
        <pc:spChg chg="mod">
          <ac:chgData name="Nane Lazaryan" userId="edf0a458-438d-4fc2-9f33-24202edc9cc9" providerId="ADAL" clId="{BF2B06F7-6A5C-42A0-8DBA-9196755BD549}" dt="2025-07-31T12:33:29.483" v="0" actId="1076"/>
          <ac:spMkLst>
            <pc:docMk/>
            <pc:sldMk cId="0" sldId="287"/>
            <ac:spMk id="46089" creationId="{D22F877E-9057-40DB-89E1-AB954DEE5D1C}"/>
          </ac:spMkLst>
        </pc:spChg>
        <pc:spChg chg="mod">
          <ac:chgData name="Nane Lazaryan" userId="edf0a458-438d-4fc2-9f33-24202edc9cc9" providerId="ADAL" clId="{BF2B06F7-6A5C-42A0-8DBA-9196755BD549}" dt="2025-07-31T12:33:29.483" v="0" actId="1076"/>
          <ac:spMkLst>
            <pc:docMk/>
            <pc:sldMk cId="0" sldId="287"/>
            <ac:spMk id="46092" creationId="{617A1C91-A24E-4BFA-A415-46F85F90A45B}"/>
          </ac:spMkLst>
        </pc:spChg>
        <pc:spChg chg="mod">
          <ac:chgData name="Nane Lazaryan" userId="edf0a458-438d-4fc2-9f33-24202edc9cc9" providerId="ADAL" clId="{BF2B06F7-6A5C-42A0-8DBA-9196755BD549}" dt="2025-07-31T12:33:29.483" v="0" actId="1076"/>
          <ac:spMkLst>
            <pc:docMk/>
            <pc:sldMk cId="0" sldId="287"/>
            <ac:spMk id="46096" creationId="{E83B62E1-006F-4931-9625-4F16411BF654}"/>
          </ac:spMkLst>
        </pc:spChg>
        <pc:spChg chg="mod">
          <ac:chgData name="Nane Lazaryan" userId="edf0a458-438d-4fc2-9f33-24202edc9cc9" providerId="ADAL" clId="{BF2B06F7-6A5C-42A0-8DBA-9196755BD549}" dt="2025-07-31T12:33:29.483" v="0" actId="1076"/>
          <ac:spMkLst>
            <pc:docMk/>
            <pc:sldMk cId="0" sldId="287"/>
            <ac:spMk id="46105" creationId="{FC78EB01-8C85-4CB5-9075-13593D6AFD5F}"/>
          </ac:spMkLst>
        </pc:spChg>
        <pc:spChg chg="mod">
          <ac:chgData name="Nane Lazaryan" userId="edf0a458-438d-4fc2-9f33-24202edc9cc9" providerId="ADAL" clId="{BF2B06F7-6A5C-42A0-8DBA-9196755BD549}" dt="2025-07-31T12:33:29.483" v="0" actId="1076"/>
          <ac:spMkLst>
            <pc:docMk/>
            <pc:sldMk cId="0" sldId="287"/>
            <ac:spMk id="46116" creationId="{F0851435-7610-4EE5-900C-24A2E3D1C673}"/>
          </ac:spMkLst>
        </pc:spChg>
        <pc:spChg chg="mod">
          <ac:chgData name="Nane Lazaryan" userId="edf0a458-438d-4fc2-9f33-24202edc9cc9" providerId="ADAL" clId="{BF2B06F7-6A5C-42A0-8DBA-9196755BD549}" dt="2025-07-31T12:33:29.483" v="0" actId="1076"/>
          <ac:spMkLst>
            <pc:docMk/>
            <pc:sldMk cId="0" sldId="287"/>
            <ac:spMk id="46119" creationId="{9B94BAB3-4A9C-4EE6-8184-16D4741C637A}"/>
          </ac:spMkLst>
        </pc:spChg>
        <pc:spChg chg="mod">
          <ac:chgData name="Nane Lazaryan" userId="edf0a458-438d-4fc2-9f33-24202edc9cc9" providerId="ADAL" clId="{BF2B06F7-6A5C-42A0-8DBA-9196755BD549}" dt="2025-07-31T12:33:29.483" v="0" actId="1076"/>
          <ac:spMkLst>
            <pc:docMk/>
            <pc:sldMk cId="0" sldId="287"/>
            <ac:spMk id="46122" creationId="{B5D30487-172E-4C93-B539-E51E6D47C66F}"/>
          </ac:spMkLst>
        </pc:spChg>
        <pc:spChg chg="mod">
          <ac:chgData name="Nane Lazaryan" userId="edf0a458-438d-4fc2-9f33-24202edc9cc9" providerId="ADAL" clId="{BF2B06F7-6A5C-42A0-8DBA-9196755BD549}" dt="2025-07-31T12:33:29.483" v="0" actId="1076"/>
          <ac:spMkLst>
            <pc:docMk/>
            <pc:sldMk cId="0" sldId="287"/>
            <ac:spMk id="46129" creationId="{67908A33-F072-41EE-AA67-ECBBE947592C}"/>
          </ac:spMkLst>
        </pc:spChg>
        <pc:spChg chg="mod">
          <ac:chgData name="Nane Lazaryan" userId="edf0a458-438d-4fc2-9f33-24202edc9cc9" providerId="ADAL" clId="{BF2B06F7-6A5C-42A0-8DBA-9196755BD549}" dt="2025-07-31T12:33:29.483" v="0" actId="1076"/>
          <ac:spMkLst>
            <pc:docMk/>
            <pc:sldMk cId="0" sldId="287"/>
            <ac:spMk id="46133" creationId="{49AED9B3-4744-47F1-A519-2F27FE049A98}"/>
          </ac:spMkLst>
        </pc:spChg>
      </pc:sldChg>
    </pc:docChg>
  </pc:docChgLst>
  <pc:docChgLst>
    <pc:chgData name="Nane Lazaryan" userId="edf0a458-438d-4fc2-9f33-24202edc9cc9" providerId="ADAL" clId="{F1BDDF07-D157-4238-AA76-7646758A2E1A}"/>
    <pc:docChg chg="modMainMaster modNotesMaster">
      <pc:chgData name="Nane Lazaryan" userId="edf0a458-438d-4fc2-9f33-24202edc9cc9" providerId="ADAL" clId="{F1BDDF07-D157-4238-AA76-7646758A2E1A}" dt="2025-05-23T10:19:06.359" v="0"/>
      <pc:docMkLst>
        <pc:docMk/>
      </pc:docMkLst>
      <pc:sldMasterChg chg="modSp">
        <pc:chgData name="Nane Lazaryan" userId="edf0a458-438d-4fc2-9f33-24202edc9cc9" providerId="ADAL" clId="{F1BDDF07-D157-4238-AA76-7646758A2E1A}" dt="2025-05-23T10:19:06.359" v="0"/>
        <pc:sldMasterMkLst>
          <pc:docMk/>
          <pc:sldMasterMk cId="1599936984" sldId="2147483728"/>
        </pc:sldMasterMkLst>
        <pc:spChg chg="mod">
          <ac:chgData name="Nane Lazaryan" userId="edf0a458-438d-4fc2-9f33-24202edc9cc9" providerId="ADAL" clId="{F1BDDF07-D157-4238-AA76-7646758A2E1A}" dt="2025-05-23T10:19:06.359" v="0"/>
          <ac:spMkLst>
            <pc:docMk/>
            <pc:sldMasterMk cId="1599936984" sldId="2147483728"/>
            <ac:spMk id="10" creationId="{0E3FE523-B587-4715-8B86-1BEC0FA2C878}"/>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7/31/2025</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dirty="0">
                <a:solidFill>
                  <a:schemeClr val="tx1"/>
                </a:solidFill>
                <a:effectLst/>
                <a:latin typeface="Arial" pitchFamily="34" charset="0"/>
                <a:ea typeface="+mn-ea"/>
                <a:cs typeface="Arial" pitchFamily="34" charset="0"/>
              </a:rPr>
              <a:t>©2025 Synopsys, Inc. All Rights Reserved.</a:t>
            </a:r>
            <a:endParaRPr lang="en-US" sz="800" b="1" dirty="0">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90C734B2-A93A-49AD-AF7C-F3FD3B404C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C641D5CB-E26C-4AED-9BA8-AF7E947E0928}" type="slidenum">
              <a:rPr lang="en-US" altLang="en-US" sz="1200"/>
              <a:pPr/>
              <a:t>4</a:t>
            </a:fld>
            <a:endParaRPr lang="en-US" altLang="en-US" sz="1200"/>
          </a:p>
        </p:txBody>
      </p:sp>
      <p:sp>
        <p:nvSpPr>
          <p:cNvPr id="10243" name="Rectangle 2">
            <a:extLst>
              <a:ext uri="{FF2B5EF4-FFF2-40B4-BE49-F238E27FC236}">
                <a16:creationId xmlns:a16="http://schemas.microsoft.com/office/drawing/2014/main" id="{DE85261E-E1AC-47DB-84BA-081B0E97556D}"/>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399EF5E-901A-481C-8872-24D55AB15B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354C6F0-4358-4768-8278-06507B836B35}" type="slidenum">
              <a:rPr lang="en-US" smtClean="0"/>
              <a:pPr>
                <a:defRPr/>
              </a:pPr>
              <a:t>5</a:t>
            </a:fld>
            <a:endParaRPr lang="en-US"/>
          </a:p>
        </p:txBody>
      </p:sp>
    </p:spTree>
    <p:extLst>
      <p:ext uri="{BB962C8B-B14F-4D97-AF65-F5344CB8AC3E}">
        <p14:creationId xmlns:p14="http://schemas.microsoft.com/office/powerpoint/2010/main" val="2537660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354C6F0-4358-4768-8278-06507B836B35}" type="slidenum">
              <a:rPr lang="en-US" smtClean="0"/>
              <a:pPr>
                <a:defRPr/>
              </a:pPr>
              <a:t>6</a:t>
            </a:fld>
            <a:endParaRPr lang="en-US"/>
          </a:p>
        </p:txBody>
      </p:sp>
    </p:spTree>
    <p:extLst>
      <p:ext uri="{BB962C8B-B14F-4D97-AF65-F5344CB8AC3E}">
        <p14:creationId xmlns:p14="http://schemas.microsoft.com/office/powerpoint/2010/main" val="2907077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CDCFBAE2-E676-4899-9352-F40F3F9F3F2A}"/>
              </a:ext>
            </a:extLst>
          </p:cNvPr>
          <p:cNvSpPr>
            <a:spLocks noGrp="1" noRot="1" noChangeAspect="1" noTextEdit="1"/>
          </p:cNvSpPr>
          <p:nvPr>
            <p:ph type="sldImg"/>
          </p:nvPr>
        </p:nvSpPr>
        <p:spPr>
          <a:ln/>
        </p:spPr>
      </p:sp>
      <p:sp>
        <p:nvSpPr>
          <p:cNvPr id="16387" name="Notes Placeholder 2">
            <a:extLst>
              <a:ext uri="{FF2B5EF4-FFF2-40B4-BE49-F238E27FC236}">
                <a16:creationId xmlns:a16="http://schemas.microsoft.com/office/drawing/2014/main" id="{6DD2CF84-9671-4730-B8C9-F1C9188C75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6388" name="Slide Number Placeholder 3">
            <a:extLst>
              <a:ext uri="{FF2B5EF4-FFF2-40B4-BE49-F238E27FC236}">
                <a16:creationId xmlns:a16="http://schemas.microsoft.com/office/drawing/2014/main" id="{554CCAEF-A1C2-42F7-9F3D-2AE34D23183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53DCE741-3570-4E9D-BD25-2A014297D3FB}" type="slidenum">
              <a:rPr lang="en-US" altLang="en-US" sz="1200"/>
              <a:pPr/>
              <a:t>7</a:t>
            </a:fld>
            <a:endParaRPr lang="en-US"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39B5A161-7923-4C59-8F24-B6BD1318763D}"/>
              </a:ext>
            </a:extLst>
          </p:cNvPr>
          <p:cNvSpPr>
            <a:spLocks noGrp="1" noRot="1" noChangeAspect="1" noTextEdit="1"/>
          </p:cNvSpPr>
          <p:nvPr>
            <p:ph type="sldImg"/>
          </p:nvPr>
        </p:nvSpPr>
        <p:spPr>
          <a:ln/>
        </p:spPr>
      </p:sp>
      <p:sp>
        <p:nvSpPr>
          <p:cNvPr id="18435" name="Slide Number Placeholder 3">
            <a:extLst>
              <a:ext uri="{FF2B5EF4-FFF2-40B4-BE49-F238E27FC236}">
                <a16:creationId xmlns:a16="http://schemas.microsoft.com/office/drawing/2014/main" id="{BD5B8CA8-4253-4696-8357-8DAF7061362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4585C05F-5EE0-4120-BDE6-C8E971FBD49A}" type="slidenum">
              <a:rPr lang="en-US" altLang="en-US" sz="1200"/>
              <a:pPr/>
              <a:t>8</a:t>
            </a:fld>
            <a:endParaRPr lang="en-US" altLang="en-US" sz="1200"/>
          </a:p>
        </p:txBody>
      </p:sp>
      <p:sp>
        <p:nvSpPr>
          <p:cNvPr id="18436" name="Notes Placeholder 1">
            <a:extLst>
              <a:ext uri="{FF2B5EF4-FFF2-40B4-BE49-F238E27FC236}">
                <a16:creationId xmlns:a16="http://schemas.microsoft.com/office/drawing/2014/main" id="{61D2FE87-C5F7-4176-8CDE-2AB5EC338376}"/>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81FFB06-B77D-4471-A4C4-40F21D4545D2}"/>
              </a:ext>
            </a:extLst>
          </p:cNvPr>
          <p:cNvSpPr>
            <a:spLocks noGrp="1" noRot="1" noChangeAspect="1" noChangeArrowheads="1" noTextEdit="1"/>
          </p:cNvSpPr>
          <p:nvPr>
            <p:ph type="sldImg"/>
          </p:nvPr>
        </p:nvSpPr>
        <p:spPr>
          <a:xfrm>
            <a:off x="2281238" y="523875"/>
            <a:ext cx="4673600" cy="2630488"/>
          </a:xfrm>
          <a:ln/>
        </p:spPr>
      </p:sp>
      <p:sp>
        <p:nvSpPr>
          <p:cNvPr id="94212" name="Rectangle 7">
            <a:extLst>
              <a:ext uri="{FF2B5EF4-FFF2-40B4-BE49-F238E27FC236}">
                <a16:creationId xmlns:a16="http://schemas.microsoft.com/office/drawing/2014/main" id="{9D62439D-4303-410A-9D0F-65BF5781AC58}"/>
              </a:ext>
            </a:extLst>
          </p:cNvPr>
          <p:cNvSpPr txBox="1">
            <a:spLocks noGrp="1" noChangeArrowheads="1"/>
          </p:cNvSpPr>
          <p:nvPr/>
        </p:nvSpPr>
        <p:spPr bwMode="auto">
          <a:xfrm>
            <a:off x="5232400" y="6657975"/>
            <a:ext cx="4002088" cy="350838"/>
          </a:xfrm>
          <a:prstGeom prst="rect">
            <a:avLst/>
          </a:prstGeom>
          <a:noFill/>
          <a:ln>
            <a:miter lim="800000"/>
            <a:headEnd/>
            <a:tailEnd/>
          </a:ln>
        </p:spPr>
        <p:txBody>
          <a:bodyPr anchor="b"/>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r" eaLnBrk="1" hangingPunct="1"/>
            <a:fld id="{2C88EC55-04AC-4C64-A4A1-B0D49ECACFC9}" type="slidenum">
              <a:rPr lang="en-US" altLang="en-US" sz="1200">
                <a:latin typeface="Calibri" panose="020F0502020204030204" pitchFamily="34" charset="0"/>
              </a:rPr>
              <a:pPr algn="r" eaLnBrk="1" hangingPunct="1"/>
              <a:t>9</a:t>
            </a:fld>
            <a:endParaRPr lang="en-US" altLang="en-US" sz="1200">
              <a:latin typeface="Calibri" panose="020F0502020204030204" pitchFamily="34" charset="0"/>
            </a:endParaRPr>
          </a:p>
        </p:txBody>
      </p:sp>
      <p:sp>
        <p:nvSpPr>
          <p:cNvPr id="20484" name="Notes Placeholder 1">
            <a:extLst>
              <a:ext uri="{FF2B5EF4-FFF2-40B4-BE49-F238E27FC236}">
                <a16:creationId xmlns:a16="http://schemas.microsoft.com/office/drawing/2014/main" id="{3055760A-7524-4181-A9F5-CE24D3146325}"/>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B64F6952-FB7F-438F-BAFE-7DCD8BDAE428}"/>
              </a:ext>
            </a:extLst>
          </p:cNvPr>
          <p:cNvSpPr>
            <a:spLocks noGrp="1" noRot="1" noChangeAspect="1" noTextEdit="1"/>
          </p:cNvSpPr>
          <p:nvPr>
            <p:ph type="sldImg"/>
          </p:nvPr>
        </p:nvSpPr>
        <p:spPr>
          <a:xfrm>
            <a:off x="2281238" y="523875"/>
            <a:ext cx="4673600" cy="2630488"/>
          </a:xfrm>
          <a:ln/>
        </p:spPr>
      </p:sp>
      <p:sp>
        <p:nvSpPr>
          <p:cNvPr id="101380" name="Slide Number Placeholder 5">
            <a:extLst>
              <a:ext uri="{FF2B5EF4-FFF2-40B4-BE49-F238E27FC236}">
                <a16:creationId xmlns:a16="http://schemas.microsoft.com/office/drawing/2014/main" id="{631135BA-971A-4C01-AFBC-3EF76008649C}"/>
              </a:ext>
            </a:extLst>
          </p:cNvPr>
          <p:cNvSpPr txBox="1">
            <a:spLocks noGrp="1"/>
          </p:cNvSpPr>
          <p:nvPr/>
        </p:nvSpPr>
        <p:spPr bwMode="auto">
          <a:xfrm>
            <a:off x="5232400" y="6657975"/>
            <a:ext cx="4002088" cy="350838"/>
          </a:xfrm>
          <a:prstGeom prst="rect">
            <a:avLst/>
          </a:prstGeom>
          <a:noFill/>
          <a:ln>
            <a:miter lim="800000"/>
            <a:headEnd/>
            <a:tailEnd/>
          </a:ln>
        </p:spPr>
        <p:txBody>
          <a:bodyPr anchor="b"/>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r" eaLnBrk="1" hangingPunct="1"/>
            <a:fld id="{06736BF0-05F8-4721-942F-A12A7E767BB6}" type="slidenum">
              <a:rPr lang="en-US" altLang="en-US" sz="1200">
                <a:latin typeface="Calibri" panose="020F0502020204030204" pitchFamily="34" charset="0"/>
              </a:rPr>
              <a:pPr algn="r" eaLnBrk="1" hangingPunct="1"/>
              <a:t>10</a:t>
            </a:fld>
            <a:endParaRPr lang="en-US" altLang="en-US" sz="1200">
              <a:latin typeface="Calibri" panose="020F0502020204030204" pitchFamily="34" charset="0"/>
            </a:endParaRPr>
          </a:p>
        </p:txBody>
      </p:sp>
      <p:sp>
        <p:nvSpPr>
          <p:cNvPr id="22532" name="Notes Placeholder 1">
            <a:extLst>
              <a:ext uri="{FF2B5EF4-FFF2-40B4-BE49-F238E27FC236}">
                <a16:creationId xmlns:a16="http://schemas.microsoft.com/office/drawing/2014/main" id="{7DB0E3FD-EE0A-42FC-9E3A-D1FBA8AAD73F}"/>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DD0A4DB1-2994-4719-85C7-27E897B9C2B8}"/>
              </a:ext>
            </a:extLst>
          </p:cNvPr>
          <p:cNvSpPr txBox="1">
            <a:spLocks noGrp="1" noChangeArrowheads="1"/>
          </p:cNvSpPr>
          <p:nvPr/>
        </p:nvSpPr>
        <p:spPr bwMode="auto">
          <a:xfrm>
            <a:off x="5232400" y="6657975"/>
            <a:ext cx="4002088" cy="350838"/>
          </a:xfrm>
          <a:prstGeom prst="rect">
            <a:avLst/>
          </a:prstGeom>
          <a:noFill/>
          <a:ln>
            <a:miter lim="800000"/>
            <a:headEnd/>
            <a:tailEnd/>
          </a:ln>
        </p:spPr>
        <p:txBody>
          <a:bodyPr anchor="b"/>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r" eaLnBrk="1" hangingPunct="1"/>
            <a:fld id="{618E5797-AA6B-446F-849B-E267A578A3A3}" type="slidenum">
              <a:rPr lang="en-US" altLang="en-US" sz="1200">
                <a:latin typeface="Calibri" panose="020F0502020204030204" pitchFamily="34" charset="0"/>
              </a:rPr>
              <a:pPr algn="r" eaLnBrk="1" hangingPunct="1"/>
              <a:t>11</a:t>
            </a:fld>
            <a:endParaRPr lang="en-US" altLang="en-US" sz="1200">
              <a:latin typeface="Calibri" panose="020F0502020204030204" pitchFamily="34" charset="0"/>
            </a:endParaRPr>
          </a:p>
        </p:txBody>
      </p:sp>
      <p:sp>
        <p:nvSpPr>
          <p:cNvPr id="24579" name="Rectangle 2">
            <a:extLst>
              <a:ext uri="{FF2B5EF4-FFF2-40B4-BE49-F238E27FC236}">
                <a16:creationId xmlns:a16="http://schemas.microsoft.com/office/drawing/2014/main" id="{D1E74F9A-11D1-4D0C-8085-6C4E439FE16E}"/>
              </a:ext>
            </a:extLst>
          </p:cNvPr>
          <p:cNvSpPr>
            <a:spLocks noGrp="1" noRot="1" noChangeAspect="1" noChangeArrowheads="1" noTextEdit="1"/>
          </p:cNvSpPr>
          <p:nvPr>
            <p:ph type="sldImg"/>
          </p:nvPr>
        </p:nvSpPr>
        <p:spPr>
          <a:xfrm>
            <a:off x="2284413" y="523875"/>
            <a:ext cx="4675187" cy="2630488"/>
          </a:xfrm>
          <a:ln/>
        </p:spPr>
      </p:sp>
      <p:sp>
        <p:nvSpPr>
          <p:cNvPr id="24580" name="Notes Placeholder 1">
            <a:extLst>
              <a:ext uri="{FF2B5EF4-FFF2-40B4-BE49-F238E27FC236}">
                <a16:creationId xmlns:a16="http://schemas.microsoft.com/office/drawing/2014/main" id="{69C93D37-AEDA-4E11-BE47-6496FF921619}"/>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F7DD2ABA-E89C-422A-93BA-B9F3F7647ABE}"/>
              </a:ext>
            </a:extLst>
          </p:cNvPr>
          <p:cNvSpPr>
            <a:spLocks noGrp="1" noRot="1" noChangeAspect="1" noTextEdit="1"/>
          </p:cNvSpPr>
          <p:nvPr>
            <p:ph type="sldImg"/>
          </p:nvPr>
        </p:nvSpPr>
        <p:spPr>
          <a:ln/>
        </p:spPr>
      </p:sp>
      <p:sp>
        <p:nvSpPr>
          <p:cNvPr id="26627" name="Slide Number Placeholder 3">
            <a:extLst>
              <a:ext uri="{FF2B5EF4-FFF2-40B4-BE49-F238E27FC236}">
                <a16:creationId xmlns:a16="http://schemas.microsoft.com/office/drawing/2014/main" id="{64C5B2AF-4BB6-4FB8-9428-762CD2A5B91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37C6B68C-0CD5-4A93-98DA-C2FC96A909A4}" type="slidenum">
              <a:rPr lang="en-US" altLang="en-US" sz="1200"/>
              <a:pPr/>
              <a:t>12</a:t>
            </a:fld>
            <a:endParaRPr lang="en-US" altLang="en-US" sz="1200"/>
          </a:p>
        </p:txBody>
      </p:sp>
      <p:sp>
        <p:nvSpPr>
          <p:cNvPr id="26628" name="Notes Placeholder 1">
            <a:extLst>
              <a:ext uri="{FF2B5EF4-FFF2-40B4-BE49-F238E27FC236}">
                <a16:creationId xmlns:a16="http://schemas.microsoft.com/office/drawing/2014/main" id="{68BA4EB6-E0DB-4CB2-BCCE-C62F46C380AB}"/>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CCF2D984-550A-4DDD-94B5-6D9A24C9AE20}"/>
              </a:ext>
            </a:extLst>
          </p:cNvPr>
          <p:cNvSpPr>
            <a:spLocks noGrp="1" noRot="1" noChangeAspect="1" noTextEdit="1"/>
          </p:cNvSpPr>
          <p:nvPr>
            <p:ph type="sldImg"/>
          </p:nvPr>
        </p:nvSpPr>
        <p:spPr>
          <a:ln/>
        </p:spPr>
      </p:sp>
      <p:sp>
        <p:nvSpPr>
          <p:cNvPr id="28675" name="Slide Number Placeholder 3">
            <a:extLst>
              <a:ext uri="{FF2B5EF4-FFF2-40B4-BE49-F238E27FC236}">
                <a16:creationId xmlns:a16="http://schemas.microsoft.com/office/drawing/2014/main" id="{ABE4D7AB-9215-4FE3-9DE8-16EEC3B28E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35BCED5D-2A3A-4845-9373-E0C9EDB83371}" type="slidenum">
              <a:rPr lang="en-US" altLang="en-US" sz="1200"/>
              <a:pPr/>
              <a:t>13</a:t>
            </a:fld>
            <a:endParaRPr lang="en-US" altLang="en-US" sz="1200"/>
          </a:p>
        </p:txBody>
      </p:sp>
      <p:sp>
        <p:nvSpPr>
          <p:cNvPr id="28676" name="Notes Placeholder 1">
            <a:extLst>
              <a:ext uri="{FF2B5EF4-FFF2-40B4-BE49-F238E27FC236}">
                <a16:creationId xmlns:a16="http://schemas.microsoft.com/office/drawing/2014/main" id="{EA39362B-77A0-42EC-849C-076969802393}"/>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2B5C8E6-32DF-43B9-B239-25271AB3E0AF}"/>
              </a:ext>
            </a:extLst>
          </p:cNvPr>
          <p:cNvSpPr>
            <a:spLocks noGrp="1" noRot="1" noChangeAspect="1" noTextEdit="1"/>
          </p:cNvSpPr>
          <p:nvPr>
            <p:ph type="sldImg"/>
          </p:nvPr>
        </p:nvSpPr>
        <p:spPr>
          <a:ln/>
        </p:spPr>
      </p:sp>
      <p:sp>
        <p:nvSpPr>
          <p:cNvPr id="30723" name="Notes Placeholder 1">
            <a:extLst>
              <a:ext uri="{FF2B5EF4-FFF2-40B4-BE49-F238E27FC236}">
                <a16:creationId xmlns:a16="http://schemas.microsoft.com/office/drawing/2014/main" id="{ABA9895B-E31A-4C9A-A93F-F76E9A533571}"/>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6868BB7D-4C59-49CC-AB18-C84E516D70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5C030856-2D17-4F6A-A9CB-069FFB1B632A}" type="slidenum">
              <a:rPr lang="en-US" altLang="en-US" sz="1200"/>
              <a:pPr/>
              <a:t>15</a:t>
            </a:fld>
            <a:endParaRPr lang="en-US" altLang="en-US" sz="1200"/>
          </a:p>
        </p:txBody>
      </p:sp>
      <p:sp>
        <p:nvSpPr>
          <p:cNvPr id="32771" name="Rectangle 2">
            <a:extLst>
              <a:ext uri="{FF2B5EF4-FFF2-40B4-BE49-F238E27FC236}">
                <a16:creationId xmlns:a16="http://schemas.microsoft.com/office/drawing/2014/main" id="{1D4154F1-CB95-4215-B546-55BEF1371FAB}"/>
              </a:ext>
            </a:extLst>
          </p:cNvPr>
          <p:cNvSpPr>
            <a:spLocks noGrp="1" noRot="1" noChangeAspect="1" noChangeArrowheads="1" noTextEdit="1"/>
          </p:cNvSpPr>
          <p:nvPr>
            <p:ph type="sldImg"/>
          </p:nvPr>
        </p:nvSpPr>
        <p:spPr>
          <a:xfrm>
            <a:off x="2281238" y="523875"/>
            <a:ext cx="4673600" cy="2630488"/>
          </a:xfrm>
          <a:ln/>
        </p:spPr>
      </p:sp>
      <p:sp>
        <p:nvSpPr>
          <p:cNvPr id="32772" name="Notes Placeholder 1">
            <a:extLst>
              <a:ext uri="{FF2B5EF4-FFF2-40B4-BE49-F238E27FC236}">
                <a16:creationId xmlns:a16="http://schemas.microsoft.com/office/drawing/2014/main" id="{F624A422-4A79-45AF-A11C-88467AC1B6B4}"/>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067E237C-798C-434C-AAA3-392286721336}"/>
              </a:ext>
            </a:extLst>
          </p:cNvPr>
          <p:cNvSpPr>
            <a:spLocks noGrp="1" noRot="1" noChangeAspect="1" noTextEdit="1"/>
          </p:cNvSpPr>
          <p:nvPr>
            <p:ph type="sldImg"/>
          </p:nvPr>
        </p:nvSpPr>
        <p:spPr>
          <a:ln/>
        </p:spPr>
      </p:sp>
      <p:sp>
        <p:nvSpPr>
          <p:cNvPr id="34819" name="Slide Number Placeholder 3">
            <a:extLst>
              <a:ext uri="{FF2B5EF4-FFF2-40B4-BE49-F238E27FC236}">
                <a16:creationId xmlns:a16="http://schemas.microsoft.com/office/drawing/2014/main" id="{A276E799-BB85-4F99-853A-6F838DAF26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942D684B-E459-41CC-A71C-2A44D0F35C9D}" type="slidenum">
              <a:rPr lang="en-US" altLang="en-US" sz="1200"/>
              <a:pPr/>
              <a:t>16</a:t>
            </a:fld>
            <a:endParaRPr lang="en-US" altLang="en-US" sz="1200"/>
          </a:p>
        </p:txBody>
      </p:sp>
      <p:sp>
        <p:nvSpPr>
          <p:cNvPr id="34820" name="Notes Placeholder 1">
            <a:extLst>
              <a:ext uri="{FF2B5EF4-FFF2-40B4-BE49-F238E27FC236}">
                <a16:creationId xmlns:a16="http://schemas.microsoft.com/office/drawing/2014/main" id="{8EA83F7E-E108-46B4-BA66-33B0C28DB7FA}"/>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9BD4A62-3CE9-4BD7-BE89-C659FD33DDA7}"/>
              </a:ext>
            </a:extLst>
          </p:cNvPr>
          <p:cNvSpPr>
            <a:spLocks noGrp="1" noRot="1" noChangeAspect="1" noTextEdit="1"/>
          </p:cNvSpPr>
          <p:nvPr>
            <p:ph type="sldImg"/>
          </p:nvPr>
        </p:nvSpPr>
        <p:spPr>
          <a:ln/>
        </p:spPr>
      </p:sp>
      <p:sp>
        <p:nvSpPr>
          <p:cNvPr id="36867" name="Notes Placeholder 1">
            <a:extLst>
              <a:ext uri="{FF2B5EF4-FFF2-40B4-BE49-F238E27FC236}">
                <a16:creationId xmlns:a16="http://schemas.microsoft.com/office/drawing/2014/main" id="{7859A375-BB3A-469C-A70A-57267C66DA91}"/>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67DDF2CA-4B6D-466F-8AE4-1D511F1C812D}"/>
              </a:ext>
            </a:extLst>
          </p:cNvPr>
          <p:cNvSpPr>
            <a:spLocks noGrp="1" noRot="1" noChangeAspect="1" noTextEdit="1"/>
          </p:cNvSpPr>
          <p:nvPr>
            <p:ph type="sldImg"/>
          </p:nvPr>
        </p:nvSpPr>
        <p:spPr>
          <a:ln/>
        </p:spPr>
      </p:sp>
      <p:sp>
        <p:nvSpPr>
          <p:cNvPr id="38915" name="Slide Number Placeholder 3">
            <a:extLst>
              <a:ext uri="{FF2B5EF4-FFF2-40B4-BE49-F238E27FC236}">
                <a16:creationId xmlns:a16="http://schemas.microsoft.com/office/drawing/2014/main" id="{CF02B928-6340-406F-94D9-D9D4461C23E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42034BA7-FDAC-46C1-8F6A-CF4B6515E16C}" type="slidenum">
              <a:rPr lang="en-US" altLang="en-US" sz="1200"/>
              <a:pPr/>
              <a:t>18</a:t>
            </a:fld>
            <a:endParaRPr lang="en-US" altLang="en-US" sz="1200"/>
          </a:p>
        </p:txBody>
      </p:sp>
      <p:sp>
        <p:nvSpPr>
          <p:cNvPr id="38916" name="Notes Placeholder 1">
            <a:extLst>
              <a:ext uri="{FF2B5EF4-FFF2-40B4-BE49-F238E27FC236}">
                <a16:creationId xmlns:a16="http://schemas.microsoft.com/office/drawing/2014/main" id="{0C16A330-895D-4173-80FC-A8CA78547B3E}"/>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4DD4634D-4343-400A-BAA9-FBD25E3C4539}"/>
              </a:ext>
            </a:extLst>
          </p:cNvPr>
          <p:cNvSpPr>
            <a:spLocks noGrp="1" noRot="1" noChangeAspect="1" noTextEdit="1"/>
          </p:cNvSpPr>
          <p:nvPr>
            <p:ph type="sldImg"/>
          </p:nvPr>
        </p:nvSpPr>
        <p:spPr>
          <a:ln/>
        </p:spPr>
      </p:sp>
      <p:sp>
        <p:nvSpPr>
          <p:cNvPr id="40963" name="Slide Number Placeholder 3">
            <a:extLst>
              <a:ext uri="{FF2B5EF4-FFF2-40B4-BE49-F238E27FC236}">
                <a16:creationId xmlns:a16="http://schemas.microsoft.com/office/drawing/2014/main" id="{EE9F50E9-D73E-43EB-8F3A-0D6C129E921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06A68212-6F0C-4DC1-8B21-6D5950EAE107}" type="slidenum">
              <a:rPr lang="en-US" altLang="en-US" sz="1200"/>
              <a:pPr/>
              <a:t>19</a:t>
            </a:fld>
            <a:endParaRPr lang="en-US" altLang="en-US" sz="1200"/>
          </a:p>
        </p:txBody>
      </p:sp>
      <p:sp>
        <p:nvSpPr>
          <p:cNvPr id="40964" name="Notes Placeholder 1">
            <a:extLst>
              <a:ext uri="{FF2B5EF4-FFF2-40B4-BE49-F238E27FC236}">
                <a16:creationId xmlns:a16="http://schemas.microsoft.com/office/drawing/2014/main" id="{D62A1519-3922-490B-8670-A6BDAC52B496}"/>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5FCCBAFC-6393-45EE-B109-560935F2C552}"/>
              </a:ext>
            </a:extLst>
          </p:cNvPr>
          <p:cNvSpPr>
            <a:spLocks noGrp="1" noRot="1" noChangeAspect="1" noTextEdit="1"/>
          </p:cNvSpPr>
          <p:nvPr>
            <p:ph type="sldImg"/>
          </p:nvPr>
        </p:nvSpPr>
        <p:spPr>
          <a:ln/>
        </p:spPr>
      </p:sp>
      <p:sp>
        <p:nvSpPr>
          <p:cNvPr id="43011" name="Notes Placeholder 1">
            <a:extLst>
              <a:ext uri="{FF2B5EF4-FFF2-40B4-BE49-F238E27FC236}">
                <a16:creationId xmlns:a16="http://schemas.microsoft.com/office/drawing/2014/main" id="{0EAC0D4D-6AA5-49A8-8DAF-6FED6A41523A}"/>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64167288-625B-47C2-A3F5-7DDFBBC877CB}"/>
              </a:ext>
            </a:extLst>
          </p:cNvPr>
          <p:cNvSpPr>
            <a:spLocks noGrp="1" noRot="1" noChangeAspect="1" noTextEdit="1"/>
          </p:cNvSpPr>
          <p:nvPr>
            <p:ph type="sldImg"/>
          </p:nvPr>
        </p:nvSpPr>
        <p:spPr>
          <a:ln/>
        </p:spPr>
      </p:sp>
      <p:sp>
        <p:nvSpPr>
          <p:cNvPr id="45059" name="Slide Number Placeholder 3">
            <a:extLst>
              <a:ext uri="{FF2B5EF4-FFF2-40B4-BE49-F238E27FC236}">
                <a16:creationId xmlns:a16="http://schemas.microsoft.com/office/drawing/2014/main" id="{B59265C6-5D66-40FA-A7EE-7688F164EA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916CEBAE-B298-4008-BDC8-7A5B9B55D14F}" type="slidenum">
              <a:rPr lang="en-US" altLang="en-US" sz="1200"/>
              <a:pPr/>
              <a:t>21</a:t>
            </a:fld>
            <a:endParaRPr lang="en-US" altLang="en-US" sz="1200"/>
          </a:p>
        </p:txBody>
      </p:sp>
      <p:sp>
        <p:nvSpPr>
          <p:cNvPr id="45060" name="Notes Placeholder 1">
            <a:extLst>
              <a:ext uri="{FF2B5EF4-FFF2-40B4-BE49-F238E27FC236}">
                <a16:creationId xmlns:a16="http://schemas.microsoft.com/office/drawing/2014/main" id="{C4E19BA3-46CF-4975-B6E3-9E486EA92549}"/>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11A7714-D8BF-402E-90A0-4CE97FFA0B0F}"/>
              </a:ext>
            </a:extLst>
          </p:cNvPr>
          <p:cNvSpPr>
            <a:spLocks noGrp="1" noRot="1" noChangeAspect="1" noTextEdit="1"/>
          </p:cNvSpPr>
          <p:nvPr>
            <p:ph type="sldImg"/>
          </p:nvPr>
        </p:nvSpPr>
        <p:spPr>
          <a:ln/>
        </p:spPr>
      </p:sp>
      <p:sp>
        <p:nvSpPr>
          <p:cNvPr id="47107" name="Notes Placeholder 1">
            <a:extLst>
              <a:ext uri="{FF2B5EF4-FFF2-40B4-BE49-F238E27FC236}">
                <a16:creationId xmlns:a16="http://schemas.microsoft.com/office/drawing/2014/main" id="{C4F0CF01-74ED-4C7F-8BBA-96AAC49D03B8}"/>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D8453A2B-C8DA-4188-BCAD-414E45EF3858}"/>
              </a:ext>
            </a:extLst>
          </p:cNvPr>
          <p:cNvSpPr>
            <a:spLocks noGrp="1" noRot="1" noChangeAspect="1" noTextEdit="1"/>
          </p:cNvSpPr>
          <p:nvPr>
            <p:ph type="sldImg"/>
          </p:nvPr>
        </p:nvSpPr>
        <p:spPr>
          <a:ln/>
        </p:spPr>
      </p:sp>
      <p:sp>
        <p:nvSpPr>
          <p:cNvPr id="49155" name="Notes Placeholder 1">
            <a:extLst>
              <a:ext uri="{FF2B5EF4-FFF2-40B4-BE49-F238E27FC236}">
                <a16:creationId xmlns:a16="http://schemas.microsoft.com/office/drawing/2014/main" id="{30D2C3F9-04CA-4C93-B792-8F8E317E5D6F}"/>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A014BB4-C1B6-4B2F-9A5F-2A51E88A5B01}"/>
              </a:ext>
            </a:extLst>
          </p:cNvPr>
          <p:cNvSpPr>
            <a:spLocks noGrp="1" noRot="1" noChangeAspect="1" noTextEdit="1"/>
          </p:cNvSpPr>
          <p:nvPr>
            <p:ph type="sldImg"/>
          </p:nvPr>
        </p:nvSpPr>
        <p:spPr>
          <a:ln/>
        </p:spPr>
      </p:sp>
      <p:sp>
        <p:nvSpPr>
          <p:cNvPr id="51203" name="Notes Placeholder 1">
            <a:extLst>
              <a:ext uri="{FF2B5EF4-FFF2-40B4-BE49-F238E27FC236}">
                <a16:creationId xmlns:a16="http://schemas.microsoft.com/office/drawing/2014/main" id="{AD50D201-61D5-4BB0-805E-8DCB6D2776B8}"/>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38B27973-2412-4248-AAED-C1648AE03D59}"/>
              </a:ext>
            </a:extLst>
          </p:cNvPr>
          <p:cNvSpPr>
            <a:spLocks noGrp="1" noRot="1" noChangeAspect="1" noTextEdit="1"/>
          </p:cNvSpPr>
          <p:nvPr>
            <p:ph type="sldImg"/>
          </p:nvPr>
        </p:nvSpPr>
        <p:spPr>
          <a:ln/>
        </p:spPr>
      </p:sp>
      <p:sp>
        <p:nvSpPr>
          <p:cNvPr id="53251" name="Slide Number Placeholder 3">
            <a:extLst>
              <a:ext uri="{FF2B5EF4-FFF2-40B4-BE49-F238E27FC236}">
                <a16:creationId xmlns:a16="http://schemas.microsoft.com/office/drawing/2014/main" id="{92530CA0-E2BD-42BB-B953-1B16A6E7AA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C9DA82CD-A3D5-4E95-8043-919DDDD73A3B}" type="slidenum">
              <a:rPr lang="en-US" altLang="en-US" sz="1200"/>
              <a:pPr/>
              <a:t>25</a:t>
            </a:fld>
            <a:endParaRPr lang="en-US" altLang="en-US" sz="1200"/>
          </a:p>
        </p:txBody>
      </p:sp>
      <p:sp>
        <p:nvSpPr>
          <p:cNvPr id="53252" name="Notes Placeholder 1">
            <a:extLst>
              <a:ext uri="{FF2B5EF4-FFF2-40B4-BE49-F238E27FC236}">
                <a16:creationId xmlns:a16="http://schemas.microsoft.com/office/drawing/2014/main" id="{A6CFCDA7-0BA1-48A4-9F32-48A5A91B4A56}"/>
              </a:ext>
            </a:extLst>
          </p:cNvPr>
          <p:cNvSpPr>
            <a:spLocks noGrp="1"/>
          </p:cNvSpPr>
          <p:nvPr>
            <p:ph type="body"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84A1CC3-95D3-4FEB-A962-6508F5208D7C}"/>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5" name="Line 8">
            <a:extLst>
              <a:ext uri="{FF2B5EF4-FFF2-40B4-BE49-F238E27FC236}">
                <a16:creationId xmlns:a16="http://schemas.microsoft.com/office/drawing/2014/main" id="{FAA244FE-70F8-4576-B76F-50AA3D69912D}"/>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 name="TextBox 5">
            <a:extLst>
              <a:ext uri="{FF2B5EF4-FFF2-40B4-BE49-F238E27FC236}">
                <a16:creationId xmlns:a16="http://schemas.microsoft.com/office/drawing/2014/main" id="{EE7587D9-0DE4-4C69-A80A-301C646195FC}"/>
              </a:ext>
            </a:extLst>
          </p:cNvPr>
          <p:cNvSpPr txBox="1">
            <a:spLocks noChangeArrowheads="1"/>
          </p:cNvSpPr>
          <p:nvPr userDrawn="1"/>
        </p:nvSpPr>
        <p:spPr bwMode="auto">
          <a:xfrm>
            <a:off x="3048000" y="6521451"/>
            <a:ext cx="508000" cy="244475"/>
          </a:xfrm>
          <a:prstGeom prst="rect">
            <a:avLst/>
          </a:prstGeom>
          <a:noFill/>
          <a:ln>
            <a:noFill/>
          </a:ln>
        </p:spPr>
        <p:txBody>
          <a:bodyPr>
            <a:spAutoFit/>
          </a:bodyPr>
          <a:lstStyle>
            <a:lvl1pPr>
              <a:defRPr sz="1400">
                <a:solidFill>
                  <a:schemeClr val="tx1"/>
                </a:solidFill>
                <a:latin typeface="Times New Roman" panose="02020603050405020304" pitchFamily="18" charset="0"/>
                <a:cs typeface="Arial" panose="020B0604020202020204" pitchFamily="34" charset="0"/>
              </a:defRPr>
            </a:lvl1pPr>
            <a:lvl2pPr marL="742950" indent="-285750">
              <a:defRPr sz="1400">
                <a:solidFill>
                  <a:schemeClr val="tx1"/>
                </a:solidFill>
                <a:latin typeface="Times New Roman" panose="02020603050405020304" pitchFamily="18" charset="0"/>
                <a:cs typeface="Arial" panose="020B0604020202020204" pitchFamily="34" charset="0"/>
              </a:defRPr>
            </a:lvl2pPr>
            <a:lvl3pPr marL="1143000" indent="-228600">
              <a:defRPr sz="1400">
                <a:solidFill>
                  <a:schemeClr val="tx1"/>
                </a:solidFill>
                <a:latin typeface="Times New Roman" panose="02020603050405020304" pitchFamily="18" charset="0"/>
                <a:cs typeface="Arial" panose="020B0604020202020204" pitchFamily="34" charset="0"/>
              </a:defRPr>
            </a:lvl3pPr>
            <a:lvl4pPr marL="1600200" indent="-228600">
              <a:defRPr sz="1400">
                <a:solidFill>
                  <a:schemeClr val="tx1"/>
                </a:solidFill>
                <a:latin typeface="Times New Roman" panose="02020603050405020304" pitchFamily="18" charset="0"/>
                <a:cs typeface="Arial" panose="020B0604020202020204" pitchFamily="34" charset="0"/>
              </a:defRPr>
            </a:lvl4pPr>
            <a:lvl5pPr marL="2057400" indent="-228600">
              <a:defRPr sz="1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fld id="{1FC11AB6-A325-4092-8B78-EFDCDE2E0C77}" type="slidenum">
              <a:rPr lang="en-US" altLang="en-US" sz="1000">
                <a:solidFill>
                  <a:srgbClr val="595959"/>
                </a:solidFill>
                <a:latin typeface="Arial" panose="020B0604020202020204" pitchFamily="34" charset="0"/>
              </a:rPr>
              <a:pPr algn="ctr" eaLnBrk="1" hangingPunct="1"/>
              <a:t>‹#›</a:t>
            </a:fld>
            <a:endParaRPr lang="en-US" altLang="en-US" sz="1000">
              <a:solidFill>
                <a:srgbClr val="595959"/>
              </a:solidFill>
              <a:latin typeface="Arial" panose="020B0604020202020204" pitchFamily="34" charset="0"/>
            </a:endParaRPr>
          </a:p>
        </p:txBody>
      </p:sp>
      <p:sp>
        <p:nvSpPr>
          <p:cNvPr id="7" name="Rectangle 6">
            <a:extLst>
              <a:ext uri="{FF2B5EF4-FFF2-40B4-BE49-F238E27FC236}">
                <a16:creationId xmlns:a16="http://schemas.microsoft.com/office/drawing/2014/main" id="{E68267EF-0567-454E-8850-53A7734CC145}"/>
              </a:ext>
            </a:extLst>
          </p:cNvPr>
          <p:cNvSpPr>
            <a:spLocks noChangeArrowheads="1"/>
          </p:cNvSpPr>
          <p:nvPr userDrawn="1"/>
        </p:nvSpPr>
        <p:spPr bwMode="auto">
          <a:xfrm>
            <a:off x="3009900" y="5897564"/>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a:solidFill>
                  <a:schemeClr val="tx1"/>
                </a:solidFill>
                <a:latin typeface="Times New Roman" panose="02020603050405020304" pitchFamily="18" charset="0"/>
                <a:cs typeface="Arial" panose="020B0604020202020204" pitchFamily="34" charset="0"/>
              </a:defRPr>
            </a:lvl1pPr>
            <a:lvl2pPr marL="742950" indent="-285750" eaLnBrk="0" hangingPunct="0">
              <a:defRPr sz="1400">
                <a:solidFill>
                  <a:schemeClr val="tx1"/>
                </a:solidFill>
                <a:latin typeface="Times New Roman" panose="02020603050405020304" pitchFamily="18" charset="0"/>
                <a:cs typeface="Arial" panose="020B0604020202020204" pitchFamily="34" charset="0"/>
              </a:defRPr>
            </a:lvl2pPr>
            <a:lvl3pPr marL="1143000" indent="-228600" eaLnBrk="0" hangingPunct="0">
              <a:defRPr sz="1400">
                <a:solidFill>
                  <a:schemeClr val="tx1"/>
                </a:solidFill>
                <a:latin typeface="Times New Roman" panose="02020603050405020304" pitchFamily="18" charset="0"/>
                <a:cs typeface="Arial" panose="020B0604020202020204" pitchFamily="34" charset="0"/>
              </a:defRPr>
            </a:lvl3pPr>
            <a:lvl4pPr marL="1600200" indent="-228600" eaLnBrk="0" hangingPunct="0">
              <a:defRPr sz="1400">
                <a:solidFill>
                  <a:schemeClr val="tx1"/>
                </a:solidFill>
                <a:latin typeface="Times New Roman" panose="02020603050405020304" pitchFamily="18" charset="0"/>
                <a:cs typeface="Arial" panose="020B0604020202020204" pitchFamily="34" charset="0"/>
              </a:defRPr>
            </a:lvl4pPr>
            <a:lvl5pPr marL="2057400" indent="-228600" eaLnBrk="0" hangingPunct="0">
              <a:defRPr sz="1400">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defRPr/>
            </a:pPr>
            <a:r>
              <a:rPr lang="en-US" altLang="en-US" sz="900" dirty="0">
                <a:latin typeface="Arial" panose="020B0604020202020204" pitchFamily="34" charset="0"/>
              </a:rPr>
              <a:t>Synopsys University Courseware </a:t>
            </a:r>
          </a:p>
          <a:p>
            <a:pPr algn="ctr" eaLnBrk="1" hangingPunct="1">
              <a:defRPr/>
            </a:pPr>
            <a:r>
              <a:rPr lang="en-US" altLang="en-US" sz="900" dirty="0">
                <a:latin typeface="Arial" panose="020B0604020202020204" pitchFamily="34" charset="0"/>
              </a:rPr>
              <a:t>Copyright © 2017 Synopsys, Inc. All rights reserved.</a:t>
            </a:r>
          </a:p>
          <a:p>
            <a:pPr algn="ctr" eaLnBrk="1" hangingPunct="1">
              <a:defRPr/>
            </a:pPr>
            <a:r>
              <a:rPr lang="en-US" altLang="en-US" sz="900" dirty="0">
                <a:latin typeface="Arial" panose="020B0604020202020204" pitchFamily="34" charset="0"/>
              </a:rPr>
              <a:t>Object-Oriented Programming</a:t>
            </a:r>
          </a:p>
          <a:p>
            <a:pPr algn="ctr" eaLnBrk="1" hangingPunct="1">
              <a:defRPr/>
            </a:pPr>
            <a:r>
              <a:rPr lang="en-US" altLang="en-US" sz="900" dirty="0">
                <a:latin typeface="Arial" panose="020B0604020202020204" pitchFamily="34" charset="0"/>
              </a:rPr>
              <a:t>Lecture - 1</a:t>
            </a:r>
          </a:p>
          <a:p>
            <a:pPr algn="ctr" eaLnBrk="1" hangingPunct="1">
              <a:defRPr/>
            </a:pPr>
            <a:r>
              <a:rPr lang="en-US" altLang="en-US" sz="900" dirty="0">
                <a:latin typeface="Arial" panose="020B0604020202020204" pitchFamily="34" charset="0"/>
              </a:rPr>
              <a:t>Developed By: Vazgen Melikyan</a:t>
            </a:r>
          </a:p>
        </p:txBody>
      </p:sp>
      <p:pic>
        <p:nvPicPr>
          <p:cNvPr id="8" name="Picture 11" descr="Synopsys_color">
            <a:extLst>
              <a:ext uri="{FF2B5EF4-FFF2-40B4-BE49-F238E27FC236}">
                <a16:creationId xmlns:a16="http://schemas.microsoft.com/office/drawing/2014/main" id="{FA7C1882-0B01-4AFB-B264-DE81F0D47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7267" y="5932489"/>
            <a:ext cx="185631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descr="D:\Users\User\Desktop\My Documents\AcCouncil\Logo_NPUA\LogoPolytech_1.png">
            <a:extLst>
              <a:ext uri="{FF2B5EF4-FFF2-40B4-BE49-F238E27FC236}">
                <a16:creationId xmlns:a16="http://schemas.microsoft.com/office/drawing/2014/main" id="{4F0C6F6B-E20A-4231-B9BD-BA525FE1B17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endParaRPr lang="en-US" altLang="en-US"/>
          </a:p>
        </p:txBody>
      </p:sp>
    </p:spTree>
    <p:extLst>
      <p:ext uri="{BB962C8B-B14F-4D97-AF65-F5344CB8AC3E}">
        <p14:creationId xmlns:p14="http://schemas.microsoft.com/office/powerpoint/2010/main" val="88647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01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3.xml"/><Relationship Id="rId3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9"/>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30"/>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rPr dirty="0"/>
              <a:t>Edit Master text styles</a:t>
            </a:r>
            <a:endParaRPr lang="en-US" dirty="0"/>
          </a:p>
          <a:p>
            <a:pPr marL="690563" lvl="1" indent="-327025">
              <a:tabLst/>
            </a:pPr>
            <a:r>
              <a:rPr lang="en-US" dirty="0"/>
              <a:t>Second level</a:t>
            </a:r>
          </a:p>
          <a:p>
            <a:pPr marL="914400" lvl="2" indent="-223838">
              <a:tabLst>
                <a:tab pos="736600" algn="l"/>
              </a:tabLst>
            </a:pPr>
            <a:r>
              <a:rPr dirty="0"/>
              <a:t>Third level</a:t>
            </a:r>
          </a:p>
          <a:p>
            <a:pPr lvl="3"/>
            <a:r>
              <a:rPr dirty="0"/>
              <a:t>Fourth level</a:t>
            </a:r>
          </a:p>
        </p:txBody>
      </p:sp>
      <p:sp>
        <p:nvSpPr>
          <p:cNvPr id="26" name="TaggedShape" hidden="1"/>
          <p:cNvSpPr/>
          <p:nvPr>
            <p:custDataLst>
              <p:tags r:id="rId31"/>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32"/>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41473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sp>
        <p:nvSpPr>
          <p:cNvPr id="27" name="unit_number">
            <a:extLst>
              <a:ext uri="{FF2B5EF4-FFF2-40B4-BE49-F238E27FC236}">
                <a16:creationId xmlns:a16="http://schemas.microsoft.com/office/drawing/2014/main" id="{8B6FE5BD-1FF4-4341-83E6-71D5015C748C}"/>
              </a:ext>
            </a:extLst>
          </p:cNvPr>
          <p:cNvSpPr txBox="1"/>
          <p:nvPr userDrawn="1"/>
        </p:nvSpPr>
        <p:spPr>
          <a:xfrm>
            <a:off x="11320060" y="6546025"/>
            <a:ext cx="414739" cy="252862"/>
          </a:xfrm>
          <a:prstGeom prst="rect">
            <a:avLst/>
          </a:prstGeom>
          <a:noFill/>
        </p:spPr>
        <p:txBody>
          <a:bodyPr wrap="square" rIns="45720" bIns="0" rtlCol="0" anchor="b" anchorCtr="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tx1">
                    <a:lumMod val="50000"/>
                    <a:lumOff val="50000"/>
                  </a:schemeClr>
                </a:solidFill>
                <a:effectLst/>
                <a:uLnTx/>
                <a:uFillTx/>
              </a:rPr>
              <a:t>1-</a:t>
            </a: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35"/>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33"/>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dirty="0">
                <a:solidFill>
                  <a:schemeClr val="bg1">
                    <a:lumMod val="65000"/>
                  </a:schemeClr>
                </a:solidFill>
                <a:latin typeface="Arial"/>
              </a:rPr>
              <a:t>Synopsys </a:t>
            </a:r>
            <a:r>
              <a:rPr lang="en-US" sz="800" dirty="0">
                <a:solidFill>
                  <a:schemeClr val="bg1">
                    <a:lumMod val="65000"/>
                  </a:schemeClr>
                </a:solidFill>
                <a:latin typeface="Arial"/>
              </a:rPr>
              <a:t>University Courseware</a:t>
            </a:r>
            <a:br>
              <a:rPr lang="en-US" sz="800" dirty="0">
                <a:solidFill>
                  <a:schemeClr val="bg1">
                    <a:lumMod val="65000"/>
                  </a:schemeClr>
                </a:solidFill>
                <a:latin typeface="Arial"/>
              </a:rPr>
            </a:br>
            <a:r>
              <a:rPr lang="en-US" sz="800" dirty="0">
                <a:solidFill>
                  <a:schemeClr val="bg1">
                    <a:lumMod val="65000"/>
                  </a:schemeClr>
                </a:solidFill>
                <a:latin typeface="Arial"/>
              </a:rPr>
              <a:t>Developed by: </a:t>
            </a:r>
            <a:r>
              <a:rPr lang="en-US" sz="800" dirty="0" err="1">
                <a:solidFill>
                  <a:schemeClr val="bg1">
                    <a:lumMod val="65000"/>
                  </a:schemeClr>
                </a:solidFill>
                <a:latin typeface="Arial"/>
              </a:rPr>
              <a:t>Vazgen</a:t>
            </a:r>
            <a:r>
              <a:rPr lang="en-US" sz="800" dirty="0">
                <a:solidFill>
                  <a:schemeClr val="bg1">
                    <a:lumMod val="65000"/>
                  </a:schemeClr>
                </a:solidFill>
                <a:latin typeface="Arial"/>
              </a:rPr>
              <a:t> </a:t>
            </a:r>
            <a:r>
              <a:rPr lang="en-US" sz="800" dirty="0" err="1">
                <a:solidFill>
                  <a:schemeClr val="bg1">
                    <a:lumMod val="65000"/>
                  </a:schemeClr>
                </a:solidFill>
                <a:latin typeface="Arial"/>
              </a:rPr>
              <a:t>Melikyan</a:t>
            </a:r>
            <a:endParaRPr sz="800" dirty="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34"/>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dirty="0">
                <a:solidFill>
                  <a:schemeClr val="bg1">
                    <a:lumMod val="65000"/>
                  </a:schemeClr>
                </a:solidFill>
              </a:rPr>
              <a:t>© 2025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36">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9.wmf"/><Relationship Id="rId5" Type="http://schemas.openxmlformats.org/officeDocument/2006/relationships/oleObject" Target="../embeddings/oleObject2.bin"/><Relationship Id="rId4" Type="http://schemas.openxmlformats.org/officeDocument/2006/relationships/image" Target="../media/image18.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1.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3.wmf"/><Relationship Id="rId5" Type="http://schemas.openxmlformats.org/officeDocument/2006/relationships/oleObject" Target="../embeddings/oleObject6.bin"/><Relationship Id="rId4" Type="http://schemas.openxmlformats.org/officeDocument/2006/relationships/image" Target="../media/image2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4.wmf"/></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a:xfrm>
            <a:off x="456698" y="4526198"/>
            <a:ext cx="8141202" cy="731520"/>
          </a:xfrm>
        </p:spPr>
        <p:txBody>
          <a:bodyPr>
            <a:normAutofit/>
          </a:bodyPr>
          <a:lstStyle/>
          <a:p>
            <a:r>
              <a:rPr lang="en-US"/>
              <a:t>Synopsys Armenia Educational Department</a:t>
            </a:r>
          </a:p>
        </p:txBody>
      </p:sp>
      <p:sp>
        <p:nvSpPr>
          <p:cNvPr id="5" name="Subtitle 4">
            <a:extLst>
              <a:ext uri="{FF2B5EF4-FFF2-40B4-BE49-F238E27FC236}">
                <a16:creationId xmlns:a16="http://schemas.microsoft.com/office/drawing/2014/main" id="{488BA55B-F5DA-D946-B7EA-D63B6269A4F9}"/>
              </a:ext>
            </a:extLst>
          </p:cNvPr>
          <p:cNvSpPr>
            <a:spLocks noGrp="1"/>
          </p:cNvSpPr>
          <p:nvPr>
            <p:ph type="subTitle" idx="1"/>
          </p:nvPr>
        </p:nvSpPr>
        <p:spPr>
          <a:xfrm>
            <a:off x="456557" y="3522681"/>
            <a:ext cx="10417770" cy="990600"/>
          </a:xfrm>
        </p:spPr>
        <p:txBody>
          <a:bodyPr>
            <a:normAutofit/>
          </a:bodyPr>
          <a:lstStyle/>
          <a:p>
            <a:r>
              <a:rPr lang="en-US" altLang="en-US" err="1"/>
              <a:t>Sci.D.Professor</a:t>
            </a:r>
            <a:r>
              <a:rPr lang="en-US" altLang="en-US"/>
              <a:t> Vazgen Melikyan</a:t>
            </a:r>
            <a:endParaRPr lang="ru-RU" altLang="en-US"/>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a:xfrm>
            <a:off x="456555" y="1687591"/>
            <a:ext cx="10763895" cy="1828800"/>
          </a:xfrm>
        </p:spPr>
        <p:txBody>
          <a:bodyPr/>
          <a:lstStyle/>
          <a:p>
            <a:r>
              <a:rPr lang="en-US" altLang="en-US" dirty="0"/>
              <a:t>Static Timing Analysis</a:t>
            </a:r>
            <a:endParaRPr lang="en-US" dirty="0"/>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81221D-E48E-4913-A5BD-72DF685EE9EA}"/>
              </a:ext>
            </a:extLst>
          </p:cNvPr>
          <p:cNvSpPr>
            <a:spLocks noGrp="1"/>
          </p:cNvSpPr>
          <p:nvPr>
            <p:ph sz="quarter" idx="4294967295"/>
          </p:nvPr>
        </p:nvSpPr>
        <p:spPr>
          <a:xfrm>
            <a:off x="660400" y="661988"/>
            <a:ext cx="11531600" cy="5534025"/>
          </a:xfrm>
        </p:spPr>
        <p:txBody>
          <a:bodyPr/>
          <a:lstStyle/>
          <a:p>
            <a:pPr marL="0" indent="0">
              <a:spcAft>
                <a:spcPts val="0"/>
              </a:spcAft>
              <a:buNone/>
            </a:pPr>
            <a:r>
              <a:rPr lang="en-US" sz="3200" b="1"/>
              <a:t>CONFIDENTIAL INFORMATION</a:t>
            </a:r>
          </a:p>
          <a:p>
            <a:pPr marL="0" indent="0">
              <a:buNone/>
            </a:pPr>
            <a:r>
              <a:rPr lang="en-US"/>
              <a:t>The information contained in this presentation is the confidential and proprietary information of Synopsys. You are not permitted to disseminate or use any of </a:t>
            </a:r>
            <a:br>
              <a:rPr lang="en-US"/>
            </a:br>
            <a:r>
              <a:rPr lang="en-US"/>
              <a:t>the information provided to you in this presentation outside of Synopsys without prior written authorization. </a:t>
            </a:r>
          </a:p>
          <a:p>
            <a:pPr marL="0" indent="0">
              <a:spcAft>
                <a:spcPts val="600"/>
              </a:spcAft>
              <a:buNone/>
            </a:pPr>
            <a:endParaRPr lang="en-US" sz="100"/>
          </a:p>
          <a:p>
            <a:pPr marL="0" indent="0">
              <a:spcAft>
                <a:spcPts val="0"/>
              </a:spcAft>
              <a:buNone/>
            </a:pPr>
            <a:r>
              <a:rPr lang="en-US" sz="3200" b="1"/>
              <a:t>IMPORTANT NOTICE</a:t>
            </a:r>
          </a:p>
          <a:p>
            <a:pPr marL="0" indent="0">
              <a:buNone/>
            </a:pPr>
            <a:r>
              <a:rPr lang="en-US"/>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108605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30D35A79-8FCF-436C-BEB2-1F9B3CF68428}"/>
              </a:ext>
            </a:extLst>
          </p:cNvPr>
          <p:cNvSpPr>
            <a:spLocks noGrp="1"/>
          </p:cNvSpPr>
          <p:nvPr>
            <p:ph type="title"/>
          </p:nvPr>
        </p:nvSpPr>
        <p:spPr/>
        <p:txBody>
          <a:bodyPr/>
          <a:lstStyle/>
          <a:p>
            <a:r>
              <a:rPr lang="en-US" altLang="en-US"/>
              <a:t>Course Overview</a:t>
            </a:r>
          </a:p>
        </p:txBody>
      </p:sp>
      <p:sp>
        <p:nvSpPr>
          <p:cNvPr id="8195" name="Content Placeholder 2">
            <a:extLst>
              <a:ext uri="{FF2B5EF4-FFF2-40B4-BE49-F238E27FC236}">
                <a16:creationId xmlns:a16="http://schemas.microsoft.com/office/drawing/2014/main" id="{24593AA4-E0E8-467D-871B-C6D9B69BF5BE}"/>
              </a:ext>
            </a:extLst>
          </p:cNvPr>
          <p:cNvSpPr>
            <a:spLocks noGrp="1"/>
          </p:cNvSpPr>
          <p:nvPr>
            <p:ph type="body" sz="quarter" idx="10"/>
          </p:nvPr>
        </p:nvSpPr>
        <p:spPr/>
        <p:txBody>
          <a:bodyPr/>
          <a:lstStyle/>
          <a:p>
            <a:r>
              <a:rPr lang="en-US" altLang="en-US" sz="1400" dirty="0"/>
              <a:t>STA Concepts </a:t>
            </a:r>
          </a:p>
          <a:p>
            <a:pPr lvl="1"/>
            <a:r>
              <a:rPr lang="en-US" altLang="en-US" sz="1100" dirty="0"/>
              <a:t>2 lectures</a:t>
            </a:r>
          </a:p>
          <a:p>
            <a:r>
              <a:rPr lang="en-US" altLang="en-US" sz="1400" dirty="0"/>
              <a:t>Delay Modeling</a:t>
            </a:r>
          </a:p>
          <a:p>
            <a:pPr lvl="1"/>
            <a:r>
              <a:rPr lang="en-US" altLang="en-US" sz="1100" dirty="0"/>
              <a:t>2 lectures</a:t>
            </a:r>
          </a:p>
          <a:p>
            <a:r>
              <a:rPr lang="en-US" altLang="en-US" sz="1400" dirty="0"/>
              <a:t>Interconnect </a:t>
            </a:r>
            <a:r>
              <a:rPr lang="en-US" altLang="en-US" sz="1400" dirty="0" err="1"/>
              <a:t>Parasitics</a:t>
            </a:r>
            <a:endParaRPr lang="en-US" altLang="en-US" sz="1400" dirty="0"/>
          </a:p>
          <a:p>
            <a:pPr lvl="1"/>
            <a:r>
              <a:rPr lang="en-US" altLang="en-US" sz="1100" dirty="0"/>
              <a:t>2 lectures</a:t>
            </a:r>
          </a:p>
          <a:p>
            <a:r>
              <a:rPr lang="en-US" altLang="en-US" sz="1400" dirty="0"/>
              <a:t>Delay Calculation</a:t>
            </a:r>
          </a:p>
          <a:p>
            <a:pPr lvl="1"/>
            <a:r>
              <a:rPr lang="en-US" altLang="en-US" sz="1100" dirty="0"/>
              <a:t>2 lectures</a:t>
            </a:r>
          </a:p>
          <a:p>
            <a:r>
              <a:rPr lang="en-US" altLang="en-US" sz="1400" dirty="0"/>
              <a:t>Configuring the STA Environment</a:t>
            </a:r>
          </a:p>
          <a:p>
            <a:pPr lvl="1"/>
            <a:r>
              <a:rPr lang="en-US" altLang="en-US" sz="1100" dirty="0"/>
              <a:t>3 lectures</a:t>
            </a:r>
          </a:p>
          <a:p>
            <a:r>
              <a:rPr lang="en-US" altLang="en-US" sz="1400" dirty="0"/>
              <a:t>Timing Checks</a:t>
            </a:r>
          </a:p>
          <a:p>
            <a:pPr lvl="1"/>
            <a:r>
              <a:rPr lang="en-US" altLang="en-US" sz="1100" dirty="0"/>
              <a:t>1 lecture</a:t>
            </a:r>
          </a:p>
          <a:p>
            <a:r>
              <a:rPr lang="en-US" altLang="en-US" sz="1400" dirty="0"/>
              <a:t>Crosstalk and Noise</a:t>
            </a:r>
          </a:p>
          <a:p>
            <a:pPr lvl="1"/>
            <a:r>
              <a:rPr lang="en-US" altLang="en-US" sz="1100" dirty="0"/>
              <a:t>2 lectures</a:t>
            </a:r>
          </a:p>
          <a:p>
            <a:r>
              <a:rPr lang="en-US" altLang="en-US" sz="1400" dirty="0">
                <a:solidFill>
                  <a:srgbClr val="0000FF"/>
                </a:solidFill>
              </a:rPr>
              <a:t>Statistical  Static Timing Analysis</a:t>
            </a:r>
          </a:p>
          <a:p>
            <a:pPr lvl="1"/>
            <a:r>
              <a:rPr lang="en-US" altLang="en-US" sz="1100" dirty="0">
                <a:solidFill>
                  <a:srgbClr val="0000FF"/>
                </a:solidFill>
              </a:rPr>
              <a:t>2 lectures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04C0BB-FB11-4807-B6DD-578747B32F0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E2DDDBD-1B61-49B4-AC74-9FC33B6330C0}"/>
              </a:ext>
            </a:extLst>
          </p:cNvPr>
          <p:cNvSpPr>
            <a:spLocks noGrp="1"/>
          </p:cNvSpPr>
          <p:nvPr>
            <p:ph type="body" sz="quarter" idx="10"/>
          </p:nvPr>
        </p:nvSpPr>
        <p:spPr>
          <a:xfrm>
            <a:off x="456876" y="2409824"/>
            <a:ext cx="11278244" cy="3990976"/>
          </a:xfrm>
        </p:spPr>
        <p:txBody>
          <a:bodyPr/>
          <a:lstStyle/>
          <a:p>
            <a:pPr>
              <a:buFont typeface="+mj-lt"/>
              <a:buAutoNum type="arabicPeriod" startAt="8"/>
            </a:pPr>
            <a:r>
              <a:rPr lang="en-US" altLang="en-US" dirty="0"/>
              <a:t>Statistical  Static Timing Analysis</a:t>
            </a:r>
          </a:p>
          <a:p>
            <a:pPr>
              <a:buAutoNum type="arabicPeriod" startAt="8"/>
            </a:pP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Variability </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0"/>
              </p:nvPr>
            </p:nvSpPr>
            <p:spPr/>
            <p:txBody>
              <a:bodyPr/>
              <a:lstStyle/>
              <a:p>
                <a:r>
                  <a:rPr lang="en-US" dirty="0"/>
                  <a:t>On-chip variation (OCV)</a:t>
                </a:r>
              </a:p>
              <a:p>
                <a:pPr lvl="1"/>
                <a:r>
                  <a:rPr lang="en-US" dirty="0"/>
                  <a:t>Device</a:t>
                </a:r>
              </a:p>
              <a:p>
                <a:pPr lvl="1"/>
                <a:r>
                  <a:rPr lang="en-US" dirty="0"/>
                  <a:t>Interconnect</a:t>
                </a:r>
                <a:r>
                  <a:rPr lang="ru-RU" dirty="0"/>
                  <a:t> </a:t>
                </a:r>
                <a:endParaRPr lang="en-US" dirty="0"/>
              </a:p>
              <a:p>
                <a:r>
                  <a:rPr lang="en-US" dirty="0"/>
                  <a:t>Operating conditions</a:t>
                </a:r>
              </a:p>
              <a:p>
                <a:pPr lvl="1"/>
                <a:r>
                  <a:rPr lang="en-US" dirty="0"/>
                  <a:t>Temperature</a:t>
                </a:r>
              </a:p>
              <a:p>
                <a:pPr lvl="1"/>
                <a:r>
                  <a:rPr lang="en-US" dirty="0"/>
                  <a:t>Voltage</a:t>
                </a:r>
              </a:p>
              <a:p>
                <a:pPr lvl="1"/>
                <a14:m>
                  <m:oMath xmlns:m="http://schemas.openxmlformats.org/officeDocument/2006/math">
                    <m:r>
                      <a:rPr lang="en-US" smtClean="0">
                        <a:latin typeface="Cambria Math"/>
                      </a:rPr>
                      <m:t>⋯</m:t>
                    </m:r>
                  </m:oMath>
                </a14:m>
                <a:endParaRPr lang="en-US" dirty="0"/>
              </a:p>
              <a:p>
                <a:pPr lvl="1"/>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0"/>
              </p:nvPr>
            </p:nvSpPr>
            <p:spPr>
              <a:blipFill>
                <a:blip r:embed="rId3"/>
                <a:stretch>
                  <a:fillRect l="-324" t="-823"/>
                </a:stretch>
              </a:blipFill>
            </p:spPr>
            <p:txBody>
              <a:bodyPr/>
              <a:lstStyle/>
              <a:p>
                <a:r>
                  <a:rPr lang="en-US">
                    <a:noFill/>
                  </a:rPr>
                  <a:t> </a:t>
                </a:r>
              </a:p>
            </p:txBody>
          </p:sp>
        </mc:Fallback>
      </mc:AlternateContent>
    </p:spTree>
    <p:extLst>
      <p:ext uri="{BB962C8B-B14F-4D97-AF65-F5344CB8AC3E}">
        <p14:creationId xmlns:p14="http://schemas.microsoft.com/office/powerpoint/2010/main" val="2429106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Process Variation Sources and Types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0"/>
              </p:nvPr>
            </p:nvSpPr>
            <p:spPr/>
            <p:txBody>
              <a:bodyPr/>
              <a:lstStyle/>
              <a:p>
                <a:r>
                  <a:rPr lang="en-US" dirty="0"/>
                  <a:t>Types</a:t>
                </a:r>
              </a:p>
              <a:p>
                <a:pPr lvl="1"/>
                <a:r>
                  <a:rPr lang="en-US" sz="1800" dirty="0"/>
                  <a:t>Systematic </a:t>
                </a:r>
              </a:p>
              <a:p>
                <a:pPr lvl="1"/>
                <a:r>
                  <a:rPr lang="en-US" sz="1800" dirty="0"/>
                  <a:t>Random</a:t>
                </a:r>
              </a:p>
              <a:p>
                <a:r>
                  <a:rPr lang="en-US" dirty="0"/>
                  <a:t>Sources</a:t>
                </a:r>
              </a:p>
              <a:p>
                <a:pPr lvl="1"/>
                <a:r>
                  <a:rPr lang="en-US" sz="1800" dirty="0"/>
                  <a:t>Lithography induced Variations</a:t>
                </a:r>
              </a:p>
              <a:p>
                <a:pPr lvl="1"/>
                <a:r>
                  <a:rPr lang="en-US" sz="1800" dirty="0"/>
                  <a:t>Etch induced Variations</a:t>
                </a:r>
              </a:p>
              <a:p>
                <a:pPr lvl="1"/>
                <a:r>
                  <a:rPr lang="en-US" sz="1800" dirty="0"/>
                  <a:t>CMP induced Variations</a:t>
                </a:r>
              </a:p>
              <a:p>
                <a:pPr lvl="1"/>
                <a:r>
                  <a:rPr lang="en-US" sz="1800" dirty="0"/>
                  <a:t>Random Dopant Fluctuations </a:t>
                </a:r>
              </a:p>
              <a:p>
                <a:pPr lvl="1"/>
                <a:r>
                  <a:rPr lang="en-US" sz="1800" dirty="0"/>
                  <a:t>Interconnect Variations </a:t>
                </a:r>
              </a:p>
              <a:p>
                <a:pPr lvl="1"/>
                <a:r>
                  <a:rPr lang="en-US" sz="1800" dirty="0"/>
                  <a:t>Non-Linear Resistance </a:t>
                </a:r>
              </a:p>
              <a:p>
                <a:pPr lvl="1"/>
                <a:r>
                  <a:rPr lang="en-US" sz="1800" dirty="0"/>
                  <a:t>Metal Mismatch </a:t>
                </a:r>
              </a:p>
              <a:p>
                <a:pPr lvl="1"/>
                <a14:m>
                  <m:oMath xmlns:m="http://schemas.openxmlformats.org/officeDocument/2006/math">
                    <m:r>
                      <a:rPr lang="en-US" sz="1800">
                        <a:latin typeface="Cambria Math"/>
                      </a:rPr>
                      <m:t>⋯</m:t>
                    </m:r>
                  </m:oMath>
                </a14:m>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0"/>
              </p:nvPr>
            </p:nvSpPr>
            <p:spPr>
              <a:blipFill>
                <a:blip r:embed="rId3"/>
                <a:stretch>
                  <a:fillRect l="-324" t="-823"/>
                </a:stretch>
              </a:blipFill>
            </p:spPr>
            <p:txBody>
              <a:bodyPr/>
              <a:lstStyle/>
              <a:p>
                <a:r>
                  <a:rPr lang="en-US">
                    <a:noFill/>
                  </a:rPr>
                  <a:t> </a:t>
                </a:r>
              </a:p>
            </p:txBody>
          </p:sp>
        </mc:Fallback>
      </mc:AlternateContent>
    </p:spTree>
    <p:extLst>
      <p:ext uri="{BB962C8B-B14F-4D97-AF65-F5344CB8AC3E}">
        <p14:creationId xmlns:p14="http://schemas.microsoft.com/office/powerpoint/2010/main" val="4159103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505290D-586D-4E24-9495-3D91ECE45539}"/>
              </a:ext>
            </a:extLst>
          </p:cNvPr>
          <p:cNvSpPr>
            <a:spLocks noGrp="1"/>
          </p:cNvSpPr>
          <p:nvPr>
            <p:ph type="title"/>
          </p:nvPr>
        </p:nvSpPr>
        <p:spPr/>
        <p:txBody>
          <a:bodyPr/>
          <a:lstStyle/>
          <a:p>
            <a:r>
              <a:rPr lang="en-US" altLang="en-US"/>
              <a:t>Modeling Variation</a:t>
            </a:r>
          </a:p>
        </p:txBody>
      </p:sp>
      <p:grpSp>
        <p:nvGrpSpPr>
          <p:cNvPr id="15363" name="Group 17">
            <a:extLst>
              <a:ext uri="{FF2B5EF4-FFF2-40B4-BE49-F238E27FC236}">
                <a16:creationId xmlns:a16="http://schemas.microsoft.com/office/drawing/2014/main" id="{43DDFE90-0E78-4405-9D6C-EFA1DA076436}"/>
              </a:ext>
            </a:extLst>
          </p:cNvPr>
          <p:cNvGrpSpPr>
            <a:grpSpLocks/>
          </p:cNvGrpSpPr>
          <p:nvPr/>
        </p:nvGrpSpPr>
        <p:grpSpPr bwMode="auto">
          <a:xfrm>
            <a:off x="7910514" y="3806825"/>
            <a:ext cx="1284287" cy="787400"/>
            <a:chOff x="3362" y="1253"/>
            <a:chExt cx="1375" cy="843"/>
          </a:xfrm>
        </p:grpSpPr>
        <p:sp>
          <p:nvSpPr>
            <p:cNvPr id="15384" name="Line 8">
              <a:extLst>
                <a:ext uri="{FF2B5EF4-FFF2-40B4-BE49-F238E27FC236}">
                  <a16:creationId xmlns:a16="http://schemas.microsoft.com/office/drawing/2014/main" id="{75EAFC2C-DC38-440D-BA52-4B5C633F69C7}"/>
                </a:ext>
              </a:extLst>
            </p:cNvPr>
            <p:cNvSpPr>
              <a:spLocks noChangeShapeType="1"/>
            </p:cNvSpPr>
            <p:nvPr/>
          </p:nvSpPr>
          <p:spPr bwMode="auto">
            <a:xfrm flipV="1">
              <a:off x="3803" y="1253"/>
              <a:ext cx="0" cy="84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5" name="Line 9">
              <a:extLst>
                <a:ext uri="{FF2B5EF4-FFF2-40B4-BE49-F238E27FC236}">
                  <a16:creationId xmlns:a16="http://schemas.microsoft.com/office/drawing/2014/main" id="{11E7BE21-AE11-4F6D-A990-B7E7C727A435}"/>
                </a:ext>
              </a:extLst>
            </p:cNvPr>
            <p:cNvSpPr>
              <a:spLocks noChangeShapeType="1"/>
            </p:cNvSpPr>
            <p:nvPr/>
          </p:nvSpPr>
          <p:spPr bwMode="auto">
            <a:xfrm>
              <a:off x="3362" y="2042"/>
              <a:ext cx="1311"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6" name="Freeform 10">
              <a:extLst>
                <a:ext uri="{FF2B5EF4-FFF2-40B4-BE49-F238E27FC236}">
                  <a16:creationId xmlns:a16="http://schemas.microsoft.com/office/drawing/2014/main" id="{17A737F8-87D3-405E-86A2-4101D86E82B5}"/>
                </a:ext>
              </a:extLst>
            </p:cNvPr>
            <p:cNvSpPr>
              <a:spLocks/>
            </p:cNvSpPr>
            <p:nvPr/>
          </p:nvSpPr>
          <p:spPr bwMode="auto">
            <a:xfrm>
              <a:off x="3526" y="1498"/>
              <a:ext cx="492" cy="544"/>
            </a:xfrm>
            <a:custGeom>
              <a:avLst/>
              <a:gdLst>
                <a:gd name="T0" fmla="*/ 0 w 2112"/>
                <a:gd name="T1" fmla="*/ 1 h 1072"/>
                <a:gd name="T2" fmla="*/ 0 w 2112"/>
                <a:gd name="T3" fmla="*/ 1 h 1072"/>
                <a:gd name="T4" fmla="*/ 0 w 2112"/>
                <a:gd name="T5" fmla="*/ 1 h 1072"/>
                <a:gd name="T6" fmla="*/ 0 w 2112"/>
                <a:gd name="T7" fmla="*/ 1 h 1072"/>
                <a:gd name="T8" fmla="*/ 0 w 2112"/>
                <a:gd name="T9" fmla="*/ 1 h 1072"/>
                <a:gd name="T10" fmla="*/ 0 w 2112"/>
                <a:gd name="T11" fmla="*/ 1 h 1072"/>
                <a:gd name="T12" fmla="*/ 0 w 2112"/>
                <a:gd name="T13" fmla="*/ 1 h 1072"/>
                <a:gd name="T14" fmla="*/ 0 w 2112"/>
                <a:gd name="T15" fmla="*/ 1 h 1072"/>
                <a:gd name="T16" fmla="*/ 0 w 2112"/>
                <a:gd name="T17" fmla="*/ 1 h 1072"/>
                <a:gd name="T18" fmla="*/ 0 w 2112"/>
                <a:gd name="T19" fmla="*/ 1 h 10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12"/>
                <a:gd name="T31" fmla="*/ 0 h 1072"/>
                <a:gd name="T32" fmla="*/ 2112 w 2112"/>
                <a:gd name="T33" fmla="*/ 1072 h 107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12" h="1072">
                  <a:moveTo>
                    <a:pt x="0" y="1072"/>
                  </a:moveTo>
                  <a:cubicBezTo>
                    <a:pt x="132" y="1048"/>
                    <a:pt x="264" y="1024"/>
                    <a:pt x="384" y="928"/>
                  </a:cubicBezTo>
                  <a:cubicBezTo>
                    <a:pt x="504" y="832"/>
                    <a:pt x="624" y="632"/>
                    <a:pt x="720" y="496"/>
                  </a:cubicBezTo>
                  <a:cubicBezTo>
                    <a:pt x="816" y="360"/>
                    <a:pt x="880" y="192"/>
                    <a:pt x="960" y="112"/>
                  </a:cubicBezTo>
                  <a:cubicBezTo>
                    <a:pt x="1040" y="32"/>
                    <a:pt x="1120" y="0"/>
                    <a:pt x="1200" y="16"/>
                  </a:cubicBezTo>
                  <a:cubicBezTo>
                    <a:pt x="1280" y="32"/>
                    <a:pt x="1368" y="112"/>
                    <a:pt x="1440" y="208"/>
                  </a:cubicBezTo>
                  <a:cubicBezTo>
                    <a:pt x="1512" y="304"/>
                    <a:pt x="1568" y="488"/>
                    <a:pt x="1632" y="592"/>
                  </a:cubicBezTo>
                  <a:cubicBezTo>
                    <a:pt x="1696" y="696"/>
                    <a:pt x="1768" y="768"/>
                    <a:pt x="1824" y="832"/>
                  </a:cubicBezTo>
                  <a:cubicBezTo>
                    <a:pt x="1880" y="896"/>
                    <a:pt x="1920" y="936"/>
                    <a:pt x="1968" y="976"/>
                  </a:cubicBezTo>
                  <a:cubicBezTo>
                    <a:pt x="2016" y="1016"/>
                    <a:pt x="2064" y="1044"/>
                    <a:pt x="2112" y="1072"/>
                  </a:cubicBezTo>
                </a:path>
              </a:pathLst>
            </a:custGeom>
            <a:noFill/>
            <a:ln w="317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87" name="Text Box 13">
              <a:extLst>
                <a:ext uri="{FF2B5EF4-FFF2-40B4-BE49-F238E27FC236}">
                  <a16:creationId xmlns:a16="http://schemas.microsoft.com/office/drawing/2014/main" id="{ACDDAFB7-24C2-4CE7-B7A9-756B14526871}"/>
                </a:ext>
              </a:extLst>
            </p:cNvPr>
            <p:cNvSpPr txBox="1">
              <a:spLocks noChangeArrowheads="1"/>
            </p:cNvSpPr>
            <p:nvPr/>
          </p:nvSpPr>
          <p:spPr bwMode="auto">
            <a:xfrm>
              <a:off x="3802" y="1289"/>
              <a:ext cx="93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600"/>
                <a:t>random</a:t>
              </a:r>
            </a:p>
          </p:txBody>
        </p:sp>
      </p:grpSp>
      <p:grpSp>
        <p:nvGrpSpPr>
          <p:cNvPr id="15364" name="Group 30">
            <a:extLst>
              <a:ext uri="{FF2B5EF4-FFF2-40B4-BE49-F238E27FC236}">
                <a16:creationId xmlns:a16="http://schemas.microsoft.com/office/drawing/2014/main" id="{B8307362-BCDC-420E-9751-BAEACB7C8F50}"/>
              </a:ext>
            </a:extLst>
          </p:cNvPr>
          <p:cNvGrpSpPr>
            <a:grpSpLocks/>
          </p:cNvGrpSpPr>
          <p:nvPr/>
        </p:nvGrpSpPr>
        <p:grpSpPr bwMode="auto">
          <a:xfrm>
            <a:off x="6672263" y="1639889"/>
            <a:ext cx="1223962" cy="852487"/>
            <a:chOff x="4014" y="1502"/>
            <a:chExt cx="771" cy="537"/>
          </a:xfrm>
        </p:grpSpPr>
        <p:sp>
          <p:nvSpPr>
            <p:cNvPr id="15380" name="Line 4">
              <a:extLst>
                <a:ext uri="{FF2B5EF4-FFF2-40B4-BE49-F238E27FC236}">
                  <a16:creationId xmlns:a16="http://schemas.microsoft.com/office/drawing/2014/main" id="{B2E55F96-423F-44CC-8C25-87F12E52F035}"/>
                </a:ext>
              </a:extLst>
            </p:cNvPr>
            <p:cNvSpPr>
              <a:spLocks noChangeShapeType="1"/>
            </p:cNvSpPr>
            <p:nvPr/>
          </p:nvSpPr>
          <p:spPr bwMode="auto">
            <a:xfrm flipV="1">
              <a:off x="4273" y="1569"/>
              <a:ext cx="0" cy="47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1" name="Line 5">
              <a:extLst>
                <a:ext uri="{FF2B5EF4-FFF2-40B4-BE49-F238E27FC236}">
                  <a16:creationId xmlns:a16="http://schemas.microsoft.com/office/drawing/2014/main" id="{4191F35A-F103-485D-8CC5-4B24704CF4EC}"/>
                </a:ext>
              </a:extLst>
            </p:cNvPr>
            <p:cNvSpPr>
              <a:spLocks noChangeShapeType="1"/>
            </p:cNvSpPr>
            <p:nvPr/>
          </p:nvSpPr>
          <p:spPr bwMode="auto">
            <a:xfrm>
              <a:off x="4014" y="2007"/>
              <a:ext cx="771"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2" name="Freeform 6">
              <a:extLst>
                <a:ext uri="{FF2B5EF4-FFF2-40B4-BE49-F238E27FC236}">
                  <a16:creationId xmlns:a16="http://schemas.microsoft.com/office/drawing/2014/main" id="{8D4DE42D-922C-4449-8526-D3C185880635}"/>
                </a:ext>
              </a:extLst>
            </p:cNvPr>
            <p:cNvSpPr>
              <a:spLocks/>
            </p:cNvSpPr>
            <p:nvPr/>
          </p:nvSpPr>
          <p:spPr bwMode="auto">
            <a:xfrm>
              <a:off x="4049" y="1687"/>
              <a:ext cx="692" cy="320"/>
            </a:xfrm>
            <a:custGeom>
              <a:avLst/>
              <a:gdLst>
                <a:gd name="T0" fmla="*/ 0 w 2112"/>
                <a:gd name="T1" fmla="*/ 0 h 1072"/>
                <a:gd name="T2" fmla="*/ 0 w 2112"/>
                <a:gd name="T3" fmla="*/ 0 h 1072"/>
                <a:gd name="T4" fmla="*/ 0 w 2112"/>
                <a:gd name="T5" fmla="*/ 0 h 1072"/>
                <a:gd name="T6" fmla="*/ 0 w 2112"/>
                <a:gd name="T7" fmla="*/ 0 h 1072"/>
                <a:gd name="T8" fmla="*/ 0 w 2112"/>
                <a:gd name="T9" fmla="*/ 0 h 1072"/>
                <a:gd name="T10" fmla="*/ 0 w 2112"/>
                <a:gd name="T11" fmla="*/ 0 h 1072"/>
                <a:gd name="T12" fmla="*/ 0 w 2112"/>
                <a:gd name="T13" fmla="*/ 0 h 1072"/>
                <a:gd name="T14" fmla="*/ 0 w 2112"/>
                <a:gd name="T15" fmla="*/ 0 h 1072"/>
                <a:gd name="T16" fmla="*/ 0 w 2112"/>
                <a:gd name="T17" fmla="*/ 0 h 1072"/>
                <a:gd name="T18" fmla="*/ 0 w 2112"/>
                <a:gd name="T19" fmla="*/ 0 h 10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12"/>
                <a:gd name="T31" fmla="*/ 0 h 1072"/>
                <a:gd name="T32" fmla="*/ 2112 w 2112"/>
                <a:gd name="T33" fmla="*/ 1072 h 107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12" h="1072">
                  <a:moveTo>
                    <a:pt x="0" y="1072"/>
                  </a:moveTo>
                  <a:cubicBezTo>
                    <a:pt x="132" y="1048"/>
                    <a:pt x="264" y="1024"/>
                    <a:pt x="384" y="928"/>
                  </a:cubicBezTo>
                  <a:cubicBezTo>
                    <a:pt x="504" y="832"/>
                    <a:pt x="624" y="632"/>
                    <a:pt x="720" y="496"/>
                  </a:cubicBezTo>
                  <a:cubicBezTo>
                    <a:pt x="816" y="360"/>
                    <a:pt x="880" y="192"/>
                    <a:pt x="960" y="112"/>
                  </a:cubicBezTo>
                  <a:cubicBezTo>
                    <a:pt x="1040" y="32"/>
                    <a:pt x="1120" y="0"/>
                    <a:pt x="1200" y="16"/>
                  </a:cubicBezTo>
                  <a:cubicBezTo>
                    <a:pt x="1280" y="32"/>
                    <a:pt x="1368" y="112"/>
                    <a:pt x="1440" y="208"/>
                  </a:cubicBezTo>
                  <a:cubicBezTo>
                    <a:pt x="1512" y="304"/>
                    <a:pt x="1568" y="488"/>
                    <a:pt x="1632" y="592"/>
                  </a:cubicBezTo>
                  <a:cubicBezTo>
                    <a:pt x="1696" y="696"/>
                    <a:pt x="1768" y="768"/>
                    <a:pt x="1824" y="832"/>
                  </a:cubicBezTo>
                  <a:cubicBezTo>
                    <a:pt x="1880" y="896"/>
                    <a:pt x="1920" y="936"/>
                    <a:pt x="1968" y="976"/>
                  </a:cubicBezTo>
                  <a:cubicBezTo>
                    <a:pt x="2016" y="1016"/>
                    <a:pt x="2064" y="1044"/>
                    <a:pt x="2112" y="1072"/>
                  </a:cubicBezTo>
                </a:path>
              </a:pathLst>
            </a:cu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83" name="Text Box 14">
              <a:extLst>
                <a:ext uri="{FF2B5EF4-FFF2-40B4-BE49-F238E27FC236}">
                  <a16:creationId xmlns:a16="http://schemas.microsoft.com/office/drawing/2014/main" id="{DF61BC0D-8D2C-49AA-B7EA-D2CD3E759C61}"/>
                </a:ext>
              </a:extLst>
            </p:cNvPr>
            <p:cNvSpPr txBox="1">
              <a:spLocks noChangeArrowheads="1"/>
            </p:cNvSpPr>
            <p:nvPr/>
          </p:nvSpPr>
          <p:spPr bwMode="auto">
            <a:xfrm>
              <a:off x="4427" y="1502"/>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600"/>
                <a:t>total</a:t>
              </a:r>
            </a:p>
          </p:txBody>
        </p:sp>
      </p:grpSp>
      <p:sp>
        <p:nvSpPr>
          <p:cNvPr id="15365" name="Line 18">
            <a:extLst>
              <a:ext uri="{FF2B5EF4-FFF2-40B4-BE49-F238E27FC236}">
                <a16:creationId xmlns:a16="http://schemas.microsoft.com/office/drawing/2014/main" id="{1C74580B-BEBF-4397-B71A-3A27C2713C3A}"/>
              </a:ext>
            </a:extLst>
          </p:cNvPr>
          <p:cNvSpPr>
            <a:spLocks noChangeShapeType="1"/>
          </p:cNvSpPr>
          <p:nvPr/>
        </p:nvSpPr>
        <p:spPr bwMode="auto">
          <a:xfrm flipH="1">
            <a:off x="5808663" y="1412876"/>
            <a:ext cx="0" cy="12239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5366" name="Group 22">
            <a:extLst>
              <a:ext uri="{FF2B5EF4-FFF2-40B4-BE49-F238E27FC236}">
                <a16:creationId xmlns:a16="http://schemas.microsoft.com/office/drawing/2014/main" id="{03B39468-E1F1-4980-B067-785CA2EFE74F}"/>
              </a:ext>
            </a:extLst>
          </p:cNvPr>
          <p:cNvGrpSpPr>
            <a:grpSpLocks/>
          </p:cNvGrpSpPr>
          <p:nvPr/>
        </p:nvGrpSpPr>
        <p:grpSpPr bwMode="auto">
          <a:xfrm>
            <a:off x="3998914" y="2647950"/>
            <a:ext cx="3571875" cy="636588"/>
            <a:chOff x="1179" y="2024"/>
            <a:chExt cx="3130" cy="227"/>
          </a:xfrm>
        </p:grpSpPr>
        <p:sp>
          <p:nvSpPr>
            <p:cNvPr id="15377" name="Line 23">
              <a:extLst>
                <a:ext uri="{FF2B5EF4-FFF2-40B4-BE49-F238E27FC236}">
                  <a16:creationId xmlns:a16="http://schemas.microsoft.com/office/drawing/2014/main" id="{10B8436D-BC7F-4B63-95CF-C81419448340}"/>
                </a:ext>
              </a:extLst>
            </p:cNvPr>
            <p:cNvSpPr>
              <a:spLocks noChangeShapeType="1"/>
            </p:cNvSpPr>
            <p:nvPr/>
          </p:nvSpPr>
          <p:spPr bwMode="auto">
            <a:xfrm>
              <a:off x="1179" y="2024"/>
              <a:ext cx="0"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8" name="Line 24">
              <a:extLst>
                <a:ext uri="{FF2B5EF4-FFF2-40B4-BE49-F238E27FC236}">
                  <a16:creationId xmlns:a16="http://schemas.microsoft.com/office/drawing/2014/main" id="{84B11CE1-0171-4878-AA24-E314AC01045B}"/>
                </a:ext>
              </a:extLst>
            </p:cNvPr>
            <p:cNvSpPr>
              <a:spLocks noChangeShapeType="1"/>
            </p:cNvSpPr>
            <p:nvPr/>
          </p:nvSpPr>
          <p:spPr bwMode="auto">
            <a:xfrm>
              <a:off x="4309" y="2024"/>
              <a:ext cx="0"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9" name="Line 25">
              <a:extLst>
                <a:ext uri="{FF2B5EF4-FFF2-40B4-BE49-F238E27FC236}">
                  <a16:creationId xmlns:a16="http://schemas.microsoft.com/office/drawing/2014/main" id="{E9EAEB2D-0C61-42B6-BD0B-62FFEC0F94C6}"/>
                </a:ext>
              </a:extLst>
            </p:cNvPr>
            <p:cNvSpPr>
              <a:spLocks noChangeShapeType="1"/>
            </p:cNvSpPr>
            <p:nvPr/>
          </p:nvSpPr>
          <p:spPr bwMode="auto">
            <a:xfrm>
              <a:off x="1179" y="2024"/>
              <a:ext cx="313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367" name="Line 28">
            <a:extLst>
              <a:ext uri="{FF2B5EF4-FFF2-40B4-BE49-F238E27FC236}">
                <a16:creationId xmlns:a16="http://schemas.microsoft.com/office/drawing/2014/main" id="{AACE29FA-FC26-4676-9A76-4107B468A3CB}"/>
              </a:ext>
            </a:extLst>
          </p:cNvPr>
          <p:cNvSpPr>
            <a:spLocks noChangeShapeType="1"/>
          </p:cNvSpPr>
          <p:nvPr/>
        </p:nvSpPr>
        <p:spPr bwMode="auto">
          <a:xfrm>
            <a:off x="4008438" y="3681414"/>
            <a:ext cx="0" cy="9350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 name="Rectangle 20">
            <a:extLst>
              <a:ext uri="{FF2B5EF4-FFF2-40B4-BE49-F238E27FC236}">
                <a16:creationId xmlns:a16="http://schemas.microsoft.com/office/drawing/2014/main" id="{2DDC3899-6256-4505-BDC2-BF0DBB209856}"/>
              </a:ext>
            </a:extLst>
          </p:cNvPr>
          <p:cNvSpPr>
            <a:spLocks noChangeArrowheads="1"/>
          </p:cNvSpPr>
          <p:nvPr/>
        </p:nvSpPr>
        <p:spPr bwMode="auto">
          <a:xfrm>
            <a:off x="3138489" y="3284538"/>
            <a:ext cx="1724025" cy="406400"/>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eaLnBrk="1" hangingPunct="1">
              <a:defRPr/>
            </a:pPr>
            <a:r>
              <a:rPr lang="en-US" sz="2000">
                <a:solidFill>
                  <a:srgbClr val="000000"/>
                </a:solidFill>
              </a:rPr>
              <a:t>Systematic</a:t>
            </a:r>
          </a:p>
        </p:txBody>
      </p:sp>
      <p:sp>
        <p:nvSpPr>
          <p:cNvPr id="15369" name="Line 29">
            <a:extLst>
              <a:ext uri="{FF2B5EF4-FFF2-40B4-BE49-F238E27FC236}">
                <a16:creationId xmlns:a16="http://schemas.microsoft.com/office/drawing/2014/main" id="{CE202CCD-0ABB-48D8-8692-FE09EC473BE8}"/>
              </a:ext>
            </a:extLst>
          </p:cNvPr>
          <p:cNvSpPr>
            <a:spLocks noChangeShapeType="1"/>
          </p:cNvSpPr>
          <p:nvPr/>
        </p:nvSpPr>
        <p:spPr bwMode="auto">
          <a:xfrm>
            <a:off x="7572375" y="3681414"/>
            <a:ext cx="0" cy="9350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 name="Rectangle 21">
            <a:extLst>
              <a:ext uri="{FF2B5EF4-FFF2-40B4-BE49-F238E27FC236}">
                <a16:creationId xmlns:a16="http://schemas.microsoft.com/office/drawing/2014/main" id="{712C8676-F4E0-4716-80B6-6FD6DAFA2E7C}"/>
              </a:ext>
            </a:extLst>
          </p:cNvPr>
          <p:cNvSpPr>
            <a:spLocks noChangeArrowheads="1"/>
          </p:cNvSpPr>
          <p:nvPr/>
        </p:nvSpPr>
        <p:spPr bwMode="auto">
          <a:xfrm>
            <a:off x="6704014" y="3284538"/>
            <a:ext cx="1724025" cy="406400"/>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eaLnBrk="1" hangingPunct="1">
              <a:defRPr/>
            </a:pPr>
            <a:r>
              <a:rPr lang="en-US" sz="2000">
                <a:solidFill>
                  <a:srgbClr val="000000"/>
                </a:solidFill>
              </a:rPr>
              <a:t>Random</a:t>
            </a:r>
          </a:p>
        </p:txBody>
      </p:sp>
      <p:sp>
        <p:nvSpPr>
          <p:cNvPr id="15371" name="AutoShape 31">
            <a:extLst>
              <a:ext uri="{FF2B5EF4-FFF2-40B4-BE49-F238E27FC236}">
                <a16:creationId xmlns:a16="http://schemas.microsoft.com/office/drawing/2014/main" id="{BC7F7E3F-E168-4503-8556-763A3C54988D}"/>
              </a:ext>
            </a:extLst>
          </p:cNvPr>
          <p:cNvSpPr>
            <a:spLocks/>
          </p:cNvSpPr>
          <p:nvPr/>
        </p:nvSpPr>
        <p:spPr bwMode="auto">
          <a:xfrm>
            <a:off x="8688388" y="2060576"/>
            <a:ext cx="792162" cy="2232025"/>
          </a:xfrm>
          <a:prstGeom prst="rightBracket">
            <a:avLst>
              <a:gd name="adj" fmla="val 140882"/>
            </a:avLst>
          </a:prstGeom>
          <a:noFill/>
          <a:ln w="9525" algn="ctr">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5372" name="Text Box 29">
            <a:extLst>
              <a:ext uri="{FF2B5EF4-FFF2-40B4-BE49-F238E27FC236}">
                <a16:creationId xmlns:a16="http://schemas.microsoft.com/office/drawing/2014/main" id="{D6DDCE52-3BD2-49C0-A831-C824254902BE}"/>
              </a:ext>
            </a:extLst>
          </p:cNvPr>
          <p:cNvSpPr txBox="1">
            <a:spLocks noChangeArrowheads="1"/>
          </p:cNvSpPr>
          <p:nvPr/>
        </p:nvSpPr>
        <p:spPr bwMode="auto">
          <a:xfrm>
            <a:off x="2279651" y="3808413"/>
            <a:ext cx="97334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900" i="1"/>
              <a:t>e.g. lithography</a:t>
            </a:r>
          </a:p>
        </p:txBody>
      </p:sp>
      <p:sp>
        <p:nvSpPr>
          <p:cNvPr id="15373" name="Text Box 30">
            <a:extLst>
              <a:ext uri="{FF2B5EF4-FFF2-40B4-BE49-F238E27FC236}">
                <a16:creationId xmlns:a16="http://schemas.microsoft.com/office/drawing/2014/main" id="{F91D6A9D-34B6-42D7-A937-FD77E458C18F}"/>
              </a:ext>
            </a:extLst>
          </p:cNvPr>
          <p:cNvSpPr txBox="1">
            <a:spLocks noChangeArrowheads="1"/>
          </p:cNvSpPr>
          <p:nvPr/>
        </p:nvSpPr>
        <p:spPr bwMode="auto">
          <a:xfrm>
            <a:off x="6149976" y="3789363"/>
            <a:ext cx="75533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900" i="1"/>
              <a:t>e.g. doping</a:t>
            </a:r>
          </a:p>
        </p:txBody>
      </p:sp>
      <p:sp>
        <p:nvSpPr>
          <p:cNvPr id="4" name="Rectangle 20">
            <a:extLst>
              <a:ext uri="{FF2B5EF4-FFF2-40B4-BE49-F238E27FC236}">
                <a16:creationId xmlns:a16="http://schemas.microsoft.com/office/drawing/2014/main" id="{3AD70C80-3E9A-49C1-BC5F-E3854149C195}"/>
              </a:ext>
            </a:extLst>
          </p:cNvPr>
          <p:cNvSpPr>
            <a:spLocks noChangeArrowheads="1"/>
          </p:cNvSpPr>
          <p:nvPr/>
        </p:nvSpPr>
        <p:spPr bwMode="auto">
          <a:xfrm>
            <a:off x="4954589" y="1354138"/>
            <a:ext cx="1724025" cy="406400"/>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eaLnBrk="1" hangingPunct="1">
              <a:defRPr/>
            </a:pPr>
            <a:r>
              <a:rPr lang="en-US" sz="2000" dirty="0">
                <a:solidFill>
                  <a:srgbClr val="000000"/>
                </a:solidFill>
              </a:rPr>
              <a:t>Violations</a:t>
            </a:r>
          </a:p>
        </p:txBody>
      </p:sp>
      <p:sp>
        <p:nvSpPr>
          <p:cNvPr id="29" name="Rectangle 20">
            <a:extLst>
              <a:ext uri="{FF2B5EF4-FFF2-40B4-BE49-F238E27FC236}">
                <a16:creationId xmlns:a16="http://schemas.microsoft.com/office/drawing/2014/main" id="{B1E80B9A-D9D9-4D06-B984-9BAAD3E2DFA9}"/>
              </a:ext>
            </a:extLst>
          </p:cNvPr>
          <p:cNvSpPr>
            <a:spLocks noChangeArrowheads="1"/>
          </p:cNvSpPr>
          <p:nvPr/>
        </p:nvSpPr>
        <p:spPr bwMode="auto">
          <a:xfrm>
            <a:off x="2711451" y="4625976"/>
            <a:ext cx="2608263" cy="646113"/>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spAutoFit/>
          </a:bodyPr>
          <a:lstStyle/>
          <a:p>
            <a:pPr marL="342900" indent="-342900">
              <a:defRPr/>
            </a:pPr>
            <a:r>
              <a:rPr lang="en-US" dirty="0">
                <a:solidFill>
                  <a:srgbClr val="000000"/>
                </a:solidFill>
              </a:rPr>
              <a:t>Deterministic models </a:t>
            </a:r>
          </a:p>
          <a:p>
            <a:pPr marL="342900" indent="-342900">
              <a:defRPr/>
            </a:pPr>
            <a:r>
              <a:rPr lang="en-US" dirty="0">
                <a:solidFill>
                  <a:srgbClr val="000000"/>
                </a:solidFill>
              </a:rPr>
              <a:t>=&gt; predict variations</a:t>
            </a:r>
          </a:p>
        </p:txBody>
      </p:sp>
      <p:sp>
        <p:nvSpPr>
          <p:cNvPr id="30" name="Rectangle 20">
            <a:extLst>
              <a:ext uri="{FF2B5EF4-FFF2-40B4-BE49-F238E27FC236}">
                <a16:creationId xmlns:a16="http://schemas.microsoft.com/office/drawing/2014/main" id="{7498733F-4DC5-4221-BDDE-1B6B1A8E9746}"/>
              </a:ext>
            </a:extLst>
          </p:cNvPr>
          <p:cNvSpPr>
            <a:spLocks noChangeArrowheads="1"/>
          </p:cNvSpPr>
          <p:nvPr/>
        </p:nvSpPr>
        <p:spPr bwMode="auto">
          <a:xfrm>
            <a:off x="5988050" y="4629151"/>
            <a:ext cx="3206750" cy="923925"/>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spAutoFit/>
          </a:bodyPr>
          <a:lstStyle/>
          <a:p>
            <a:pPr marL="342900" indent="-342900">
              <a:defRPr/>
            </a:pPr>
            <a:r>
              <a:rPr lang="en-US" dirty="0">
                <a:solidFill>
                  <a:srgbClr val="000000"/>
                </a:solidFill>
              </a:rPr>
              <a:t>Deterministic models don’t exist. Known min-max range or distribution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7B8DA7D1-194B-4A46-BBC4-71A94E45FD96}"/>
              </a:ext>
            </a:extLst>
          </p:cNvPr>
          <p:cNvSpPr>
            <a:spLocks noGrp="1"/>
          </p:cNvSpPr>
          <p:nvPr>
            <p:ph type="title"/>
          </p:nvPr>
        </p:nvSpPr>
        <p:spPr/>
        <p:txBody>
          <a:bodyPr/>
          <a:lstStyle/>
          <a:p>
            <a:r>
              <a:rPr lang="en-US" altLang="en-US"/>
              <a:t>Process Corners</a:t>
            </a:r>
          </a:p>
        </p:txBody>
      </p:sp>
      <p:cxnSp>
        <p:nvCxnSpPr>
          <p:cNvPr id="17411" name="Straight Arrow Connector 9">
            <a:extLst>
              <a:ext uri="{FF2B5EF4-FFF2-40B4-BE49-F238E27FC236}">
                <a16:creationId xmlns:a16="http://schemas.microsoft.com/office/drawing/2014/main" id="{890B5A03-DA53-4F38-AAE2-C917F7B76845}"/>
              </a:ext>
            </a:extLst>
          </p:cNvPr>
          <p:cNvCxnSpPr>
            <a:cxnSpLocks noChangeShapeType="1"/>
          </p:cNvCxnSpPr>
          <p:nvPr/>
        </p:nvCxnSpPr>
        <p:spPr bwMode="auto">
          <a:xfrm rot="5400000" flipH="1" flipV="1">
            <a:off x="3028157" y="3161507"/>
            <a:ext cx="2774950" cy="1587"/>
          </a:xfrm>
          <a:prstGeom prst="straightConnector1">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412" name="Straight Arrow Connector 11">
            <a:extLst>
              <a:ext uri="{FF2B5EF4-FFF2-40B4-BE49-F238E27FC236}">
                <a16:creationId xmlns:a16="http://schemas.microsoft.com/office/drawing/2014/main" id="{189A3F60-B302-4A4B-B3CF-EE9ECEAB11DB}"/>
              </a:ext>
            </a:extLst>
          </p:cNvPr>
          <p:cNvCxnSpPr>
            <a:cxnSpLocks noChangeShapeType="1"/>
          </p:cNvCxnSpPr>
          <p:nvPr/>
        </p:nvCxnSpPr>
        <p:spPr bwMode="auto">
          <a:xfrm flipV="1">
            <a:off x="4416426" y="4532313"/>
            <a:ext cx="3687763" cy="0"/>
          </a:xfrm>
          <a:prstGeom prst="straightConnector1">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413" name="Straight Arrow Connector 15">
            <a:extLst>
              <a:ext uri="{FF2B5EF4-FFF2-40B4-BE49-F238E27FC236}">
                <a16:creationId xmlns:a16="http://schemas.microsoft.com/office/drawing/2014/main" id="{6E44ADB0-C2D4-48F0-859D-392692E62730}"/>
              </a:ext>
            </a:extLst>
          </p:cNvPr>
          <p:cNvCxnSpPr>
            <a:cxnSpLocks noChangeShapeType="1"/>
          </p:cNvCxnSpPr>
          <p:nvPr/>
        </p:nvCxnSpPr>
        <p:spPr bwMode="auto">
          <a:xfrm rot="10800000">
            <a:off x="5110163" y="4038600"/>
            <a:ext cx="730250" cy="292100"/>
          </a:xfrm>
          <a:prstGeom prst="straightConnector1">
            <a:avLst/>
          </a:prstGeom>
          <a:noFill/>
          <a:ln w="9525" algn="ctr">
            <a:solidFill>
              <a:schemeClr val="tx1"/>
            </a:solidFill>
            <a:round/>
            <a:headEnd/>
            <a:tailEnd type="triangle" w="med" len="med"/>
          </a:ln>
        </p:spPr>
      </p:cxnSp>
      <p:cxnSp>
        <p:nvCxnSpPr>
          <p:cNvPr id="17414" name="Straight Arrow Connector 19">
            <a:extLst>
              <a:ext uri="{FF2B5EF4-FFF2-40B4-BE49-F238E27FC236}">
                <a16:creationId xmlns:a16="http://schemas.microsoft.com/office/drawing/2014/main" id="{65856D5E-22B9-4B72-AAA1-5F0C2E50405F}"/>
              </a:ext>
            </a:extLst>
          </p:cNvPr>
          <p:cNvCxnSpPr>
            <a:cxnSpLocks noChangeShapeType="1"/>
          </p:cNvCxnSpPr>
          <p:nvPr/>
        </p:nvCxnSpPr>
        <p:spPr bwMode="auto">
          <a:xfrm rot="5400000">
            <a:off x="6588919" y="1720057"/>
            <a:ext cx="255588" cy="219075"/>
          </a:xfrm>
          <a:prstGeom prst="straightConnector1">
            <a:avLst/>
          </a:prstGeom>
          <a:noFill/>
          <a:ln w="9525" algn="ctr">
            <a:solidFill>
              <a:schemeClr val="tx1"/>
            </a:solidFill>
            <a:round/>
            <a:headEnd/>
            <a:tailEnd type="triangle" w="med" len="med"/>
          </a:ln>
        </p:spPr>
      </p:cxnSp>
      <p:cxnSp>
        <p:nvCxnSpPr>
          <p:cNvPr id="17415" name="Straight Connector 21">
            <a:extLst>
              <a:ext uri="{FF2B5EF4-FFF2-40B4-BE49-F238E27FC236}">
                <a16:creationId xmlns:a16="http://schemas.microsoft.com/office/drawing/2014/main" id="{0E760AB9-CA72-4807-A98A-177C826EDE36}"/>
              </a:ext>
            </a:extLst>
          </p:cNvPr>
          <p:cNvCxnSpPr>
            <a:cxnSpLocks noChangeShapeType="1"/>
          </p:cNvCxnSpPr>
          <p:nvPr/>
        </p:nvCxnSpPr>
        <p:spPr bwMode="auto">
          <a:xfrm>
            <a:off x="4416425" y="2103439"/>
            <a:ext cx="2044700" cy="158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7416" name="Straight Connector 23">
            <a:extLst>
              <a:ext uri="{FF2B5EF4-FFF2-40B4-BE49-F238E27FC236}">
                <a16:creationId xmlns:a16="http://schemas.microsoft.com/office/drawing/2014/main" id="{006AFD97-8EB6-45E9-9DFC-ECFD899BFCA0}"/>
              </a:ext>
            </a:extLst>
          </p:cNvPr>
          <p:cNvCxnSpPr>
            <a:cxnSpLocks noChangeShapeType="1"/>
          </p:cNvCxnSpPr>
          <p:nvPr/>
        </p:nvCxnSpPr>
        <p:spPr bwMode="auto">
          <a:xfrm rot="5400000">
            <a:off x="5255420" y="3307558"/>
            <a:ext cx="2409825" cy="158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7417" name="Straight Connector 24">
            <a:extLst>
              <a:ext uri="{FF2B5EF4-FFF2-40B4-BE49-F238E27FC236}">
                <a16:creationId xmlns:a16="http://schemas.microsoft.com/office/drawing/2014/main" id="{869016F8-63D2-48FB-B77C-F429A3C66EF5}"/>
              </a:ext>
            </a:extLst>
          </p:cNvPr>
          <p:cNvCxnSpPr>
            <a:cxnSpLocks noChangeShapeType="1"/>
          </p:cNvCxnSpPr>
          <p:nvPr/>
        </p:nvCxnSpPr>
        <p:spPr bwMode="auto">
          <a:xfrm rot="5400000">
            <a:off x="3759995" y="3307558"/>
            <a:ext cx="2409825" cy="158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7418" name="Straight Connector 25">
            <a:extLst>
              <a:ext uri="{FF2B5EF4-FFF2-40B4-BE49-F238E27FC236}">
                <a16:creationId xmlns:a16="http://schemas.microsoft.com/office/drawing/2014/main" id="{4EA6B9A8-16B4-47BB-9A81-7568C3CE8FA8}"/>
              </a:ext>
            </a:extLst>
          </p:cNvPr>
          <p:cNvCxnSpPr>
            <a:cxnSpLocks noChangeShapeType="1"/>
          </p:cNvCxnSpPr>
          <p:nvPr/>
        </p:nvCxnSpPr>
        <p:spPr bwMode="auto">
          <a:xfrm>
            <a:off x="4416425" y="3929064"/>
            <a:ext cx="2044700" cy="158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17419" name="Freeform 6">
            <a:extLst>
              <a:ext uri="{FF2B5EF4-FFF2-40B4-BE49-F238E27FC236}">
                <a16:creationId xmlns:a16="http://schemas.microsoft.com/office/drawing/2014/main" id="{3C63E990-BF56-4AE2-9A43-AD52F6A76E19}"/>
              </a:ext>
            </a:extLst>
          </p:cNvPr>
          <p:cNvSpPr>
            <a:spLocks/>
          </p:cNvSpPr>
          <p:nvPr/>
        </p:nvSpPr>
        <p:spPr bwMode="auto">
          <a:xfrm rot="16200000">
            <a:off x="3313113" y="2789238"/>
            <a:ext cx="1698625" cy="508000"/>
          </a:xfrm>
          <a:custGeom>
            <a:avLst/>
            <a:gdLst>
              <a:gd name="T0" fmla="*/ 0 w 2112"/>
              <a:gd name="T1" fmla="*/ 0 h 1072"/>
              <a:gd name="T2" fmla="*/ 0 w 2112"/>
              <a:gd name="T3" fmla="*/ 0 h 1072"/>
              <a:gd name="T4" fmla="*/ 0 w 2112"/>
              <a:gd name="T5" fmla="*/ 0 h 1072"/>
              <a:gd name="T6" fmla="*/ 0 w 2112"/>
              <a:gd name="T7" fmla="*/ 0 h 1072"/>
              <a:gd name="T8" fmla="*/ 0 w 2112"/>
              <a:gd name="T9" fmla="*/ 0 h 1072"/>
              <a:gd name="T10" fmla="*/ 0 w 2112"/>
              <a:gd name="T11" fmla="*/ 0 h 1072"/>
              <a:gd name="T12" fmla="*/ 0 w 2112"/>
              <a:gd name="T13" fmla="*/ 0 h 1072"/>
              <a:gd name="T14" fmla="*/ 0 w 2112"/>
              <a:gd name="T15" fmla="*/ 0 h 1072"/>
              <a:gd name="T16" fmla="*/ 0 w 2112"/>
              <a:gd name="T17" fmla="*/ 0 h 1072"/>
              <a:gd name="T18" fmla="*/ 0 w 2112"/>
              <a:gd name="T19" fmla="*/ 0 h 10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12"/>
              <a:gd name="T31" fmla="*/ 0 h 1072"/>
              <a:gd name="T32" fmla="*/ 2112 w 2112"/>
              <a:gd name="T33" fmla="*/ 1072 h 107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12" h="1072">
                <a:moveTo>
                  <a:pt x="0" y="1072"/>
                </a:moveTo>
                <a:cubicBezTo>
                  <a:pt x="132" y="1048"/>
                  <a:pt x="264" y="1024"/>
                  <a:pt x="384" y="928"/>
                </a:cubicBezTo>
                <a:cubicBezTo>
                  <a:pt x="504" y="832"/>
                  <a:pt x="624" y="632"/>
                  <a:pt x="720" y="496"/>
                </a:cubicBezTo>
                <a:cubicBezTo>
                  <a:pt x="816" y="360"/>
                  <a:pt x="880" y="192"/>
                  <a:pt x="960" y="112"/>
                </a:cubicBezTo>
                <a:cubicBezTo>
                  <a:pt x="1040" y="32"/>
                  <a:pt x="1120" y="0"/>
                  <a:pt x="1200" y="16"/>
                </a:cubicBezTo>
                <a:cubicBezTo>
                  <a:pt x="1280" y="32"/>
                  <a:pt x="1368" y="112"/>
                  <a:pt x="1440" y="208"/>
                </a:cubicBezTo>
                <a:cubicBezTo>
                  <a:pt x="1512" y="304"/>
                  <a:pt x="1568" y="488"/>
                  <a:pt x="1632" y="592"/>
                </a:cubicBezTo>
                <a:cubicBezTo>
                  <a:pt x="1696" y="696"/>
                  <a:pt x="1768" y="768"/>
                  <a:pt x="1824" y="832"/>
                </a:cubicBezTo>
                <a:cubicBezTo>
                  <a:pt x="1880" y="896"/>
                  <a:pt x="1920" y="936"/>
                  <a:pt x="1968" y="976"/>
                </a:cubicBezTo>
                <a:cubicBezTo>
                  <a:pt x="2016" y="1016"/>
                  <a:pt x="2064" y="1044"/>
                  <a:pt x="2112" y="1072"/>
                </a:cubicBezTo>
              </a:path>
            </a:pathLst>
          </a:custGeom>
          <a:noFill/>
          <a:ln w="317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p>
            <a:endParaRPr lang="en-US"/>
          </a:p>
        </p:txBody>
      </p:sp>
      <p:sp>
        <p:nvSpPr>
          <p:cNvPr id="17420" name="Freeform 6">
            <a:extLst>
              <a:ext uri="{FF2B5EF4-FFF2-40B4-BE49-F238E27FC236}">
                <a16:creationId xmlns:a16="http://schemas.microsoft.com/office/drawing/2014/main" id="{806D882E-EAD7-405B-97A7-FE2D305BF15D}"/>
              </a:ext>
            </a:extLst>
          </p:cNvPr>
          <p:cNvSpPr>
            <a:spLocks/>
          </p:cNvSpPr>
          <p:nvPr/>
        </p:nvSpPr>
        <p:spPr bwMode="auto">
          <a:xfrm rot="10800000">
            <a:off x="4991101" y="4552950"/>
            <a:ext cx="1470025" cy="508000"/>
          </a:xfrm>
          <a:custGeom>
            <a:avLst/>
            <a:gdLst>
              <a:gd name="T0" fmla="*/ 0 w 2112"/>
              <a:gd name="T1" fmla="*/ 0 h 1072"/>
              <a:gd name="T2" fmla="*/ 0 w 2112"/>
              <a:gd name="T3" fmla="*/ 0 h 1072"/>
              <a:gd name="T4" fmla="*/ 0 w 2112"/>
              <a:gd name="T5" fmla="*/ 0 h 1072"/>
              <a:gd name="T6" fmla="*/ 0 w 2112"/>
              <a:gd name="T7" fmla="*/ 0 h 1072"/>
              <a:gd name="T8" fmla="*/ 0 w 2112"/>
              <a:gd name="T9" fmla="*/ 0 h 1072"/>
              <a:gd name="T10" fmla="*/ 0 w 2112"/>
              <a:gd name="T11" fmla="*/ 0 h 1072"/>
              <a:gd name="T12" fmla="*/ 0 w 2112"/>
              <a:gd name="T13" fmla="*/ 0 h 1072"/>
              <a:gd name="T14" fmla="*/ 0 w 2112"/>
              <a:gd name="T15" fmla="*/ 0 h 1072"/>
              <a:gd name="T16" fmla="*/ 0 w 2112"/>
              <a:gd name="T17" fmla="*/ 0 h 1072"/>
              <a:gd name="T18" fmla="*/ 0 w 2112"/>
              <a:gd name="T19" fmla="*/ 0 h 10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12"/>
              <a:gd name="T31" fmla="*/ 0 h 1072"/>
              <a:gd name="T32" fmla="*/ 2112 w 2112"/>
              <a:gd name="T33" fmla="*/ 1072 h 107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12" h="1072">
                <a:moveTo>
                  <a:pt x="0" y="1072"/>
                </a:moveTo>
                <a:cubicBezTo>
                  <a:pt x="132" y="1048"/>
                  <a:pt x="264" y="1024"/>
                  <a:pt x="384" y="928"/>
                </a:cubicBezTo>
                <a:cubicBezTo>
                  <a:pt x="504" y="832"/>
                  <a:pt x="624" y="632"/>
                  <a:pt x="720" y="496"/>
                </a:cubicBezTo>
                <a:cubicBezTo>
                  <a:pt x="816" y="360"/>
                  <a:pt x="880" y="192"/>
                  <a:pt x="960" y="112"/>
                </a:cubicBezTo>
                <a:cubicBezTo>
                  <a:pt x="1040" y="32"/>
                  <a:pt x="1120" y="0"/>
                  <a:pt x="1200" y="16"/>
                </a:cubicBezTo>
                <a:cubicBezTo>
                  <a:pt x="1280" y="32"/>
                  <a:pt x="1368" y="112"/>
                  <a:pt x="1440" y="208"/>
                </a:cubicBezTo>
                <a:cubicBezTo>
                  <a:pt x="1512" y="304"/>
                  <a:pt x="1568" y="488"/>
                  <a:pt x="1632" y="592"/>
                </a:cubicBezTo>
                <a:cubicBezTo>
                  <a:pt x="1696" y="696"/>
                  <a:pt x="1768" y="768"/>
                  <a:pt x="1824" y="832"/>
                </a:cubicBezTo>
                <a:cubicBezTo>
                  <a:pt x="1880" y="896"/>
                  <a:pt x="1920" y="936"/>
                  <a:pt x="1968" y="976"/>
                </a:cubicBezTo>
                <a:cubicBezTo>
                  <a:pt x="2016" y="1016"/>
                  <a:pt x="2064" y="1044"/>
                  <a:pt x="2112" y="1072"/>
                </a:cubicBezTo>
              </a:path>
            </a:pathLst>
          </a:custGeom>
          <a:noFill/>
          <a:ln w="317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17421" name="TextBox 28">
            <a:extLst>
              <a:ext uri="{FF2B5EF4-FFF2-40B4-BE49-F238E27FC236}">
                <a16:creationId xmlns:a16="http://schemas.microsoft.com/office/drawing/2014/main" id="{5B38D6EE-FEC9-49AA-BE67-553579D4C77E}"/>
              </a:ext>
            </a:extLst>
          </p:cNvPr>
          <p:cNvSpPr txBox="1">
            <a:spLocks noChangeArrowheads="1"/>
          </p:cNvSpPr>
          <p:nvPr/>
        </p:nvSpPr>
        <p:spPr bwMode="auto">
          <a:xfrm>
            <a:off x="6927851" y="2395538"/>
            <a:ext cx="18694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actual distribution</a:t>
            </a:r>
          </a:p>
          <a:p>
            <a:pPr eaLnBrk="1" hangingPunct="1">
              <a:spcBef>
                <a:spcPct val="0"/>
              </a:spcBef>
              <a:buClrTx/>
              <a:buSzTx/>
              <a:buFontTx/>
              <a:buNone/>
            </a:pPr>
            <a:r>
              <a:rPr lang="en-US" altLang="en-US" sz="1400"/>
              <a:t>(darker = more likely)</a:t>
            </a:r>
          </a:p>
        </p:txBody>
      </p:sp>
      <p:sp>
        <p:nvSpPr>
          <p:cNvPr id="17422" name="TextBox 29">
            <a:extLst>
              <a:ext uri="{FF2B5EF4-FFF2-40B4-BE49-F238E27FC236}">
                <a16:creationId xmlns:a16="http://schemas.microsoft.com/office/drawing/2014/main" id="{2E0328BB-1E4A-4F70-91A1-020DA0DEBCCB}"/>
              </a:ext>
            </a:extLst>
          </p:cNvPr>
          <p:cNvSpPr txBox="1">
            <a:spLocks noChangeArrowheads="1"/>
          </p:cNvSpPr>
          <p:nvPr/>
        </p:nvSpPr>
        <p:spPr bwMode="auto">
          <a:xfrm>
            <a:off x="6680200" y="4549775"/>
            <a:ext cx="15827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Channel Length L</a:t>
            </a:r>
          </a:p>
        </p:txBody>
      </p:sp>
      <p:sp>
        <p:nvSpPr>
          <p:cNvPr id="17423" name="TextBox 30">
            <a:extLst>
              <a:ext uri="{FF2B5EF4-FFF2-40B4-BE49-F238E27FC236}">
                <a16:creationId xmlns:a16="http://schemas.microsoft.com/office/drawing/2014/main" id="{18236965-443C-4BBE-ABA4-B116DD407ED3}"/>
              </a:ext>
            </a:extLst>
          </p:cNvPr>
          <p:cNvSpPr txBox="1">
            <a:spLocks noChangeArrowheads="1"/>
          </p:cNvSpPr>
          <p:nvPr/>
        </p:nvSpPr>
        <p:spPr bwMode="auto">
          <a:xfrm>
            <a:off x="5897563" y="4132264"/>
            <a:ext cx="23166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“fast” corner; min L, min V</a:t>
            </a:r>
            <a:r>
              <a:rPr lang="en-US" altLang="en-US" sz="1400" baseline="-25000"/>
              <a:t>T</a:t>
            </a:r>
          </a:p>
        </p:txBody>
      </p:sp>
      <p:sp>
        <p:nvSpPr>
          <p:cNvPr id="17424" name="TextBox 31">
            <a:extLst>
              <a:ext uri="{FF2B5EF4-FFF2-40B4-BE49-F238E27FC236}">
                <a16:creationId xmlns:a16="http://schemas.microsoft.com/office/drawing/2014/main" id="{3BD6C840-2B12-4036-B8A3-904DBDF8FBC6}"/>
              </a:ext>
            </a:extLst>
          </p:cNvPr>
          <p:cNvSpPr txBox="1">
            <a:spLocks noChangeArrowheads="1"/>
          </p:cNvSpPr>
          <p:nvPr/>
        </p:nvSpPr>
        <p:spPr bwMode="auto">
          <a:xfrm>
            <a:off x="6607175" y="1466851"/>
            <a:ext cx="24865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“slow” corner; max L, max V</a:t>
            </a:r>
            <a:r>
              <a:rPr lang="en-US" altLang="en-US" sz="1400" baseline="-25000"/>
              <a:t>T</a:t>
            </a:r>
          </a:p>
        </p:txBody>
      </p:sp>
      <p:sp>
        <p:nvSpPr>
          <p:cNvPr id="17425" name="TextBox 32">
            <a:extLst>
              <a:ext uri="{FF2B5EF4-FFF2-40B4-BE49-F238E27FC236}">
                <a16:creationId xmlns:a16="http://schemas.microsoft.com/office/drawing/2014/main" id="{EC594061-FD29-4E93-94F9-6E05150F480B}"/>
              </a:ext>
            </a:extLst>
          </p:cNvPr>
          <p:cNvSpPr txBox="1">
            <a:spLocks noChangeArrowheads="1"/>
          </p:cNvSpPr>
          <p:nvPr/>
        </p:nvSpPr>
        <p:spPr bwMode="auto">
          <a:xfrm>
            <a:off x="3175001" y="1738313"/>
            <a:ext cx="10294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Threshold </a:t>
            </a:r>
            <a:br>
              <a:rPr lang="en-US" altLang="en-US" sz="1400"/>
            </a:br>
            <a:r>
              <a:rPr lang="en-US" altLang="en-US" sz="1400"/>
              <a:t>Voltage V</a:t>
            </a:r>
            <a:r>
              <a:rPr lang="en-US" altLang="en-US" sz="1400" baseline="-25000"/>
              <a:t>T</a:t>
            </a:r>
          </a:p>
        </p:txBody>
      </p:sp>
      <p:sp>
        <p:nvSpPr>
          <p:cNvPr id="17426" name="TextBox 38">
            <a:extLst>
              <a:ext uri="{FF2B5EF4-FFF2-40B4-BE49-F238E27FC236}">
                <a16:creationId xmlns:a16="http://schemas.microsoft.com/office/drawing/2014/main" id="{D8362B9C-7FD2-493C-BD55-CB769009537F}"/>
              </a:ext>
            </a:extLst>
          </p:cNvPr>
          <p:cNvSpPr txBox="1">
            <a:spLocks noChangeArrowheads="1"/>
          </p:cNvSpPr>
          <p:nvPr/>
        </p:nvSpPr>
        <p:spPr bwMode="auto">
          <a:xfrm>
            <a:off x="5124450" y="1647825"/>
            <a:ext cx="6873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typical</a:t>
            </a:r>
            <a:endParaRPr lang="en-US" altLang="en-US" sz="1400" baseline="-25000"/>
          </a:p>
        </p:txBody>
      </p:sp>
      <p:cxnSp>
        <p:nvCxnSpPr>
          <p:cNvPr id="17427" name="Straight Arrow Connector 17">
            <a:extLst>
              <a:ext uri="{FF2B5EF4-FFF2-40B4-BE49-F238E27FC236}">
                <a16:creationId xmlns:a16="http://schemas.microsoft.com/office/drawing/2014/main" id="{9E7796BD-E445-4999-BB0C-3B489BE364D3}"/>
              </a:ext>
            </a:extLst>
          </p:cNvPr>
          <p:cNvCxnSpPr>
            <a:cxnSpLocks noChangeShapeType="1"/>
          </p:cNvCxnSpPr>
          <p:nvPr/>
        </p:nvCxnSpPr>
        <p:spPr bwMode="auto">
          <a:xfrm flipH="1">
            <a:off x="6497639" y="2913063"/>
            <a:ext cx="839787" cy="107950"/>
          </a:xfrm>
          <a:prstGeom prst="straightConnector1">
            <a:avLst/>
          </a:prstGeom>
          <a:noFill/>
          <a:ln w="9525" algn="ctr">
            <a:solidFill>
              <a:schemeClr val="tx1"/>
            </a:solidFill>
            <a:round/>
            <a:headEnd/>
            <a:tailEnd type="triangle" w="med" len="med"/>
          </a:ln>
        </p:spPr>
      </p:cxnSp>
      <p:sp>
        <p:nvSpPr>
          <p:cNvPr id="43" name="Rectangle 42">
            <a:extLst>
              <a:ext uri="{FF2B5EF4-FFF2-40B4-BE49-F238E27FC236}">
                <a16:creationId xmlns:a16="http://schemas.microsoft.com/office/drawing/2014/main" id="{9125E1B4-735C-4F98-81B8-06A2D7D7AD85}"/>
              </a:ext>
            </a:extLst>
          </p:cNvPr>
          <p:cNvSpPr/>
          <p:nvPr/>
        </p:nvSpPr>
        <p:spPr bwMode="auto">
          <a:xfrm>
            <a:off x="4927601" y="3892551"/>
            <a:ext cx="73025" cy="7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17429" name="Group 46">
            <a:extLst>
              <a:ext uri="{FF2B5EF4-FFF2-40B4-BE49-F238E27FC236}">
                <a16:creationId xmlns:a16="http://schemas.microsoft.com/office/drawing/2014/main" id="{9585D369-C025-4BB1-8F83-415F6E8F2881}"/>
              </a:ext>
            </a:extLst>
          </p:cNvPr>
          <p:cNvGrpSpPr>
            <a:grpSpLocks/>
          </p:cNvGrpSpPr>
          <p:nvPr/>
        </p:nvGrpSpPr>
        <p:grpSpPr bwMode="auto">
          <a:xfrm>
            <a:off x="5110164" y="2139950"/>
            <a:ext cx="1241425" cy="1716088"/>
            <a:chOff x="3695689" y="1822428"/>
            <a:chExt cx="1241441" cy="1716111"/>
          </a:xfrm>
        </p:grpSpPr>
        <p:sp>
          <p:nvSpPr>
            <p:cNvPr id="36" name="Oval 35">
              <a:extLst>
                <a:ext uri="{FF2B5EF4-FFF2-40B4-BE49-F238E27FC236}">
                  <a16:creationId xmlns:a16="http://schemas.microsoft.com/office/drawing/2014/main" id="{62232757-C5E3-4858-B432-278193AF16FA}"/>
                </a:ext>
              </a:extLst>
            </p:cNvPr>
            <p:cNvSpPr/>
            <p:nvPr/>
          </p:nvSpPr>
          <p:spPr>
            <a:xfrm>
              <a:off x="3695689" y="1822428"/>
              <a:ext cx="1241441" cy="1716111"/>
            </a:xfrm>
            <a:prstGeom prst="ellipse">
              <a:avLst/>
            </a:prstGeom>
            <a:solidFill>
              <a:schemeClr val="accent1">
                <a:lumMod val="20000"/>
                <a:lumOff val="8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34" name="Oval 33">
              <a:extLst>
                <a:ext uri="{FF2B5EF4-FFF2-40B4-BE49-F238E27FC236}">
                  <a16:creationId xmlns:a16="http://schemas.microsoft.com/office/drawing/2014/main" id="{09B8A53B-FAF7-4018-8968-9FE273579716}"/>
                </a:ext>
              </a:extLst>
            </p:cNvPr>
            <p:cNvSpPr/>
            <p:nvPr/>
          </p:nvSpPr>
          <p:spPr>
            <a:xfrm>
              <a:off x="3805227" y="2041506"/>
              <a:ext cx="803285" cy="1350981"/>
            </a:xfrm>
            <a:prstGeom prst="ellipse">
              <a:avLst/>
            </a:prstGeom>
            <a:solidFill>
              <a:schemeClr val="accent1">
                <a:lumMod val="40000"/>
                <a:lumOff val="6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35" name="Oval 34">
              <a:extLst>
                <a:ext uri="{FF2B5EF4-FFF2-40B4-BE49-F238E27FC236}">
                  <a16:creationId xmlns:a16="http://schemas.microsoft.com/office/drawing/2014/main" id="{B2E48AF8-77D1-4303-B854-B2A14AEB4ADF}"/>
                </a:ext>
              </a:extLst>
            </p:cNvPr>
            <p:cNvSpPr/>
            <p:nvPr/>
          </p:nvSpPr>
          <p:spPr>
            <a:xfrm>
              <a:off x="3951279" y="2297097"/>
              <a:ext cx="474669" cy="803286"/>
            </a:xfrm>
            <a:prstGeom prst="ellipse">
              <a:avLst/>
            </a:prstGeom>
            <a:solidFill>
              <a:schemeClr val="accent1">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44" name="Rectangle 43">
              <a:extLst>
                <a:ext uri="{FF2B5EF4-FFF2-40B4-BE49-F238E27FC236}">
                  <a16:creationId xmlns:a16="http://schemas.microsoft.com/office/drawing/2014/main" id="{1EBD9AA1-EFDD-40D7-BF7A-2353F2C582B9}"/>
                </a:ext>
              </a:extLst>
            </p:cNvPr>
            <p:cNvSpPr/>
            <p:nvPr/>
          </p:nvSpPr>
          <p:spPr>
            <a:xfrm>
              <a:off x="4170357" y="2662227"/>
              <a:ext cx="73026" cy="730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sp>
        <p:nvSpPr>
          <p:cNvPr id="45" name="Rectangle 44">
            <a:extLst>
              <a:ext uri="{FF2B5EF4-FFF2-40B4-BE49-F238E27FC236}">
                <a16:creationId xmlns:a16="http://schemas.microsoft.com/office/drawing/2014/main" id="{97946370-D07C-456A-A7FC-CE4C0ED385C7}"/>
              </a:ext>
            </a:extLst>
          </p:cNvPr>
          <p:cNvSpPr/>
          <p:nvPr/>
        </p:nvSpPr>
        <p:spPr bwMode="auto">
          <a:xfrm>
            <a:off x="6424614" y="2066926"/>
            <a:ext cx="73025" cy="7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17431" name="Straight Arrow Connector 37">
            <a:extLst>
              <a:ext uri="{FF2B5EF4-FFF2-40B4-BE49-F238E27FC236}">
                <a16:creationId xmlns:a16="http://schemas.microsoft.com/office/drawing/2014/main" id="{8BE277F4-A425-45FB-BEE7-6D2CCD5B5215}"/>
              </a:ext>
            </a:extLst>
          </p:cNvPr>
          <p:cNvCxnSpPr>
            <a:cxnSpLocks noChangeShapeType="1"/>
            <a:endCxn id="44" idx="0"/>
          </p:cNvCxnSpPr>
          <p:nvPr/>
        </p:nvCxnSpPr>
        <p:spPr bwMode="auto">
          <a:xfrm>
            <a:off x="5438776" y="1957388"/>
            <a:ext cx="182563" cy="1022350"/>
          </a:xfrm>
          <a:prstGeom prst="straightConnector1">
            <a:avLst/>
          </a:prstGeom>
          <a:noFill/>
          <a:ln w="9525" algn="ctr">
            <a:solidFill>
              <a:schemeClr val="tx1"/>
            </a:solidFill>
            <a:round/>
            <a:headEnd/>
            <a:tailEnd type="triangle" w="med" len="med"/>
          </a:ln>
        </p:spPr>
      </p:cxn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6A2232B-7931-4B47-B205-6A979D61CB80}"/>
              </a:ext>
            </a:extLst>
          </p:cNvPr>
          <p:cNvSpPr>
            <a:spLocks noGrp="1" noChangeArrowheads="1"/>
          </p:cNvSpPr>
          <p:nvPr>
            <p:ph type="title"/>
          </p:nvPr>
        </p:nvSpPr>
        <p:spPr/>
        <p:txBody>
          <a:bodyPr/>
          <a:lstStyle/>
          <a:p>
            <a:r>
              <a:rPr lang="en-US" altLang="en-US"/>
              <a:t>Conventional Corner-Based Analysis</a:t>
            </a:r>
            <a:endParaRPr lang="ru-RU" altLang="en-US"/>
          </a:p>
        </p:txBody>
      </p:sp>
      <p:grpSp>
        <p:nvGrpSpPr>
          <p:cNvPr id="19459" name="Group 20">
            <a:extLst>
              <a:ext uri="{FF2B5EF4-FFF2-40B4-BE49-F238E27FC236}">
                <a16:creationId xmlns:a16="http://schemas.microsoft.com/office/drawing/2014/main" id="{4F2121F3-33D3-4298-9372-4F5F5BAE88C0}"/>
              </a:ext>
            </a:extLst>
          </p:cNvPr>
          <p:cNvGrpSpPr>
            <a:grpSpLocks/>
          </p:cNvGrpSpPr>
          <p:nvPr/>
        </p:nvGrpSpPr>
        <p:grpSpPr bwMode="auto">
          <a:xfrm>
            <a:off x="2667001" y="1714500"/>
            <a:ext cx="6945313" cy="2622550"/>
            <a:chOff x="1342050" y="2285992"/>
            <a:chExt cx="6944726" cy="2622313"/>
          </a:xfrm>
        </p:grpSpPr>
        <p:sp>
          <p:nvSpPr>
            <p:cNvPr id="19469" name="Text Box 5">
              <a:extLst>
                <a:ext uri="{FF2B5EF4-FFF2-40B4-BE49-F238E27FC236}">
                  <a16:creationId xmlns:a16="http://schemas.microsoft.com/office/drawing/2014/main" id="{D70CF7CC-4BCD-4BBC-91BB-7BF8970D171E}"/>
                </a:ext>
              </a:extLst>
            </p:cNvPr>
            <p:cNvSpPr txBox="1">
              <a:spLocks noChangeArrowheads="1"/>
            </p:cNvSpPr>
            <p:nvPr/>
          </p:nvSpPr>
          <p:spPr bwMode="auto">
            <a:xfrm>
              <a:off x="5215223" y="2857497"/>
              <a:ext cx="2285807" cy="27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200"/>
                <a:t>Corner parasitics</a:t>
              </a:r>
              <a:endParaRPr lang="ru-RU" altLang="en-US" sz="1200"/>
            </a:p>
          </p:txBody>
        </p:sp>
        <p:sp>
          <p:nvSpPr>
            <p:cNvPr id="33807" name="Can 5">
              <a:extLst>
                <a:ext uri="{FF2B5EF4-FFF2-40B4-BE49-F238E27FC236}">
                  <a16:creationId xmlns:a16="http://schemas.microsoft.com/office/drawing/2014/main" id="{2A94584B-D37C-4039-BB04-E7A0F5A38093}"/>
                </a:ext>
              </a:extLst>
            </p:cNvPr>
            <p:cNvSpPr>
              <a:spLocks noChangeArrowheads="1"/>
            </p:cNvSpPr>
            <p:nvPr/>
          </p:nvSpPr>
          <p:spPr bwMode="auto">
            <a:xfrm>
              <a:off x="1342050" y="2500286"/>
              <a:ext cx="1642924" cy="1000035"/>
            </a:xfrm>
            <a:prstGeom prst="can">
              <a:avLst>
                <a:gd name="adj" fmla="val 25000"/>
              </a:avLst>
            </a:prstGeom>
            <a:ln w="9525">
              <a:solidFill>
                <a:schemeClr val="tx1"/>
              </a:solidFill>
              <a:headEnd/>
              <a:tailEnd/>
            </a:ln>
            <a:effectLst/>
          </p:spPr>
          <p:style>
            <a:lnRef idx="3">
              <a:schemeClr val="lt1"/>
            </a:lnRef>
            <a:fillRef idx="1">
              <a:schemeClr val="accent1"/>
            </a:fillRef>
            <a:effectRef idx="1">
              <a:schemeClr val="accent1"/>
            </a:effectRef>
            <a:fontRef idx="minor">
              <a:schemeClr val="lt1"/>
            </a:fontRef>
          </p:style>
          <p:txBody>
            <a:bodyPr/>
            <a:lstStyle/>
            <a:p>
              <a:pPr algn="ctr" eaLnBrk="1" hangingPunct="1">
                <a:defRPr/>
              </a:pPr>
              <a:endParaRPr lang="en-US" sz="1600" dirty="0">
                <a:solidFill>
                  <a:schemeClr val="bg1"/>
                </a:solidFill>
              </a:endParaRPr>
            </a:p>
            <a:p>
              <a:pPr algn="ctr" eaLnBrk="1" hangingPunct="1">
                <a:defRPr/>
              </a:pPr>
              <a:r>
                <a:rPr lang="en-US" sz="1600" dirty="0">
                  <a:solidFill>
                    <a:schemeClr val="bg1"/>
                  </a:solidFill>
                </a:rPr>
                <a:t>Corner Libraries</a:t>
              </a:r>
            </a:p>
          </p:txBody>
        </p:sp>
        <p:sp>
          <p:nvSpPr>
            <p:cNvPr id="33808" name="Can 6">
              <a:extLst>
                <a:ext uri="{FF2B5EF4-FFF2-40B4-BE49-F238E27FC236}">
                  <a16:creationId xmlns:a16="http://schemas.microsoft.com/office/drawing/2014/main" id="{A7D96F72-7612-43B8-AE3D-3F075CEAE177}"/>
                </a:ext>
              </a:extLst>
            </p:cNvPr>
            <p:cNvSpPr>
              <a:spLocks noChangeArrowheads="1"/>
            </p:cNvSpPr>
            <p:nvPr/>
          </p:nvSpPr>
          <p:spPr bwMode="auto">
            <a:xfrm>
              <a:off x="1342050" y="3714613"/>
              <a:ext cx="1642924" cy="1000035"/>
            </a:xfrm>
            <a:prstGeom prst="can">
              <a:avLst>
                <a:gd name="adj" fmla="val 25000"/>
              </a:avLst>
            </a:prstGeom>
            <a:ln w="9525">
              <a:solidFill>
                <a:schemeClr val="tx1"/>
              </a:solidFill>
              <a:headEnd/>
              <a:tailEnd/>
            </a:ln>
            <a:effectLst/>
          </p:spPr>
          <p:style>
            <a:lnRef idx="3">
              <a:schemeClr val="lt1"/>
            </a:lnRef>
            <a:fillRef idx="1">
              <a:schemeClr val="accent1"/>
            </a:fillRef>
            <a:effectRef idx="1">
              <a:schemeClr val="accent1"/>
            </a:effectRef>
            <a:fontRef idx="minor">
              <a:schemeClr val="lt1"/>
            </a:fontRef>
          </p:style>
          <p:txBody>
            <a:bodyPr/>
            <a:lstStyle/>
            <a:p>
              <a:pPr algn="ctr" eaLnBrk="1" hangingPunct="1">
                <a:defRPr/>
              </a:pPr>
              <a:endParaRPr lang="en-US" sz="1000" dirty="0">
                <a:solidFill>
                  <a:schemeClr val="bg1"/>
                </a:solidFill>
              </a:endParaRPr>
            </a:p>
            <a:p>
              <a:pPr algn="ctr" eaLnBrk="1" hangingPunct="1">
                <a:defRPr/>
              </a:pPr>
              <a:r>
                <a:rPr lang="en-US" sz="1600" dirty="0">
                  <a:solidFill>
                    <a:schemeClr val="bg1"/>
                  </a:solidFill>
                </a:rPr>
                <a:t>Constraints</a:t>
              </a:r>
            </a:p>
          </p:txBody>
        </p:sp>
        <p:sp>
          <p:nvSpPr>
            <p:cNvPr id="33809" name="TextBox 7">
              <a:extLst>
                <a:ext uri="{FF2B5EF4-FFF2-40B4-BE49-F238E27FC236}">
                  <a16:creationId xmlns:a16="http://schemas.microsoft.com/office/drawing/2014/main" id="{76BC1227-CFE1-43D0-8F48-561696F87949}"/>
                </a:ext>
              </a:extLst>
            </p:cNvPr>
            <p:cNvSpPr txBox="1">
              <a:spLocks noChangeArrowheads="1"/>
            </p:cNvSpPr>
            <p:nvPr/>
          </p:nvSpPr>
          <p:spPr bwMode="auto">
            <a:xfrm>
              <a:off x="4070732" y="2285992"/>
              <a:ext cx="2092148" cy="307947"/>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ctr" eaLnBrk="1" hangingPunct="1">
                <a:defRPr/>
              </a:pPr>
              <a:r>
                <a:rPr lang="en-US" sz="1400" dirty="0"/>
                <a:t>Parasitic Extraction Tool</a:t>
              </a:r>
            </a:p>
          </p:txBody>
        </p:sp>
        <p:sp>
          <p:nvSpPr>
            <p:cNvPr id="33810" name="TextBox 8">
              <a:extLst>
                <a:ext uri="{FF2B5EF4-FFF2-40B4-BE49-F238E27FC236}">
                  <a16:creationId xmlns:a16="http://schemas.microsoft.com/office/drawing/2014/main" id="{BFA2F237-C2FF-4129-A19D-BAA0C085CD75}"/>
                </a:ext>
              </a:extLst>
            </p:cNvPr>
            <p:cNvSpPr txBox="1">
              <a:spLocks noChangeArrowheads="1"/>
            </p:cNvSpPr>
            <p:nvPr/>
          </p:nvSpPr>
          <p:spPr bwMode="auto">
            <a:xfrm>
              <a:off x="3786593" y="3428889"/>
              <a:ext cx="2642965" cy="307947"/>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eaLnBrk="1" hangingPunct="1">
                <a:defRPr/>
              </a:pPr>
              <a:r>
                <a:rPr lang="en-US" sz="1400" dirty="0"/>
                <a:t>Timing Analysis Tool</a:t>
              </a:r>
            </a:p>
          </p:txBody>
        </p:sp>
        <p:cxnSp>
          <p:nvCxnSpPr>
            <p:cNvPr id="19474" name="Straight Arrow Connector 10">
              <a:extLst>
                <a:ext uri="{FF2B5EF4-FFF2-40B4-BE49-F238E27FC236}">
                  <a16:creationId xmlns:a16="http://schemas.microsoft.com/office/drawing/2014/main" id="{E4069766-517F-4B9E-BDFB-8AD33804E61D}"/>
                </a:ext>
              </a:extLst>
            </p:cNvPr>
            <p:cNvCxnSpPr>
              <a:cxnSpLocks noChangeShapeType="1"/>
              <a:stCxn id="33809" idx="2"/>
              <a:endCxn id="33810" idx="0"/>
            </p:cNvCxnSpPr>
            <p:nvPr/>
          </p:nvCxnSpPr>
          <p:spPr bwMode="auto">
            <a:xfrm flipH="1">
              <a:off x="5108076" y="2593771"/>
              <a:ext cx="0" cy="83523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75" name="Straight Arrow Connector 11">
              <a:extLst>
                <a:ext uri="{FF2B5EF4-FFF2-40B4-BE49-F238E27FC236}">
                  <a16:creationId xmlns:a16="http://schemas.microsoft.com/office/drawing/2014/main" id="{72CF1472-7515-484D-9F86-6500D98C5445}"/>
                </a:ext>
              </a:extLst>
            </p:cNvPr>
            <p:cNvCxnSpPr>
              <a:cxnSpLocks noChangeShapeType="1"/>
              <a:stCxn id="33810" idx="2"/>
            </p:cNvCxnSpPr>
            <p:nvPr/>
          </p:nvCxnSpPr>
          <p:spPr bwMode="auto">
            <a:xfrm flipH="1">
              <a:off x="5087306" y="3736781"/>
              <a:ext cx="0" cy="838326"/>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476" name="Text Box 5">
              <a:extLst>
                <a:ext uri="{FF2B5EF4-FFF2-40B4-BE49-F238E27FC236}">
                  <a16:creationId xmlns:a16="http://schemas.microsoft.com/office/drawing/2014/main" id="{A964B6B0-333F-4C99-8D21-07A89FD8E914}"/>
                </a:ext>
              </a:extLst>
            </p:cNvPr>
            <p:cNvSpPr txBox="1">
              <a:spLocks noChangeArrowheads="1"/>
            </p:cNvSpPr>
            <p:nvPr/>
          </p:nvSpPr>
          <p:spPr bwMode="auto">
            <a:xfrm>
              <a:off x="3959538" y="4631304"/>
              <a:ext cx="2286016" cy="27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200"/>
                <a:t>Slack timing report</a:t>
              </a:r>
              <a:endParaRPr lang="ru-RU" altLang="en-US" sz="1200"/>
            </a:p>
          </p:txBody>
        </p:sp>
        <p:sp>
          <p:nvSpPr>
            <p:cNvPr id="19477" name="Text Box 5">
              <a:extLst>
                <a:ext uri="{FF2B5EF4-FFF2-40B4-BE49-F238E27FC236}">
                  <a16:creationId xmlns:a16="http://schemas.microsoft.com/office/drawing/2014/main" id="{6236EF84-8D4C-4FE4-A41A-F9EB96061B3D}"/>
                </a:ext>
              </a:extLst>
            </p:cNvPr>
            <p:cNvSpPr txBox="1">
              <a:spLocks noChangeArrowheads="1"/>
            </p:cNvSpPr>
            <p:nvPr/>
          </p:nvSpPr>
          <p:spPr bwMode="auto">
            <a:xfrm>
              <a:off x="6929578" y="3429001"/>
              <a:ext cx="1357198" cy="27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200"/>
                <a:t>Derating</a:t>
              </a:r>
              <a:endParaRPr lang="ru-RU" altLang="en-US" sz="1200"/>
            </a:p>
          </p:txBody>
        </p:sp>
        <p:cxnSp>
          <p:nvCxnSpPr>
            <p:cNvPr id="19478" name="Straight Arrow Connector 15">
              <a:extLst>
                <a:ext uri="{FF2B5EF4-FFF2-40B4-BE49-F238E27FC236}">
                  <a16:creationId xmlns:a16="http://schemas.microsoft.com/office/drawing/2014/main" id="{805C8CBE-0963-4F91-9598-52BF1C7BEE81}"/>
                </a:ext>
              </a:extLst>
            </p:cNvPr>
            <p:cNvCxnSpPr>
              <a:cxnSpLocks noChangeShapeType="1"/>
              <a:stCxn id="19477" idx="1"/>
              <a:endCxn id="33810" idx="3"/>
            </p:cNvCxnSpPr>
            <p:nvPr/>
          </p:nvCxnSpPr>
          <p:spPr bwMode="auto">
            <a:xfrm flipH="1">
              <a:off x="6429558" y="3567502"/>
              <a:ext cx="500020" cy="15389"/>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79" name="Straight Arrow Connector 17">
              <a:extLst>
                <a:ext uri="{FF2B5EF4-FFF2-40B4-BE49-F238E27FC236}">
                  <a16:creationId xmlns:a16="http://schemas.microsoft.com/office/drawing/2014/main" id="{C26CF80E-AADF-447C-A879-E41862F9B39B}"/>
                </a:ext>
              </a:extLst>
            </p:cNvPr>
            <p:cNvCxnSpPr>
              <a:cxnSpLocks noChangeShapeType="1"/>
              <a:stCxn id="33807" idx="4"/>
            </p:cNvCxnSpPr>
            <p:nvPr/>
          </p:nvCxnSpPr>
          <p:spPr bwMode="auto">
            <a:xfrm>
              <a:off x="2985124" y="3000372"/>
              <a:ext cx="785818" cy="613294"/>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0" name="Straight Arrow Connector 19">
              <a:extLst>
                <a:ext uri="{FF2B5EF4-FFF2-40B4-BE49-F238E27FC236}">
                  <a16:creationId xmlns:a16="http://schemas.microsoft.com/office/drawing/2014/main" id="{7F0463F7-BA48-4837-A85D-368091915EF0}"/>
                </a:ext>
              </a:extLst>
            </p:cNvPr>
            <p:cNvCxnSpPr>
              <a:cxnSpLocks noChangeShapeType="1"/>
              <a:stCxn id="33808" idx="4"/>
            </p:cNvCxnSpPr>
            <p:nvPr/>
          </p:nvCxnSpPr>
          <p:spPr bwMode="auto">
            <a:xfrm flipV="1">
              <a:off x="2985124" y="3613666"/>
              <a:ext cx="785818" cy="60115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19460" name="Group 28">
            <a:extLst>
              <a:ext uri="{FF2B5EF4-FFF2-40B4-BE49-F238E27FC236}">
                <a16:creationId xmlns:a16="http://schemas.microsoft.com/office/drawing/2014/main" id="{D44A56DE-83B2-4717-B674-D828983CB6D1}"/>
              </a:ext>
            </a:extLst>
          </p:cNvPr>
          <p:cNvGrpSpPr>
            <a:grpSpLocks/>
          </p:cNvGrpSpPr>
          <p:nvPr/>
        </p:nvGrpSpPr>
        <p:grpSpPr bwMode="auto">
          <a:xfrm>
            <a:off x="4367214" y="4508500"/>
            <a:ext cx="3857625" cy="1238250"/>
            <a:chOff x="1928794" y="4572009"/>
            <a:chExt cx="3857652" cy="1238474"/>
          </a:xfrm>
        </p:grpSpPr>
        <p:sp>
          <p:nvSpPr>
            <p:cNvPr id="19461" name="TextBox 23">
              <a:extLst>
                <a:ext uri="{FF2B5EF4-FFF2-40B4-BE49-F238E27FC236}">
                  <a16:creationId xmlns:a16="http://schemas.microsoft.com/office/drawing/2014/main" id="{18CC9B05-22BA-4591-B109-6360AE8478D7}"/>
                </a:ext>
              </a:extLst>
            </p:cNvPr>
            <p:cNvSpPr txBox="1">
              <a:spLocks noChangeArrowheads="1"/>
            </p:cNvSpPr>
            <p:nvPr/>
          </p:nvSpPr>
          <p:spPr bwMode="auto">
            <a:xfrm>
              <a:off x="2258761" y="5533401"/>
              <a:ext cx="603054" cy="27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a:t>1..2ns</a:t>
              </a:r>
            </a:p>
          </p:txBody>
        </p:sp>
        <p:sp>
          <p:nvSpPr>
            <p:cNvPr id="19462" name="TextBox 24">
              <a:extLst>
                <a:ext uri="{FF2B5EF4-FFF2-40B4-BE49-F238E27FC236}">
                  <a16:creationId xmlns:a16="http://schemas.microsoft.com/office/drawing/2014/main" id="{92E15F4A-A2C4-44A7-A45E-5D9E265B1844}"/>
                </a:ext>
              </a:extLst>
            </p:cNvPr>
            <p:cNvSpPr txBox="1">
              <a:spLocks noChangeArrowheads="1"/>
            </p:cNvSpPr>
            <p:nvPr/>
          </p:nvSpPr>
          <p:spPr bwMode="auto">
            <a:xfrm>
              <a:off x="3401710" y="5533401"/>
              <a:ext cx="603054" cy="27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a:t>1..2ns</a:t>
              </a:r>
            </a:p>
          </p:txBody>
        </p:sp>
        <p:sp>
          <p:nvSpPr>
            <p:cNvPr id="19463" name="TextBox 25">
              <a:extLst>
                <a:ext uri="{FF2B5EF4-FFF2-40B4-BE49-F238E27FC236}">
                  <a16:creationId xmlns:a16="http://schemas.microsoft.com/office/drawing/2014/main" id="{C5034D73-DDCB-41E8-A5E5-574E0351DE26}"/>
                </a:ext>
              </a:extLst>
            </p:cNvPr>
            <p:cNvSpPr txBox="1">
              <a:spLocks noChangeArrowheads="1"/>
            </p:cNvSpPr>
            <p:nvPr/>
          </p:nvSpPr>
          <p:spPr bwMode="auto">
            <a:xfrm>
              <a:off x="4643317" y="5533401"/>
              <a:ext cx="603054" cy="27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a:t>1..2ns</a:t>
              </a:r>
            </a:p>
          </p:txBody>
        </p:sp>
        <p:sp>
          <p:nvSpPr>
            <p:cNvPr id="19464" name="TextBox 26">
              <a:extLst>
                <a:ext uri="{FF2B5EF4-FFF2-40B4-BE49-F238E27FC236}">
                  <a16:creationId xmlns:a16="http://schemas.microsoft.com/office/drawing/2014/main" id="{9E0A0939-6BF2-404B-A3C6-619ADB54D85C}"/>
                </a:ext>
              </a:extLst>
            </p:cNvPr>
            <p:cNvSpPr txBox="1">
              <a:spLocks noChangeArrowheads="1"/>
            </p:cNvSpPr>
            <p:nvPr/>
          </p:nvSpPr>
          <p:spPr bwMode="auto">
            <a:xfrm>
              <a:off x="3357554" y="4572009"/>
              <a:ext cx="603054" cy="27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a:t>3..6ns</a:t>
              </a:r>
            </a:p>
          </p:txBody>
        </p:sp>
        <p:cxnSp>
          <p:nvCxnSpPr>
            <p:cNvPr id="19465" name="Straight Connector 27">
              <a:extLst>
                <a:ext uri="{FF2B5EF4-FFF2-40B4-BE49-F238E27FC236}">
                  <a16:creationId xmlns:a16="http://schemas.microsoft.com/office/drawing/2014/main" id="{D7436BD0-8401-4EBD-9141-FC87012C0130}"/>
                </a:ext>
              </a:extLst>
            </p:cNvPr>
            <p:cNvCxnSpPr>
              <a:cxnSpLocks noChangeShapeType="1"/>
            </p:cNvCxnSpPr>
            <p:nvPr/>
          </p:nvCxnSpPr>
          <p:spPr bwMode="auto">
            <a:xfrm>
              <a:off x="1928794" y="5210061"/>
              <a:ext cx="385765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9466" name="Isosceles Triangle 18">
              <a:extLst>
                <a:ext uri="{FF2B5EF4-FFF2-40B4-BE49-F238E27FC236}">
                  <a16:creationId xmlns:a16="http://schemas.microsoft.com/office/drawing/2014/main" id="{DF415FD5-F4A2-472E-916D-894157E1E7F6}"/>
                </a:ext>
              </a:extLst>
            </p:cNvPr>
            <p:cNvSpPr>
              <a:spLocks noChangeArrowheads="1"/>
            </p:cNvSpPr>
            <p:nvPr/>
          </p:nvSpPr>
          <p:spPr bwMode="auto">
            <a:xfrm rot="5400000">
              <a:off x="2394826" y="4996552"/>
              <a:ext cx="496661" cy="428606"/>
            </a:xfrm>
            <a:prstGeom prst="triangle">
              <a:avLst>
                <a:gd name="adj" fmla="val 50000"/>
              </a:avLst>
            </a:prstGeom>
            <a:solidFill>
              <a:schemeClr val="accent1"/>
            </a:solidFill>
            <a:ln w="9525" algn="ctr">
              <a:solidFill>
                <a:schemeClr val="tx1"/>
              </a:solidFill>
              <a:round/>
              <a:headEnd/>
              <a:tailEnd/>
            </a:ln>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a:p>
          </p:txBody>
        </p:sp>
        <p:sp>
          <p:nvSpPr>
            <p:cNvPr id="19467" name="Isosceles Triangle 21">
              <a:extLst>
                <a:ext uri="{FF2B5EF4-FFF2-40B4-BE49-F238E27FC236}">
                  <a16:creationId xmlns:a16="http://schemas.microsoft.com/office/drawing/2014/main" id="{62B40D5A-5A63-4B3C-933A-3CFC63C2315C}"/>
                </a:ext>
              </a:extLst>
            </p:cNvPr>
            <p:cNvSpPr>
              <a:spLocks noChangeArrowheads="1"/>
            </p:cNvSpPr>
            <p:nvPr/>
          </p:nvSpPr>
          <p:spPr bwMode="auto">
            <a:xfrm rot="5400000">
              <a:off x="3537775" y="4996552"/>
              <a:ext cx="496661" cy="428606"/>
            </a:xfrm>
            <a:prstGeom prst="triangle">
              <a:avLst>
                <a:gd name="adj" fmla="val 50000"/>
              </a:avLst>
            </a:prstGeom>
            <a:solidFill>
              <a:schemeClr val="accent1"/>
            </a:solidFill>
            <a:ln w="9525" algn="ctr">
              <a:solidFill>
                <a:schemeClr val="tx1"/>
              </a:solidFill>
              <a:round/>
              <a:headEnd/>
              <a:tailEnd/>
            </a:ln>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a:p>
          </p:txBody>
        </p:sp>
        <p:sp>
          <p:nvSpPr>
            <p:cNvPr id="19468" name="Isosceles Triangle 22">
              <a:extLst>
                <a:ext uri="{FF2B5EF4-FFF2-40B4-BE49-F238E27FC236}">
                  <a16:creationId xmlns:a16="http://schemas.microsoft.com/office/drawing/2014/main" id="{95B975A4-C6E6-439B-8B2D-3D1902F4CC6B}"/>
                </a:ext>
              </a:extLst>
            </p:cNvPr>
            <p:cNvSpPr>
              <a:spLocks noChangeArrowheads="1"/>
            </p:cNvSpPr>
            <p:nvPr/>
          </p:nvSpPr>
          <p:spPr bwMode="auto">
            <a:xfrm rot="5400000">
              <a:off x="4752158" y="4996552"/>
              <a:ext cx="496661" cy="428606"/>
            </a:xfrm>
            <a:prstGeom prst="triangle">
              <a:avLst>
                <a:gd name="adj" fmla="val 50000"/>
              </a:avLst>
            </a:prstGeom>
            <a:solidFill>
              <a:schemeClr val="accent1"/>
            </a:solidFill>
            <a:ln w="9525" algn="ctr">
              <a:solidFill>
                <a:schemeClr val="tx1"/>
              </a:solidFill>
              <a:round/>
              <a:headEnd/>
              <a:tailEnd/>
            </a:ln>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a:p>
          </p:txBody>
        </p:sp>
      </p:gr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506" name="Straight Arrow Connector 11">
            <a:extLst>
              <a:ext uri="{FF2B5EF4-FFF2-40B4-BE49-F238E27FC236}">
                <a16:creationId xmlns:a16="http://schemas.microsoft.com/office/drawing/2014/main" id="{0669734F-9263-492A-9563-CF8FDF67EB51}"/>
              </a:ext>
            </a:extLst>
          </p:cNvPr>
          <p:cNvCxnSpPr>
            <a:cxnSpLocks noChangeShapeType="1"/>
          </p:cNvCxnSpPr>
          <p:nvPr/>
        </p:nvCxnSpPr>
        <p:spPr bwMode="auto">
          <a:xfrm rot="5400000">
            <a:off x="6028532" y="3617119"/>
            <a:ext cx="773112"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1507" name="Text Box 5">
            <a:extLst>
              <a:ext uri="{FF2B5EF4-FFF2-40B4-BE49-F238E27FC236}">
                <a16:creationId xmlns:a16="http://schemas.microsoft.com/office/drawing/2014/main" id="{F4FD8DF4-98AD-41E0-B2FC-883BC765FB69}"/>
              </a:ext>
            </a:extLst>
          </p:cNvPr>
          <p:cNvSpPr txBox="1">
            <a:spLocks noChangeArrowheads="1"/>
          </p:cNvSpPr>
          <p:nvPr/>
        </p:nvSpPr>
        <p:spPr bwMode="auto">
          <a:xfrm>
            <a:off x="6381750" y="2344739"/>
            <a:ext cx="22860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100"/>
              <a:t>Statistical parasitics</a:t>
            </a:r>
            <a:endParaRPr lang="ru-RU" altLang="en-US" sz="1100"/>
          </a:p>
        </p:txBody>
      </p:sp>
      <p:sp>
        <p:nvSpPr>
          <p:cNvPr id="39959" name="Can 5">
            <a:extLst>
              <a:ext uri="{FF2B5EF4-FFF2-40B4-BE49-F238E27FC236}">
                <a16:creationId xmlns:a16="http://schemas.microsoft.com/office/drawing/2014/main" id="{B61EE49D-B0B3-415B-A47B-060054693517}"/>
              </a:ext>
            </a:extLst>
          </p:cNvPr>
          <p:cNvSpPr>
            <a:spLocks noChangeArrowheads="1"/>
          </p:cNvSpPr>
          <p:nvPr/>
        </p:nvSpPr>
        <p:spPr bwMode="auto">
          <a:xfrm>
            <a:off x="2667001" y="2039939"/>
            <a:ext cx="1643063" cy="1000125"/>
          </a:xfrm>
          <a:prstGeom prst="can">
            <a:avLst>
              <a:gd name="adj" fmla="val 25000"/>
            </a:avLst>
          </a:prstGeom>
          <a:ln w="9525">
            <a:solidFill>
              <a:schemeClr val="tx1"/>
            </a:solidFill>
            <a:headEnd/>
            <a:tailEnd/>
          </a:ln>
          <a:effectLst/>
        </p:spPr>
        <p:style>
          <a:lnRef idx="3">
            <a:schemeClr val="lt1"/>
          </a:lnRef>
          <a:fillRef idx="1">
            <a:schemeClr val="accent1"/>
          </a:fillRef>
          <a:effectRef idx="1">
            <a:schemeClr val="accent1"/>
          </a:effectRef>
          <a:fontRef idx="minor">
            <a:schemeClr val="lt1"/>
          </a:fontRef>
        </p:style>
        <p:txBody>
          <a:bodyPr/>
          <a:lstStyle/>
          <a:p>
            <a:pPr algn="ctr" eaLnBrk="1" hangingPunct="1">
              <a:defRPr/>
            </a:pPr>
            <a:endParaRPr lang="en-US" sz="1400" dirty="0">
              <a:solidFill>
                <a:schemeClr val="bg1"/>
              </a:solidFill>
            </a:endParaRPr>
          </a:p>
          <a:p>
            <a:pPr algn="ctr" eaLnBrk="1" hangingPunct="1">
              <a:defRPr/>
            </a:pPr>
            <a:r>
              <a:rPr lang="en-US" sz="1400" dirty="0">
                <a:solidFill>
                  <a:schemeClr val="bg1"/>
                </a:solidFill>
              </a:rPr>
              <a:t>Variation Libraries</a:t>
            </a:r>
          </a:p>
        </p:txBody>
      </p:sp>
      <p:sp>
        <p:nvSpPr>
          <p:cNvPr id="39960" name="Can 6">
            <a:extLst>
              <a:ext uri="{FF2B5EF4-FFF2-40B4-BE49-F238E27FC236}">
                <a16:creationId xmlns:a16="http://schemas.microsoft.com/office/drawing/2014/main" id="{2CDC5399-273B-48DF-96F5-FF1332199589}"/>
              </a:ext>
            </a:extLst>
          </p:cNvPr>
          <p:cNvSpPr>
            <a:spLocks noChangeArrowheads="1"/>
          </p:cNvSpPr>
          <p:nvPr/>
        </p:nvSpPr>
        <p:spPr bwMode="auto">
          <a:xfrm>
            <a:off x="2667001" y="3254376"/>
            <a:ext cx="1643063" cy="1000125"/>
          </a:xfrm>
          <a:prstGeom prst="can">
            <a:avLst>
              <a:gd name="adj" fmla="val 25000"/>
            </a:avLst>
          </a:prstGeom>
          <a:ln w="9525">
            <a:solidFill>
              <a:schemeClr val="tx1"/>
            </a:solidFill>
            <a:headEnd/>
            <a:tailEnd/>
          </a:ln>
          <a:effectLst/>
        </p:spPr>
        <p:style>
          <a:lnRef idx="3">
            <a:schemeClr val="lt1"/>
          </a:lnRef>
          <a:fillRef idx="1">
            <a:schemeClr val="accent1"/>
          </a:fillRef>
          <a:effectRef idx="1">
            <a:schemeClr val="accent1"/>
          </a:effectRef>
          <a:fontRef idx="minor">
            <a:schemeClr val="lt1"/>
          </a:fontRef>
        </p:style>
        <p:txBody>
          <a:bodyPr/>
          <a:lstStyle/>
          <a:p>
            <a:pPr algn="ctr" eaLnBrk="1" hangingPunct="1">
              <a:defRPr/>
            </a:pPr>
            <a:endParaRPr lang="en-US">
              <a:solidFill>
                <a:schemeClr val="bg1"/>
              </a:solidFill>
            </a:endParaRPr>
          </a:p>
          <a:p>
            <a:pPr algn="ctr" eaLnBrk="1" hangingPunct="1">
              <a:defRPr/>
            </a:pPr>
            <a:r>
              <a:rPr lang="en-US" sz="1400">
                <a:solidFill>
                  <a:schemeClr val="bg1"/>
                </a:solidFill>
              </a:rPr>
              <a:t>Constraints</a:t>
            </a:r>
          </a:p>
        </p:txBody>
      </p:sp>
      <p:sp>
        <p:nvSpPr>
          <p:cNvPr id="39961" name="TextBox 7">
            <a:extLst>
              <a:ext uri="{FF2B5EF4-FFF2-40B4-BE49-F238E27FC236}">
                <a16:creationId xmlns:a16="http://schemas.microsoft.com/office/drawing/2014/main" id="{6F1FB67B-B555-4D0F-8393-BB5508293432}"/>
              </a:ext>
            </a:extLst>
          </p:cNvPr>
          <p:cNvSpPr txBox="1">
            <a:spLocks noChangeArrowheads="1"/>
          </p:cNvSpPr>
          <p:nvPr/>
        </p:nvSpPr>
        <p:spPr bwMode="auto">
          <a:xfrm>
            <a:off x="5121275" y="1714501"/>
            <a:ext cx="2617788" cy="276225"/>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spAutoFit/>
          </a:bodyPr>
          <a:lstStyle>
            <a:defPPr>
              <a:defRPr lang="en-US"/>
            </a:defPPr>
            <a:lvl1pPr algn="ctr">
              <a:defRPr sz="1000"/>
            </a:lvl1pPr>
          </a:lstStyle>
          <a:p>
            <a:pPr eaLnBrk="1" hangingPunct="1">
              <a:defRPr/>
            </a:pPr>
            <a:r>
              <a:rPr lang="en-US" sz="1200"/>
              <a:t>Statistical Parasitic Extraction Tool</a:t>
            </a:r>
          </a:p>
        </p:txBody>
      </p:sp>
      <p:sp>
        <p:nvSpPr>
          <p:cNvPr id="39962" name="TextBox 8">
            <a:extLst>
              <a:ext uri="{FF2B5EF4-FFF2-40B4-BE49-F238E27FC236}">
                <a16:creationId xmlns:a16="http://schemas.microsoft.com/office/drawing/2014/main" id="{54318923-549E-4F4D-B911-DA58D23827D6}"/>
              </a:ext>
            </a:extLst>
          </p:cNvPr>
          <p:cNvSpPr txBox="1">
            <a:spLocks noChangeArrowheads="1"/>
          </p:cNvSpPr>
          <p:nvPr/>
        </p:nvSpPr>
        <p:spPr bwMode="auto">
          <a:xfrm>
            <a:off x="5111750" y="2855913"/>
            <a:ext cx="2643188" cy="461962"/>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spAutoFit/>
          </a:bodyPr>
          <a:lstStyle>
            <a:defPPr>
              <a:defRPr lang="en-US"/>
            </a:defPPr>
            <a:lvl1pPr algn="ctr">
              <a:defRPr sz="1000"/>
            </a:lvl1pPr>
          </a:lstStyle>
          <a:p>
            <a:pPr eaLnBrk="1" hangingPunct="1">
              <a:defRPr/>
            </a:pPr>
            <a:r>
              <a:rPr lang="en-US" sz="1200" dirty="0"/>
              <a:t>Statistical Static Timing Analysis Tool</a:t>
            </a:r>
          </a:p>
        </p:txBody>
      </p:sp>
      <p:cxnSp>
        <p:nvCxnSpPr>
          <p:cNvPr id="21512" name="Straight Arrow Connector 10">
            <a:extLst>
              <a:ext uri="{FF2B5EF4-FFF2-40B4-BE49-F238E27FC236}">
                <a16:creationId xmlns:a16="http://schemas.microsoft.com/office/drawing/2014/main" id="{C500C7EC-2CC1-4571-A3AC-D01E001B858D}"/>
              </a:ext>
            </a:extLst>
          </p:cNvPr>
          <p:cNvCxnSpPr>
            <a:cxnSpLocks noChangeShapeType="1"/>
            <a:stCxn id="39961" idx="2"/>
            <a:endCxn id="39962" idx="0"/>
          </p:cNvCxnSpPr>
          <p:nvPr/>
        </p:nvCxnSpPr>
        <p:spPr bwMode="auto">
          <a:xfrm>
            <a:off x="6430963" y="1990725"/>
            <a:ext cx="0" cy="8651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1513" name="Text Box 5">
            <a:extLst>
              <a:ext uri="{FF2B5EF4-FFF2-40B4-BE49-F238E27FC236}">
                <a16:creationId xmlns:a16="http://schemas.microsoft.com/office/drawing/2014/main" id="{04CF0882-1FC8-4E70-BF89-B3EE7FB82F5F}"/>
              </a:ext>
            </a:extLst>
          </p:cNvPr>
          <p:cNvSpPr txBox="1">
            <a:spLocks noChangeArrowheads="1"/>
          </p:cNvSpPr>
          <p:nvPr/>
        </p:nvSpPr>
        <p:spPr bwMode="auto">
          <a:xfrm>
            <a:off x="5284788" y="4059239"/>
            <a:ext cx="22860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100"/>
              <a:t>Slack timing report</a:t>
            </a:r>
            <a:endParaRPr lang="ru-RU" altLang="en-US" sz="1100"/>
          </a:p>
        </p:txBody>
      </p:sp>
      <p:sp>
        <p:nvSpPr>
          <p:cNvPr id="39965" name="Text Box 5">
            <a:extLst>
              <a:ext uri="{FF2B5EF4-FFF2-40B4-BE49-F238E27FC236}">
                <a16:creationId xmlns:a16="http://schemas.microsoft.com/office/drawing/2014/main" id="{60B68F68-5D43-4EC5-9773-999E1D47477B}"/>
              </a:ext>
            </a:extLst>
          </p:cNvPr>
          <p:cNvSpPr>
            <a:spLocks noChangeArrowheads="1"/>
          </p:cNvSpPr>
          <p:nvPr/>
        </p:nvSpPr>
        <p:spPr bwMode="auto">
          <a:xfrm>
            <a:off x="8655051" y="2605089"/>
            <a:ext cx="1357313" cy="744537"/>
          </a:xfrm>
          <a:prstGeom prst="flowChartDocument">
            <a:avLst/>
          </a:prstGeom>
          <a:ln w="9525">
            <a:solidFill>
              <a:schemeClr val="tx1"/>
            </a:solidFill>
            <a:headEnd/>
            <a:tailEnd/>
          </a:ln>
          <a:effectLst/>
        </p:spPr>
        <p:style>
          <a:lnRef idx="3">
            <a:schemeClr val="lt1"/>
          </a:lnRef>
          <a:fillRef idx="1">
            <a:schemeClr val="accent1"/>
          </a:fillRef>
          <a:effectRef idx="1">
            <a:schemeClr val="accent1"/>
          </a:effectRef>
          <a:fontRef idx="minor">
            <a:schemeClr val="lt1"/>
          </a:fontRef>
        </p:style>
        <p:txBody>
          <a:bodyPr>
            <a:spAutoFit/>
          </a:bodyPr>
          <a:lstStyle/>
          <a:p>
            <a:pPr algn="ctr" eaLnBrk="1" hangingPunct="1">
              <a:spcBef>
                <a:spcPct val="50000"/>
              </a:spcBef>
              <a:defRPr/>
            </a:pPr>
            <a:r>
              <a:rPr lang="en-US" sz="1100">
                <a:solidFill>
                  <a:schemeClr val="bg1"/>
                </a:solidFill>
              </a:rPr>
              <a:t>Process Parameter Distribution</a:t>
            </a:r>
            <a:endParaRPr lang="ru-RU" sz="1100">
              <a:solidFill>
                <a:schemeClr val="bg1"/>
              </a:solidFill>
            </a:endParaRPr>
          </a:p>
        </p:txBody>
      </p:sp>
      <p:cxnSp>
        <p:nvCxnSpPr>
          <p:cNvPr id="21515" name="Straight Arrow Connector 15">
            <a:extLst>
              <a:ext uri="{FF2B5EF4-FFF2-40B4-BE49-F238E27FC236}">
                <a16:creationId xmlns:a16="http://schemas.microsoft.com/office/drawing/2014/main" id="{E301D583-2D8A-4ECE-8C0D-03E5BB58EF84}"/>
              </a:ext>
            </a:extLst>
          </p:cNvPr>
          <p:cNvCxnSpPr>
            <a:cxnSpLocks noChangeShapeType="1"/>
            <a:stCxn id="39965" idx="1"/>
            <a:endCxn id="39962" idx="3"/>
          </p:cNvCxnSpPr>
          <p:nvPr/>
        </p:nvCxnSpPr>
        <p:spPr bwMode="auto">
          <a:xfrm flipH="1">
            <a:off x="7754938" y="2978150"/>
            <a:ext cx="900112" cy="1079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516" name="Straight Arrow Connector 17">
            <a:extLst>
              <a:ext uri="{FF2B5EF4-FFF2-40B4-BE49-F238E27FC236}">
                <a16:creationId xmlns:a16="http://schemas.microsoft.com/office/drawing/2014/main" id="{F8FC00DE-7495-44DE-880E-17D5B33A1893}"/>
              </a:ext>
            </a:extLst>
          </p:cNvPr>
          <p:cNvCxnSpPr>
            <a:cxnSpLocks noChangeShapeType="1"/>
            <a:stCxn id="39959" idx="4"/>
          </p:cNvCxnSpPr>
          <p:nvPr/>
        </p:nvCxnSpPr>
        <p:spPr bwMode="auto">
          <a:xfrm>
            <a:off x="4310063" y="2540001"/>
            <a:ext cx="785812" cy="61277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517" name="Straight Arrow Connector 19">
            <a:extLst>
              <a:ext uri="{FF2B5EF4-FFF2-40B4-BE49-F238E27FC236}">
                <a16:creationId xmlns:a16="http://schemas.microsoft.com/office/drawing/2014/main" id="{65DCF0AB-C682-440F-85BD-2F6CDC96DC68}"/>
              </a:ext>
            </a:extLst>
          </p:cNvPr>
          <p:cNvCxnSpPr>
            <a:cxnSpLocks noChangeShapeType="1"/>
            <a:stCxn id="39960" idx="4"/>
          </p:cNvCxnSpPr>
          <p:nvPr/>
        </p:nvCxnSpPr>
        <p:spPr bwMode="auto">
          <a:xfrm flipV="1">
            <a:off x="4310063" y="3152776"/>
            <a:ext cx="785812" cy="60166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21518" name="Group 39">
            <a:extLst>
              <a:ext uri="{FF2B5EF4-FFF2-40B4-BE49-F238E27FC236}">
                <a16:creationId xmlns:a16="http://schemas.microsoft.com/office/drawing/2014/main" id="{E589102B-F17A-40A9-A5CF-C86A6E55C6E7}"/>
              </a:ext>
            </a:extLst>
          </p:cNvPr>
          <p:cNvGrpSpPr>
            <a:grpSpLocks/>
          </p:cNvGrpSpPr>
          <p:nvPr/>
        </p:nvGrpSpPr>
        <p:grpSpPr bwMode="auto">
          <a:xfrm>
            <a:off x="3810001" y="4716463"/>
            <a:ext cx="5214961" cy="1141412"/>
            <a:chOff x="2857488" y="4787116"/>
            <a:chExt cx="5214997" cy="1142214"/>
          </a:xfrm>
        </p:grpSpPr>
        <p:cxnSp>
          <p:nvCxnSpPr>
            <p:cNvPr id="21520" name="Straight Arrow Connector 20">
              <a:extLst>
                <a:ext uri="{FF2B5EF4-FFF2-40B4-BE49-F238E27FC236}">
                  <a16:creationId xmlns:a16="http://schemas.microsoft.com/office/drawing/2014/main" id="{3F377704-4BF0-45FE-9D6E-659250131C57}"/>
                </a:ext>
              </a:extLst>
            </p:cNvPr>
            <p:cNvCxnSpPr>
              <a:cxnSpLocks noChangeShapeType="1"/>
            </p:cNvCxnSpPr>
            <p:nvPr/>
          </p:nvCxnSpPr>
          <p:spPr bwMode="auto">
            <a:xfrm>
              <a:off x="2928926" y="5572140"/>
              <a:ext cx="1643074"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521" name="Straight Arrow Connector 22">
              <a:extLst>
                <a:ext uri="{FF2B5EF4-FFF2-40B4-BE49-F238E27FC236}">
                  <a16:creationId xmlns:a16="http://schemas.microsoft.com/office/drawing/2014/main" id="{B94F0CF1-8029-46DB-80E5-245BB577B185}"/>
                </a:ext>
              </a:extLst>
            </p:cNvPr>
            <p:cNvCxnSpPr>
              <a:cxnSpLocks noChangeShapeType="1"/>
            </p:cNvCxnSpPr>
            <p:nvPr/>
          </p:nvCxnSpPr>
          <p:spPr bwMode="auto">
            <a:xfrm rot="5400000" flipH="1" flipV="1">
              <a:off x="2536811" y="5180025"/>
              <a:ext cx="785818"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21522" name="Group 27">
              <a:extLst>
                <a:ext uri="{FF2B5EF4-FFF2-40B4-BE49-F238E27FC236}">
                  <a16:creationId xmlns:a16="http://schemas.microsoft.com/office/drawing/2014/main" id="{91F684B5-163F-449B-9139-9E1E8FC79E85}"/>
                </a:ext>
              </a:extLst>
            </p:cNvPr>
            <p:cNvGrpSpPr>
              <a:grpSpLocks/>
            </p:cNvGrpSpPr>
            <p:nvPr/>
          </p:nvGrpSpPr>
          <p:grpSpPr bwMode="auto">
            <a:xfrm>
              <a:off x="3214678" y="4857760"/>
              <a:ext cx="1285884" cy="714380"/>
              <a:chOff x="928661" y="5000636"/>
              <a:chExt cx="1500200" cy="714380"/>
            </a:xfrm>
          </p:grpSpPr>
          <p:sp>
            <p:nvSpPr>
              <p:cNvPr id="24" name="Arc 23">
                <a:extLst>
                  <a:ext uri="{FF2B5EF4-FFF2-40B4-BE49-F238E27FC236}">
                    <a16:creationId xmlns:a16="http://schemas.microsoft.com/office/drawing/2014/main" id="{B96DD6C8-6480-4DC4-8D89-8108DE13DD4E}"/>
                  </a:ext>
                </a:extLst>
              </p:cNvPr>
              <p:cNvSpPr/>
              <p:nvPr/>
            </p:nvSpPr>
            <p:spPr bwMode="auto">
              <a:xfrm>
                <a:off x="1428728" y="4999891"/>
                <a:ext cx="500067" cy="714877"/>
              </a:xfrm>
              <a:prstGeom prst="arc">
                <a:avLst/>
              </a:prstGeom>
              <a:noFill/>
              <a:ln w="9525" cap="flat" cmpd="sng" algn="ctr">
                <a:solidFill>
                  <a:schemeClr val="tx1"/>
                </a:solidFill>
                <a:prstDash val="solid"/>
                <a:round/>
                <a:headEnd type="none" w="med" len="med"/>
                <a:tailEnd type="none" w="med" len="med"/>
              </a:ln>
              <a:effectLst/>
            </p:spPr>
            <p:txBody>
              <a:bodyPr/>
              <a:lstStyle/>
              <a:p>
                <a:pPr>
                  <a:defRPr/>
                </a:pPr>
                <a:endParaRPr lang="en-US" dirty="0"/>
              </a:p>
            </p:txBody>
          </p:sp>
          <p:sp>
            <p:nvSpPr>
              <p:cNvPr id="25" name="Arc 24">
                <a:extLst>
                  <a:ext uri="{FF2B5EF4-FFF2-40B4-BE49-F238E27FC236}">
                    <a16:creationId xmlns:a16="http://schemas.microsoft.com/office/drawing/2014/main" id="{E7BBC54F-FE5A-4B80-9001-C73CB28630A3}"/>
                  </a:ext>
                </a:extLst>
              </p:cNvPr>
              <p:cNvSpPr/>
              <p:nvPr/>
            </p:nvSpPr>
            <p:spPr bwMode="auto">
              <a:xfrm flipH="1">
                <a:off x="1428728" y="4999891"/>
                <a:ext cx="500067" cy="714877"/>
              </a:xfrm>
              <a:prstGeom prst="arc">
                <a:avLst/>
              </a:prstGeom>
              <a:noFill/>
              <a:ln w="9525" cap="flat" cmpd="sng" algn="ctr">
                <a:solidFill>
                  <a:schemeClr val="tx1"/>
                </a:solidFill>
                <a:prstDash val="solid"/>
                <a:round/>
                <a:headEnd type="none" w="med" len="med"/>
                <a:tailEnd type="none" w="med" len="med"/>
              </a:ln>
              <a:effectLst/>
            </p:spPr>
            <p:txBody>
              <a:bodyPr/>
              <a:lstStyle/>
              <a:p>
                <a:pPr>
                  <a:defRPr/>
                </a:pPr>
                <a:endParaRPr lang="en-US" dirty="0"/>
              </a:p>
            </p:txBody>
          </p:sp>
          <p:sp>
            <p:nvSpPr>
              <p:cNvPr id="26" name="Arc 25">
                <a:extLst>
                  <a:ext uri="{FF2B5EF4-FFF2-40B4-BE49-F238E27FC236}">
                    <a16:creationId xmlns:a16="http://schemas.microsoft.com/office/drawing/2014/main" id="{6D8AF17D-7F8B-4659-B15E-3212F49A452C}"/>
                  </a:ext>
                </a:extLst>
              </p:cNvPr>
              <p:cNvSpPr/>
              <p:nvPr/>
            </p:nvSpPr>
            <p:spPr bwMode="auto">
              <a:xfrm rot="10800000">
                <a:off x="1928794" y="4999891"/>
                <a:ext cx="500067" cy="714877"/>
              </a:xfrm>
              <a:prstGeom prst="arc">
                <a:avLst/>
              </a:prstGeom>
              <a:noFill/>
              <a:ln w="9525" cap="flat" cmpd="sng" algn="ctr">
                <a:solidFill>
                  <a:schemeClr val="tx1"/>
                </a:solidFill>
                <a:prstDash val="solid"/>
                <a:round/>
                <a:headEnd type="none" w="med" len="med"/>
                <a:tailEnd type="none" w="med" len="med"/>
              </a:ln>
              <a:effectLst/>
            </p:spPr>
            <p:txBody>
              <a:bodyPr/>
              <a:lstStyle/>
              <a:p>
                <a:pPr>
                  <a:defRPr/>
                </a:pPr>
                <a:endParaRPr lang="en-US" dirty="0"/>
              </a:p>
            </p:txBody>
          </p:sp>
          <p:sp>
            <p:nvSpPr>
              <p:cNvPr id="27" name="Arc 26">
                <a:extLst>
                  <a:ext uri="{FF2B5EF4-FFF2-40B4-BE49-F238E27FC236}">
                    <a16:creationId xmlns:a16="http://schemas.microsoft.com/office/drawing/2014/main" id="{9284D791-E982-4BDF-AF38-C54BD7BBB7DD}"/>
                  </a:ext>
                </a:extLst>
              </p:cNvPr>
              <p:cNvSpPr/>
              <p:nvPr/>
            </p:nvSpPr>
            <p:spPr bwMode="auto">
              <a:xfrm rot="10800000" flipH="1">
                <a:off x="928661" y="4999891"/>
                <a:ext cx="500067" cy="714877"/>
              </a:xfrm>
              <a:prstGeom prst="arc">
                <a:avLst/>
              </a:prstGeom>
              <a:noFill/>
              <a:ln w="9525" cap="flat" cmpd="sng" algn="ctr">
                <a:solidFill>
                  <a:schemeClr val="tx1"/>
                </a:solidFill>
                <a:prstDash val="solid"/>
                <a:round/>
                <a:headEnd type="none" w="med" len="med"/>
                <a:tailEnd type="none" w="med" len="med"/>
              </a:ln>
              <a:effectLst/>
            </p:spPr>
            <p:txBody>
              <a:bodyPr/>
              <a:lstStyle/>
              <a:p>
                <a:pPr>
                  <a:defRPr/>
                </a:pPr>
                <a:endParaRPr lang="en-US" dirty="0"/>
              </a:p>
            </p:txBody>
          </p:sp>
        </p:grpSp>
        <p:grpSp>
          <p:nvGrpSpPr>
            <p:cNvPr id="21523" name="Group 31">
              <a:extLst>
                <a:ext uri="{FF2B5EF4-FFF2-40B4-BE49-F238E27FC236}">
                  <a16:creationId xmlns:a16="http://schemas.microsoft.com/office/drawing/2014/main" id="{C91E3EA4-25B9-41F0-BDE9-8AEA17BA92B4}"/>
                </a:ext>
              </a:extLst>
            </p:cNvPr>
            <p:cNvGrpSpPr>
              <a:grpSpLocks/>
            </p:cNvGrpSpPr>
            <p:nvPr/>
          </p:nvGrpSpPr>
          <p:grpSpPr bwMode="auto">
            <a:xfrm>
              <a:off x="3030844" y="5531182"/>
              <a:ext cx="107157" cy="107157"/>
              <a:chOff x="857224" y="5322107"/>
              <a:chExt cx="285752" cy="285752"/>
            </a:xfrm>
          </p:grpSpPr>
          <p:cxnSp>
            <p:nvCxnSpPr>
              <p:cNvPr id="21529" name="Straight Connector 29">
                <a:extLst>
                  <a:ext uri="{FF2B5EF4-FFF2-40B4-BE49-F238E27FC236}">
                    <a16:creationId xmlns:a16="http://schemas.microsoft.com/office/drawing/2014/main" id="{6EAAC468-F82D-489C-BE16-7E2BB14B1C77}"/>
                  </a:ext>
                </a:extLst>
              </p:cNvPr>
              <p:cNvCxnSpPr>
                <a:cxnSpLocks noChangeShapeType="1"/>
              </p:cNvCxnSpPr>
              <p:nvPr/>
            </p:nvCxnSpPr>
            <p:spPr bwMode="auto">
              <a:xfrm rot="16200000" flipH="1">
                <a:off x="857224" y="5322107"/>
                <a:ext cx="285752" cy="28575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30" name="Straight Connector 30">
                <a:extLst>
                  <a:ext uri="{FF2B5EF4-FFF2-40B4-BE49-F238E27FC236}">
                    <a16:creationId xmlns:a16="http://schemas.microsoft.com/office/drawing/2014/main" id="{32B1D00E-E543-4908-AE52-7DB56B0A843F}"/>
                  </a:ext>
                </a:extLst>
              </p:cNvPr>
              <p:cNvCxnSpPr>
                <a:cxnSpLocks noChangeShapeType="1"/>
              </p:cNvCxnSpPr>
              <p:nvPr/>
            </p:nvCxnSpPr>
            <p:spPr bwMode="auto">
              <a:xfrm rot="5400000">
                <a:off x="857224" y="5322107"/>
                <a:ext cx="285752" cy="28575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1524" name="Straight Connector 33">
              <a:extLst>
                <a:ext uri="{FF2B5EF4-FFF2-40B4-BE49-F238E27FC236}">
                  <a16:creationId xmlns:a16="http://schemas.microsoft.com/office/drawing/2014/main" id="{48BAE7F0-F4D2-442B-BF44-D13F3966C9EF}"/>
                </a:ext>
              </a:extLst>
            </p:cNvPr>
            <p:cNvCxnSpPr>
              <a:cxnSpLocks noChangeShapeType="1"/>
            </p:cNvCxnSpPr>
            <p:nvPr/>
          </p:nvCxnSpPr>
          <p:spPr bwMode="auto">
            <a:xfrm rot="5400000">
              <a:off x="3332630" y="5581824"/>
              <a:ext cx="142876"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1525" name="TextBox 34">
              <a:extLst>
                <a:ext uri="{FF2B5EF4-FFF2-40B4-BE49-F238E27FC236}">
                  <a16:creationId xmlns:a16="http://schemas.microsoft.com/office/drawing/2014/main" id="{23AE875F-F4B0-45F3-BABF-544542A4E97C}"/>
                </a:ext>
              </a:extLst>
            </p:cNvPr>
            <p:cNvSpPr txBox="1">
              <a:spLocks noChangeArrowheads="1"/>
            </p:cNvSpPr>
            <p:nvPr/>
          </p:nvSpPr>
          <p:spPr bwMode="auto">
            <a:xfrm>
              <a:off x="2857488" y="5621553"/>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a:t>0.8</a:t>
              </a:r>
            </a:p>
          </p:txBody>
        </p:sp>
        <p:sp>
          <p:nvSpPr>
            <p:cNvPr id="21526" name="TextBox 35">
              <a:extLst>
                <a:ext uri="{FF2B5EF4-FFF2-40B4-BE49-F238E27FC236}">
                  <a16:creationId xmlns:a16="http://schemas.microsoft.com/office/drawing/2014/main" id="{B2A1DA66-30EA-4532-938A-E1FD29806FE5}"/>
                </a:ext>
              </a:extLst>
            </p:cNvPr>
            <p:cNvSpPr txBox="1">
              <a:spLocks noChangeArrowheads="1"/>
            </p:cNvSpPr>
            <p:nvPr/>
          </p:nvSpPr>
          <p:spPr bwMode="auto">
            <a:xfrm>
              <a:off x="3173720" y="5621553"/>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a:t>1.1</a:t>
              </a:r>
            </a:p>
          </p:txBody>
        </p:sp>
        <p:sp>
          <p:nvSpPr>
            <p:cNvPr id="21527" name="TextBox 36">
              <a:extLst>
                <a:ext uri="{FF2B5EF4-FFF2-40B4-BE49-F238E27FC236}">
                  <a16:creationId xmlns:a16="http://schemas.microsoft.com/office/drawing/2014/main" id="{6D44F5E2-1533-4FD6-9A91-1A9980326CF8}"/>
                </a:ext>
              </a:extLst>
            </p:cNvPr>
            <p:cNvSpPr txBox="1">
              <a:spLocks noChangeArrowheads="1"/>
            </p:cNvSpPr>
            <p:nvPr/>
          </p:nvSpPr>
          <p:spPr bwMode="auto">
            <a:xfrm>
              <a:off x="3786182" y="5572140"/>
              <a:ext cx="101181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a:t>Path slack</a:t>
              </a:r>
            </a:p>
          </p:txBody>
        </p:sp>
        <p:sp>
          <p:nvSpPr>
            <p:cNvPr id="21528" name="TextBox 37">
              <a:extLst>
                <a:ext uri="{FF2B5EF4-FFF2-40B4-BE49-F238E27FC236}">
                  <a16:creationId xmlns:a16="http://schemas.microsoft.com/office/drawing/2014/main" id="{3DCD88AD-150B-49C1-9BC4-C9E1C8AAD513}"/>
                </a:ext>
              </a:extLst>
            </p:cNvPr>
            <p:cNvSpPr txBox="1">
              <a:spLocks noChangeArrowheads="1"/>
            </p:cNvSpPr>
            <p:nvPr/>
          </p:nvSpPr>
          <p:spPr bwMode="auto">
            <a:xfrm>
              <a:off x="4751232" y="4938120"/>
              <a:ext cx="3321253" cy="585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t>Worst case (min/max) slack: 0.8ns</a:t>
              </a:r>
            </a:p>
            <a:p>
              <a:pPr eaLnBrk="1" hangingPunct="1">
                <a:spcBef>
                  <a:spcPct val="0"/>
                </a:spcBef>
                <a:buClrTx/>
                <a:buSzTx/>
                <a:buFontTx/>
                <a:buNone/>
              </a:pPr>
              <a:r>
                <a:rPr lang="en-US" altLang="en-US" sz="1600"/>
                <a:t>97% passing slack: 1.1ns</a:t>
              </a:r>
            </a:p>
          </p:txBody>
        </p:sp>
      </p:grpSp>
      <p:sp>
        <p:nvSpPr>
          <p:cNvPr id="21519" name="Title 34">
            <a:extLst>
              <a:ext uri="{FF2B5EF4-FFF2-40B4-BE49-F238E27FC236}">
                <a16:creationId xmlns:a16="http://schemas.microsoft.com/office/drawing/2014/main" id="{2E194E1A-9E53-4A50-A5A1-370A0F82DEF4}"/>
              </a:ext>
            </a:extLst>
          </p:cNvPr>
          <p:cNvSpPr>
            <a:spLocks noGrp="1"/>
          </p:cNvSpPr>
          <p:nvPr>
            <p:ph type="title"/>
          </p:nvPr>
        </p:nvSpPr>
        <p:spPr/>
        <p:txBody>
          <a:bodyPr/>
          <a:lstStyle/>
          <a:p>
            <a:r>
              <a:rPr lang="en-US" altLang="en-US"/>
              <a:t>Variation-Aware Timing Analysis Flow</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89B69AB7-B13B-4E30-B40B-08445A110110}"/>
              </a:ext>
            </a:extLst>
          </p:cNvPr>
          <p:cNvSpPr>
            <a:spLocks noChangeArrowheads="1"/>
          </p:cNvSpPr>
          <p:nvPr/>
        </p:nvSpPr>
        <p:spPr bwMode="auto">
          <a:xfrm>
            <a:off x="3816351" y="3429001"/>
            <a:ext cx="346075"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Slack</a:t>
            </a:r>
          </a:p>
        </p:txBody>
      </p:sp>
      <p:sp>
        <p:nvSpPr>
          <p:cNvPr id="23555" name="Rectangle 4">
            <a:extLst>
              <a:ext uri="{FF2B5EF4-FFF2-40B4-BE49-F238E27FC236}">
                <a16:creationId xmlns:a16="http://schemas.microsoft.com/office/drawing/2014/main" id="{3E2CE00B-2D11-4347-B6FA-81FFDBB0F5DC}"/>
              </a:ext>
            </a:extLst>
          </p:cNvPr>
          <p:cNvSpPr>
            <a:spLocks noChangeArrowheads="1"/>
          </p:cNvSpPr>
          <p:nvPr/>
        </p:nvSpPr>
        <p:spPr bwMode="auto">
          <a:xfrm>
            <a:off x="7418389" y="3429001"/>
            <a:ext cx="1622425"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a:r>
              <a:rPr lang="en-US" altLang="en-US" sz="1100">
                <a:solidFill>
                  <a:srgbClr val="000000"/>
                </a:solidFill>
              </a:rPr>
              <a:t>Design slack (robustness)</a:t>
            </a:r>
            <a:endParaRPr lang="en-US" altLang="en-US" sz="1100"/>
          </a:p>
        </p:txBody>
      </p:sp>
      <p:sp>
        <p:nvSpPr>
          <p:cNvPr id="23556" name="Line 6">
            <a:extLst>
              <a:ext uri="{FF2B5EF4-FFF2-40B4-BE49-F238E27FC236}">
                <a16:creationId xmlns:a16="http://schemas.microsoft.com/office/drawing/2014/main" id="{1758484C-736D-4FCB-9244-651B199560DF}"/>
              </a:ext>
            </a:extLst>
          </p:cNvPr>
          <p:cNvSpPr>
            <a:spLocks noChangeShapeType="1"/>
          </p:cNvSpPr>
          <p:nvPr/>
        </p:nvSpPr>
        <p:spPr bwMode="auto">
          <a:xfrm>
            <a:off x="4095750" y="2328864"/>
            <a:ext cx="0" cy="2809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57" name="Line 7">
            <a:extLst>
              <a:ext uri="{FF2B5EF4-FFF2-40B4-BE49-F238E27FC236}">
                <a16:creationId xmlns:a16="http://schemas.microsoft.com/office/drawing/2014/main" id="{2031F883-9CFC-4892-AA90-492B718DF8FE}"/>
              </a:ext>
            </a:extLst>
          </p:cNvPr>
          <p:cNvSpPr>
            <a:spLocks noChangeShapeType="1"/>
          </p:cNvSpPr>
          <p:nvPr/>
        </p:nvSpPr>
        <p:spPr bwMode="auto">
          <a:xfrm>
            <a:off x="8221663" y="2328864"/>
            <a:ext cx="0" cy="2809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3558" name="Group 9">
            <a:extLst>
              <a:ext uri="{FF2B5EF4-FFF2-40B4-BE49-F238E27FC236}">
                <a16:creationId xmlns:a16="http://schemas.microsoft.com/office/drawing/2014/main" id="{3213E84D-1B4B-4C45-B9FF-C84C72F2F723}"/>
              </a:ext>
            </a:extLst>
          </p:cNvPr>
          <p:cNvGrpSpPr>
            <a:grpSpLocks/>
          </p:cNvGrpSpPr>
          <p:nvPr/>
        </p:nvGrpSpPr>
        <p:grpSpPr bwMode="auto">
          <a:xfrm>
            <a:off x="4100513" y="1754188"/>
            <a:ext cx="4121150" cy="323850"/>
            <a:chOff x="3701" y="2546"/>
            <a:chExt cx="1334" cy="449"/>
          </a:xfrm>
        </p:grpSpPr>
        <p:sp>
          <p:nvSpPr>
            <p:cNvPr id="23584" name="Line 10">
              <a:extLst>
                <a:ext uri="{FF2B5EF4-FFF2-40B4-BE49-F238E27FC236}">
                  <a16:creationId xmlns:a16="http://schemas.microsoft.com/office/drawing/2014/main" id="{AA6CB3E3-2CE8-4D98-B8D6-976769E6FB37}"/>
                </a:ext>
              </a:extLst>
            </p:cNvPr>
            <p:cNvSpPr>
              <a:spLocks noChangeShapeType="1"/>
            </p:cNvSpPr>
            <p:nvPr/>
          </p:nvSpPr>
          <p:spPr bwMode="auto">
            <a:xfrm flipV="1">
              <a:off x="4368" y="2546"/>
              <a:ext cx="0" cy="1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3585" name="Group 11">
              <a:extLst>
                <a:ext uri="{FF2B5EF4-FFF2-40B4-BE49-F238E27FC236}">
                  <a16:creationId xmlns:a16="http://schemas.microsoft.com/office/drawing/2014/main" id="{C2CE23CB-D0E1-4D45-B6AF-8B8C936A46F3}"/>
                </a:ext>
              </a:extLst>
            </p:cNvPr>
            <p:cNvGrpSpPr>
              <a:grpSpLocks/>
            </p:cNvGrpSpPr>
            <p:nvPr/>
          </p:nvGrpSpPr>
          <p:grpSpPr bwMode="auto">
            <a:xfrm>
              <a:off x="3701" y="2743"/>
              <a:ext cx="1334" cy="252"/>
              <a:chOff x="1179" y="2024"/>
              <a:chExt cx="3130" cy="227"/>
            </a:xfrm>
          </p:grpSpPr>
          <p:sp>
            <p:nvSpPr>
              <p:cNvPr id="23586" name="Line 12">
                <a:extLst>
                  <a:ext uri="{FF2B5EF4-FFF2-40B4-BE49-F238E27FC236}">
                    <a16:creationId xmlns:a16="http://schemas.microsoft.com/office/drawing/2014/main" id="{F59FBA45-F809-4BFF-93DA-71D1379EE6E8}"/>
                  </a:ext>
                </a:extLst>
              </p:cNvPr>
              <p:cNvSpPr>
                <a:spLocks noChangeShapeType="1"/>
              </p:cNvSpPr>
              <p:nvPr/>
            </p:nvSpPr>
            <p:spPr bwMode="auto">
              <a:xfrm>
                <a:off x="1179" y="2024"/>
                <a:ext cx="0"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87" name="Line 13">
                <a:extLst>
                  <a:ext uri="{FF2B5EF4-FFF2-40B4-BE49-F238E27FC236}">
                    <a16:creationId xmlns:a16="http://schemas.microsoft.com/office/drawing/2014/main" id="{5A5A14D6-237F-441D-A971-77DB98F58739}"/>
                  </a:ext>
                </a:extLst>
              </p:cNvPr>
              <p:cNvSpPr>
                <a:spLocks noChangeShapeType="1"/>
              </p:cNvSpPr>
              <p:nvPr/>
            </p:nvSpPr>
            <p:spPr bwMode="auto">
              <a:xfrm>
                <a:off x="4309" y="2024"/>
                <a:ext cx="0"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88" name="Line 14">
                <a:extLst>
                  <a:ext uri="{FF2B5EF4-FFF2-40B4-BE49-F238E27FC236}">
                    <a16:creationId xmlns:a16="http://schemas.microsoft.com/office/drawing/2014/main" id="{8495A3C2-E21F-4EF6-BBBC-697DB13B5FC8}"/>
                  </a:ext>
                </a:extLst>
              </p:cNvPr>
              <p:cNvSpPr>
                <a:spLocks noChangeShapeType="1"/>
              </p:cNvSpPr>
              <p:nvPr/>
            </p:nvSpPr>
            <p:spPr bwMode="auto">
              <a:xfrm>
                <a:off x="1179" y="2024"/>
                <a:ext cx="313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38920" name="Rectangle 15">
            <a:extLst>
              <a:ext uri="{FF2B5EF4-FFF2-40B4-BE49-F238E27FC236}">
                <a16:creationId xmlns:a16="http://schemas.microsoft.com/office/drawing/2014/main" id="{944F5839-58ED-48D6-83FE-19FC33720A0A}"/>
              </a:ext>
            </a:extLst>
          </p:cNvPr>
          <p:cNvSpPr>
            <a:spLocks noChangeArrowheads="1"/>
          </p:cNvSpPr>
          <p:nvPr/>
        </p:nvSpPr>
        <p:spPr bwMode="auto">
          <a:xfrm>
            <a:off x="7032625" y="2079626"/>
            <a:ext cx="2344738" cy="265113"/>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eaLnBrk="1" hangingPunct="1">
              <a:lnSpc>
                <a:spcPct val="80000"/>
              </a:lnSpc>
              <a:defRPr/>
            </a:pPr>
            <a:r>
              <a:rPr lang="en-US" sz="1400" dirty="0">
                <a:solidFill>
                  <a:schemeClr val="bg1"/>
                </a:solidFill>
              </a:rPr>
              <a:t>Design Robustness</a:t>
            </a:r>
            <a:endParaRPr lang="ru-RU" sz="1400" dirty="0">
              <a:solidFill>
                <a:schemeClr val="bg1"/>
              </a:solidFill>
            </a:endParaRPr>
          </a:p>
        </p:txBody>
      </p:sp>
      <p:sp>
        <p:nvSpPr>
          <p:cNvPr id="38921" name="Rectangle 16">
            <a:extLst>
              <a:ext uri="{FF2B5EF4-FFF2-40B4-BE49-F238E27FC236}">
                <a16:creationId xmlns:a16="http://schemas.microsoft.com/office/drawing/2014/main" id="{443E2C26-00A9-45D9-8088-7BF881CFCBF8}"/>
              </a:ext>
            </a:extLst>
          </p:cNvPr>
          <p:cNvSpPr>
            <a:spLocks noChangeArrowheads="1"/>
          </p:cNvSpPr>
          <p:nvPr/>
        </p:nvSpPr>
        <p:spPr bwMode="auto">
          <a:xfrm>
            <a:off x="2928939" y="2078038"/>
            <a:ext cx="2344737" cy="265112"/>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eaLnBrk="1" hangingPunct="1">
              <a:lnSpc>
                <a:spcPct val="80000"/>
              </a:lnSpc>
              <a:defRPr/>
            </a:pPr>
            <a:r>
              <a:rPr lang="en-US" sz="1400">
                <a:solidFill>
                  <a:schemeClr val="bg1"/>
                </a:solidFill>
              </a:rPr>
              <a:t>Margin Control</a:t>
            </a:r>
            <a:endParaRPr lang="ru-RU" sz="1400">
              <a:solidFill>
                <a:schemeClr val="bg1"/>
              </a:solidFill>
            </a:endParaRPr>
          </a:p>
        </p:txBody>
      </p:sp>
      <p:sp>
        <p:nvSpPr>
          <p:cNvPr id="38922" name="Rectangle 17">
            <a:extLst>
              <a:ext uri="{FF2B5EF4-FFF2-40B4-BE49-F238E27FC236}">
                <a16:creationId xmlns:a16="http://schemas.microsoft.com/office/drawing/2014/main" id="{7FBE74D3-DA99-4B94-A24D-4D39E7981690}"/>
              </a:ext>
            </a:extLst>
          </p:cNvPr>
          <p:cNvSpPr>
            <a:spLocks noChangeArrowheads="1"/>
          </p:cNvSpPr>
          <p:nvPr/>
        </p:nvSpPr>
        <p:spPr bwMode="auto">
          <a:xfrm>
            <a:off x="2130426" y="2609850"/>
            <a:ext cx="3927475" cy="573088"/>
          </a:xfrm>
          <a:prstGeom prst="rect">
            <a:avLst/>
          </a:prstGeom>
          <a:solidFill>
            <a:schemeClr val="accent1"/>
          </a:solidFill>
          <a:ln>
            <a:headEnd/>
            <a:tailEnd/>
          </a:ln>
          <a:effectLst/>
        </p:spPr>
        <p:style>
          <a:lnRef idx="1">
            <a:schemeClr val="accent1"/>
          </a:lnRef>
          <a:fillRef idx="2">
            <a:schemeClr val="accent1"/>
          </a:fillRef>
          <a:effectRef idx="1">
            <a:schemeClr val="accent1"/>
          </a:effectRef>
          <a:fontRef idx="minor">
            <a:schemeClr val="dk1"/>
          </a:fontRef>
        </p:style>
        <p:txBody>
          <a:bodyPr>
            <a:spAutoFit/>
          </a:bodyPr>
          <a:lstStyle/>
          <a:p>
            <a:pPr algn="ctr" eaLnBrk="1" hangingPunct="1">
              <a:lnSpc>
                <a:spcPct val="80000"/>
              </a:lnSpc>
              <a:defRPr/>
            </a:pPr>
            <a:r>
              <a:rPr lang="en-US" sz="1100" dirty="0">
                <a:solidFill>
                  <a:schemeClr val="bg1"/>
                </a:solidFill>
              </a:rPr>
              <a:t>Avoid over and under-design</a:t>
            </a:r>
          </a:p>
          <a:p>
            <a:pPr algn="ctr" eaLnBrk="1" hangingPunct="1">
              <a:lnSpc>
                <a:spcPct val="80000"/>
              </a:lnSpc>
              <a:defRPr/>
            </a:pPr>
            <a:r>
              <a:rPr lang="en-US" sz="1050" dirty="0">
                <a:solidFill>
                  <a:schemeClr val="bg1"/>
                </a:solidFill>
              </a:rPr>
              <a:t> </a:t>
            </a:r>
            <a:r>
              <a:rPr lang="en-US" sz="1400" dirty="0">
                <a:solidFill>
                  <a:schemeClr val="bg1"/>
                </a:solidFill>
              </a:rPr>
              <a:t>Greater trade-off for area or power</a:t>
            </a:r>
          </a:p>
          <a:p>
            <a:pPr algn="ctr" eaLnBrk="1" hangingPunct="1">
              <a:lnSpc>
                <a:spcPct val="80000"/>
              </a:lnSpc>
              <a:defRPr/>
            </a:pPr>
            <a:r>
              <a:rPr lang="en-US" sz="1400" dirty="0">
                <a:solidFill>
                  <a:schemeClr val="bg1"/>
                </a:solidFill>
              </a:rPr>
              <a:t> Reduces need for multi-corner analysis</a:t>
            </a:r>
            <a:endParaRPr lang="ru-RU" sz="1400" dirty="0">
              <a:solidFill>
                <a:schemeClr val="bg1"/>
              </a:solidFill>
            </a:endParaRPr>
          </a:p>
        </p:txBody>
      </p:sp>
      <p:sp>
        <p:nvSpPr>
          <p:cNvPr id="38923" name="Rectangle 18">
            <a:extLst>
              <a:ext uri="{FF2B5EF4-FFF2-40B4-BE49-F238E27FC236}">
                <a16:creationId xmlns:a16="http://schemas.microsoft.com/office/drawing/2014/main" id="{66BBC1FD-20C9-485E-8C60-AE067FF54209}"/>
              </a:ext>
            </a:extLst>
          </p:cNvPr>
          <p:cNvSpPr>
            <a:spLocks noChangeArrowheads="1"/>
          </p:cNvSpPr>
          <p:nvPr/>
        </p:nvSpPr>
        <p:spPr bwMode="auto">
          <a:xfrm>
            <a:off x="6237289" y="2609851"/>
            <a:ext cx="3927475" cy="621709"/>
          </a:xfrm>
          <a:prstGeom prst="rect">
            <a:avLst/>
          </a:prstGeom>
          <a:solidFill>
            <a:schemeClr val="accent1"/>
          </a:solidFill>
          <a:ln>
            <a:headEnd/>
            <a:tailEnd/>
          </a:ln>
          <a:effectLst/>
        </p:spPr>
        <p:style>
          <a:lnRef idx="1">
            <a:schemeClr val="accent1"/>
          </a:lnRef>
          <a:fillRef idx="2">
            <a:schemeClr val="accent1"/>
          </a:fillRef>
          <a:effectRef idx="1">
            <a:schemeClr val="accent1"/>
          </a:effectRef>
          <a:fontRef idx="minor">
            <a:schemeClr val="dk1"/>
          </a:fontRef>
        </p:style>
        <p:txBody>
          <a:bodyPr>
            <a:spAutoFit/>
          </a:bodyPr>
          <a:lstStyle/>
          <a:p>
            <a:pPr algn="ctr" eaLnBrk="1" hangingPunct="1">
              <a:lnSpc>
                <a:spcPct val="80000"/>
              </a:lnSpc>
              <a:defRPr/>
            </a:pPr>
            <a:r>
              <a:rPr lang="en-US" sz="1100" dirty="0">
                <a:solidFill>
                  <a:schemeClr val="bg1"/>
                </a:solidFill>
              </a:rPr>
              <a:t>Improve parametric yield</a:t>
            </a:r>
          </a:p>
          <a:p>
            <a:pPr marL="0" lvl="1" algn="ctr">
              <a:lnSpc>
                <a:spcPct val="80000"/>
              </a:lnSpc>
              <a:defRPr/>
            </a:pPr>
            <a:r>
              <a:rPr lang="en-US" dirty="0">
                <a:solidFill>
                  <a:schemeClr val="bg1"/>
                </a:solidFill>
              </a:rPr>
              <a:t> </a:t>
            </a:r>
            <a:r>
              <a:rPr lang="en-US" sz="1400" dirty="0">
                <a:solidFill>
                  <a:schemeClr val="bg1"/>
                </a:solidFill>
              </a:rPr>
              <a:t>Identify and fix areas of design susceptible to variation</a:t>
            </a:r>
            <a:endParaRPr lang="ru-RU" sz="1400" dirty="0">
              <a:solidFill>
                <a:schemeClr val="bg1"/>
              </a:solidFill>
            </a:endParaRPr>
          </a:p>
        </p:txBody>
      </p:sp>
      <p:grpSp>
        <p:nvGrpSpPr>
          <p:cNvPr id="23563" name="Group 19">
            <a:extLst>
              <a:ext uri="{FF2B5EF4-FFF2-40B4-BE49-F238E27FC236}">
                <a16:creationId xmlns:a16="http://schemas.microsoft.com/office/drawing/2014/main" id="{0A2F07BB-0E83-4CA1-8B5E-A27272617840}"/>
              </a:ext>
            </a:extLst>
          </p:cNvPr>
          <p:cNvGrpSpPr>
            <a:grpSpLocks/>
          </p:cNvGrpSpPr>
          <p:nvPr/>
        </p:nvGrpSpPr>
        <p:grpSpPr bwMode="auto">
          <a:xfrm>
            <a:off x="2020888" y="3986213"/>
            <a:ext cx="4037012" cy="1682750"/>
            <a:chOff x="269" y="2677"/>
            <a:chExt cx="2543" cy="1060"/>
          </a:xfrm>
        </p:grpSpPr>
        <p:sp>
          <p:nvSpPr>
            <p:cNvPr id="23573" name="Freeform 22">
              <a:extLst>
                <a:ext uri="{FF2B5EF4-FFF2-40B4-BE49-F238E27FC236}">
                  <a16:creationId xmlns:a16="http://schemas.microsoft.com/office/drawing/2014/main" id="{D8085E51-6FF6-46A6-9B5F-816A5F255F5F}"/>
                </a:ext>
              </a:extLst>
            </p:cNvPr>
            <p:cNvSpPr>
              <a:spLocks/>
            </p:cNvSpPr>
            <p:nvPr/>
          </p:nvSpPr>
          <p:spPr bwMode="auto">
            <a:xfrm>
              <a:off x="1167" y="2677"/>
              <a:ext cx="1200" cy="786"/>
            </a:xfrm>
            <a:custGeom>
              <a:avLst/>
              <a:gdLst>
                <a:gd name="T0" fmla="*/ 0 w 1727"/>
                <a:gd name="T1" fmla="*/ 8 h 864"/>
                <a:gd name="T2" fmla="*/ 1 w 1727"/>
                <a:gd name="T3" fmla="*/ 0 h 864"/>
                <a:gd name="T4" fmla="*/ 1 w 1727"/>
                <a:gd name="T5" fmla="*/ 8 h 864"/>
                <a:gd name="T6" fmla="*/ 0 60000 65536"/>
                <a:gd name="T7" fmla="*/ 0 60000 65536"/>
                <a:gd name="T8" fmla="*/ 0 60000 65536"/>
                <a:gd name="T9" fmla="*/ 0 w 1727"/>
                <a:gd name="T10" fmla="*/ 0 h 864"/>
                <a:gd name="T11" fmla="*/ 1727 w 1727"/>
                <a:gd name="T12" fmla="*/ 864 h 864"/>
              </a:gdLst>
              <a:ahLst/>
              <a:cxnLst>
                <a:cxn ang="T6">
                  <a:pos x="T0" y="T1"/>
                </a:cxn>
                <a:cxn ang="T7">
                  <a:pos x="T2" y="T3"/>
                </a:cxn>
                <a:cxn ang="T8">
                  <a:pos x="T4" y="T5"/>
                </a:cxn>
              </a:cxnLst>
              <a:rect l="T9" t="T10" r="T11" b="T12"/>
              <a:pathLst>
                <a:path w="1727" h="864">
                  <a:moveTo>
                    <a:pt x="0" y="863"/>
                  </a:moveTo>
                  <a:cubicBezTo>
                    <a:pt x="647" y="864"/>
                    <a:pt x="647" y="0"/>
                    <a:pt x="863" y="0"/>
                  </a:cubicBezTo>
                  <a:cubicBezTo>
                    <a:pt x="1079" y="0"/>
                    <a:pt x="1079" y="864"/>
                    <a:pt x="1727" y="863"/>
                  </a:cubicBezTo>
                </a:path>
              </a:pathLst>
            </a:custGeom>
            <a:noFill/>
            <a:ln w="60325"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574" name="Line 23">
              <a:extLst>
                <a:ext uri="{FF2B5EF4-FFF2-40B4-BE49-F238E27FC236}">
                  <a16:creationId xmlns:a16="http://schemas.microsoft.com/office/drawing/2014/main" id="{C5A092A5-8BCE-4F1C-A4CE-6A89A0615E0B}"/>
                </a:ext>
              </a:extLst>
            </p:cNvPr>
            <p:cNvSpPr>
              <a:spLocks noChangeShapeType="1"/>
            </p:cNvSpPr>
            <p:nvPr/>
          </p:nvSpPr>
          <p:spPr bwMode="auto">
            <a:xfrm>
              <a:off x="493" y="3363"/>
              <a:ext cx="151" cy="197"/>
            </a:xfrm>
            <a:prstGeom prst="line">
              <a:avLst/>
            </a:prstGeom>
            <a:noFill/>
            <a:ln w="23813" cap="rnd">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5" name="Line 24">
              <a:extLst>
                <a:ext uri="{FF2B5EF4-FFF2-40B4-BE49-F238E27FC236}">
                  <a16:creationId xmlns:a16="http://schemas.microsoft.com/office/drawing/2014/main" id="{322AEC81-6D78-4549-B9AC-4F980EA2D8A9}"/>
                </a:ext>
              </a:extLst>
            </p:cNvPr>
            <p:cNvSpPr>
              <a:spLocks noChangeShapeType="1"/>
            </p:cNvSpPr>
            <p:nvPr/>
          </p:nvSpPr>
          <p:spPr bwMode="auto">
            <a:xfrm flipV="1">
              <a:off x="493" y="3363"/>
              <a:ext cx="151" cy="197"/>
            </a:xfrm>
            <a:prstGeom prst="line">
              <a:avLst/>
            </a:prstGeom>
            <a:noFill/>
            <a:ln w="23813" cap="rnd">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6" name="Line 25">
              <a:extLst>
                <a:ext uri="{FF2B5EF4-FFF2-40B4-BE49-F238E27FC236}">
                  <a16:creationId xmlns:a16="http://schemas.microsoft.com/office/drawing/2014/main" id="{388EA1B3-927F-4FE1-9B10-71333328AA1A}"/>
                </a:ext>
              </a:extLst>
            </p:cNvPr>
            <p:cNvSpPr>
              <a:spLocks noChangeShapeType="1"/>
            </p:cNvSpPr>
            <p:nvPr/>
          </p:nvSpPr>
          <p:spPr bwMode="auto">
            <a:xfrm>
              <a:off x="1014" y="3363"/>
              <a:ext cx="1" cy="213"/>
            </a:xfrm>
            <a:prstGeom prst="line">
              <a:avLst/>
            </a:prstGeom>
            <a:noFill/>
            <a:ln w="603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7" name="Rectangle 26">
              <a:extLst>
                <a:ext uri="{FF2B5EF4-FFF2-40B4-BE49-F238E27FC236}">
                  <a16:creationId xmlns:a16="http://schemas.microsoft.com/office/drawing/2014/main" id="{51A46B25-D750-4603-85B7-322C7111A3D5}"/>
                </a:ext>
              </a:extLst>
            </p:cNvPr>
            <p:cNvSpPr>
              <a:spLocks noChangeArrowheads="1"/>
            </p:cNvSpPr>
            <p:nvPr/>
          </p:nvSpPr>
          <p:spPr bwMode="auto">
            <a:xfrm>
              <a:off x="985" y="3601"/>
              <a:ext cx="6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0</a:t>
              </a:r>
            </a:p>
          </p:txBody>
        </p:sp>
        <p:sp>
          <p:nvSpPr>
            <p:cNvPr id="23578" name="Rectangle 27">
              <a:extLst>
                <a:ext uri="{FF2B5EF4-FFF2-40B4-BE49-F238E27FC236}">
                  <a16:creationId xmlns:a16="http://schemas.microsoft.com/office/drawing/2014/main" id="{8733EAC7-1F85-4F22-BD77-9961582B90D9}"/>
                </a:ext>
              </a:extLst>
            </p:cNvPr>
            <p:cNvSpPr>
              <a:spLocks noChangeArrowheads="1"/>
            </p:cNvSpPr>
            <p:nvPr/>
          </p:nvSpPr>
          <p:spPr bwMode="auto">
            <a:xfrm>
              <a:off x="269" y="3587"/>
              <a:ext cx="56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Worst-case</a:t>
              </a:r>
            </a:p>
          </p:txBody>
        </p:sp>
        <p:sp>
          <p:nvSpPr>
            <p:cNvPr id="23579" name="Line 28">
              <a:extLst>
                <a:ext uri="{FF2B5EF4-FFF2-40B4-BE49-F238E27FC236}">
                  <a16:creationId xmlns:a16="http://schemas.microsoft.com/office/drawing/2014/main" id="{560FC6F2-B2F2-4DE8-8ACA-1BAEABB8A86A}"/>
                </a:ext>
              </a:extLst>
            </p:cNvPr>
            <p:cNvSpPr>
              <a:spLocks noChangeShapeType="1"/>
            </p:cNvSpPr>
            <p:nvPr/>
          </p:nvSpPr>
          <p:spPr bwMode="auto">
            <a:xfrm>
              <a:off x="1093" y="3363"/>
              <a:ext cx="150" cy="197"/>
            </a:xfrm>
            <a:prstGeom prst="line">
              <a:avLst/>
            </a:prstGeom>
            <a:noFill/>
            <a:ln w="23813" cap="rnd">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0" name="Line 29">
              <a:extLst>
                <a:ext uri="{FF2B5EF4-FFF2-40B4-BE49-F238E27FC236}">
                  <a16:creationId xmlns:a16="http://schemas.microsoft.com/office/drawing/2014/main" id="{3F796D72-EB82-43AF-9069-6F6DBCFFAD68}"/>
                </a:ext>
              </a:extLst>
            </p:cNvPr>
            <p:cNvSpPr>
              <a:spLocks noChangeShapeType="1"/>
            </p:cNvSpPr>
            <p:nvPr/>
          </p:nvSpPr>
          <p:spPr bwMode="auto">
            <a:xfrm flipV="1">
              <a:off x="1093" y="3363"/>
              <a:ext cx="150" cy="197"/>
            </a:xfrm>
            <a:prstGeom prst="line">
              <a:avLst/>
            </a:prstGeom>
            <a:noFill/>
            <a:ln w="23813" cap="rnd">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1" name="Rectangle 30">
              <a:extLst>
                <a:ext uri="{FF2B5EF4-FFF2-40B4-BE49-F238E27FC236}">
                  <a16:creationId xmlns:a16="http://schemas.microsoft.com/office/drawing/2014/main" id="{EE2B21FC-6D5C-4EF8-9AC9-B23BCF0B2E33}"/>
                </a:ext>
              </a:extLst>
            </p:cNvPr>
            <p:cNvSpPr>
              <a:spLocks noChangeArrowheads="1"/>
            </p:cNvSpPr>
            <p:nvPr/>
          </p:nvSpPr>
          <p:spPr bwMode="auto">
            <a:xfrm>
              <a:off x="1038" y="2795"/>
              <a:ext cx="56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Variation-aware slack</a:t>
              </a:r>
            </a:p>
          </p:txBody>
        </p:sp>
        <p:sp>
          <p:nvSpPr>
            <p:cNvPr id="23582" name="Rectangle 31">
              <a:extLst>
                <a:ext uri="{FF2B5EF4-FFF2-40B4-BE49-F238E27FC236}">
                  <a16:creationId xmlns:a16="http://schemas.microsoft.com/office/drawing/2014/main" id="{40D74B2B-BA0B-471A-AD1C-8E03A0492F19}"/>
                </a:ext>
              </a:extLst>
            </p:cNvPr>
            <p:cNvSpPr>
              <a:spLocks noChangeArrowheads="1"/>
            </p:cNvSpPr>
            <p:nvPr/>
          </p:nvSpPr>
          <p:spPr bwMode="auto">
            <a:xfrm>
              <a:off x="332" y="2795"/>
              <a:ext cx="610"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Traditional Corner Slack</a:t>
              </a:r>
            </a:p>
          </p:txBody>
        </p:sp>
        <p:sp>
          <p:nvSpPr>
            <p:cNvPr id="23583" name="Line 32">
              <a:extLst>
                <a:ext uri="{FF2B5EF4-FFF2-40B4-BE49-F238E27FC236}">
                  <a16:creationId xmlns:a16="http://schemas.microsoft.com/office/drawing/2014/main" id="{C30FC9AE-FAD7-4C29-82CF-BF0567B51826}"/>
                </a:ext>
              </a:extLst>
            </p:cNvPr>
            <p:cNvSpPr>
              <a:spLocks noChangeShapeType="1"/>
            </p:cNvSpPr>
            <p:nvPr/>
          </p:nvSpPr>
          <p:spPr bwMode="auto">
            <a:xfrm>
              <a:off x="272" y="3466"/>
              <a:ext cx="254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3564" name="Group 33">
            <a:extLst>
              <a:ext uri="{FF2B5EF4-FFF2-40B4-BE49-F238E27FC236}">
                <a16:creationId xmlns:a16="http://schemas.microsoft.com/office/drawing/2014/main" id="{493517D6-8F45-4B09-AA70-D8A23E3FA845}"/>
              </a:ext>
            </a:extLst>
          </p:cNvPr>
          <p:cNvGrpSpPr>
            <a:grpSpLocks/>
          </p:cNvGrpSpPr>
          <p:nvPr/>
        </p:nvGrpSpPr>
        <p:grpSpPr bwMode="auto">
          <a:xfrm>
            <a:off x="6248401" y="3713163"/>
            <a:ext cx="3960813" cy="2089150"/>
            <a:chOff x="3011" y="2401"/>
            <a:chExt cx="2495" cy="1316"/>
          </a:xfrm>
        </p:grpSpPr>
        <p:sp>
          <p:nvSpPr>
            <p:cNvPr id="23566" name="AutoShape 35">
              <a:extLst>
                <a:ext uri="{FF2B5EF4-FFF2-40B4-BE49-F238E27FC236}">
                  <a16:creationId xmlns:a16="http://schemas.microsoft.com/office/drawing/2014/main" id="{A0C0C3EF-86A4-461B-A955-7A3C488EBA9A}"/>
                </a:ext>
              </a:extLst>
            </p:cNvPr>
            <p:cNvSpPr>
              <a:spLocks noChangeArrowheads="1"/>
            </p:cNvSpPr>
            <p:nvPr/>
          </p:nvSpPr>
          <p:spPr bwMode="auto">
            <a:xfrm rot="-5400000">
              <a:off x="3286" y="3006"/>
              <a:ext cx="216" cy="260"/>
            </a:xfrm>
            <a:prstGeom prst="downArrow">
              <a:avLst>
                <a:gd name="adj1" fmla="val 50000"/>
                <a:gd name="adj2" fmla="val 30093"/>
              </a:avLst>
            </a:prstGeom>
            <a:solidFill>
              <a:schemeClr val="accent1"/>
            </a:solidFill>
            <a:ln w="19050">
              <a:solidFill>
                <a:schemeClr val="tx1"/>
              </a:solidFill>
              <a:miter lim="800000"/>
              <a:headEnd/>
              <a:tailEnd/>
            </a:ln>
          </p:spPr>
          <p:txBody>
            <a:bodyPr rot="10800000" wrap="none" lIns="91435" tIns="45718" rIns="91435" bIns="45718"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a:endParaRPr lang="ru-RU" altLang="en-US"/>
            </a:p>
          </p:txBody>
        </p:sp>
        <p:sp>
          <p:nvSpPr>
            <p:cNvPr id="23567" name="Freeform 38">
              <a:extLst>
                <a:ext uri="{FF2B5EF4-FFF2-40B4-BE49-F238E27FC236}">
                  <a16:creationId xmlns:a16="http://schemas.microsoft.com/office/drawing/2014/main" id="{F128AF08-6259-4932-8304-81B655FDC9F7}"/>
                </a:ext>
              </a:extLst>
            </p:cNvPr>
            <p:cNvSpPr>
              <a:spLocks noEditPoints="1"/>
            </p:cNvSpPr>
            <p:nvPr/>
          </p:nvSpPr>
          <p:spPr bwMode="auto">
            <a:xfrm>
              <a:off x="3220" y="2677"/>
              <a:ext cx="1533" cy="812"/>
            </a:xfrm>
            <a:custGeom>
              <a:avLst/>
              <a:gdLst>
                <a:gd name="T0" fmla="*/ 0 w 4039"/>
                <a:gd name="T1" fmla="*/ 1 h 1604"/>
                <a:gd name="T2" fmla="*/ 0 w 4039"/>
                <a:gd name="T3" fmla="*/ 1 h 1604"/>
                <a:gd name="T4" fmla="*/ 0 w 4039"/>
                <a:gd name="T5" fmla="*/ 1 h 1604"/>
                <a:gd name="T6" fmla="*/ 0 w 4039"/>
                <a:gd name="T7" fmla="*/ 1 h 1604"/>
                <a:gd name="T8" fmla="*/ 0 w 4039"/>
                <a:gd name="T9" fmla="*/ 1 h 1604"/>
                <a:gd name="T10" fmla="*/ 0 w 4039"/>
                <a:gd name="T11" fmla="*/ 1 h 1604"/>
                <a:gd name="T12" fmla="*/ 0 w 4039"/>
                <a:gd name="T13" fmla="*/ 1 h 1604"/>
                <a:gd name="T14" fmla="*/ 0 w 4039"/>
                <a:gd name="T15" fmla="*/ 1 h 1604"/>
                <a:gd name="T16" fmla="*/ 0 w 4039"/>
                <a:gd name="T17" fmla="*/ 1 h 1604"/>
                <a:gd name="T18" fmla="*/ 0 w 4039"/>
                <a:gd name="T19" fmla="*/ 1 h 1604"/>
                <a:gd name="T20" fmla="*/ 0 w 4039"/>
                <a:gd name="T21" fmla="*/ 1 h 1604"/>
                <a:gd name="T22" fmla="*/ 0 w 4039"/>
                <a:gd name="T23" fmla="*/ 1 h 1604"/>
                <a:gd name="T24" fmla="*/ 0 w 4039"/>
                <a:gd name="T25" fmla="*/ 1 h 1604"/>
                <a:gd name="T26" fmla="*/ 0 w 4039"/>
                <a:gd name="T27" fmla="*/ 1 h 1604"/>
                <a:gd name="T28" fmla="*/ 0 w 4039"/>
                <a:gd name="T29" fmla="*/ 1 h 1604"/>
                <a:gd name="T30" fmla="*/ 0 w 4039"/>
                <a:gd name="T31" fmla="*/ 1 h 1604"/>
                <a:gd name="T32" fmla="*/ 0 w 4039"/>
                <a:gd name="T33" fmla="*/ 1 h 1604"/>
                <a:gd name="T34" fmla="*/ 0 w 4039"/>
                <a:gd name="T35" fmla="*/ 1 h 1604"/>
                <a:gd name="T36" fmla="*/ 0 w 4039"/>
                <a:gd name="T37" fmla="*/ 1 h 1604"/>
                <a:gd name="T38" fmla="*/ 0 w 4039"/>
                <a:gd name="T39" fmla="*/ 1 h 1604"/>
                <a:gd name="T40" fmla="*/ 0 w 4039"/>
                <a:gd name="T41" fmla="*/ 1 h 1604"/>
                <a:gd name="T42" fmla="*/ 0 w 4039"/>
                <a:gd name="T43" fmla="*/ 1 h 1604"/>
                <a:gd name="T44" fmla="*/ 0 w 4039"/>
                <a:gd name="T45" fmla="*/ 1 h 1604"/>
                <a:gd name="T46" fmla="*/ 0 w 4039"/>
                <a:gd name="T47" fmla="*/ 1 h 1604"/>
                <a:gd name="T48" fmla="*/ 0 w 4039"/>
                <a:gd name="T49" fmla="*/ 1 h 1604"/>
                <a:gd name="T50" fmla="*/ 0 w 4039"/>
                <a:gd name="T51" fmla="*/ 1 h 1604"/>
                <a:gd name="T52" fmla="*/ 0 w 4039"/>
                <a:gd name="T53" fmla="*/ 1 h 1604"/>
                <a:gd name="T54" fmla="*/ 0 w 4039"/>
                <a:gd name="T55" fmla="*/ 1 h 1604"/>
                <a:gd name="T56" fmla="*/ 0 w 4039"/>
                <a:gd name="T57" fmla="*/ 1 h 1604"/>
                <a:gd name="T58" fmla="*/ 0 w 4039"/>
                <a:gd name="T59" fmla="*/ 1 h 1604"/>
                <a:gd name="T60" fmla="*/ 0 w 4039"/>
                <a:gd name="T61" fmla="*/ 1 h 1604"/>
                <a:gd name="T62" fmla="*/ 0 w 4039"/>
                <a:gd name="T63" fmla="*/ 1 h 1604"/>
                <a:gd name="T64" fmla="*/ 0 w 4039"/>
                <a:gd name="T65" fmla="*/ 1 h 1604"/>
                <a:gd name="T66" fmla="*/ 0 w 4039"/>
                <a:gd name="T67" fmla="*/ 1 h 1604"/>
                <a:gd name="T68" fmla="*/ 0 w 4039"/>
                <a:gd name="T69" fmla="*/ 1 h 1604"/>
                <a:gd name="T70" fmla="*/ 0 w 4039"/>
                <a:gd name="T71" fmla="*/ 1 h 1604"/>
                <a:gd name="T72" fmla="*/ 0 w 4039"/>
                <a:gd name="T73" fmla="*/ 1 h 1604"/>
                <a:gd name="T74" fmla="*/ 0 w 4039"/>
                <a:gd name="T75" fmla="*/ 1 h 1604"/>
                <a:gd name="T76" fmla="*/ 0 w 4039"/>
                <a:gd name="T77" fmla="*/ 1 h 1604"/>
                <a:gd name="T78" fmla="*/ 0 w 4039"/>
                <a:gd name="T79" fmla="*/ 1 h 1604"/>
                <a:gd name="T80" fmla="*/ 0 w 4039"/>
                <a:gd name="T81" fmla="*/ 1 h 1604"/>
                <a:gd name="T82" fmla="*/ 0 w 4039"/>
                <a:gd name="T83" fmla="*/ 1 h 1604"/>
                <a:gd name="T84" fmla="*/ 0 w 4039"/>
                <a:gd name="T85" fmla="*/ 1 h 1604"/>
                <a:gd name="T86" fmla="*/ 0 w 4039"/>
                <a:gd name="T87" fmla="*/ 1 h 1604"/>
                <a:gd name="T88" fmla="*/ 0 w 4039"/>
                <a:gd name="T89" fmla="*/ 1 h 1604"/>
                <a:gd name="T90" fmla="*/ 0 w 4039"/>
                <a:gd name="T91" fmla="*/ 1 h 1604"/>
                <a:gd name="T92" fmla="*/ 0 w 4039"/>
                <a:gd name="T93" fmla="*/ 1 h 1604"/>
                <a:gd name="T94" fmla="*/ 0 w 4039"/>
                <a:gd name="T95" fmla="*/ 1 h 1604"/>
                <a:gd name="T96" fmla="*/ 0 w 4039"/>
                <a:gd name="T97" fmla="*/ 1 h 1604"/>
                <a:gd name="T98" fmla="*/ 0 w 4039"/>
                <a:gd name="T99" fmla="*/ 1 h 1604"/>
                <a:gd name="T100" fmla="*/ 0 w 4039"/>
                <a:gd name="T101" fmla="*/ 1 h 1604"/>
                <a:gd name="T102" fmla="*/ 0 w 4039"/>
                <a:gd name="T103" fmla="*/ 1 h 1604"/>
                <a:gd name="T104" fmla="*/ 0 w 4039"/>
                <a:gd name="T105" fmla="*/ 1 h 1604"/>
                <a:gd name="T106" fmla="*/ 0 w 4039"/>
                <a:gd name="T107" fmla="*/ 1 h 1604"/>
                <a:gd name="T108" fmla="*/ 0 w 4039"/>
                <a:gd name="T109" fmla="*/ 1 h 1604"/>
                <a:gd name="T110" fmla="*/ 0 w 4039"/>
                <a:gd name="T111" fmla="*/ 1 h 1604"/>
                <a:gd name="T112" fmla="*/ 0 w 4039"/>
                <a:gd name="T113" fmla="*/ 1 h 1604"/>
                <a:gd name="T114" fmla="*/ 0 w 4039"/>
                <a:gd name="T115" fmla="*/ 1 h 1604"/>
                <a:gd name="T116" fmla="*/ 0 w 4039"/>
                <a:gd name="T117" fmla="*/ 1 h 1604"/>
                <a:gd name="T118" fmla="*/ 0 w 4039"/>
                <a:gd name="T119" fmla="*/ 1 h 160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039"/>
                <a:gd name="T181" fmla="*/ 0 h 1604"/>
                <a:gd name="T182" fmla="*/ 4039 w 4039"/>
                <a:gd name="T183" fmla="*/ 1604 h 160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039" h="1604">
                  <a:moveTo>
                    <a:pt x="32" y="1536"/>
                  </a:moveTo>
                  <a:lnTo>
                    <a:pt x="84" y="1532"/>
                  </a:lnTo>
                  <a:lnTo>
                    <a:pt x="78" y="1533"/>
                  </a:lnTo>
                  <a:lnTo>
                    <a:pt x="91" y="1530"/>
                  </a:lnTo>
                  <a:cubicBezTo>
                    <a:pt x="109" y="1525"/>
                    <a:pt x="128" y="1535"/>
                    <a:pt x="132" y="1553"/>
                  </a:cubicBezTo>
                  <a:cubicBezTo>
                    <a:pt x="137" y="1570"/>
                    <a:pt x="127" y="1589"/>
                    <a:pt x="109" y="1594"/>
                  </a:cubicBezTo>
                  <a:lnTo>
                    <a:pt x="95" y="1598"/>
                  </a:lnTo>
                  <a:cubicBezTo>
                    <a:pt x="93" y="1598"/>
                    <a:pt x="91" y="1598"/>
                    <a:pt x="89" y="1599"/>
                  </a:cubicBezTo>
                  <a:lnTo>
                    <a:pt x="37" y="1603"/>
                  </a:lnTo>
                  <a:cubicBezTo>
                    <a:pt x="19" y="1604"/>
                    <a:pt x="3" y="1590"/>
                    <a:pt x="1" y="1572"/>
                  </a:cubicBezTo>
                  <a:cubicBezTo>
                    <a:pt x="0" y="1554"/>
                    <a:pt x="14" y="1538"/>
                    <a:pt x="32" y="1536"/>
                  </a:cubicBezTo>
                  <a:close/>
                  <a:moveTo>
                    <a:pt x="195" y="1479"/>
                  </a:moveTo>
                  <a:lnTo>
                    <a:pt x="230" y="1445"/>
                  </a:lnTo>
                  <a:lnTo>
                    <a:pt x="239" y="1434"/>
                  </a:lnTo>
                  <a:cubicBezTo>
                    <a:pt x="250" y="1420"/>
                    <a:pt x="271" y="1417"/>
                    <a:pt x="285" y="1429"/>
                  </a:cubicBezTo>
                  <a:cubicBezTo>
                    <a:pt x="300" y="1440"/>
                    <a:pt x="302" y="1461"/>
                    <a:pt x="290" y="1476"/>
                  </a:cubicBezTo>
                  <a:lnTo>
                    <a:pt x="277" y="1492"/>
                  </a:lnTo>
                  <a:lnTo>
                    <a:pt x="242" y="1527"/>
                  </a:lnTo>
                  <a:cubicBezTo>
                    <a:pt x="228" y="1539"/>
                    <a:pt x="207" y="1539"/>
                    <a:pt x="194" y="1526"/>
                  </a:cubicBezTo>
                  <a:cubicBezTo>
                    <a:pt x="182" y="1513"/>
                    <a:pt x="182" y="1492"/>
                    <a:pt x="195" y="1479"/>
                  </a:cubicBezTo>
                  <a:close/>
                  <a:moveTo>
                    <a:pt x="307" y="1326"/>
                  </a:moveTo>
                  <a:lnTo>
                    <a:pt x="315" y="1313"/>
                  </a:lnTo>
                  <a:lnTo>
                    <a:pt x="313" y="1317"/>
                  </a:lnTo>
                  <a:lnTo>
                    <a:pt x="332" y="1270"/>
                  </a:lnTo>
                  <a:cubicBezTo>
                    <a:pt x="339" y="1252"/>
                    <a:pt x="358" y="1244"/>
                    <a:pt x="375" y="1251"/>
                  </a:cubicBezTo>
                  <a:cubicBezTo>
                    <a:pt x="392" y="1258"/>
                    <a:pt x="400" y="1277"/>
                    <a:pt x="394" y="1295"/>
                  </a:cubicBezTo>
                  <a:lnTo>
                    <a:pt x="374" y="1342"/>
                  </a:lnTo>
                  <a:cubicBezTo>
                    <a:pt x="374" y="1343"/>
                    <a:pt x="373" y="1345"/>
                    <a:pt x="372" y="1346"/>
                  </a:cubicBezTo>
                  <a:lnTo>
                    <a:pt x="365" y="1359"/>
                  </a:lnTo>
                  <a:cubicBezTo>
                    <a:pt x="355" y="1375"/>
                    <a:pt x="335" y="1381"/>
                    <a:pt x="319" y="1372"/>
                  </a:cubicBezTo>
                  <a:cubicBezTo>
                    <a:pt x="303" y="1362"/>
                    <a:pt x="298" y="1342"/>
                    <a:pt x="307" y="1326"/>
                  </a:cubicBezTo>
                  <a:close/>
                  <a:moveTo>
                    <a:pt x="376" y="1147"/>
                  </a:moveTo>
                  <a:lnTo>
                    <a:pt x="395" y="1083"/>
                  </a:lnTo>
                  <a:cubicBezTo>
                    <a:pt x="400" y="1066"/>
                    <a:pt x="419" y="1056"/>
                    <a:pt x="436" y="1061"/>
                  </a:cubicBezTo>
                  <a:cubicBezTo>
                    <a:pt x="454" y="1066"/>
                    <a:pt x="464" y="1085"/>
                    <a:pt x="458" y="1103"/>
                  </a:cubicBezTo>
                  <a:lnTo>
                    <a:pt x="439" y="1166"/>
                  </a:lnTo>
                  <a:cubicBezTo>
                    <a:pt x="434" y="1184"/>
                    <a:pt x="416" y="1194"/>
                    <a:pt x="398" y="1189"/>
                  </a:cubicBezTo>
                  <a:cubicBezTo>
                    <a:pt x="380" y="1183"/>
                    <a:pt x="370" y="1165"/>
                    <a:pt x="376" y="1147"/>
                  </a:cubicBezTo>
                  <a:close/>
                  <a:moveTo>
                    <a:pt x="426" y="956"/>
                  </a:moveTo>
                  <a:lnTo>
                    <a:pt x="430" y="937"/>
                  </a:lnTo>
                  <a:lnTo>
                    <a:pt x="439" y="892"/>
                  </a:lnTo>
                  <a:cubicBezTo>
                    <a:pt x="442" y="874"/>
                    <a:pt x="460" y="862"/>
                    <a:pt x="478" y="866"/>
                  </a:cubicBezTo>
                  <a:cubicBezTo>
                    <a:pt x="496" y="869"/>
                    <a:pt x="508" y="887"/>
                    <a:pt x="504" y="905"/>
                  </a:cubicBezTo>
                  <a:lnTo>
                    <a:pt x="495" y="952"/>
                  </a:lnTo>
                  <a:lnTo>
                    <a:pt x="490" y="971"/>
                  </a:lnTo>
                  <a:cubicBezTo>
                    <a:pt x="486" y="989"/>
                    <a:pt x="468" y="1000"/>
                    <a:pt x="450" y="996"/>
                  </a:cubicBezTo>
                  <a:cubicBezTo>
                    <a:pt x="432" y="992"/>
                    <a:pt x="421" y="974"/>
                    <a:pt x="426" y="956"/>
                  </a:cubicBezTo>
                  <a:close/>
                  <a:moveTo>
                    <a:pt x="464" y="762"/>
                  </a:moveTo>
                  <a:lnTo>
                    <a:pt x="476" y="696"/>
                  </a:lnTo>
                  <a:cubicBezTo>
                    <a:pt x="479" y="678"/>
                    <a:pt x="496" y="666"/>
                    <a:pt x="514" y="670"/>
                  </a:cubicBezTo>
                  <a:cubicBezTo>
                    <a:pt x="533" y="673"/>
                    <a:pt x="545" y="690"/>
                    <a:pt x="541" y="708"/>
                  </a:cubicBezTo>
                  <a:lnTo>
                    <a:pt x="529" y="774"/>
                  </a:lnTo>
                  <a:cubicBezTo>
                    <a:pt x="526" y="792"/>
                    <a:pt x="509" y="804"/>
                    <a:pt x="491" y="801"/>
                  </a:cubicBezTo>
                  <a:cubicBezTo>
                    <a:pt x="473" y="797"/>
                    <a:pt x="461" y="780"/>
                    <a:pt x="464" y="762"/>
                  </a:cubicBezTo>
                  <a:close/>
                  <a:moveTo>
                    <a:pt x="500" y="565"/>
                  </a:moveTo>
                  <a:lnTo>
                    <a:pt x="510" y="513"/>
                  </a:lnTo>
                  <a:lnTo>
                    <a:pt x="513" y="499"/>
                  </a:lnTo>
                  <a:cubicBezTo>
                    <a:pt x="517" y="481"/>
                    <a:pt x="534" y="470"/>
                    <a:pt x="552" y="474"/>
                  </a:cubicBezTo>
                  <a:cubicBezTo>
                    <a:pt x="570" y="477"/>
                    <a:pt x="582" y="495"/>
                    <a:pt x="578" y="513"/>
                  </a:cubicBezTo>
                  <a:lnTo>
                    <a:pt x="575" y="526"/>
                  </a:lnTo>
                  <a:lnTo>
                    <a:pt x="565" y="578"/>
                  </a:lnTo>
                  <a:cubicBezTo>
                    <a:pt x="562" y="596"/>
                    <a:pt x="545" y="608"/>
                    <a:pt x="527" y="604"/>
                  </a:cubicBezTo>
                  <a:cubicBezTo>
                    <a:pt x="509" y="601"/>
                    <a:pt x="497" y="583"/>
                    <a:pt x="500" y="565"/>
                  </a:cubicBezTo>
                  <a:close/>
                  <a:moveTo>
                    <a:pt x="542" y="367"/>
                  </a:moveTo>
                  <a:lnTo>
                    <a:pt x="559" y="303"/>
                  </a:lnTo>
                  <a:cubicBezTo>
                    <a:pt x="564" y="285"/>
                    <a:pt x="582" y="275"/>
                    <a:pt x="600" y="280"/>
                  </a:cubicBezTo>
                  <a:cubicBezTo>
                    <a:pt x="618" y="284"/>
                    <a:pt x="628" y="303"/>
                    <a:pt x="623" y="320"/>
                  </a:cubicBezTo>
                  <a:lnTo>
                    <a:pt x="606" y="385"/>
                  </a:lnTo>
                  <a:cubicBezTo>
                    <a:pt x="601" y="402"/>
                    <a:pt x="583" y="413"/>
                    <a:pt x="565" y="408"/>
                  </a:cubicBezTo>
                  <a:cubicBezTo>
                    <a:pt x="548" y="403"/>
                    <a:pt x="537" y="385"/>
                    <a:pt x="542" y="367"/>
                  </a:cubicBezTo>
                  <a:close/>
                  <a:moveTo>
                    <a:pt x="603" y="174"/>
                  </a:moveTo>
                  <a:lnTo>
                    <a:pt x="607" y="164"/>
                  </a:lnTo>
                  <a:lnTo>
                    <a:pt x="630" y="119"/>
                  </a:lnTo>
                  <a:lnTo>
                    <a:pt x="637" y="109"/>
                  </a:lnTo>
                  <a:cubicBezTo>
                    <a:pt x="647" y="93"/>
                    <a:pt x="667" y="89"/>
                    <a:pt x="683" y="99"/>
                  </a:cubicBezTo>
                  <a:cubicBezTo>
                    <a:pt x="698" y="109"/>
                    <a:pt x="702" y="130"/>
                    <a:pt x="692" y="145"/>
                  </a:cubicBezTo>
                  <a:lnTo>
                    <a:pt x="689" y="150"/>
                  </a:lnTo>
                  <a:lnTo>
                    <a:pt x="670" y="187"/>
                  </a:lnTo>
                  <a:lnTo>
                    <a:pt x="666" y="198"/>
                  </a:lnTo>
                  <a:cubicBezTo>
                    <a:pt x="659" y="215"/>
                    <a:pt x="640" y="224"/>
                    <a:pt x="623" y="217"/>
                  </a:cubicBezTo>
                  <a:cubicBezTo>
                    <a:pt x="606" y="211"/>
                    <a:pt x="597" y="191"/>
                    <a:pt x="603" y="174"/>
                  </a:cubicBezTo>
                  <a:close/>
                  <a:moveTo>
                    <a:pt x="749" y="9"/>
                  </a:moveTo>
                  <a:lnTo>
                    <a:pt x="756" y="7"/>
                  </a:lnTo>
                  <a:cubicBezTo>
                    <a:pt x="759" y="6"/>
                    <a:pt x="762" y="5"/>
                    <a:pt x="765" y="4"/>
                  </a:cubicBezTo>
                  <a:lnTo>
                    <a:pt x="799" y="0"/>
                  </a:lnTo>
                  <a:cubicBezTo>
                    <a:pt x="800" y="0"/>
                    <a:pt x="802" y="0"/>
                    <a:pt x="804" y="0"/>
                  </a:cubicBezTo>
                  <a:lnTo>
                    <a:pt x="829" y="1"/>
                  </a:lnTo>
                  <a:cubicBezTo>
                    <a:pt x="847" y="2"/>
                    <a:pt x="862" y="18"/>
                    <a:pt x="861" y="36"/>
                  </a:cubicBezTo>
                  <a:cubicBezTo>
                    <a:pt x="860" y="54"/>
                    <a:pt x="844" y="69"/>
                    <a:pt x="826" y="68"/>
                  </a:cubicBezTo>
                  <a:lnTo>
                    <a:pt x="801" y="67"/>
                  </a:lnTo>
                  <a:lnTo>
                    <a:pt x="806" y="67"/>
                  </a:lnTo>
                  <a:lnTo>
                    <a:pt x="772" y="71"/>
                  </a:lnTo>
                  <a:lnTo>
                    <a:pt x="781" y="68"/>
                  </a:lnTo>
                  <a:lnTo>
                    <a:pt x="774" y="71"/>
                  </a:lnTo>
                  <a:cubicBezTo>
                    <a:pt x="757" y="78"/>
                    <a:pt x="738" y="70"/>
                    <a:pt x="731" y="53"/>
                  </a:cubicBezTo>
                  <a:cubicBezTo>
                    <a:pt x="724" y="36"/>
                    <a:pt x="732" y="16"/>
                    <a:pt x="749" y="9"/>
                  </a:cubicBezTo>
                  <a:close/>
                  <a:moveTo>
                    <a:pt x="965" y="15"/>
                  </a:moveTo>
                  <a:lnTo>
                    <a:pt x="985" y="18"/>
                  </a:lnTo>
                  <a:lnTo>
                    <a:pt x="1033" y="29"/>
                  </a:lnTo>
                  <a:cubicBezTo>
                    <a:pt x="1050" y="33"/>
                    <a:pt x="1062" y="51"/>
                    <a:pt x="1057" y="69"/>
                  </a:cubicBezTo>
                  <a:cubicBezTo>
                    <a:pt x="1053" y="87"/>
                    <a:pt x="1035" y="98"/>
                    <a:pt x="1017" y="93"/>
                  </a:cubicBezTo>
                  <a:lnTo>
                    <a:pt x="976" y="83"/>
                  </a:lnTo>
                  <a:lnTo>
                    <a:pt x="955" y="80"/>
                  </a:lnTo>
                  <a:cubicBezTo>
                    <a:pt x="937" y="78"/>
                    <a:pt x="924" y="61"/>
                    <a:pt x="927" y="43"/>
                  </a:cubicBezTo>
                  <a:cubicBezTo>
                    <a:pt x="930" y="24"/>
                    <a:pt x="946" y="12"/>
                    <a:pt x="965" y="15"/>
                  </a:cubicBezTo>
                  <a:close/>
                  <a:moveTo>
                    <a:pt x="1163" y="67"/>
                  </a:moveTo>
                  <a:lnTo>
                    <a:pt x="1166" y="68"/>
                  </a:lnTo>
                  <a:lnTo>
                    <a:pt x="1227" y="92"/>
                  </a:lnTo>
                  <a:cubicBezTo>
                    <a:pt x="1244" y="99"/>
                    <a:pt x="1252" y="119"/>
                    <a:pt x="1245" y="136"/>
                  </a:cubicBezTo>
                  <a:cubicBezTo>
                    <a:pt x="1238" y="153"/>
                    <a:pt x="1219" y="161"/>
                    <a:pt x="1202" y="154"/>
                  </a:cubicBezTo>
                  <a:lnTo>
                    <a:pt x="1145" y="131"/>
                  </a:lnTo>
                  <a:lnTo>
                    <a:pt x="1142" y="130"/>
                  </a:lnTo>
                  <a:cubicBezTo>
                    <a:pt x="1125" y="125"/>
                    <a:pt x="1115" y="106"/>
                    <a:pt x="1121" y="88"/>
                  </a:cubicBezTo>
                  <a:cubicBezTo>
                    <a:pt x="1126" y="71"/>
                    <a:pt x="1145" y="61"/>
                    <a:pt x="1163" y="67"/>
                  </a:cubicBezTo>
                  <a:close/>
                  <a:moveTo>
                    <a:pt x="1351" y="150"/>
                  </a:moveTo>
                  <a:lnTo>
                    <a:pt x="1409" y="183"/>
                  </a:lnTo>
                  <a:cubicBezTo>
                    <a:pt x="1425" y="192"/>
                    <a:pt x="1431" y="212"/>
                    <a:pt x="1422" y="228"/>
                  </a:cubicBezTo>
                  <a:cubicBezTo>
                    <a:pt x="1413" y="244"/>
                    <a:pt x="1393" y="250"/>
                    <a:pt x="1377" y="241"/>
                  </a:cubicBezTo>
                  <a:lnTo>
                    <a:pt x="1319" y="208"/>
                  </a:lnTo>
                  <a:cubicBezTo>
                    <a:pt x="1303" y="199"/>
                    <a:pt x="1297" y="179"/>
                    <a:pt x="1306" y="163"/>
                  </a:cubicBezTo>
                  <a:cubicBezTo>
                    <a:pt x="1315" y="147"/>
                    <a:pt x="1335" y="141"/>
                    <a:pt x="1351" y="150"/>
                  </a:cubicBezTo>
                  <a:close/>
                  <a:moveTo>
                    <a:pt x="1527" y="250"/>
                  </a:moveTo>
                  <a:lnTo>
                    <a:pt x="1582" y="287"/>
                  </a:lnTo>
                  <a:cubicBezTo>
                    <a:pt x="1598" y="298"/>
                    <a:pt x="1602" y="318"/>
                    <a:pt x="1592" y="334"/>
                  </a:cubicBezTo>
                  <a:cubicBezTo>
                    <a:pt x="1581" y="349"/>
                    <a:pt x="1561" y="353"/>
                    <a:pt x="1545" y="343"/>
                  </a:cubicBezTo>
                  <a:lnTo>
                    <a:pt x="1490" y="306"/>
                  </a:lnTo>
                  <a:cubicBezTo>
                    <a:pt x="1475" y="296"/>
                    <a:pt x="1471" y="275"/>
                    <a:pt x="1481" y="260"/>
                  </a:cubicBezTo>
                  <a:cubicBezTo>
                    <a:pt x="1491" y="244"/>
                    <a:pt x="1512" y="240"/>
                    <a:pt x="1527" y="250"/>
                  </a:cubicBezTo>
                  <a:close/>
                  <a:moveTo>
                    <a:pt x="1693" y="361"/>
                  </a:moveTo>
                  <a:lnTo>
                    <a:pt x="1694" y="362"/>
                  </a:lnTo>
                  <a:lnTo>
                    <a:pt x="1748" y="401"/>
                  </a:lnTo>
                  <a:cubicBezTo>
                    <a:pt x="1763" y="412"/>
                    <a:pt x="1766" y="433"/>
                    <a:pt x="1755" y="448"/>
                  </a:cubicBezTo>
                  <a:cubicBezTo>
                    <a:pt x="1744" y="463"/>
                    <a:pt x="1723" y="466"/>
                    <a:pt x="1709" y="455"/>
                  </a:cubicBezTo>
                  <a:lnTo>
                    <a:pt x="1657" y="417"/>
                  </a:lnTo>
                  <a:lnTo>
                    <a:pt x="1656" y="417"/>
                  </a:lnTo>
                  <a:cubicBezTo>
                    <a:pt x="1641" y="406"/>
                    <a:pt x="1637" y="386"/>
                    <a:pt x="1647" y="370"/>
                  </a:cubicBezTo>
                  <a:cubicBezTo>
                    <a:pt x="1657" y="355"/>
                    <a:pt x="1678" y="351"/>
                    <a:pt x="1693" y="361"/>
                  </a:cubicBezTo>
                  <a:close/>
                  <a:moveTo>
                    <a:pt x="1855" y="480"/>
                  </a:moveTo>
                  <a:lnTo>
                    <a:pt x="1872" y="493"/>
                  </a:lnTo>
                  <a:lnTo>
                    <a:pt x="1909" y="521"/>
                  </a:lnTo>
                  <a:cubicBezTo>
                    <a:pt x="1923" y="532"/>
                    <a:pt x="1926" y="553"/>
                    <a:pt x="1915" y="568"/>
                  </a:cubicBezTo>
                  <a:cubicBezTo>
                    <a:pt x="1904" y="582"/>
                    <a:pt x="1883" y="585"/>
                    <a:pt x="1868" y="574"/>
                  </a:cubicBezTo>
                  <a:lnTo>
                    <a:pt x="1833" y="546"/>
                  </a:lnTo>
                  <a:lnTo>
                    <a:pt x="1816" y="534"/>
                  </a:lnTo>
                  <a:cubicBezTo>
                    <a:pt x="1801" y="523"/>
                    <a:pt x="1798" y="502"/>
                    <a:pt x="1809" y="487"/>
                  </a:cubicBezTo>
                  <a:cubicBezTo>
                    <a:pt x="1820" y="473"/>
                    <a:pt x="1840" y="469"/>
                    <a:pt x="1855" y="480"/>
                  </a:cubicBezTo>
                  <a:close/>
                  <a:moveTo>
                    <a:pt x="2014" y="602"/>
                  </a:moveTo>
                  <a:lnTo>
                    <a:pt x="2053" y="632"/>
                  </a:lnTo>
                  <a:lnTo>
                    <a:pt x="2067" y="643"/>
                  </a:lnTo>
                  <a:cubicBezTo>
                    <a:pt x="2081" y="654"/>
                    <a:pt x="2084" y="675"/>
                    <a:pt x="2073" y="690"/>
                  </a:cubicBezTo>
                  <a:cubicBezTo>
                    <a:pt x="2062" y="704"/>
                    <a:pt x="2041" y="707"/>
                    <a:pt x="2026" y="696"/>
                  </a:cubicBezTo>
                  <a:lnTo>
                    <a:pt x="2012" y="685"/>
                  </a:lnTo>
                  <a:lnTo>
                    <a:pt x="1974" y="655"/>
                  </a:lnTo>
                  <a:cubicBezTo>
                    <a:pt x="1959" y="644"/>
                    <a:pt x="1956" y="623"/>
                    <a:pt x="1968" y="608"/>
                  </a:cubicBezTo>
                  <a:cubicBezTo>
                    <a:pt x="1979" y="594"/>
                    <a:pt x="2000" y="591"/>
                    <a:pt x="2014" y="602"/>
                  </a:cubicBezTo>
                  <a:close/>
                  <a:moveTo>
                    <a:pt x="2172" y="724"/>
                  </a:moveTo>
                  <a:lnTo>
                    <a:pt x="2225" y="765"/>
                  </a:lnTo>
                  <a:cubicBezTo>
                    <a:pt x="2240" y="776"/>
                    <a:pt x="2243" y="797"/>
                    <a:pt x="2231" y="811"/>
                  </a:cubicBezTo>
                  <a:cubicBezTo>
                    <a:pt x="2220" y="826"/>
                    <a:pt x="2199" y="829"/>
                    <a:pt x="2185" y="817"/>
                  </a:cubicBezTo>
                  <a:lnTo>
                    <a:pt x="2132" y="777"/>
                  </a:lnTo>
                  <a:cubicBezTo>
                    <a:pt x="2117" y="766"/>
                    <a:pt x="2115" y="745"/>
                    <a:pt x="2126" y="730"/>
                  </a:cubicBezTo>
                  <a:cubicBezTo>
                    <a:pt x="2137" y="716"/>
                    <a:pt x="2158" y="713"/>
                    <a:pt x="2172" y="724"/>
                  </a:cubicBezTo>
                  <a:close/>
                  <a:moveTo>
                    <a:pt x="2332" y="844"/>
                  </a:moveTo>
                  <a:lnTo>
                    <a:pt x="2385" y="883"/>
                  </a:lnTo>
                  <a:cubicBezTo>
                    <a:pt x="2400" y="894"/>
                    <a:pt x="2403" y="915"/>
                    <a:pt x="2392" y="930"/>
                  </a:cubicBezTo>
                  <a:cubicBezTo>
                    <a:pt x="2381" y="945"/>
                    <a:pt x="2360" y="948"/>
                    <a:pt x="2345" y="937"/>
                  </a:cubicBezTo>
                  <a:lnTo>
                    <a:pt x="2292" y="897"/>
                  </a:lnTo>
                  <a:cubicBezTo>
                    <a:pt x="2277" y="886"/>
                    <a:pt x="2274" y="865"/>
                    <a:pt x="2285" y="851"/>
                  </a:cubicBezTo>
                  <a:cubicBezTo>
                    <a:pt x="2296" y="836"/>
                    <a:pt x="2317" y="833"/>
                    <a:pt x="2332" y="844"/>
                  </a:cubicBezTo>
                  <a:close/>
                  <a:moveTo>
                    <a:pt x="2492" y="960"/>
                  </a:moveTo>
                  <a:lnTo>
                    <a:pt x="2547" y="998"/>
                  </a:lnTo>
                  <a:cubicBezTo>
                    <a:pt x="2562" y="1009"/>
                    <a:pt x="2566" y="1029"/>
                    <a:pt x="2555" y="1045"/>
                  </a:cubicBezTo>
                  <a:cubicBezTo>
                    <a:pt x="2545" y="1060"/>
                    <a:pt x="2524" y="1063"/>
                    <a:pt x="2509" y="1053"/>
                  </a:cubicBezTo>
                  <a:lnTo>
                    <a:pt x="2454" y="1015"/>
                  </a:lnTo>
                  <a:cubicBezTo>
                    <a:pt x="2439" y="1004"/>
                    <a:pt x="2436" y="984"/>
                    <a:pt x="2446" y="969"/>
                  </a:cubicBezTo>
                  <a:cubicBezTo>
                    <a:pt x="2457" y="953"/>
                    <a:pt x="2477" y="950"/>
                    <a:pt x="2492" y="960"/>
                  </a:cubicBezTo>
                  <a:close/>
                  <a:moveTo>
                    <a:pt x="2656" y="1072"/>
                  </a:moveTo>
                  <a:lnTo>
                    <a:pt x="2713" y="1107"/>
                  </a:lnTo>
                  <a:cubicBezTo>
                    <a:pt x="2728" y="1116"/>
                    <a:pt x="2733" y="1137"/>
                    <a:pt x="2723" y="1152"/>
                  </a:cubicBezTo>
                  <a:cubicBezTo>
                    <a:pt x="2714" y="1168"/>
                    <a:pt x="2693" y="1173"/>
                    <a:pt x="2678" y="1163"/>
                  </a:cubicBezTo>
                  <a:lnTo>
                    <a:pt x="2621" y="1128"/>
                  </a:lnTo>
                  <a:cubicBezTo>
                    <a:pt x="2605" y="1119"/>
                    <a:pt x="2600" y="1098"/>
                    <a:pt x="2610" y="1083"/>
                  </a:cubicBezTo>
                  <a:cubicBezTo>
                    <a:pt x="2620" y="1067"/>
                    <a:pt x="2640" y="1062"/>
                    <a:pt x="2656" y="1072"/>
                  </a:cubicBezTo>
                  <a:close/>
                  <a:moveTo>
                    <a:pt x="2826" y="1176"/>
                  </a:moveTo>
                  <a:lnTo>
                    <a:pt x="2840" y="1185"/>
                  </a:lnTo>
                  <a:lnTo>
                    <a:pt x="2882" y="1207"/>
                  </a:lnTo>
                  <a:cubicBezTo>
                    <a:pt x="2899" y="1216"/>
                    <a:pt x="2905" y="1236"/>
                    <a:pt x="2896" y="1252"/>
                  </a:cubicBezTo>
                  <a:cubicBezTo>
                    <a:pt x="2888" y="1268"/>
                    <a:pt x="2868" y="1275"/>
                    <a:pt x="2851" y="1266"/>
                  </a:cubicBezTo>
                  <a:lnTo>
                    <a:pt x="2805" y="1242"/>
                  </a:lnTo>
                  <a:lnTo>
                    <a:pt x="2791" y="1233"/>
                  </a:lnTo>
                  <a:cubicBezTo>
                    <a:pt x="2775" y="1223"/>
                    <a:pt x="2770" y="1203"/>
                    <a:pt x="2780" y="1187"/>
                  </a:cubicBezTo>
                  <a:cubicBezTo>
                    <a:pt x="2790" y="1172"/>
                    <a:pt x="2810" y="1167"/>
                    <a:pt x="2826" y="1176"/>
                  </a:cubicBezTo>
                  <a:close/>
                  <a:moveTo>
                    <a:pt x="3000" y="1269"/>
                  </a:moveTo>
                  <a:lnTo>
                    <a:pt x="3059" y="1300"/>
                  </a:lnTo>
                  <a:lnTo>
                    <a:pt x="3056" y="1299"/>
                  </a:lnTo>
                  <a:cubicBezTo>
                    <a:pt x="3073" y="1306"/>
                    <a:pt x="3081" y="1325"/>
                    <a:pt x="3074" y="1342"/>
                  </a:cubicBezTo>
                  <a:cubicBezTo>
                    <a:pt x="3067" y="1359"/>
                    <a:pt x="3048" y="1367"/>
                    <a:pt x="3031" y="1360"/>
                  </a:cubicBezTo>
                  <a:lnTo>
                    <a:pt x="3028" y="1359"/>
                  </a:lnTo>
                  <a:lnTo>
                    <a:pt x="2969" y="1328"/>
                  </a:lnTo>
                  <a:cubicBezTo>
                    <a:pt x="2953" y="1320"/>
                    <a:pt x="2947" y="1299"/>
                    <a:pt x="2955" y="1283"/>
                  </a:cubicBezTo>
                  <a:cubicBezTo>
                    <a:pt x="2964" y="1267"/>
                    <a:pt x="2984" y="1261"/>
                    <a:pt x="3000" y="1269"/>
                  </a:cubicBezTo>
                  <a:close/>
                  <a:moveTo>
                    <a:pt x="3179" y="1350"/>
                  </a:moveTo>
                  <a:lnTo>
                    <a:pt x="3241" y="1376"/>
                  </a:lnTo>
                  <a:cubicBezTo>
                    <a:pt x="3258" y="1383"/>
                    <a:pt x="3266" y="1403"/>
                    <a:pt x="3258" y="1420"/>
                  </a:cubicBezTo>
                  <a:cubicBezTo>
                    <a:pt x="3251" y="1436"/>
                    <a:pt x="3232" y="1444"/>
                    <a:pt x="3215" y="1437"/>
                  </a:cubicBezTo>
                  <a:lnTo>
                    <a:pt x="3154" y="1412"/>
                  </a:lnTo>
                  <a:cubicBezTo>
                    <a:pt x="3137" y="1405"/>
                    <a:pt x="3129" y="1385"/>
                    <a:pt x="3136" y="1368"/>
                  </a:cubicBezTo>
                  <a:cubicBezTo>
                    <a:pt x="3143" y="1351"/>
                    <a:pt x="3162" y="1343"/>
                    <a:pt x="3179" y="1350"/>
                  </a:cubicBezTo>
                  <a:close/>
                  <a:moveTo>
                    <a:pt x="3363" y="1421"/>
                  </a:moveTo>
                  <a:lnTo>
                    <a:pt x="3410" y="1437"/>
                  </a:lnTo>
                  <a:lnTo>
                    <a:pt x="3425" y="1441"/>
                  </a:lnTo>
                  <a:cubicBezTo>
                    <a:pt x="3443" y="1446"/>
                    <a:pt x="3453" y="1464"/>
                    <a:pt x="3448" y="1482"/>
                  </a:cubicBezTo>
                  <a:cubicBezTo>
                    <a:pt x="3443" y="1500"/>
                    <a:pt x="3425" y="1510"/>
                    <a:pt x="3407" y="1505"/>
                  </a:cubicBezTo>
                  <a:lnTo>
                    <a:pt x="3389" y="1500"/>
                  </a:lnTo>
                  <a:lnTo>
                    <a:pt x="3342" y="1484"/>
                  </a:lnTo>
                  <a:cubicBezTo>
                    <a:pt x="3325" y="1478"/>
                    <a:pt x="3315" y="1460"/>
                    <a:pt x="3321" y="1442"/>
                  </a:cubicBezTo>
                  <a:cubicBezTo>
                    <a:pt x="3327" y="1425"/>
                    <a:pt x="3346" y="1415"/>
                    <a:pt x="3363" y="1421"/>
                  </a:cubicBezTo>
                  <a:close/>
                  <a:moveTo>
                    <a:pt x="3551" y="1475"/>
                  </a:moveTo>
                  <a:lnTo>
                    <a:pt x="3617" y="1489"/>
                  </a:lnTo>
                  <a:cubicBezTo>
                    <a:pt x="3634" y="1493"/>
                    <a:pt x="3646" y="1511"/>
                    <a:pt x="3642" y="1529"/>
                  </a:cubicBezTo>
                  <a:cubicBezTo>
                    <a:pt x="3638" y="1547"/>
                    <a:pt x="3620" y="1558"/>
                    <a:pt x="3602" y="1554"/>
                  </a:cubicBezTo>
                  <a:lnTo>
                    <a:pt x="3537" y="1540"/>
                  </a:lnTo>
                  <a:cubicBezTo>
                    <a:pt x="3519" y="1536"/>
                    <a:pt x="3508" y="1519"/>
                    <a:pt x="3512" y="1501"/>
                  </a:cubicBezTo>
                  <a:cubicBezTo>
                    <a:pt x="3516" y="1483"/>
                    <a:pt x="3533" y="1471"/>
                    <a:pt x="3551" y="1475"/>
                  </a:cubicBezTo>
                  <a:close/>
                  <a:moveTo>
                    <a:pt x="3746" y="1512"/>
                  </a:moveTo>
                  <a:lnTo>
                    <a:pt x="3793" y="1520"/>
                  </a:lnTo>
                  <a:lnTo>
                    <a:pt x="3810" y="1521"/>
                  </a:lnTo>
                  <a:cubicBezTo>
                    <a:pt x="3828" y="1523"/>
                    <a:pt x="3841" y="1539"/>
                    <a:pt x="3840" y="1557"/>
                  </a:cubicBezTo>
                  <a:cubicBezTo>
                    <a:pt x="3838" y="1576"/>
                    <a:pt x="3822" y="1589"/>
                    <a:pt x="3803" y="1587"/>
                  </a:cubicBezTo>
                  <a:lnTo>
                    <a:pt x="3782" y="1585"/>
                  </a:lnTo>
                  <a:lnTo>
                    <a:pt x="3735" y="1578"/>
                  </a:lnTo>
                  <a:cubicBezTo>
                    <a:pt x="3717" y="1575"/>
                    <a:pt x="3705" y="1558"/>
                    <a:pt x="3708" y="1540"/>
                  </a:cubicBezTo>
                  <a:cubicBezTo>
                    <a:pt x="3710" y="1522"/>
                    <a:pt x="3727" y="1509"/>
                    <a:pt x="3746" y="1512"/>
                  </a:cubicBezTo>
                  <a:close/>
                  <a:moveTo>
                    <a:pt x="3940" y="1533"/>
                  </a:moveTo>
                  <a:lnTo>
                    <a:pt x="4006" y="1534"/>
                  </a:lnTo>
                  <a:cubicBezTo>
                    <a:pt x="4025" y="1535"/>
                    <a:pt x="4039" y="1550"/>
                    <a:pt x="4039" y="1569"/>
                  </a:cubicBezTo>
                  <a:cubicBezTo>
                    <a:pt x="4038" y="1587"/>
                    <a:pt x="4023" y="1602"/>
                    <a:pt x="4005" y="1601"/>
                  </a:cubicBezTo>
                  <a:lnTo>
                    <a:pt x="3938" y="1599"/>
                  </a:lnTo>
                  <a:cubicBezTo>
                    <a:pt x="3920" y="1599"/>
                    <a:pt x="3905" y="1583"/>
                    <a:pt x="3906" y="1565"/>
                  </a:cubicBezTo>
                  <a:cubicBezTo>
                    <a:pt x="3906" y="1547"/>
                    <a:pt x="3922" y="1532"/>
                    <a:pt x="3940" y="1533"/>
                  </a:cubicBezTo>
                  <a:close/>
                </a:path>
              </a:pathLst>
            </a:custGeom>
            <a:solidFill>
              <a:srgbClr val="FF0000"/>
            </a:solidFill>
            <a:ln w="14288">
              <a:solidFill>
                <a:srgbClr val="FF0000"/>
              </a:solidFill>
              <a:bevel/>
              <a:headEnd/>
              <a:tailEnd/>
            </a:ln>
          </p:spPr>
          <p:txBody>
            <a:bodyPr/>
            <a:lstStyle/>
            <a:p>
              <a:endParaRPr lang="en-US"/>
            </a:p>
          </p:txBody>
        </p:sp>
        <p:sp>
          <p:nvSpPr>
            <p:cNvPr id="23568" name="Line 39">
              <a:extLst>
                <a:ext uri="{FF2B5EF4-FFF2-40B4-BE49-F238E27FC236}">
                  <a16:creationId xmlns:a16="http://schemas.microsoft.com/office/drawing/2014/main" id="{EA646F65-9269-42CF-937D-B77F313A7442}"/>
                </a:ext>
              </a:extLst>
            </p:cNvPr>
            <p:cNvSpPr>
              <a:spLocks noChangeShapeType="1"/>
            </p:cNvSpPr>
            <p:nvPr/>
          </p:nvSpPr>
          <p:spPr bwMode="auto">
            <a:xfrm>
              <a:off x="3451" y="3358"/>
              <a:ext cx="1" cy="211"/>
            </a:xfrm>
            <a:prstGeom prst="line">
              <a:avLst/>
            </a:prstGeom>
            <a:noFill/>
            <a:ln w="603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9" name="Rectangle 40">
              <a:extLst>
                <a:ext uri="{FF2B5EF4-FFF2-40B4-BE49-F238E27FC236}">
                  <a16:creationId xmlns:a16="http://schemas.microsoft.com/office/drawing/2014/main" id="{B84EE536-64A0-4269-83BA-C03A8CB5B9BA}"/>
                </a:ext>
              </a:extLst>
            </p:cNvPr>
            <p:cNvSpPr>
              <a:spLocks noChangeArrowheads="1"/>
            </p:cNvSpPr>
            <p:nvPr/>
          </p:nvSpPr>
          <p:spPr bwMode="auto">
            <a:xfrm>
              <a:off x="3423" y="3581"/>
              <a:ext cx="6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a:r>
                <a:rPr lang="en-US" altLang="en-US" sz="1400">
                  <a:solidFill>
                    <a:srgbClr val="000000"/>
                  </a:solidFill>
                </a:rPr>
                <a:t>0</a:t>
              </a:r>
              <a:endParaRPr lang="en-US" altLang="en-US" sz="1400"/>
            </a:p>
          </p:txBody>
        </p:sp>
        <p:sp>
          <p:nvSpPr>
            <p:cNvPr id="23570" name="Rectangle 41">
              <a:extLst>
                <a:ext uri="{FF2B5EF4-FFF2-40B4-BE49-F238E27FC236}">
                  <a16:creationId xmlns:a16="http://schemas.microsoft.com/office/drawing/2014/main" id="{8EE7C701-40B8-4DDC-B980-237D7E6383A6}"/>
                </a:ext>
              </a:extLst>
            </p:cNvPr>
            <p:cNvSpPr>
              <a:spLocks noChangeArrowheads="1"/>
            </p:cNvSpPr>
            <p:nvPr/>
          </p:nvSpPr>
          <p:spPr bwMode="auto">
            <a:xfrm>
              <a:off x="3051" y="3521"/>
              <a:ext cx="29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a:r>
                <a:rPr lang="en-US" altLang="en-US" sz="1400">
                  <a:solidFill>
                    <a:srgbClr val="000000"/>
                  </a:solidFill>
                </a:rPr>
                <a:t>failing</a:t>
              </a:r>
              <a:endParaRPr lang="en-US" altLang="en-US" sz="1400"/>
            </a:p>
          </p:txBody>
        </p:sp>
        <p:sp>
          <p:nvSpPr>
            <p:cNvPr id="23571" name="Freeform 42">
              <a:extLst>
                <a:ext uri="{FF2B5EF4-FFF2-40B4-BE49-F238E27FC236}">
                  <a16:creationId xmlns:a16="http://schemas.microsoft.com/office/drawing/2014/main" id="{8BD7FE13-F434-4994-8144-3171EAFD9AA1}"/>
                </a:ext>
              </a:extLst>
            </p:cNvPr>
            <p:cNvSpPr>
              <a:spLocks/>
            </p:cNvSpPr>
            <p:nvPr/>
          </p:nvSpPr>
          <p:spPr bwMode="auto">
            <a:xfrm>
              <a:off x="3415" y="2401"/>
              <a:ext cx="983" cy="1070"/>
            </a:xfrm>
            <a:custGeom>
              <a:avLst/>
              <a:gdLst>
                <a:gd name="T0" fmla="*/ 0 w 1457"/>
                <a:gd name="T1" fmla="*/ 8 h 1187"/>
                <a:gd name="T2" fmla="*/ 1 w 1457"/>
                <a:gd name="T3" fmla="*/ 0 h 1187"/>
                <a:gd name="T4" fmla="*/ 1 w 1457"/>
                <a:gd name="T5" fmla="*/ 8 h 1187"/>
                <a:gd name="T6" fmla="*/ 0 60000 65536"/>
                <a:gd name="T7" fmla="*/ 0 60000 65536"/>
                <a:gd name="T8" fmla="*/ 0 60000 65536"/>
                <a:gd name="T9" fmla="*/ 0 w 1457"/>
                <a:gd name="T10" fmla="*/ 0 h 1187"/>
                <a:gd name="T11" fmla="*/ 1457 w 1457"/>
                <a:gd name="T12" fmla="*/ 1187 h 1187"/>
              </a:gdLst>
              <a:ahLst/>
              <a:cxnLst>
                <a:cxn ang="T6">
                  <a:pos x="T0" y="T1"/>
                </a:cxn>
                <a:cxn ang="T7">
                  <a:pos x="T2" y="T3"/>
                </a:cxn>
                <a:cxn ang="T8">
                  <a:pos x="T4" y="T5"/>
                </a:cxn>
              </a:cxnLst>
              <a:rect l="T9" t="T10" r="T11" b="T12"/>
              <a:pathLst>
                <a:path w="1457" h="1187">
                  <a:moveTo>
                    <a:pt x="0" y="1187"/>
                  </a:moveTo>
                  <a:cubicBezTo>
                    <a:pt x="270" y="1187"/>
                    <a:pt x="270" y="0"/>
                    <a:pt x="486" y="0"/>
                  </a:cubicBezTo>
                  <a:cubicBezTo>
                    <a:pt x="945" y="0"/>
                    <a:pt x="1026" y="1187"/>
                    <a:pt x="1457" y="1187"/>
                  </a:cubicBezTo>
                </a:path>
              </a:pathLst>
            </a:custGeom>
            <a:noFill/>
            <a:ln w="60325"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572" name="Line 43">
              <a:extLst>
                <a:ext uri="{FF2B5EF4-FFF2-40B4-BE49-F238E27FC236}">
                  <a16:creationId xmlns:a16="http://schemas.microsoft.com/office/drawing/2014/main" id="{B4815F28-B074-4DD6-A41B-BABF049575A4}"/>
                </a:ext>
              </a:extLst>
            </p:cNvPr>
            <p:cNvSpPr>
              <a:spLocks noChangeShapeType="1"/>
            </p:cNvSpPr>
            <p:nvPr/>
          </p:nvSpPr>
          <p:spPr bwMode="auto">
            <a:xfrm>
              <a:off x="3011" y="3475"/>
              <a:ext cx="249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3565" name="Rectangle 50">
            <a:extLst>
              <a:ext uri="{FF2B5EF4-FFF2-40B4-BE49-F238E27FC236}">
                <a16:creationId xmlns:a16="http://schemas.microsoft.com/office/drawing/2014/main" id="{48B36C01-80AA-4830-836D-B21967E53555}"/>
              </a:ext>
            </a:extLst>
          </p:cNvPr>
          <p:cNvSpPr>
            <a:spLocks noGrp="1"/>
          </p:cNvSpPr>
          <p:nvPr>
            <p:ph type="title"/>
          </p:nvPr>
        </p:nvSpPr>
        <p:spPr/>
        <p:txBody>
          <a:bodyPr/>
          <a:lstStyle/>
          <a:p>
            <a:r>
              <a:rPr lang="en-US" altLang="en-US"/>
              <a:t>Benefits of Variation-Aware Analysis</a:t>
            </a:r>
            <a:endParaRPr lang="ru-RU" altLang="en-US"/>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02309D0D-425A-4C7C-A67D-4E4EDC13F426}"/>
              </a:ext>
            </a:extLst>
          </p:cNvPr>
          <p:cNvSpPr>
            <a:spLocks noGrp="1"/>
          </p:cNvSpPr>
          <p:nvPr>
            <p:ph type="title"/>
          </p:nvPr>
        </p:nvSpPr>
        <p:spPr/>
        <p:txBody>
          <a:bodyPr/>
          <a:lstStyle/>
          <a:p>
            <a:r>
              <a:rPr lang="en-US" altLang="en-US"/>
              <a:t>Everything Statistical</a:t>
            </a:r>
          </a:p>
        </p:txBody>
      </p:sp>
      <p:sp>
        <p:nvSpPr>
          <p:cNvPr id="3" name="Content Placeholder 2">
            <a:extLst>
              <a:ext uri="{FF2B5EF4-FFF2-40B4-BE49-F238E27FC236}">
                <a16:creationId xmlns:a16="http://schemas.microsoft.com/office/drawing/2014/main" id="{842172A8-3AEB-4E66-A51C-9743909DF273}"/>
              </a:ext>
            </a:extLst>
          </p:cNvPr>
          <p:cNvSpPr>
            <a:spLocks noGrp="1"/>
          </p:cNvSpPr>
          <p:nvPr>
            <p:ph type="body" sz="quarter" idx="10"/>
          </p:nvPr>
        </p:nvSpPr>
        <p:spPr/>
        <p:txBody>
          <a:bodyPr/>
          <a:lstStyle/>
          <a:p>
            <a:pPr>
              <a:defRPr/>
            </a:pPr>
            <a:r>
              <a:rPr lang="en-US" sz="2000" dirty="0"/>
              <a:t>Gate delays are statistical</a:t>
            </a:r>
          </a:p>
          <a:p>
            <a:pPr>
              <a:defRPr/>
            </a:pPr>
            <a:r>
              <a:rPr lang="en-US" sz="2000" dirty="0"/>
              <a:t>Signal arrival times are statistical</a:t>
            </a:r>
          </a:p>
          <a:p>
            <a:pPr>
              <a:defRPr/>
            </a:pPr>
            <a:r>
              <a:rPr lang="en-US" sz="2000" dirty="0"/>
              <a:t>Want distribution of delay at output</a:t>
            </a:r>
          </a:p>
          <a:p>
            <a:pPr>
              <a:defRPr/>
            </a:pPr>
            <a:r>
              <a:rPr lang="en-US" sz="2000" dirty="0"/>
              <a:t>Gates and signals are correlated</a:t>
            </a:r>
          </a:p>
          <a:p>
            <a:pPr>
              <a:defRPr/>
            </a:pPr>
            <a:r>
              <a:rPr lang="en-US" sz="2000" dirty="0"/>
              <a:t>Correlations are both local and global</a:t>
            </a:r>
          </a:p>
        </p:txBody>
      </p:sp>
      <p:grpSp>
        <p:nvGrpSpPr>
          <p:cNvPr id="25604" name="Group 5">
            <a:extLst>
              <a:ext uri="{FF2B5EF4-FFF2-40B4-BE49-F238E27FC236}">
                <a16:creationId xmlns:a16="http://schemas.microsoft.com/office/drawing/2014/main" id="{EF115240-5914-4257-9966-CD759C7ACCA9}"/>
              </a:ext>
            </a:extLst>
          </p:cNvPr>
          <p:cNvGrpSpPr>
            <a:grpSpLocks/>
          </p:cNvGrpSpPr>
          <p:nvPr/>
        </p:nvGrpSpPr>
        <p:grpSpPr bwMode="auto">
          <a:xfrm>
            <a:off x="6224589" y="1241426"/>
            <a:ext cx="5075237" cy="2649537"/>
            <a:chOff x="1646238" y="3110560"/>
            <a:chExt cx="5743575" cy="2649537"/>
          </a:xfrm>
        </p:grpSpPr>
        <p:sp>
          <p:nvSpPr>
            <p:cNvPr id="25605" name="Line 8">
              <a:extLst>
                <a:ext uri="{FF2B5EF4-FFF2-40B4-BE49-F238E27FC236}">
                  <a16:creationId xmlns:a16="http://schemas.microsoft.com/office/drawing/2014/main" id="{0F471C79-BB1E-4173-9140-0B3632FFCEEC}"/>
                </a:ext>
              </a:extLst>
            </p:cNvPr>
            <p:cNvSpPr>
              <a:spLocks noChangeShapeType="1"/>
            </p:cNvSpPr>
            <p:nvPr/>
          </p:nvSpPr>
          <p:spPr bwMode="auto">
            <a:xfrm>
              <a:off x="2778126" y="4204347"/>
              <a:ext cx="0" cy="552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6" name="Line 9">
              <a:extLst>
                <a:ext uri="{FF2B5EF4-FFF2-40B4-BE49-F238E27FC236}">
                  <a16:creationId xmlns:a16="http://schemas.microsoft.com/office/drawing/2014/main" id="{0E078C6E-54C9-4923-B2D6-3F3A99473D78}"/>
                </a:ext>
              </a:extLst>
            </p:cNvPr>
            <p:cNvSpPr>
              <a:spLocks noChangeShapeType="1"/>
            </p:cNvSpPr>
            <p:nvPr/>
          </p:nvSpPr>
          <p:spPr bwMode="auto">
            <a:xfrm>
              <a:off x="2049463" y="3842397"/>
              <a:ext cx="13604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7" name="Line 10">
              <a:extLst>
                <a:ext uri="{FF2B5EF4-FFF2-40B4-BE49-F238E27FC236}">
                  <a16:creationId xmlns:a16="http://schemas.microsoft.com/office/drawing/2014/main" id="{060C4CE3-70A9-4966-8F30-ABB5B92B6334}"/>
                </a:ext>
              </a:extLst>
            </p:cNvPr>
            <p:cNvSpPr>
              <a:spLocks noChangeShapeType="1"/>
            </p:cNvSpPr>
            <p:nvPr/>
          </p:nvSpPr>
          <p:spPr bwMode="auto">
            <a:xfrm>
              <a:off x="2146301" y="4429772"/>
              <a:ext cx="6445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8" name="Line 11">
              <a:extLst>
                <a:ext uri="{FF2B5EF4-FFF2-40B4-BE49-F238E27FC236}">
                  <a16:creationId xmlns:a16="http://schemas.microsoft.com/office/drawing/2014/main" id="{318E0BD3-2777-4044-8D21-E915D873672F}"/>
                </a:ext>
              </a:extLst>
            </p:cNvPr>
            <p:cNvSpPr>
              <a:spLocks noChangeShapeType="1"/>
            </p:cNvSpPr>
            <p:nvPr/>
          </p:nvSpPr>
          <p:spPr bwMode="auto">
            <a:xfrm flipV="1">
              <a:off x="2776538" y="4209109"/>
              <a:ext cx="6334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9" name="Line 13">
              <a:extLst>
                <a:ext uri="{FF2B5EF4-FFF2-40B4-BE49-F238E27FC236}">
                  <a16:creationId xmlns:a16="http://schemas.microsoft.com/office/drawing/2014/main" id="{03DF54A0-A388-4A66-88B9-E0198771813B}"/>
                </a:ext>
              </a:extLst>
            </p:cNvPr>
            <p:cNvSpPr>
              <a:spLocks noChangeShapeType="1"/>
            </p:cNvSpPr>
            <p:nvPr/>
          </p:nvSpPr>
          <p:spPr bwMode="auto">
            <a:xfrm flipV="1">
              <a:off x="2776538" y="4756797"/>
              <a:ext cx="6334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0" name="Line 15">
              <a:extLst>
                <a:ext uri="{FF2B5EF4-FFF2-40B4-BE49-F238E27FC236}">
                  <a16:creationId xmlns:a16="http://schemas.microsoft.com/office/drawing/2014/main" id="{FE225AD3-BB3E-429C-92D6-8BE64ABA2B3D}"/>
                </a:ext>
              </a:extLst>
            </p:cNvPr>
            <p:cNvSpPr>
              <a:spLocks noChangeShapeType="1"/>
            </p:cNvSpPr>
            <p:nvPr/>
          </p:nvSpPr>
          <p:spPr bwMode="auto">
            <a:xfrm flipV="1">
              <a:off x="4156076" y="4963172"/>
              <a:ext cx="482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1" name="Line 16">
              <a:extLst>
                <a:ext uri="{FF2B5EF4-FFF2-40B4-BE49-F238E27FC236}">
                  <a16:creationId xmlns:a16="http://schemas.microsoft.com/office/drawing/2014/main" id="{0BB1604C-A394-4BCA-8509-0135A64398AA}"/>
                </a:ext>
              </a:extLst>
            </p:cNvPr>
            <p:cNvSpPr>
              <a:spLocks noChangeShapeType="1"/>
            </p:cNvSpPr>
            <p:nvPr/>
          </p:nvSpPr>
          <p:spPr bwMode="auto">
            <a:xfrm>
              <a:off x="4638676" y="4709172"/>
              <a:ext cx="0" cy="25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2" name="Line 17">
              <a:extLst>
                <a:ext uri="{FF2B5EF4-FFF2-40B4-BE49-F238E27FC236}">
                  <a16:creationId xmlns:a16="http://schemas.microsoft.com/office/drawing/2014/main" id="{F85D16FD-BF8F-4792-9AE9-EDA741A03F66}"/>
                </a:ext>
              </a:extLst>
            </p:cNvPr>
            <p:cNvSpPr>
              <a:spLocks noChangeShapeType="1"/>
            </p:cNvSpPr>
            <p:nvPr/>
          </p:nvSpPr>
          <p:spPr bwMode="auto">
            <a:xfrm flipV="1">
              <a:off x="4024313" y="3985272"/>
              <a:ext cx="6286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3" name="Line 18">
              <a:extLst>
                <a:ext uri="{FF2B5EF4-FFF2-40B4-BE49-F238E27FC236}">
                  <a16:creationId xmlns:a16="http://schemas.microsoft.com/office/drawing/2014/main" id="{91300DB4-1B0E-4CED-9BAD-1626F72C7986}"/>
                </a:ext>
              </a:extLst>
            </p:cNvPr>
            <p:cNvSpPr>
              <a:spLocks noChangeShapeType="1"/>
            </p:cNvSpPr>
            <p:nvPr/>
          </p:nvSpPr>
          <p:spPr bwMode="auto">
            <a:xfrm>
              <a:off x="4652963" y="3985272"/>
              <a:ext cx="0" cy="25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4" name="Line 19">
              <a:extLst>
                <a:ext uri="{FF2B5EF4-FFF2-40B4-BE49-F238E27FC236}">
                  <a16:creationId xmlns:a16="http://schemas.microsoft.com/office/drawing/2014/main" id="{E1B25CCB-9F17-4C4D-B4D5-4579DB4E2DD9}"/>
                </a:ext>
              </a:extLst>
            </p:cNvPr>
            <p:cNvSpPr>
              <a:spLocks noChangeShapeType="1"/>
            </p:cNvSpPr>
            <p:nvPr/>
          </p:nvSpPr>
          <p:spPr bwMode="auto">
            <a:xfrm>
              <a:off x="4638676" y="4251972"/>
              <a:ext cx="685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5" name="Line 20">
              <a:extLst>
                <a:ext uri="{FF2B5EF4-FFF2-40B4-BE49-F238E27FC236}">
                  <a16:creationId xmlns:a16="http://schemas.microsoft.com/office/drawing/2014/main" id="{05FE0393-063E-4448-B2F9-E491DB29E4AD}"/>
                </a:ext>
              </a:extLst>
            </p:cNvPr>
            <p:cNvSpPr>
              <a:spLocks noChangeShapeType="1"/>
            </p:cNvSpPr>
            <p:nvPr/>
          </p:nvSpPr>
          <p:spPr bwMode="auto">
            <a:xfrm>
              <a:off x="4627563" y="4696472"/>
              <a:ext cx="69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6" name="AutoShape 21">
              <a:extLst>
                <a:ext uri="{FF2B5EF4-FFF2-40B4-BE49-F238E27FC236}">
                  <a16:creationId xmlns:a16="http://schemas.microsoft.com/office/drawing/2014/main" id="{98979116-323B-4B21-9CFD-D96FDA6124A0}"/>
                </a:ext>
              </a:extLst>
            </p:cNvPr>
            <p:cNvSpPr>
              <a:spLocks noChangeArrowheads="1"/>
            </p:cNvSpPr>
            <p:nvPr/>
          </p:nvSpPr>
          <p:spPr bwMode="auto">
            <a:xfrm>
              <a:off x="5391151" y="4061472"/>
              <a:ext cx="571500" cy="762000"/>
            </a:xfrm>
            <a:prstGeom prst="flowChartDelay">
              <a:avLst/>
            </a:prstGeom>
            <a:solidFill>
              <a:schemeClr val="accent1"/>
            </a:solidFill>
            <a:ln w="9525">
              <a:solidFill>
                <a:schemeClr val="tx1"/>
              </a:solidFill>
              <a:miter lim="800000"/>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17" name="Line 22">
              <a:extLst>
                <a:ext uri="{FF2B5EF4-FFF2-40B4-BE49-F238E27FC236}">
                  <a16:creationId xmlns:a16="http://schemas.microsoft.com/office/drawing/2014/main" id="{C1E642DE-9234-457D-A77B-9690DF3EFAB5}"/>
                </a:ext>
              </a:extLst>
            </p:cNvPr>
            <p:cNvSpPr>
              <a:spLocks noChangeShapeType="1"/>
            </p:cNvSpPr>
            <p:nvPr/>
          </p:nvSpPr>
          <p:spPr bwMode="auto">
            <a:xfrm>
              <a:off x="5956301" y="4442472"/>
              <a:ext cx="519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8" name="Oval 23">
              <a:extLst>
                <a:ext uri="{FF2B5EF4-FFF2-40B4-BE49-F238E27FC236}">
                  <a16:creationId xmlns:a16="http://schemas.microsoft.com/office/drawing/2014/main" id="{17CBC621-CF8E-4ABE-8FF7-CDC2599DC989}"/>
                </a:ext>
              </a:extLst>
            </p:cNvPr>
            <p:cNvSpPr>
              <a:spLocks noChangeArrowheads="1"/>
            </p:cNvSpPr>
            <p:nvPr/>
          </p:nvSpPr>
          <p:spPr bwMode="auto">
            <a:xfrm>
              <a:off x="5310188" y="4188472"/>
              <a:ext cx="109538" cy="1016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19" name="Oval 24">
              <a:extLst>
                <a:ext uri="{FF2B5EF4-FFF2-40B4-BE49-F238E27FC236}">
                  <a16:creationId xmlns:a16="http://schemas.microsoft.com/office/drawing/2014/main" id="{44E54C52-772B-4C2B-AD19-B45EE742C512}"/>
                </a:ext>
              </a:extLst>
            </p:cNvPr>
            <p:cNvSpPr>
              <a:spLocks noChangeArrowheads="1"/>
            </p:cNvSpPr>
            <p:nvPr/>
          </p:nvSpPr>
          <p:spPr bwMode="auto">
            <a:xfrm>
              <a:off x="5310188" y="4632972"/>
              <a:ext cx="109538" cy="1016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20" name="Oval 28">
              <a:extLst>
                <a:ext uri="{FF2B5EF4-FFF2-40B4-BE49-F238E27FC236}">
                  <a16:creationId xmlns:a16="http://schemas.microsoft.com/office/drawing/2014/main" id="{EEA6A7C4-55DE-41F6-B181-E6F1A68A7785}"/>
                </a:ext>
              </a:extLst>
            </p:cNvPr>
            <p:cNvSpPr>
              <a:spLocks noChangeArrowheads="1"/>
            </p:cNvSpPr>
            <p:nvPr/>
          </p:nvSpPr>
          <p:spPr bwMode="auto">
            <a:xfrm>
              <a:off x="4111626" y="4918722"/>
              <a:ext cx="109538" cy="1016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21" name="AutoShape 30">
              <a:extLst>
                <a:ext uri="{FF2B5EF4-FFF2-40B4-BE49-F238E27FC236}">
                  <a16:creationId xmlns:a16="http://schemas.microsoft.com/office/drawing/2014/main" id="{AF06FE63-7EA6-4E72-970B-3133B72730F5}"/>
                </a:ext>
              </a:extLst>
            </p:cNvPr>
            <p:cNvSpPr>
              <a:spLocks noChangeArrowheads="1"/>
            </p:cNvSpPr>
            <p:nvPr/>
          </p:nvSpPr>
          <p:spPr bwMode="auto">
            <a:xfrm>
              <a:off x="3432176" y="4574234"/>
              <a:ext cx="674688" cy="762000"/>
            </a:xfrm>
            <a:prstGeom prst="flowChartDelay">
              <a:avLst/>
            </a:prstGeom>
            <a:solidFill>
              <a:schemeClr val="accent1"/>
            </a:solidFill>
            <a:ln w="9525">
              <a:solidFill>
                <a:schemeClr val="tx1"/>
              </a:solidFill>
              <a:miter lim="800000"/>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22" name="AutoShape 42">
              <a:extLst>
                <a:ext uri="{FF2B5EF4-FFF2-40B4-BE49-F238E27FC236}">
                  <a16:creationId xmlns:a16="http://schemas.microsoft.com/office/drawing/2014/main" id="{ADC1860F-5BC5-4FE9-96EC-6964C4364C4A}"/>
                </a:ext>
              </a:extLst>
            </p:cNvPr>
            <p:cNvSpPr>
              <a:spLocks noChangeArrowheads="1"/>
            </p:cNvSpPr>
            <p:nvPr/>
          </p:nvSpPr>
          <p:spPr bwMode="auto">
            <a:xfrm>
              <a:off x="3386138" y="3623322"/>
              <a:ext cx="674688" cy="762000"/>
            </a:xfrm>
            <a:prstGeom prst="flowChartDelay">
              <a:avLst/>
            </a:prstGeom>
            <a:solidFill>
              <a:schemeClr val="accent1"/>
            </a:solidFill>
            <a:ln w="9525">
              <a:solidFill>
                <a:schemeClr val="tx1"/>
              </a:solidFill>
              <a:miter lim="800000"/>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23" name="Line 43">
              <a:extLst>
                <a:ext uri="{FF2B5EF4-FFF2-40B4-BE49-F238E27FC236}">
                  <a16:creationId xmlns:a16="http://schemas.microsoft.com/office/drawing/2014/main" id="{94CD5BF6-26D1-4C1F-AFB8-E248233E7A51}"/>
                </a:ext>
              </a:extLst>
            </p:cNvPr>
            <p:cNvSpPr>
              <a:spLocks noChangeShapeType="1"/>
            </p:cNvSpPr>
            <p:nvPr/>
          </p:nvSpPr>
          <p:spPr bwMode="auto">
            <a:xfrm>
              <a:off x="2049463" y="5123509"/>
              <a:ext cx="13604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4" name="Line 8">
              <a:extLst>
                <a:ext uri="{FF2B5EF4-FFF2-40B4-BE49-F238E27FC236}">
                  <a16:creationId xmlns:a16="http://schemas.microsoft.com/office/drawing/2014/main" id="{3CA44C92-1A1D-4510-B7F7-26025B536D76}"/>
                </a:ext>
              </a:extLst>
            </p:cNvPr>
            <p:cNvSpPr>
              <a:spLocks noChangeShapeType="1"/>
            </p:cNvSpPr>
            <p:nvPr/>
          </p:nvSpPr>
          <p:spPr bwMode="auto">
            <a:xfrm flipV="1">
              <a:off x="1646238" y="3768215"/>
              <a:ext cx="6953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5625" name="Group 11">
              <a:extLst>
                <a:ext uri="{FF2B5EF4-FFF2-40B4-BE49-F238E27FC236}">
                  <a16:creationId xmlns:a16="http://schemas.microsoft.com/office/drawing/2014/main" id="{29FDC14D-C4D4-4B5F-B21D-0E0379456A50}"/>
                </a:ext>
              </a:extLst>
            </p:cNvPr>
            <p:cNvGrpSpPr>
              <a:grpSpLocks/>
            </p:cNvGrpSpPr>
            <p:nvPr/>
          </p:nvGrpSpPr>
          <p:grpSpPr bwMode="auto">
            <a:xfrm>
              <a:off x="1674051" y="3436866"/>
              <a:ext cx="526709" cy="332506"/>
              <a:chOff x="1944" y="5721"/>
              <a:chExt cx="2808" cy="1296"/>
            </a:xfrm>
          </p:grpSpPr>
          <p:sp>
            <p:nvSpPr>
              <p:cNvPr id="25663" name="Freeform 10">
                <a:extLst>
                  <a:ext uri="{FF2B5EF4-FFF2-40B4-BE49-F238E27FC236}">
                    <a16:creationId xmlns:a16="http://schemas.microsoft.com/office/drawing/2014/main" id="{5773A908-E592-4386-A483-B00B48963BC2}"/>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64" name="Freeform 11">
                <a:extLst>
                  <a:ext uri="{FF2B5EF4-FFF2-40B4-BE49-F238E27FC236}">
                    <a16:creationId xmlns:a16="http://schemas.microsoft.com/office/drawing/2014/main" id="{1722CFCA-E745-4800-A0B4-7B40FEE44DFE}"/>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626" name="Line 15">
              <a:extLst>
                <a:ext uri="{FF2B5EF4-FFF2-40B4-BE49-F238E27FC236}">
                  <a16:creationId xmlns:a16="http://schemas.microsoft.com/office/drawing/2014/main" id="{549E40D5-3D7A-4951-BED7-B3DDF4D6673B}"/>
                </a:ext>
              </a:extLst>
            </p:cNvPr>
            <p:cNvSpPr>
              <a:spLocks noChangeShapeType="1"/>
            </p:cNvSpPr>
            <p:nvPr/>
          </p:nvSpPr>
          <p:spPr bwMode="auto">
            <a:xfrm>
              <a:off x="1929583" y="3436866"/>
              <a:ext cx="579" cy="332506"/>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5627" name="Line 8">
              <a:extLst>
                <a:ext uri="{FF2B5EF4-FFF2-40B4-BE49-F238E27FC236}">
                  <a16:creationId xmlns:a16="http://schemas.microsoft.com/office/drawing/2014/main" id="{9FB4DAB1-40B0-425E-A968-F0A9C33AA3BC}"/>
                </a:ext>
              </a:extLst>
            </p:cNvPr>
            <p:cNvSpPr>
              <a:spLocks noChangeShapeType="1"/>
            </p:cNvSpPr>
            <p:nvPr/>
          </p:nvSpPr>
          <p:spPr bwMode="auto">
            <a:xfrm flipV="1">
              <a:off x="1646238" y="3351860"/>
              <a:ext cx="0" cy="41635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28" name="Line 8">
              <a:extLst>
                <a:ext uri="{FF2B5EF4-FFF2-40B4-BE49-F238E27FC236}">
                  <a16:creationId xmlns:a16="http://schemas.microsoft.com/office/drawing/2014/main" id="{8C421EF6-9CE5-4D83-85A4-387D248B3319}"/>
                </a:ext>
              </a:extLst>
            </p:cNvPr>
            <p:cNvSpPr>
              <a:spLocks noChangeShapeType="1"/>
            </p:cNvSpPr>
            <p:nvPr/>
          </p:nvSpPr>
          <p:spPr bwMode="auto">
            <a:xfrm flipV="1">
              <a:off x="1647826" y="4354002"/>
              <a:ext cx="6953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5629" name="Group 11">
              <a:extLst>
                <a:ext uri="{FF2B5EF4-FFF2-40B4-BE49-F238E27FC236}">
                  <a16:creationId xmlns:a16="http://schemas.microsoft.com/office/drawing/2014/main" id="{C6CE4D8F-B74F-4C84-970B-4D5E69DF22C7}"/>
                </a:ext>
              </a:extLst>
            </p:cNvPr>
            <p:cNvGrpSpPr>
              <a:grpSpLocks/>
            </p:cNvGrpSpPr>
            <p:nvPr/>
          </p:nvGrpSpPr>
          <p:grpSpPr bwMode="auto">
            <a:xfrm>
              <a:off x="1675639" y="4022653"/>
              <a:ext cx="526709" cy="332506"/>
              <a:chOff x="1944" y="5721"/>
              <a:chExt cx="2808" cy="1296"/>
            </a:xfrm>
          </p:grpSpPr>
          <p:sp>
            <p:nvSpPr>
              <p:cNvPr id="25661" name="Freeform 10">
                <a:extLst>
                  <a:ext uri="{FF2B5EF4-FFF2-40B4-BE49-F238E27FC236}">
                    <a16:creationId xmlns:a16="http://schemas.microsoft.com/office/drawing/2014/main" id="{7BC047FA-4D97-455F-A015-749FC2816D4B}"/>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62" name="Freeform 11">
                <a:extLst>
                  <a:ext uri="{FF2B5EF4-FFF2-40B4-BE49-F238E27FC236}">
                    <a16:creationId xmlns:a16="http://schemas.microsoft.com/office/drawing/2014/main" id="{4E62E68A-89EA-47B5-873C-CC6EA2C34D98}"/>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630" name="Line 15">
              <a:extLst>
                <a:ext uri="{FF2B5EF4-FFF2-40B4-BE49-F238E27FC236}">
                  <a16:creationId xmlns:a16="http://schemas.microsoft.com/office/drawing/2014/main" id="{EBC039DD-ED04-415D-BF86-DAF7B02D100F}"/>
                </a:ext>
              </a:extLst>
            </p:cNvPr>
            <p:cNvSpPr>
              <a:spLocks noChangeShapeType="1"/>
            </p:cNvSpPr>
            <p:nvPr/>
          </p:nvSpPr>
          <p:spPr bwMode="auto">
            <a:xfrm>
              <a:off x="1931171" y="4022653"/>
              <a:ext cx="579" cy="332506"/>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5631" name="Line 8">
              <a:extLst>
                <a:ext uri="{FF2B5EF4-FFF2-40B4-BE49-F238E27FC236}">
                  <a16:creationId xmlns:a16="http://schemas.microsoft.com/office/drawing/2014/main" id="{AEA17E80-7DD6-4396-B263-FDFF088992B3}"/>
                </a:ext>
              </a:extLst>
            </p:cNvPr>
            <p:cNvSpPr>
              <a:spLocks noChangeShapeType="1"/>
            </p:cNvSpPr>
            <p:nvPr/>
          </p:nvSpPr>
          <p:spPr bwMode="auto">
            <a:xfrm flipV="1">
              <a:off x="1647826" y="3937647"/>
              <a:ext cx="0" cy="41635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32" name="Line 8">
              <a:extLst>
                <a:ext uri="{FF2B5EF4-FFF2-40B4-BE49-F238E27FC236}">
                  <a16:creationId xmlns:a16="http://schemas.microsoft.com/office/drawing/2014/main" id="{A4A9CF3F-1DE5-47B4-92CD-A058C1703FBF}"/>
                </a:ext>
              </a:extLst>
            </p:cNvPr>
            <p:cNvSpPr>
              <a:spLocks noChangeShapeType="1"/>
            </p:cNvSpPr>
            <p:nvPr/>
          </p:nvSpPr>
          <p:spPr bwMode="auto">
            <a:xfrm flipV="1">
              <a:off x="1647826" y="5063615"/>
              <a:ext cx="6953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5633" name="Group 11">
              <a:extLst>
                <a:ext uri="{FF2B5EF4-FFF2-40B4-BE49-F238E27FC236}">
                  <a16:creationId xmlns:a16="http://schemas.microsoft.com/office/drawing/2014/main" id="{D86D8996-FCF9-42B0-88EB-997ED7A9EE33}"/>
                </a:ext>
              </a:extLst>
            </p:cNvPr>
            <p:cNvGrpSpPr>
              <a:grpSpLocks/>
            </p:cNvGrpSpPr>
            <p:nvPr/>
          </p:nvGrpSpPr>
          <p:grpSpPr bwMode="auto">
            <a:xfrm>
              <a:off x="1675639" y="4732266"/>
              <a:ext cx="526709" cy="332506"/>
              <a:chOff x="1944" y="5721"/>
              <a:chExt cx="2808" cy="1296"/>
            </a:xfrm>
          </p:grpSpPr>
          <p:sp>
            <p:nvSpPr>
              <p:cNvPr id="25659" name="Freeform 10">
                <a:extLst>
                  <a:ext uri="{FF2B5EF4-FFF2-40B4-BE49-F238E27FC236}">
                    <a16:creationId xmlns:a16="http://schemas.microsoft.com/office/drawing/2014/main" id="{6AD1E6FD-8495-4CA0-B71A-38CBFAC7F82C}"/>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60" name="Freeform 11">
                <a:extLst>
                  <a:ext uri="{FF2B5EF4-FFF2-40B4-BE49-F238E27FC236}">
                    <a16:creationId xmlns:a16="http://schemas.microsoft.com/office/drawing/2014/main" id="{0E1B259C-A805-49D9-85D9-9ECB10F0F091}"/>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634" name="Line 15">
              <a:extLst>
                <a:ext uri="{FF2B5EF4-FFF2-40B4-BE49-F238E27FC236}">
                  <a16:creationId xmlns:a16="http://schemas.microsoft.com/office/drawing/2014/main" id="{3353613E-6EFD-4406-8B2A-C2F29ACB39A9}"/>
                </a:ext>
              </a:extLst>
            </p:cNvPr>
            <p:cNvSpPr>
              <a:spLocks noChangeShapeType="1"/>
            </p:cNvSpPr>
            <p:nvPr/>
          </p:nvSpPr>
          <p:spPr bwMode="auto">
            <a:xfrm>
              <a:off x="1931171" y="4732266"/>
              <a:ext cx="579" cy="332506"/>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5635" name="Line 8">
              <a:extLst>
                <a:ext uri="{FF2B5EF4-FFF2-40B4-BE49-F238E27FC236}">
                  <a16:creationId xmlns:a16="http://schemas.microsoft.com/office/drawing/2014/main" id="{9822135E-67B9-4DCC-ADAD-78D4EBC6DB6E}"/>
                </a:ext>
              </a:extLst>
            </p:cNvPr>
            <p:cNvSpPr>
              <a:spLocks noChangeShapeType="1"/>
            </p:cNvSpPr>
            <p:nvPr/>
          </p:nvSpPr>
          <p:spPr bwMode="auto">
            <a:xfrm flipV="1">
              <a:off x="1647826" y="4647260"/>
              <a:ext cx="0" cy="41635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36" name="Line 8">
              <a:extLst>
                <a:ext uri="{FF2B5EF4-FFF2-40B4-BE49-F238E27FC236}">
                  <a16:creationId xmlns:a16="http://schemas.microsoft.com/office/drawing/2014/main" id="{857F5476-D45B-4AAC-A67C-616C5CE90CD1}"/>
                </a:ext>
              </a:extLst>
            </p:cNvPr>
            <p:cNvSpPr>
              <a:spLocks noChangeShapeType="1"/>
            </p:cNvSpPr>
            <p:nvPr/>
          </p:nvSpPr>
          <p:spPr bwMode="auto">
            <a:xfrm flipV="1">
              <a:off x="3403601" y="3526485"/>
              <a:ext cx="6953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37" name="Freeform 10">
              <a:extLst>
                <a:ext uri="{FF2B5EF4-FFF2-40B4-BE49-F238E27FC236}">
                  <a16:creationId xmlns:a16="http://schemas.microsoft.com/office/drawing/2014/main" id="{9CCC80FE-4FBE-44D8-A987-18B6B7902270}"/>
                </a:ext>
              </a:extLst>
            </p:cNvPr>
            <p:cNvSpPr>
              <a:spLocks/>
            </p:cNvSpPr>
            <p:nvPr/>
          </p:nvSpPr>
          <p:spPr bwMode="auto">
            <a:xfrm>
              <a:off x="3432176" y="3196285"/>
              <a:ext cx="255588" cy="331787"/>
            </a:xfrm>
            <a:custGeom>
              <a:avLst/>
              <a:gdLst>
                <a:gd name="T0" fmla="*/ 0 w 1440"/>
                <a:gd name="T1" fmla="*/ 0 h 1368"/>
                <a:gd name="T2" fmla="*/ 0 w 1440"/>
                <a:gd name="T3" fmla="*/ 0 h 1368"/>
                <a:gd name="T4" fmla="*/ 0 w 1440"/>
                <a:gd name="T5" fmla="*/ 0 h 1368"/>
                <a:gd name="T6" fmla="*/ 0 w 1440"/>
                <a:gd name="T7" fmla="*/ 0 h 1368"/>
                <a:gd name="T8" fmla="*/ 0 w 1440"/>
                <a:gd name="T9" fmla="*/ 0 h 1368"/>
                <a:gd name="T10" fmla="*/ 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38" name="Freeform 11">
              <a:extLst>
                <a:ext uri="{FF2B5EF4-FFF2-40B4-BE49-F238E27FC236}">
                  <a16:creationId xmlns:a16="http://schemas.microsoft.com/office/drawing/2014/main" id="{2EDB0B0F-6939-4510-83B4-E8FB67B9B49D}"/>
                </a:ext>
              </a:extLst>
            </p:cNvPr>
            <p:cNvSpPr>
              <a:spLocks/>
            </p:cNvSpPr>
            <p:nvPr/>
          </p:nvSpPr>
          <p:spPr bwMode="auto">
            <a:xfrm flipH="1">
              <a:off x="3687763" y="3196285"/>
              <a:ext cx="269875" cy="331787"/>
            </a:xfrm>
            <a:custGeom>
              <a:avLst/>
              <a:gdLst>
                <a:gd name="T0" fmla="*/ 0 w 1440"/>
                <a:gd name="T1" fmla="*/ 0 h 1368"/>
                <a:gd name="T2" fmla="*/ 0 w 1440"/>
                <a:gd name="T3" fmla="*/ 0 h 1368"/>
                <a:gd name="T4" fmla="*/ 0 w 1440"/>
                <a:gd name="T5" fmla="*/ 0 h 1368"/>
                <a:gd name="T6" fmla="*/ 0 w 1440"/>
                <a:gd name="T7" fmla="*/ 0 h 1368"/>
                <a:gd name="T8" fmla="*/ 0 w 1440"/>
                <a:gd name="T9" fmla="*/ 0 h 1368"/>
                <a:gd name="T10" fmla="*/ 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39" name="Line 15">
              <a:extLst>
                <a:ext uri="{FF2B5EF4-FFF2-40B4-BE49-F238E27FC236}">
                  <a16:creationId xmlns:a16="http://schemas.microsoft.com/office/drawing/2014/main" id="{48D2AE1B-2C06-4483-8774-03B4B7196971}"/>
                </a:ext>
              </a:extLst>
            </p:cNvPr>
            <p:cNvSpPr>
              <a:spLocks noChangeShapeType="1"/>
            </p:cNvSpPr>
            <p:nvPr/>
          </p:nvSpPr>
          <p:spPr bwMode="auto">
            <a:xfrm>
              <a:off x="3686176" y="3196285"/>
              <a:ext cx="1588" cy="33178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5640" name="Line 8">
              <a:extLst>
                <a:ext uri="{FF2B5EF4-FFF2-40B4-BE49-F238E27FC236}">
                  <a16:creationId xmlns:a16="http://schemas.microsoft.com/office/drawing/2014/main" id="{00F21CD9-9F91-4566-864F-3B3FCF7FE105}"/>
                </a:ext>
              </a:extLst>
            </p:cNvPr>
            <p:cNvSpPr>
              <a:spLocks noChangeShapeType="1"/>
            </p:cNvSpPr>
            <p:nvPr/>
          </p:nvSpPr>
          <p:spPr bwMode="auto">
            <a:xfrm flipV="1">
              <a:off x="3403601" y="3110560"/>
              <a:ext cx="0" cy="4159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41" name="Line 8">
              <a:extLst>
                <a:ext uri="{FF2B5EF4-FFF2-40B4-BE49-F238E27FC236}">
                  <a16:creationId xmlns:a16="http://schemas.microsoft.com/office/drawing/2014/main" id="{29CCF108-F0E0-4767-B7DF-8C9873BB3938}"/>
                </a:ext>
              </a:extLst>
            </p:cNvPr>
            <p:cNvSpPr>
              <a:spLocks noChangeShapeType="1"/>
            </p:cNvSpPr>
            <p:nvPr/>
          </p:nvSpPr>
          <p:spPr bwMode="auto">
            <a:xfrm flipV="1">
              <a:off x="3440113" y="5758940"/>
              <a:ext cx="6953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5642" name="Group 11">
              <a:extLst>
                <a:ext uri="{FF2B5EF4-FFF2-40B4-BE49-F238E27FC236}">
                  <a16:creationId xmlns:a16="http://schemas.microsoft.com/office/drawing/2014/main" id="{174CBFFC-8865-44F5-99D7-03D0CA36F99A}"/>
                </a:ext>
              </a:extLst>
            </p:cNvPr>
            <p:cNvGrpSpPr>
              <a:grpSpLocks/>
            </p:cNvGrpSpPr>
            <p:nvPr/>
          </p:nvGrpSpPr>
          <p:grpSpPr bwMode="auto">
            <a:xfrm>
              <a:off x="3467926" y="5427591"/>
              <a:ext cx="526709" cy="332506"/>
              <a:chOff x="1944" y="5721"/>
              <a:chExt cx="2808" cy="1296"/>
            </a:xfrm>
          </p:grpSpPr>
          <p:sp>
            <p:nvSpPr>
              <p:cNvPr id="25657" name="Freeform 10">
                <a:extLst>
                  <a:ext uri="{FF2B5EF4-FFF2-40B4-BE49-F238E27FC236}">
                    <a16:creationId xmlns:a16="http://schemas.microsoft.com/office/drawing/2014/main" id="{FBA4A4B1-4374-415B-A9FB-1E9AAD262144}"/>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58" name="Freeform 11">
                <a:extLst>
                  <a:ext uri="{FF2B5EF4-FFF2-40B4-BE49-F238E27FC236}">
                    <a16:creationId xmlns:a16="http://schemas.microsoft.com/office/drawing/2014/main" id="{CD0174F7-4D8F-4A62-91E3-8F6C69ECC126}"/>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643" name="Line 15">
              <a:extLst>
                <a:ext uri="{FF2B5EF4-FFF2-40B4-BE49-F238E27FC236}">
                  <a16:creationId xmlns:a16="http://schemas.microsoft.com/office/drawing/2014/main" id="{0E35804E-48C9-4436-9324-23363BFD5BAA}"/>
                </a:ext>
              </a:extLst>
            </p:cNvPr>
            <p:cNvSpPr>
              <a:spLocks noChangeShapeType="1"/>
            </p:cNvSpPr>
            <p:nvPr/>
          </p:nvSpPr>
          <p:spPr bwMode="auto">
            <a:xfrm>
              <a:off x="3723458" y="5427591"/>
              <a:ext cx="579" cy="332506"/>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5644" name="Line 8">
              <a:extLst>
                <a:ext uri="{FF2B5EF4-FFF2-40B4-BE49-F238E27FC236}">
                  <a16:creationId xmlns:a16="http://schemas.microsoft.com/office/drawing/2014/main" id="{1E409AA2-CE71-405C-91B5-921272688A83}"/>
                </a:ext>
              </a:extLst>
            </p:cNvPr>
            <p:cNvSpPr>
              <a:spLocks noChangeShapeType="1"/>
            </p:cNvSpPr>
            <p:nvPr/>
          </p:nvSpPr>
          <p:spPr bwMode="auto">
            <a:xfrm flipV="1">
              <a:off x="3440113" y="5342585"/>
              <a:ext cx="0" cy="41635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45" name="Line 8">
              <a:extLst>
                <a:ext uri="{FF2B5EF4-FFF2-40B4-BE49-F238E27FC236}">
                  <a16:creationId xmlns:a16="http://schemas.microsoft.com/office/drawing/2014/main" id="{DB7181B1-9ACC-4538-B358-6C301EBDDA16}"/>
                </a:ext>
              </a:extLst>
            </p:cNvPr>
            <p:cNvSpPr>
              <a:spLocks noChangeShapeType="1"/>
            </p:cNvSpPr>
            <p:nvPr/>
          </p:nvSpPr>
          <p:spPr bwMode="auto">
            <a:xfrm flipV="1">
              <a:off x="5378451" y="3930140"/>
              <a:ext cx="6953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5646" name="Group 11">
              <a:extLst>
                <a:ext uri="{FF2B5EF4-FFF2-40B4-BE49-F238E27FC236}">
                  <a16:creationId xmlns:a16="http://schemas.microsoft.com/office/drawing/2014/main" id="{117F0B55-2DC8-4F48-B60A-FBB2DEE8FB14}"/>
                </a:ext>
              </a:extLst>
            </p:cNvPr>
            <p:cNvGrpSpPr>
              <a:grpSpLocks/>
            </p:cNvGrpSpPr>
            <p:nvPr/>
          </p:nvGrpSpPr>
          <p:grpSpPr bwMode="auto">
            <a:xfrm>
              <a:off x="5406264" y="3598791"/>
              <a:ext cx="526709" cy="332506"/>
              <a:chOff x="1944" y="5721"/>
              <a:chExt cx="2808" cy="1296"/>
            </a:xfrm>
          </p:grpSpPr>
          <p:sp>
            <p:nvSpPr>
              <p:cNvPr id="25655" name="Freeform 10">
                <a:extLst>
                  <a:ext uri="{FF2B5EF4-FFF2-40B4-BE49-F238E27FC236}">
                    <a16:creationId xmlns:a16="http://schemas.microsoft.com/office/drawing/2014/main" id="{60F57F90-FCCA-4D89-95F4-198A7133B763}"/>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56" name="Freeform 11">
                <a:extLst>
                  <a:ext uri="{FF2B5EF4-FFF2-40B4-BE49-F238E27FC236}">
                    <a16:creationId xmlns:a16="http://schemas.microsoft.com/office/drawing/2014/main" id="{48ABC544-19A7-49BC-88E9-A25BF1ADCB91}"/>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647" name="Line 15">
              <a:extLst>
                <a:ext uri="{FF2B5EF4-FFF2-40B4-BE49-F238E27FC236}">
                  <a16:creationId xmlns:a16="http://schemas.microsoft.com/office/drawing/2014/main" id="{F4306641-D981-4C50-B812-B08543F0ADA0}"/>
                </a:ext>
              </a:extLst>
            </p:cNvPr>
            <p:cNvSpPr>
              <a:spLocks noChangeShapeType="1"/>
            </p:cNvSpPr>
            <p:nvPr/>
          </p:nvSpPr>
          <p:spPr bwMode="auto">
            <a:xfrm>
              <a:off x="5661796" y="3598791"/>
              <a:ext cx="579" cy="332506"/>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5648" name="Line 8">
              <a:extLst>
                <a:ext uri="{FF2B5EF4-FFF2-40B4-BE49-F238E27FC236}">
                  <a16:creationId xmlns:a16="http://schemas.microsoft.com/office/drawing/2014/main" id="{638EAD3F-846E-4B3F-8B1D-A5C8A948192C}"/>
                </a:ext>
              </a:extLst>
            </p:cNvPr>
            <p:cNvSpPr>
              <a:spLocks noChangeShapeType="1"/>
            </p:cNvSpPr>
            <p:nvPr/>
          </p:nvSpPr>
          <p:spPr bwMode="auto">
            <a:xfrm flipV="1">
              <a:off x="5378451" y="3513785"/>
              <a:ext cx="0" cy="41635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49" name="Line 8">
              <a:extLst>
                <a:ext uri="{FF2B5EF4-FFF2-40B4-BE49-F238E27FC236}">
                  <a16:creationId xmlns:a16="http://schemas.microsoft.com/office/drawing/2014/main" id="{F80A7C99-7F6A-4C5F-A79E-3C3E4E509A93}"/>
                </a:ext>
              </a:extLst>
            </p:cNvPr>
            <p:cNvSpPr>
              <a:spLocks noChangeShapeType="1"/>
            </p:cNvSpPr>
            <p:nvPr/>
          </p:nvSpPr>
          <p:spPr bwMode="auto">
            <a:xfrm flipV="1">
              <a:off x="6694488" y="4550852"/>
              <a:ext cx="6953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5650" name="Group 11">
              <a:extLst>
                <a:ext uri="{FF2B5EF4-FFF2-40B4-BE49-F238E27FC236}">
                  <a16:creationId xmlns:a16="http://schemas.microsoft.com/office/drawing/2014/main" id="{6FFA5A1B-D5AA-4993-9C74-6C2B906E6155}"/>
                </a:ext>
              </a:extLst>
            </p:cNvPr>
            <p:cNvGrpSpPr>
              <a:grpSpLocks/>
            </p:cNvGrpSpPr>
            <p:nvPr/>
          </p:nvGrpSpPr>
          <p:grpSpPr bwMode="auto">
            <a:xfrm>
              <a:off x="6722301" y="4219503"/>
              <a:ext cx="526709" cy="332506"/>
              <a:chOff x="1944" y="5721"/>
              <a:chExt cx="2808" cy="1296"/>
            </a:xfrm>
          </p:grpSpPr>
          <p:sp>
            <p:nvSpPr>
              <p:cNvPr id="25653" name="Freeform 10">
                <a:extLst>
                  <a:ext uri="{FF2B5EF4-FFF2-40B4-BE49-F238E27FC236}">
                    <a16:creationId xmlns:a16="http://schemas.microsoft.com/office/drawing/2014/main" id="{B1DAF5ED-314F-4035-8898-C4F28FB66AD4}"/>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54" name="Freeform 11">
                <a:extLst>
                  <a:ext uri="{FF2B5EF4-FFF2-40B4-BE49-F238E27FC236}">
                    <a16:creationId xmlns:a16="http://schemas.microsoft.com/office/drawing/2014/main" id="{A220D70F-7DCB-4B90-81B6-80F5D1EDA13B}"/>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651" name="Line 15">
              <a:extLst>
                <a:ext uri="{FF2B5EF4-FFF2-40B4-BE49-F238E27FC236}">
                  <a16:creationId xmlns:a16="http://schemas.microsoft.com/office/drawing/2014/main" id="{39E53830-5451-43A5-B4DC-86A6B57F856A}"/>
                </a:ext>
              </a:extLst>
            </p:cNvPr>
            <p:cNvSpPr>
              <a:spLocks noChangeShapeType="1"/>
            </p:cNvSpPr>
            <p:nvPr/>
          </p:nvSpPr>
          <p:spPr bwMode="auto">
            <a:xfrm>
              <a:off x="6977833" y="4219503"/>
              <a:ext cx="579" cy="332506"/>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5652" name="Line 8">
              <a:extLst>
                <a:ext uri="{FF2B5EF4-FFF2-40B4-BE49-F238E27FC236}">
                  <a16:creationId xmlns:a16="http://schemas.microsoft.com/office/drawing/2014/main" id="{1E557A93-CD55-4642-8A31-2CAD1F881C17}"/>
                </a:ext>
              </a:extLst>
            </p:cNvPr>
            <p:cNvSpPr>
              <a:spLocks noChangeShapeType="1"/>
            </p:cNvSpPr>
            <p:nvPr/>
          </p:nvSpPr>
          <p:spPr bwMode="auto">
            <a:xfrm flipV="1">
              <a:off x="6694488" y="4134497"/>
              <a:ext cx="0" cy="41635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10DDF00-94BF-4FA4-9E4B-BE5DC05D9C40}"/>
              </a:ext>
            </a:extLst>
          </p:cNvPr>
          <p:cNvSpPr>
            <a:spLocks noGrp="1"/>
          </p:cNvSpPr>
          <p:nvPr>
            <p:ph type="title"/>
          </p:nvPr>
        </p:nvSpPr>
        <p:spPr/>
        <p:txBody>
          <a:bodyPr/>
          <a:lstStyle/>
          <a:p>
            <a:r>
              <a:rPr lang="en-US" altLang="en-US"/>
              <a:t>Statistical Timing Analysis</a:t>
            </a:r>
            <a:endParaRPr lang="ru-RU" altLang="en-US"/>
          </a:p>
        </p:txBody>
      </p:sp>
      <p:sp>
        <p:nvSpPr>
          <p:cNvPr id="27651" name="Rectangle 3">
            <a:extLst>
              <a:ext uri="{FF2B5EF4-FFF2-40B4-BE49-F238E27FC236}">
                <a16:creationId xmlns:a16="http://schemas.microsoft.com/office/drawing/2014/main" id="{B58AB145-B7BA-4CEF-8647-7C53C4229F73}"/>
              </a:ext>
            </a:extLst>
          </p:cNvPr>
          <p:cNvSpPr>
            <a:spLocks noGrp="1"/>
          </p:cNvSpPr>
          <p:nvPr>
            <p:ph type="body" sz="quarter" idx="10"/>
          </p:nvPr>
        </p:nvSpPr>
        <p:spPr/>
        <p:txBody>
          <a:bodyPr/>
          <a:lstStyle/>
          <a:p>
            <a:r>
              <a:rPr lang="en-US" altLang="en-US"/>
              <a:t>Monte-Carlo</a:t>
            </a:r>
          </a:p>
          <a:p>
            <a:r>
              <a:rPr lang="en-US" altLang="en-US"/>
              <a:t>Statistical Static Timing Analysis</a:t>
            </a:r>
            <a:endParaRPr lang="ru-RU" altLang="en-US"/>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DE52C755-84D2-4C25-AA08-758CFF5E4887}"/>
              </a:ext>
            </a:extLst>
          </p:cNvPr>
          <p:cNvSpPr>
            <a:spLocks noGrp="1"/>
          </p:cNvSpPr>
          <p:nvPr>
            <p:ph type="title"/>
          </p:nvPr>
        </p:nvSpPr>
        <p:spPr/>
        <p:txBody>
          <a:bodyPr/>
          <a:lstStyle/>
          <a:p>
            <a:r>
              <a:rPr lang="ru-RU" altLang="en-US"/>
              <a:t>Monte-Carlo Method</a:t>
            </a:r>
          </a:p>
        </p:txBody>
      </p:sp>
      <p:sp>
        <p:nvSpPr>
          <p:cNvPr id="29699" name="Rectangle 3">
            <a:extLst>
              <a:ext uri="{FF2B5EF4-FFF2-40B4-BE49-F238E27FC236}">
                <a16:creationId xmlns:a16="http://schemas.microsoft.com/office/drawing/2014/main" id="{1D478E60-FE34-41FC-813B-CE3EB2A0591E}"/>
              </a:ext>
            </a:extLst>
          </p:cNvPr>
          <p:cNvSpPr>
            <a:spLocks noGrp="1"/>
          </p:cNvSpPr>
          <p:nvPr>
            <p:ph type="body" sz="quarter" idx="10"/>
          </p:nvPr>
        </p:nvSpPr>
        <p:spPr/>
        <p:txBody>
          <a:bodyPr/>
          <a:lstStyle/>
          <a:p>
            <a:r>
              <a:rPr lang="en-US" altLang="en-US"/>
              <a:t>Random sampling of each probability distribution </a:t>
            </a:r>
            <a:br>
              <a:rPr lang="en-US" altLang="en-US"/>
            </a:br>
            <a:r>
              <a:rPr lang="en-US" altLang="en-US"/>
              <a:t>within the model</a:t>
            </a:r>
          </a:p>
          <a:p>
            <a:r>
              <a:rPr lang="en-US" altLang="en-US"/>
              <a:t>Produces 1000's or even 10,000's of scenarios</a:t>
            </a:r>
          </a:p>
          <a:p>
            <a:r>
              <a:rPr lang="en-US" altLang="en-US"/>
              <a:t>Iterations or trials</a:t>
            </a:r>
          </a:p>
          <a:p>
            <a:r>
              <a:rPr lang="en-US" altLang="en-US"/>
              <a:t>Each probability distribution is sampled in a manner that reproduces the distribution's shape</a:t>
            </a:r>
          </a:p>
          <a:p>
            <a:r>
              <a:rPr lang="en-US" altLang="en-US"/>
              <a:t>Distribution of the values calculated for the model outcome therefore reflects the probability of the values that could occur</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4348D31-5B58-46CA-BABB-B65A30310C81}"/>
              </a:ext>
            </a:extLst>
          </p:cNvPr>
          <p:cNvSpPr>
            <a:spLocks noGrp="1" noChangeArrowheads="1"/>
          </p:cNvSpPr>
          <p:nvPr>
            <p:ph type="title"/>
          </p:nvPr>
        </p:nvSpPr>
        <p:spPr/>
        <p:txBody>
          <a:bodyPr/>
          <a:lstStyle/>
          <a:p>
            <a:r>
              <a:rPr lang="en-US" altLang="en-US"/>
              <a:t>Introduction to Statistical Static Timing Analysis </a:t>
            </a:r>
            <a:endParaRPr lang="ru-RU" altLang="en-US"/>
          </a:p>
        </p:txBody>
      </p:sp>
      <p:grpSp>
        <p:nvGrpSpPr>
          <p:cNvPr id="31747" name="Group 2">
            <a:extLst>
              <a:ext uri="{FF2B5EF4-FFF2-40B4-BE49-F238E27FC236}">
                <a16:creationId xmlns:a16="http://schemas.microsoft.com/office/drawing/2014/main" id="{B42C60BC-38F3-4554-B045-35AF751522A3}"/>
              </a:ext>
            </a:extLst>
          </p:cNvPr>
          <p:cNvGrpSpPr>
            <a:grpSpLocks/>
          </p:cNvGrpSpPr>
          <p:nvPr/>
        </p:nvGrpSpPr>
        <p:grpSpPr bwMode="auto">
          <a:xfrm>
            <a:off x="2424114" y="1592264"/>
            <a:ext cx="7432675" cy="4242061"/>
            <a:chOff x="1071563" y="1233488"/>
            <a:chExt cx="7432675" cy="4674550"/>
          </a:xfrm>
        </p:grpSpPr>
        <p:sp>
          <p:nvSpPr>
            <p:cNvPr id="31748" name="Line 29">
              <a:extLst>
                <a:ext uri="{FF2B5EF4-FFF2-40B4-BE49-F238E27FC236}">
                  <a16:creationId xmlns:a16="http://schemas.microsoft.com/office/drawing/2014/main" id="{74540177-CCE6-475B-ACEE-AB84A09FE874}"/>
                </a:ext>
              </a:extLst>
            </p:cNvPr>
            <p:cNvSpPr>
              <a:spLocks noChangeShapeType="1"/>
            </p:cNvSpPr>
            <p:nvPr/>
          </p:nvSpPr>
          <p:spPr bwMode="auto">
            <a:xfrm>
              <a:off x="2051050" y="4657725"/>
              <a:ext cx="0" cy="8595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49" name="Line 28">
              <a:extLst>
                <a:ext uri="{FF2B5EF4-FFF2-40B4-BE49-F238E27FC236}">
                  <a16:creationId xmlns:a16="http://schemas.microsoft.com/office/drawing/2014/main" id="{67CC3ED9-51DF-41B9-B59A-6849F01CCA3A}"/>
                </a:ext>
              </a:extLst>
            </p:cNvPr>
            <p:cNvSpPr>
              <a:spLocks noChangeShapeType="1"/>
            </p:cNvSpPr>
            <p:nvPr/>
          </p:nvSpPr>
          <p:spPr bwMode="auto">
            <a:xfrm>
              <a:off x="2051050" y="5413375"/>
              <a:ext cx="900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0" name="Text Box 5">
              <a:extLst>
                <a:ext uri="{FF2B5EF4-FFF2-40B4-BE49-F238E27FC236}">
                  <a16:creationId xmlns:a16="http://schemas.microsoft.com/office/drawing/2014/main" id="{8E2DA153-13F5-4546-986E-74E376246ED4}"/>
                </a:ext>
              </a:extLst>
            </p:cNvPr>
            <p:cNvSpPr txBox="1">
              <a:spLocks noChangeArrowheads="1"/>
            </p:cNvSpPr>
            <p:nvPr/>
          </p:nvSpPr>
          <p:spPr bwMode="auto">
            <a:xfrm>
              <a:off x="3836988" y="1579563"/>
              <a:ext cx="1044575" cy="576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2800"/>
                <a:t>=</a:t>
              </a:r>
              <a:endParaRPr lang="ru-RU" altLang="en-US" sz="2800"/>
            </a:p>
          </p:txBody>
        </p:sp>
        <p:sp>
          <p:nvSpPr>
            <p:cNvPr id="22534" name="Rectangle 6">
              <a:extLst>
                <a:ext uri="{FF2B5EF4-FFF2-40B4-BE49-F238E27FC236}">
                  <a16:creationId xmlns:a16="http://schemas.microsoft.com/office/drawing/2014/main" id="{78B554DD-DC78-4461-9CDB-9B8D8BE91297}"/>
                </a:ext>
              </a:extLst>
            </p:cNvPr>
            <p:cNvSpPr>
              <a:spLocks noChangeArrowheads="1"/>
            </p:cNvSpPr>
            <p:nvPr/>
          </p:nvSpPr>
          <p:spPr bwMode="auto">
            <a:xfrm>
              <a:off x="2087563" y="1975212"/>
              <a:ext cx="1724025" cy="44090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a:spAutoFit/>
            </a:bodyPr>
            <a:lstStyle/>
            <a:p>
              <a:pPr algn="ctr" eaLnBrk="1" hangingPunct="1">
                <a:defRPr/>
              </a:pPr>
              <a:r>
                <a:rPr lang="en-US" sz="2000">
                  <a:solidFill>
                    <a:schemeClr val="tx1"/>
                  </a:solidFill>
                </a:rPr>
                <a:t>STA</a:t>
              </a:r>
            </a:p>
          </p:txBody>
        </p:sp>
        <p:sp>
          <p:nvSpPr>
            <p:cNvPr id="31752" name="Text Box 7">
              <a:extLst>
                <a:ext uri="{FF2B5EF4-FFF2-40B4-BE49-F238E27FC236}">
                  <a16:creationId xmlns:a16="http://schemas.microsoft.com/office/drawing/2014/main" id="{BB3361CE-A6A0-4CF0-9EF7-46D4E70C9466}"/>
                </a:ext>
              </a:extLst>
            </p:cNvPr>
            <p:cNvSpPr txBox="1">
              <a:spLocks noChangeArrowheads="1"/>
            </p:cNvSpPr>
            <p:nvPr/>
          </p:nvSpPr>
          <p:spPr bwMode="auto">
            <a:xfrm>
              <a:off x="3816350" y="1903413"/>
              <a:ext cx="1044575" cy="576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2800"/>
                <a:t>+</a:t>
              </a:r>
              <a:endParaRPr lang="ru-RU" altLang="en-US" sz="2800"/>
            </a:p>
          </p:txBody>
        </p:sp>
        <p:sp>
          <p:nvSpPr>
            <p:cNvPr id="31753" name="Line 9">
              <a:extLst>
                <a:ext uri="{FF2B5EF4-FFF2-40B4-BE49-F238E27FC236}">
                  <a16:creationId xmlns:a16="http://schemas.microsoft.com/office/drawing/2014/main" id="{93F2E202-C5AB-48A3-ADFE-298F6C05EA26}"/>
                </a:ext>
              </a:extLst>
            </p:cNvPr>
            <p:cNvSpPr>
              <a:spLocks noChangeShapeType="1"/>
            </p:cNvSpPr>
            <p:nvPr/>
          </p:nvSpPr>
          <p:spPr bwMode="auto">
            <a:xfrm>
              <a:off x="2051050" y="4943475"/>
              <a:ext cx="900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4" name="Line 10">
              <a:extLst>
                <a:ext uri="{FF2B5EF4-FFF2-40B4-BE49-F238E27FC236}">
                  <a16:creationId xmlns:a16="http://schemas.microsoft.com/office/drawing/2014/main" id="{A4E5AE23-9C21-4555-983F-8F629CD69086}"/>
                </a:ext>
              </a:extLst>
            </p:cNvPr>
            <p:cNvSpPr>
              <a:spLocks noChangeShapeType="1"/>
            </p:cNvSpPr>
            <p:nvPr/>
          </p:nvSpPr>
          <p:spPr bwMode="auto">
            <a:xfrm>
              <a:off x="1079500" y="3135313"/>
              <a:ext cx="900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8" name="AutoShape 11">
              <a:extLst>
                <a:ext uri="{FF2B5EF4-FFF2-40B4-BE49-F238E27FC236}">
                  <a16:creationId xmlns:a16="http://schemas.microsoft.com/office/drawing/2014/main" id="{3E740194-9AF8-493A-B56D-0132A54E5ACA}"/>
                </a:ext>
              </a:extLst>
            </p:cNvPr>
            <p:cNvSpPr>
              <a:spLocks noChangeArrowheads="1"/>
            </p:cNvSpPr>
            <p:nvPr/>
          </p:nvSpPr>
          <p:spPr bwMode="auto">
            <a:xfrm>
              <a:off x="1673225" y="2919861"/>
              <a:ext cx="6829425" cy="4878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eaLnBrk="1" hangingPunct="1">
                <a:defRPr/>
              </a:pPr>
              <a:r>
                <a:rPr lang="en-US" sz="2000">
                  <a:solidFill>
                    <a:schemeClr val="bg1"/>
                  </a:solidFill>
                </a:rPr>
                <a:t>Gate delay</a:t>
              </a:r>
            </a:p>
          </p:txBody>
        </p:sp>
        <p:sp>
          <p:nvSpPr>
            <p:cNvPr id="22539" name="AutoShape 16">
              <a:extLst>
                <a:ext uri="{FF2B5EF4-FFF2-40B4-BE49-F238E27FC236}">
                  <a16:creationId xmlns:a16="http://schemas.microsoft.com/office/drawing/2014/main" id="{6A337DCA-A884-4534-8E00-A68C3B5B8F18}"/>
                </a:ext>
              </a:extLst>
            </p:cNvPr>
            <p:cNvSpPr>
              <a:spLocks noChangeArrowheads="1"/>
            </p:cNvSpPr>
            <p:nvPr/>
          </p:nvSpPr>
          <p:spPr bwMode="auto">
            <a:xfrm>
              <a:off x="2519363" y="4740934"/>
              <a:ext cx="5975350" cy="374361"/>
            </a:xfrm>
            <a:prstGeom prst="roundRect">
              <a:avLst>
                <a:gd name="adj" fmla="val 16667"/>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eaLnBrk="1" hangingPunct="1">
                <a:defRPr/>
              </a:pPr>
              <a:r>
                <a:rPr lang="en-US" sz="1400" dirty="0"/>
                <a:t>Power supply</a:t>
              </a:r>
              <a:r>
                <a:rPr lang="ru-RU" sz="1400" dirty="0"/>
                <a:t> </a:t>
              </a:r>
              <a:endParaRPr lang="en-US" sz="1400" dirty="0"/>
            </a:p>
          </p:txBody>
        </p:sp>
        <p:sp>
          <p:nvSpPr>
            <p:cNvPr id="31757" name="Line 18">
              <a:extLst>
                <a:ext uri="{FF2B5EF4-FFF2-40B4-BE49-F238E27FC236}">
                  <a16:creationId xmlns:a16="http://schemas.microsoft.com/office/drawing/2014/main" id="{D2C9B402-3B1D-41CE-8924-FF33D961620F}"/>
                </a:ext>
              </a:extLst>
            </p:cNvPr>
            <p:cNvSpPr>
              <a:spLocks noChangeShapeType="1"/>
            </p:cNvSpPr>
            <p:nvPr/>
          </p:nvSpPr>
          <p:spPr bwMode="auto">
            <a:xfrm flipH="1">
              <a:off x="3001963" y="1450975"/>
              <a:ext cx="598487" cy="5127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58" name="Line 19">
              <a:extLst>
                <a:ext uri="{FF2B5EF4-FFF2-40B4-BE49-F238E27FC236}">
                  <a16:creationId xmlns:a16="http://schemas.microsoft.com/office/drawing/2014/main" id="{2DEB76AC-A1D8-4B29-AA94-E05889992112}"/>
                </a:ext>
              </a:extLst>
            </p:cNvPr>
            <p:cNvSpPr>
              <a:spLocks noChangeShapeType="1"/>
            </p:cNvSpPr>
            <p:nvPr/>
          </p:nvSpPr>
          <p:spPr bwMode="auto">
            <a:xfrm>
              <a:off x="4356100" y="1450975"/>
              <a:ext cx="684213" cy="5032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59" name="Line 20">
              <a:extLst>
                <a:ext uri="{FF2B5EF4-FFF2-40B4-BE49-F238E27FC236}">
                  <a16:creationId xmlns:a16="http://schemas.microsoft.com/office/drawing/2014/main" id="{0D9E8A0B-9DEB-4A7D-A8A8-CA7FD870A897}"/>
                </a:ext>
              </a:extLst>
            </p:cNvPr>
            <p:cNvSpPr>
              <a:spLocks noChangeShapeType="1"/>
            </p:cNvSpPr>
            <p:nvPr/>
          </p:nvSpPr>
          <p:spPr bwMode="auto">
            <a:xfrm flipH="1">
              <a:off x="1071563" y="2516188"/>
              <a:ext cx="0" cy="1927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0" name="Line 21">
              <a:extLst>
                <a:ext uri="{FF2B5EF4-FFF2-40B4-BE49-F238E27FC236}">
                  <a16:creationId xmlns:a16="http://schemas.microsoft.com/office/drawing/2014/main" id="{985C994A-223F-4484-A29D-D4FBB1DAFBF1}"/>
                </a:ext>
              </a:extLst>
            </p:cNvPr>
            <p:cNvSpPr>
              <a:spLocks noChangeShapeType="1"/>
            </p:cNvSpPr>
            <p:nvPr/>
          </p:nvSpPr>
          <p:spPr bwMode="auto">
            <a:xfrm>
              <a:off x="1079500" y="2509838"/>
              <a:ext cx="43926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1" name="Line 22">
              <a:extLst>
                <a:ext uri="{FF2B5EF4-FFF2-40B4-BE49-F238E27FC236}">
                  <a16:creationId xmlns:a16="http://schemas.microsoft.com/office/drawing/2014/main" id="{E45119AD-B322-4FA7-B0E5-E5E6C061AAC0}"/>
                </a:ext>
              </a:extLst>
            </p:cNvPr>
            <p:cNvSpPr>
              <a:spLocks noChangeShapeType="1"/>
            </p:cNvSpPr>
            <p:nvPr/>
          </p:nvSpPr>
          <p:spPr bwMode="auto">
            <a:xfrm>
              <a:off x="5472113" y="2259013"/>
              <a:ext cx="0" cy="250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2" name="Line 23">
              <a:extLst>
                <a:ext uri="{FF2B5EF4-FFF2-40B4-BE49-F238E27FC236}">
                  <a16:creationId xmlns:a16="http://schemas.microsoft.com/office/drawing/2014/main" id="{B4371CF6-3FD1-408D-9593-1D9F5947E570}"/>
                </a:ext>
              </a:extLst>
            </p:cNvPr>
            <p:cNvSpPr>
              <a:spLocks noChangeShapeType="1"/>
            </p:cNvSpPr>
            <p:nvPr/>
          </p:nvSpPr>
          <p:spPr bwMode="auto">
            <a:xfrm>
              <a:off x="1079500" y="3787775"/>
              <a:ext cx="900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6" name="AutoShape 24">
              <a:extLst>
                <a:ext uri="{FF2B5EF4-FFF2-40B4-BE49-F238E27FC236}">
                  <a16:creationId xmlns:a16="http://schemas.microsoft.com/office/drawing/2014/main" id="{D3D005B0-3A6D-4C35-831A-7EDD72648C15}"/>
                </a:ext>
              </a:extLst>
            </p:cNvPr>
            <p:cNvSpPr>
              <a:spLocks noChangeArrowheads="1"/>
            </p:cNvSpPr>
            <p:nvPr/>
          </p:nvSpPr>
          <p:spPr bwMode="auto">
            <a:xfrm>
              <a:off x="1671638" y="3570619"/>
              <a:ext cx="6832600" cy="4878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eaLnBrk="1" hangingPunct="1">
                <a:defRPr/>
              </a:pPr>
              <a:r>
                <a:rPr lang="en-US" sz="2000">
                  <a:solidFill>
                    <a:schemeClr val="bg1"/>
                  </a:solidFill>
                </a:rPr>
                <a:t>Interconnect parasitics</a:t>
              </a:r>
            </a:p>
          </p:txBody>
        </p:sp>
        <p:sp>
          <p:nvSpPr>
            <p:cNvPr id="31764" name="Line 25">
              <a:extLst>
                <a:ext uri="{FF2B5EF4-FFF2-40B4-BE49-F238E27FC236}">
                  <a16:creationId xmlns:a16="http://schemas.microsoft.com/office/drawing/2014/main" id="{197054C7-EBAC-48E2-A4B1-784685FC29B0}"/>
                </a:ext>
              </a:extLst>
            </p:cNvPr>
            <p:cNvSpPr>
              <a:spLocks noChangeShapeType="1"/>
            </p:cNvSpPr>
            <p:nvPr/>
          </p:nvSpPr>
          <p:spPr bwMode="auto">
            <a:xfrm>
              <a:off x="1079500" y="4445000"/>
              <a:ext cx="900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8" name="AutoShape 26">
              <a:extLst>
                <a:ext uri="{FF2B5EF4-FFF2-40B4-BE49-F238E27FC236}">
                  <a16:creationId xmlns:a16="http://schemas.microsoft.com/office/drawing/2014/main" id="{652A760C-C658-434C-8D24-70FB8940760E}"/>
                </a:ext>
              </a:extLst>
            </p:cNvPr>
            <p:cNvSpPr>
              <a:spLocks noChangeArrowheads="1"/>
            </p:cNvSpPr>
            <p:nvPr/>
          </p:nvSpPr>
          <p:spPr bwMode="auto">
            <a:xfrm>
              <a:off x="1673225" y="4228375"/>
              <a:ext cx="6829425" cy="4878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eaLnBrk="1" hangingPunct="1">
                <a:defRPr/>
              </a:pPr>
              <a:r>
                <a:rPr lang="en-US" sz="2000" dirty="0">
                  <a:solidFill>
                    <a:schemeClr val="bg1"/>
                  </a:solidFill>
                </a:rPr>
                <a:t>Operating conditions </a:t>
              </a:r>
            </a:p>
          </p:txBody>
        </p:sp>
        <p:sp>
          <p:nvSpPr>
            <p:cNvPr id="22549" name="AutoShape 27">
              <a:extLst>
                <a:ext uri="{FF2B5EF4-FFF2-40B4-BE49-F238E27FC236}">
                  <a16:creationId xmlns:a16="http://schemas.microsoft.com/office/drawing/2014/main" id="{94DA3368-32D7-498A-8997-9F0A659B5BF0}"/>
                </a:ext>
              </a:extLst>
            </p:cNvPr>
            <p:cNvSpPr>
              <a:spLocks noChangeArrowheads="1"/>
            </p:cNvSpPr>
            <p:nvPr/>
          </p:nvSpPr>
          <p:spPr bwMode="auto">
            <a:xfrm>
              <a:off x="2519363" y="5234250"/>
              <a:ext cx="5975350" cy="374361"/>
            </a:xfrm>
            <a:prstGeom prst="roundRect">
              <a:avLst>
                <a:gd name="adj" fmla="val 16667"/>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eaLnBrk="1" hangingPunct="1">
                <a:defRPr/>
              </a:pPr>
              <a:r>
                <a:rPr lang="en-US" sz="1400"/>
                <a:t>Temperature</a:t>
              </a:r>
            </a:p>
          </p:txBody>
        </p:sp>
        <p:sp>
          <p:nvSpPr>
            <p:cNvPr id="31767" name="Text Box 30">
              <a:extLst>
                <a:ext uri="{FF2B5EF4-FFF2-40B4-BE49-F238E27FC236}">
                  <a16:creationId xmlns:a16="http://schemas.microsoft.com/office/drawing/2014/main" id="{A81162C8-70E4-4E7B-9955-67AE8884D24D}"/>
                </a:ext>
              </a:extLst>
            </p:cNvPr>
            <p:cNvSpPr txBox="1">
              <a:spLocks noChangeArrowheads="1"/>
            </p:cNvSpPr>
            <p:nvPr/>
          </p:nvSpPr>
          <p:spPr bwMode="auto">
            <a:xfrm>
              <a:off x="1936750" y="5517232"/>
              <a:ext cx="250825" cy="390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lnSpc>
                  <a:spcPct val="0"/>
                </a:lnSpc>
                <a:spcBef>
                  <a:spcPct val="50000"/>
                </a:spcBef>
                <a:buClrTx/>
                <a:buSzTx/>
                <a:buFontTx/>
                <a:buNone/>
              </a:pPr>
              <a:r>
                <a:rPr lang="en-US" altLang="en-US" sz="1400"/>
                <a:t>.</a:t>
              </a:r>
            </a:p>
            <a:p>
              <a:pPr eaLnBrk="1" hangingPunct="1">
                <a:lnSpc>
                  <a:spcPct val="0"/>
                </a:lnSpc>
                <a:spcBef>
                  <a:spcPct val="50000"/>
                </a:spcBef>
                <a:buClrTx/>
                <a:buSzTx/>
                <a:buFontTx/>
                <a:buNone/>
              </a:pPr>
              <a:r>
                <a:rPr lang="en-US" altLang="en-US" sz="1400"/>
                <a:t>.</a:t>
              </a:r>
            </a:p>
            <a:p>
              <a:pPr eaLnBrk="1" hangingPunct="1">
                <a:lnSpc>
                  <a:spcPct val="0"/>
                </a:lnSpc>
                <a:spcBef>
                  <a:spcPct val="50000"/>
                </a:spcBef>
                <a:buClrTx/>
                <a:buSzTx/>
                <a:buFontTx/>
                <a:buNone/>
              </a:pPr>
              <a:r>
                <a:rPr lang="en-US" altLang="en-US" sz="1400"/>
                <a:t>.</a:t>
              </a:r>
              <a:endParaRPr lang="ru-RU" altLang="en-US" sz="1400"/>
            </a:p>
          </p:txBody>
        </p:sp>
        <p:sp>
          <p:nvSpPr>
            <p:cNvPr id="22551" name="Rectangle 4">
              <a:extLst>
                <a:ext uri="{FF2B5EF4-FFF2-40B4-BE49-F238E27FC236}">
                  <a16:creationId xmlns:a16="http://schemas.microsoft.com/office/drawing/2014/main" id="{4F9A9244-1FF0-4A0F-84A1-7E7FEF8DAC8E}"/>
                </a:ext>
              </a:extLst>
            </p:cNvPr>
            <p:cNvSpPr>
              <a:spLocks noChangeArrowheads="1"/>
            </p:cNvSpPr>
            <p:nvPr/>
          </p:nvSpPr>
          <p:spPr bwMode="auto">
            <a:xfrm>
              <a:off x="3132138" y="1233488"/>
              <a:ext cx="1724025" cy="44090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a:spAutoFit/>
            </a:bodyPr>
            <a:lstStyle/>
            <a:p>
              <a:pPr algn="ctr" eaLnBrk="1" hangingPunct="1">
                <a:defRPr/>
              </a:pPr>
              <a:r>
                <a:rPr lang="en-US" sz="2000">
                  <a:solidFill>
                    <a:schemeClr val="tx1"/>
                  </a:solidFill>
                </a:rPr>
                <a:t>SSTA</a:t>
              </a:r>
            </a:p>
          </p:txBody>
        </p:sp>
        <p:sp>
          <p:nvSpPr>
            <p:cNvPr id="22552" name="Rectangle 8">
              <a:extLst>
                <a:ext uri="{FF2B5EF4-FFF2-40B4-BE49-F238E27FC236}">
                  <a16:creationId xmlns:a16="http://schemas.microsoft.com/office/drawing/2014/main" id="{FDF9C1DD-055A-4053-9DB5-6B0591376CF3}"/>
                </a:ext>
              </a:extLst>
            </p:cNvPr>
            <p:cNvSpPr>
              <a:spLocks noChangeArrowheads="1"/>
            </p:cNvSpPr>
            <p:nvPr/>
          </p:nvSpPr>
          <p:spPr bwMode="auto">
            <a:xfrm>
              <a:off x="4248150" y="1975212"/>
              <a:ext cx="2987675" cy="44090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a:spAutoFit/>
            </a:bodyPr>
            <a:lstStyle/>
            <a:p>
              <a:pPr algn="ctr" eaLnBrk="1" hangingPunct="1">
                <a:defRPr/>
              </a:pPr>
              <a:r>
                <a:rPr lang="en-US" sz="2000" dirty="0">
                  <a:solidFill>
                    <a:schemeClr val="tx1"/>
                  </a:solidFill>
                </a:rPr>
                <a:t>Statistical models</a:t>
              </a:r>
            </a:p>
          </p:txBody>
        </p:sp>
      </p:gr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3229E3B-8A73-4756-9D45-20E060947163}"/>
              </a:ext>
            </a:extLst>
          </p:cNvPr>
          <p:cNvSpPr>
            <a:spLocks noGrp="1"/>
          </p:cNvSpPr>
          <p:nvPr>
            <p:ph type="title"/>
          </p:nvPr>
        </p:nvSpPr>
        <p:spPr/>
        <p:txBody>
          <a:bodyPr/>
          <a:lstStyle/>
          <a:p>
            <a:r>
              <a:rPr lang="ru-RU" altLang="en-US"/>
              <a:t>Probability</a:t>
            </a:r>
          </a:p>
        </p:txBody>
      </p:sp>
      <p:sp>
        <p:nvSpPr>
          <p:cNvPr id="33795" name="Text Box 9">
            <a:extLst>
              <a:ext uri="{FF2B5EF4-FFF2-40B4-BE49-F238E27FC236}">
                <a16:creationId xmlns:a16="http://schemas.microsoft.com/office/drawing/2014/main" id="{7080C288-CEBC-4C8B-B9F9-980D98C44899}"/>
              </a:ext>
            </a:extLst>
          </p:cNvPr>
          <p:cNvSpPr txBox="1">
            <a:spLocks noChangeArrowheads="1"/>
          </p:cNvSpPr>
          <p:nvPr/>
        </p:nvSpPr>
        <p:spPr bwMode="auto">
          <a:xfrm>
            <a:off x="6862764" y="4476751"/>
            <a:ext cx="2725737"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ru-RU" altLang="en-US" sz="1600">
                <a:solidFill>
                  <a:srgbClr val="0000FF"/>
                </a:solidFill>
              </a:rPr>
              <a:t>Comulative Probability </a:t>
            </a:r>
            <a:br>
              <a:rPr lang="ru-RU" altLang="en-US" sz="1600">
                <a:solidFill>
                  <a:srgbClr val="0000FF"/>
                </a:solidFill>
              </a:rPr>
            </a:br>
            <a:r>
              <a:rPr lang="ru-RU" altLang="en-US" sz="1600">
                <a:solidFill>
                  <a:srgbClr val="0000FF"/>
                </a:solidFill>
              </a:rPr>
              <a:t>Distribution Function</a:t>
            </a:r>
            <a:r>
              <a:rPr lang="en-US" altLang="en-US" sz="1600">
                <a:solidFill>
                  <a:srgbClr val="0000FF"/>
                </a:solidFill>
              </a:rPr>
              <a:t> </a:t>
            </a:r>
            <a:r>
              <a:rPr lang="ru-RU" altLang="en-US" sz="1600">
                <a:solidFill>
                  <a:srgbClr val="0000FF"/>
                </a:solidFill>
              </a:rPr>
              <a:t>(PDF)</a:t>
            </a:r>
          </a:p>
          <a:p>
            <a:pPr>
              <a:spcBef>
                <a:spcPct val="0"/>
              </a:spcBef>
              <a:buClrTx/>
              <a:buSzTx/>
              <a:buFontTx/>
              <a:buNone/>
            </a:pPr>
            <a:r>
              <a:rPr lang="ru-RU" altLang="en-US" sz="1600"/>
              <a:t>Probability that gate delay is lower than x</a:t>
            </a:r>
          </a:p>
        </p:txBody>
      </p:sp>
      <p:grpSp>
        <p:nvGrpSpPr>
          <p:cNvPr id="33796" name="Group 25">
            <a:extLst>
              <a:ext uri="{FF2B5EF4-FFF2-40B4-BE49-F238E27FC236}">
                <a16:creationId xmlns:a16="http://schemas.microsoft.com/office/drawing/2014/main" id="{C6CBF7C7-64D8-4A9A-97BF-2A6EFF702574}"/>
              </a:ext>
            </a:extLst>
          </p:cNvPr>
          <p:cNvGrpSpPr>
            <a:grpSpLocks/>
          </p:cNvGrpSpPr>
          <p:nvPr/>
        </p:nvGrpSpPr>
        <p:grpSpPr bwMode="auto">
          <a:xfrm>
            <a:off x="1852614" y="1812925"/>
            <a:ext cx="8162925" cy="2122488"/>
            <a:chOff x="249" y="2045"/>
            <a:chExt cx="5142" cy="1337"/>
          </a:xfrm>
        </p:grpSpPr>
        <p:grpSp>
          <p:nvGrpSpPr>
            <p:cNvPr id="33798" name="Group 14">
              <a:extLst>
                <a:ext uri="{FF2B5EF4-FFF2-40B4-BE49-F238E27FC236}">
                  <a16:creationId xmlns:a16="http://schemas.microsoft.com/office/drawing/2014/main" id="{C0572B50-8A06-47F3-9C17-49ACBD45897C}"/>
                </a:ext>
              </a:extLst>
            </p:cNvPr>
            <p:cNvGrpSpPr>
              <a:grpSpLocks/>
            </p:cNvGrpSpPr>
            <p:nvPr/>
          </p:nvGrpSpPr>
          <p:grpSpPr bwMode="auto">
            <a:xfrm>
              <a:off x="461" y="2091"/>
              <a:ext cx="2235" cy="1106"/>
              <a:chOff x="461" y="2413"/>
              <a:chExt cx="2235" cy="1106"/>
            </a:xfrm>
          </p:grpSpPr>
          <p:sp>
            <p:nvSpPr>
              <p:cNvPr id="33808" name="Line 12">
                <a:extLst>
                  <a:ext uri="{FF2B5EF4-FFF2-40B4-BE49-F238E27FC236}">
                    <a16:creationId xmlns:a16="http://schemas.microsoft.com/office/drawing/2014/main" id="{82784262-723C-4005-BD45-ADC5CFF758BB}"/>
                  </a:ext>
                </a:extLst>
              </p:cNvPr>
              <p:cNvSpPr>
                <a:spLocks noChangeShapeType="1"/>
              </p:cNvSpPr>
              <p:nvPr/>
            </p:nvSpPr>
            <p:spPr bwMode="auto">
              <a:xfrm flipV="1">
                <a:off x="461" y="2413"/>
                <a:ext cx="0" cy="1106"/>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09" name="Line 13">
                <a:extLst>
                  <a:ext uri="{FF2B5EF4-FFF2-40B4-BE49-F238E27FC236}">
                    <a16:creationId xmlns:a16="http://schemas.microsoft.com/office/drawing/2014/main" id="{29E5EC12-F6C3-49BB-A024-F7830F3B412F}"/>
                  </a:ext>
                </a:extLst>
              </p:cNvPr>
              <p:cNvSpPr>
                <a:spLocks noChangeShapeType="1"/>
              </p:cNvSpPr>
              <p:nvPr/>
            </p:nvSpPr>
            <p:spPr bwMode="auto">
              <a:xfrm flipV="1">
                <a:off x="461" y="3519"/>
                <a:ext cx="223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3799" name="Freeform 15">
              <a:extLst>
                <a:ext uri="{FF2B5EF4-FFF2-40B4-BE49-F238E27FC236}">
                  <a16:creationId xmlns:a16="http://schemas.microsoft.com/office/drawing/2014/main" id="{541FF21C-53C5-4ACA-8695-211832E3CB45}"/>
                </a:ext>
              </a:extLst>
            </p:cNvPr>
            <p:cNvSpPr>
              <a:spLocks/>
            </p:cNvSpPr>
            <p:nvPr/>
          </p:nvSpPr>
          <p:spPr bwMode="auto">
            <a:xfrm>
              <a:off x="474" y="2246"/>
              <a:ext cx="2130" cy="951"/>
            </a:xfrm>
            <a:custGeom>
              <a:avLst/>
              <a:gdLst>
                <a:gd name="T0" fmla="*/ 0 w 2130"/>
                <a:gd name="T1" fmla="*/ 933 h 951"/>
                <a:gd name="T2" fmla="*/ 1079 w 2130"/>
                <a:gd name="T3" fmla="*/ 9 h 951"/>
                <a:gd name="T4" fmla="*/ 2130 w 2130"/>
                <a:gd name="T5" fmla="*/ 914 h 951"/>
                <a:gd name="T6" fmla="*/ 0 60000 65536"/>
                <a:gd name="T7" fmla="*/ 0 60000 65536"/>
                <a:gd name="T8" fmla="*/ 0 60000 65536"/>
                <a:gd name="T9" fmla="*/ 0 w 2130"/>
                <a:gd name="T10" fmla="*/ 0 h 951"/>
                <a:gd name="T11" fmla="*/ 2130 w 2130"/>
                <a:gd name="T12" fmla="*/ 951 h 951"/>
              </a:gdLst>
              <a:ahLst/>
              <a:cxnLst>
                <a:cxn ang="T6">
                  <a:pos x="T0" y="T1"/>
                </a:cxn>
                <a:cxn ang="T7">
                  <a:pos x="T2" y="T3"/>
                </a:cxn>
                <a:cxn ang="T8">
                  <a:pos x="T4" y="T5"/>
                </a:cxn>
              </a:cxnLst>
              <a:rect l="T9" t="T10" r="T11" b="T12"/>
              <a:pathLst>
                <a:path w="2130" h="951">
                  <a:moveTo>
                    <a:pt x="0" y="933"/>
                  </a:moveTo>
                  <a:cubicBezTo>
                    <a:pt x="796" y="869"/>
                    <a:pt x="724" y="12"/>
                    <a:pt x="1079" y="9"/>
                  </a:cubicBezTo>
                  <a:cubicBezTo>
                    <a:pt x="1308" y="0"/>
                    <a:pt x="1426" y="951"/>
                    <a:pt x="2130" y="914"/>
                  </a:cubicBezTo>
                </a:path>
              </a:pathLst>
            </a:cu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00" name="Freeform 16">
              <a:extLst>
                <a:ext uri="{FF2B5EF4-FFF2-40B4-BE49-F238E27FC236}">
                  <a16:creationId xmlns:a16="http://schemas.microsoft.com/office/drawing/2014/main" id="{A860FA42-4A81-4B81-B1DF-6858E5838380}"/>
                </a:ext>
              </a:extLst>
            </p:cNvPr>
            <p:cNvSpPr>
              <a:spLocks/>
            </p:cNvSpPr>
            <p:nvPr/>
          </p:nvSpPr>
          <p:spPr bwMode="auto">
            <a:xfrm>
              <a:off x="3180" y="2174"/>
              <a:ext cx="2150" cy="966"/>
            </a:xfrm>
            <a:custGeom>
              <a:avLst/>
              <a:gdLst>
                <a:gd name="T0" fmla="*/ 0 w 2150"/>
                <a:gd name="T1" fmla="*/ 966 h 966"/>
                <a:gd name="T2" fmla="*/ 2150 w 2150"/>
                <a:gd name="T3" fmla="*/ 46 h 966"/>
                <a:gd name="T4" fmla="*/ 0 60000 65536"/>
                <a:gd name="T5" fmla="*/ 0 60000 65536"/>
                <a:gd name="T6" fmla="*/ 0 w 2150"/>
                <a:gd name="T7" fmla="*/ 0 h 966"/>
                <a:gd name="T8" fmla="*/ 2150 w 2150"/>
                <a:gd name="T9" fmla="*/ 966 h 966"/>
              </a:gdLst>
              <a:ahLst/>
              <a:cxnLst>
                <a:cxn ang="T4">
                  <a:pos x="T0" y="T1"/>
                </a:cxn>
                <a:cxn ang="T5">
                  <a:pos x="T2" y="T3"/>
                </a:cxn>
              </a:cxnLst>
              <a:rect l="T6" t="T7" r="T8" b="T9"/>
              <a:pathLst>
                <a:path w="2150" h="966">
                  <a:moveTo>
                    <a:pt x="0" y="966"/>
                  </a:moveTo>
                  <a:cubicBezTo>
                    <a:pt x="1218" y="933"/>
                    <a:pt x="1026" y="0"/>
                    <a:pt x="2150" y="46"/>
                  </a:cubicBezTo>
                </a:path>
              </a:pathLst>
            </a:cu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01" name="Text Box 17">
              <a:extLst>
                <a:ext uri="{FF2B5EF4-FFF2-40B4-BE49-F238E27FC236}">
                  <a16:creationId xmlns:a16="http://schemas.microsoft.com/office/drawing/2014/main" id="{B14293E3-14F4-4AAF-A90A-2997CB278FD0}"/>
                </a:ext>
              </a:extLst>
            </p:cNvPr>
            <p:cNvSpPr txBox="1">
              <a:spLocks noChangeArrowheads="1"/>
            </p:cNvSpPr>
            <p:nvPr/>
          </p:nvSpPr>
          <p:spPr bwMode="auto">
            <a:xfrm rot="-5400000">
              <a:off x="-232" y="2526"/>
              <a:ext cx="11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Probability Density</a:t>
              </a:r>
            </a:p>
          </p:txBody>
        </p:sp>
        <p:sp>
          <p:nvSpPr>
            <p:cNvPr id="33802" name="Text Box 18">
              <a:extLst>
                <a:ext uri="{FF2B5EF4-FFF2-40B4-BE49-F238E27FC236}">
                  <a16:creationId xmlns:a16="http://schemas.microsoft.com/office/drawing/2014/main" id="{5C5307F6-1418-49C1-AD87-22A508A67B2F}"/>
                </a:ext>
              </a:extLst>
            </p:cNvPr>
            <p:cNvSpPr txBox="1">
              <a:spLocks noChangeArrowheads="1"/>
            </p:cNvSpPr>
            <p:nvPr/>
          </p:nvSpPr>
          <p:spPr bwMode="auto">
            <a:xfrm rot="-5400000">
              <a:off x="2468" y="2526"/>
              <a:ext cx="11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Probability Density</a:t>
              </a:r>
            </a:p>
          </p:txBody>
        </p:sp>
        <p:sp>
          <p:nvSpPr>
            <p:cNvPr id="33803" name="Text Box 19">
              <a:extLst>
                <a:ext uri="{FF2B5EF4-FFF2-40B4-BE49-F238E27FC236}">
                  <a16:creationId xmlns:a16="http://schemas.microsoft.com/office/drawing/2014/main" id="{A848C371-0254-4D12-B13C-EAD7B5BE3951}"/>
                </a:ext>
              </a:extLst>
            </p:cNvPr>
            <p:cNvSpPr txBox="1">
              <a:spLocks noChangeArrowheads="1"/>
            </p:cNvSpPr>
            <p:nvPr/>
          </p:nvSpPr>
          <p:spPr bwMode="auto">
            <a:xfrm>
              <a:off x="1094" y="3170"/>
              <a:ext cx="75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Gate Delay</a:t>
              </a:r>
            </a:p>
          </p:txBody>
        </p:sp>
        <p:sp>
          <p:nvSpPr>
            <p:cNvPr id="33804" name="Text Box 20">
              <a:extLst>
                <a:ext uri="{FF2B5EF4-FFF2-40B4-BE49-F238E27FC236}">
                  <a16:creationId xmlns:a16="http://schemas.microsoft.com/office/drawing/2014/main" id="{169D4606-D096-4346-8659-0EB3AE501EB9}"/>
                </a:ext>
              </a:extLst>
            </p:cNvPr>
            <p:cNvSpPr txBox="1">
              <a:spLocks noChangeArrowheads="1"/>
            </p:cNvSpPr>
            <p:nvPr/>
          </p:nvSpPr>
          <p:spPr bwMode="auto">
            <a:xfrm>
              <a:off x="3756" y="3166"/>
              <a:ext cx="82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Gate Delaay</a:t>
              </a:r>
            </a:p>
          </p:txBody>
        </p:sp>
        <p:grpSp>
          <p:nvGrpSpPr>
            <p:cNvPr id="33805" name="Group 21">
              <a:extLst>
                <a:ext uri="{FF2B5EF4-FFF2-40B4-BE49-F238E27FC236}">
                  <a16:creationId xmlns:a16="http://schemas.microsoft.com/office/drawing/2014/main" id="{DD4EEA40-A87D-4437-8819-B09F5D1D0A3D}"/>
                </a:ext>
              </a:extLst>
            </p:cNvPr>
            <p:cNvGrpSpPr>
              <a:grpSpLocks/>
            </p:cNvGrpSpPr>
            <p:nvPr/>
          </p:nvGrpSpPr>
          <p:grpSpPr bwMode="auto">
            <a:xfrm>
              <a:off x="3156" y="2068"/>
              <a:ext cx="2235" cy="1106"/>
              <a:chOff x="461" y="2413"/>
              <a:chExt cx="2235" cy="1106"/>
            </a:xfrm>
          </p:grpSpPr>
          <p:sp>
            <p:nvSpPr>
              <p:cNvPr id="33806" name="Line 22">
                <a:extLst>
                  <a:ext uri="{FF2B5EF4-FFF2-40B4-BE49-F238E27FC236}">
                    <a16:creationId xmlns:a16="http://schemas.microsoft.com/office/drawing/2014/main" id="{0D727E26-0E54-43C6-AA95-DEEA022AEB00}"/>
                  </a:ext>
                </a:extLst>
              </p:cNvPr>
              <p:cNvSpPr>
                <a:spLocks noChangeShapeType="1"/>
              </p:cNvSpPr>
              <p:nvPr/>
            </p:nvSpPr>
            <p:spPr bwMode="auto">
              <a:xfrm flipV="1">
                <a:off x="461" y="2413"/>
                <a:ext cx="0" cy="1106"/>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07" name="Line 23">
                <a:extLst>
                  <a:ext uri="{FF2B5EF4-FFF2-40B4-BE49-F238E27FC236}">
                    <a16:creationId xmlns:a16="http://schemas.microsoft.com/office/drawing/2014/main" id="{97D6660B-6952-485E-817E-255BB685035E}"/>
                  </a:ext>
                </a:extLst>
              </p:cNvPr>
              <p:cNvSpPr>
                <a:spLocks noChangeShapeType="1"/>
              </p:cNvSpPr>
              <p:nvPr/>
            </p:nvSpPr>
            <p:spPr bwMode="auto">
              <a:xfrm flipV="1">
                <a:off x="461" y="3519"/>
                <a:ext cx="223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sp>
        <p:nvSpPr>
          <p:cNvPr id="33797" name="Rectangle 1">
            <a:extLst>
              <a:ext uri="{FF2B5EF4-FFF2-40B4-BE49-F238E27FC236}">
                <a16:creationId xmlns:a16="http://schemas.microsoft.com/office/drawing/2014/main" id="{EBD9C2B4-76F8-4629-83B2-DA2B1B7B83F2}"/>
              </a:ext>
            </a:extLst>
          </p:cNvPr>
          <p:cNvSpPr>
            <a:spLocks noChangeArrowheads="1"/>
          </p:cNvSpPr>
          <p:nvPr/>
        </p:nvSpPr>
        <p:spPr bwMode="auto">
          <a:xfrm>
            <a:off x="2201863" y="4437063"/>
            <a:ext cx="2455862"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600">
                <a:solidFill>
                  <a:srgbClr val="0000FF"/>
                </a:solidFill>
              </a:rPr>
              <a:t>Probability Density Function (PDF)</a:t>
            </a:r>
          </a:p>
          <a:p>
            <a:pPr eaLnBrk="1" hangingPunct="1"/>
            <a:r>
              <a:rPr lang="ru-RU" altLang="en-US" sz="1600"/>
              <a:t>Probability that gate delay has value x</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B72F8DA-4779-4E8E-9583-901571713505}"/>
              </a:ext>
            </a:extLst>
          </p:cNvPr>
          <p:cNvSpPr>
            <a:spLocks noGrp="1"/>
          </p:cNvSpPr>
          <p:nvPr>
            <p:ph type="title"/>
          </p:nvPr>
        </p:nvSpPr>
        <p:spPr/>
        <p:txBody>
          <a:bodyPr/>
          <a:lstStyle/>
          <a:p>
            <a:r>
              <a:rPr lang="en-US" altLang="en-US"/>
              <a:t>Distribution of Propagation</a:t>
            </a:r>
            <a:endParaRPr lang="ru-RU" altLang="en-US"/>
          </a:p>
        </p:txBody>
      </p:sp>
      <p:sp>
        <p:nvSpPr>
          <p:cNvPr id="35843" name="Text Box 11">
            <a:extLst>
              <a:ext uri="{FF2B5EF4-FFF2-40B4-BE49-F238E27FC236}">
                <a16:creationId xmlns:a16="http://schemas.microsoft.com/office/drawing/2014/main" id="{1D97A0F3-CC63-43A5-A993-D7BBC107DC1E}"/>
              </a:ext>
            </a:extLst>
          </p:cNvPr>
          <p:cNvSpPr txBox="1">
            <a:spLocks noChangeArrowheads="1"/>
          </p:cNvSpPr>
          <p:nvPr/>
        </p:nvSpPr>
        <p:spPr bwMode="auto">
          <a:xfrm>
            <a:off x="3328988" y="533876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900"/>
              <a:t>0</a:t>
            </a:r>
          </a:p>
        </p:txBody>
      </p:sp>
      <p:sp>
        <p:nvSpPr>
          <p:cNvPr id="35844" name="Text Box 12">
            <a:extLst>
              <a:ext uri="{FF2B5EF4-FFF2-40B4-BE49-F238E27FC236}">
                <a16:creationId xmlns:a16="http://schemas.microsoft.com/office/drawing/2014/main" id="{2F31352B-379F-4B1D-B1FE-CBB2C75F5133}"/>
              </a:ext>
            </a:extLst>
          </p:cNvPr>
          <p:cNvSpPr txBox="1">
            <a:spLocks noChangeArrowheads="1"/>
          </p:cNvSpPr>
          <p:nvPr/>
        </p:nvSpPr>
        <p:spPr bwMode="auto">
          <a:xfrm>
            <a:off x="4878388" y="533876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900"/>
              <a:t>2</a:t>
            </a:r>
          </a:p>
        </p:txBody>
      </p:sp>
      <p:sp>
        <p:nvSpPr>
          <p:cNvPr id="35845" name="Text Box 13">
            <a:extLst>
              <a:ext uri="{FF2B5EF4-FFF2-40B4-BE49-F238E27FC236}">
                <a16:creationId xmlns:a16="http://schemas.microsoft.com/office/drawing/2014/main" id="{0BA5229F-93DE-4F9D-8AB2-8991D44C9D4F}"/>
              </a:ext>
            </a:extLst>
          </p:cNvPr>
          <p:cNvSpPr txBox="1">
            <a:spLocks noChangeArrowheads="1"/>
          </p:cNvSpPr>
          <p:nvPr/>
        </p:nvSpPr>
        <p:spPr bwMode="auto">
          <a:xfrm>
            <a:off x="6407150" y="533876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900"/>
              <a:t>4</a:t>
            </a:r>
          </a:p>
        </p:txBody>
      </p:sp>
      <p:sp>
        <p:nvSpPr>
          <p:cNvPr id="35846" name="Text Box 14">
            <a:extLst>
              <a:ext uri="{FF2B5EF4-FFF2-40B4-BE49-F238E27FC236}">
                <a16:creationId xmlns:a16="http://schemas.microsoft.com/office/drawing/2014/main" id="{9D3F9836-9B0B-4C4A-8465-B921BE5F1ED5}"/>
              </a:ext>
            </a:extLst>
          </p:cNvPr>
          <p:cNvSpPr txBox="1">
            <a:spLocks noChangeArrowheads="1"/>
          </p:cNvSpPr>
          <p:nvPr/>
        </p:nvSpPr>
        <p:spPr bwMode="auto">
          <a:xfrm>
            <a:off x="7934325" y="533876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900"/>
              <a:t>6</a:t>
            </a:r>
          </a:p>
        </p:txBody>
      </p:sp>
      <p:grpSp>
        <p:nvGrpSpPr>
          <p:cNvPr id="35847" name="Group 3">
            <a:extLst>
              <a:ext uri="{FF2B5EF4-FFF2-40B4-BE49-F238E27FC236}">
                <a16:creationId xmlns:a16="http://schemas.microsoft.com/office/drawing/2014/main" id="{82E231BC-2037-4A78-A74E-CBB101EC92DC}"/>
              </a:ext>
            </a:extLst>
          </p:cNvPr>
          <p:cNvGrpSpPr>
            <a:grpSpLocks/>
          </p:cNvGrpSpPr>
          <p:nvPr/>
        </p:nvGrpSpPr>
        <p:grpSpPr bwMode="auto">
          <a:xfrm>
            <a:off x="3430589" y="3946525"/>
            <a:ext cx="5399087" cy="1460500"/>
            <a:chOff x="1875503" y="3946525"/>
            <a:chExt cx="5398422" cy="1460500"/>
          </a:xfrm>
        </p:grpSpPr>
        <p:sp>
          <p:nvSpPr>
            <p:cNvPr id="35876" name="Line 6">
              <a:extLst>
                <a:ext uri="{FF2B5EF4-FFF2-40B4-BE49-F238E27FC236}">
                  <a16:creationId xmlns:a16="http://schemas.microsoft.com/office/drawing/2014/main" id="{216492B3-FA6B-4876-984F-9F21ABEF6AEE}"/>
                </a:ext>
              </a:extLst>
            </p:cNvPr>
            <p:cNvSpPr>
              <a:spLocks noChangeShapeType="1"/>
            </p:cNvSpPr>
            <p:nvPr/>
          </p:nvSpPr>
          <p:spPr bwMode="auto">
            <a:xfrm flipV="1">
              <a:off x="1875503" y="5302250"/>
              <a:ext cx="5398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77" name="Line 7">
              <a:extLst>
                <a:ext uri="{FF2B5EF4-FFF2-40B4-BE49-F238E27FC236}">
                  <a16:creationId xmlns:a16="http://schemas.microsoft.com/office/drawing/2014/main" id="{7E792A9A-EC6B-430A-A982-6E27A0DAA90B}"/>
                </a:ext>
              </a:extLst>
            </p:cNvPr>
            <p:cNvSpPr>
              <a:spLocks noChangeShapeType="1"/>
            </p:cNvSpPr>
            <p:nvPr/>
          </p:nvSpPr>
          <p:spPr bwMode="auto">
            <a:xfrm>
              <a:off x="2170545" y="5229225"/>
              <a:ext cx="0" cy="1778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8" name="Line 8">
              <a:extLst>
                <a:ext uri="{FF2B5EF4-FFF2-40B4-BE49-F238E27FC236}">
                  <a16:creationId xmlns:a16="http://schemas.microsoft.com/office/drawing/2014/main" id="{F62CCA29-7F50-4E83-BA6C-438FF1425B0E}"/>
                </a:ext>
              </a:extLst>
            </p:cNvPr>
            <p:cNvSpPr>
              <a:spLocks noChangeShapeType="1"/>
            </p:cNvSpPr>
            <p:nvPr/>
          </p:nvSpPr>
          <p:spPr bwMode="auto">
            <a:xfrm>
              <a:off x="3690655" y="5229225"/>
              <a:ext cx="0" cy="1778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9" name="Line 9">
              <a:extLst>
                <a:ext uri="{FF2B5EF4-FFF2-40B4-BE49-F238E27FC236}">
                  <a16:creationId xmlns:a16="http://schemas.microsoft.com/office/drawing/2014/main" id="{BBB5F043-9CC3-45CB-8AFD-24DEFD89EB76}"/>
                </a:ext>
              </a:extLst>
            </p:cNvPr>
            <p:cNvSpPr>
              <a:spLocks noChangeShapeType="1"/>
            </p:cNvSpPr>
            <p:nvPr/>
          </p:nvSpPr>
          <p:spPr bwMode="auto">
            <a:xfrm>
              <a:off x="5208628" y="5229225"/>
              <a:ext cx="0" cy="1778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80" name="Line 10">
              <a:extLst>
                <a:ext uri="{FF2B5EF4-FFF2-40B4-BE49-F238E27FC236}">
                  <a16:creationId xmlns:a16="http://schemas.microsoft.com/office/drawing/2014/main" id="{3374411D-9E70-4B5E-AF2C-3A221EB1CD91}"/>
                </a:ext>
              </a:extLst>
            </p:cNvPr>
            <p:cNvSpPr>
              <a:spLocks noChangeShapeType="1"/>
            </p:cNvSpPr>
            <p:nvPr/>
          </p:nvSpPr>
          <p:spPr bwMode="auto">
            <a:xfrm>
              <a:off x="6728738" y="5229225"/>
              <a:ext cx="0" cy="1778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5881" name="Group 15">
              <a:extLst>
                <a:ext uri="{FF2B5EF4-FFF2-40B4-BE49-F238E27FC236}">
                  <a16:creationId xmlns:a16="http://schemas.microsoft.com/office/drawing/2014/main" id="{DF713AFD-B7C4-48B9-B92D-AF2484F21006}"/>
                </a:ext>
              </a:extLst>
            </p:cNvPr>
            <p:cNvGrpSpPr>
              <a:grpSpLocks/>
            </p:cNvGrpSpPr>
            <p:nvPr/>
          </p:nvGrpSpPr>
          <p:grpSpPr bwMode="auto">
            <a:xfrm>
              <a:off x="2170545" y="4168775"/>
              <a:ext cx="4558193" cy="946150"/>
              <a:chOff x="576" y="2736"/>
              <a:chExt cx="1728" cy="112"/>
            </a:xfrm>
          </p:grpSpPr>
          <p:sp>
            <p:nvSpPr>
              <p:cNvPr id="35889" name="Line 16">
                <a:extLst>
                  <a:ext uri="{FF2B5EF4-FFF2-40B4-BE49-F238E27FC236}">
                    <a16:creationId xmlns:a16="http://schemas.microsoft.com/office/drawing/2014/main" id="{4737A5ED-B060-4F91-82D4-BB2D330F7537}"/>
                  </a:ext>
                </a:extLst>
              </p:cNvPr>
              <p:cNvSpPr>
                <a:spLocks noChangeShapeType="1"/>
              </p:cNvSpPr>
              <p:nvPr/>
            </p:nvSpPr>
            <p:spPr bwMode="auto">
              <a:xfrm>
                <a:off x="576" y="2736"/>
                <a:ext cx="0" cy="11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5890" name="Line 17">
                <a:extLst>
                  <a:ext uri="{FF2B5EF4-FFF2-40B4-BE49-F238E27FC236}">
                    <a16:creationId xmlns:a16="http://schemas.microsoft.com/office/drawing/2014/main" id="{300456F0-1514-4F3C-B892-B48F1E8B83F3}"/>
                  </a:ext>
                </a:extLst>
              </p:cNvPr>
              <p:cNvSpPr>
                <a:spLocks noChangeShapeType="1"/>
              </p:cNvSpPr>
              <p:nvPr/>
            </p:nvSpPr>
            <p:spPr bwMode="auto">
              <a:xfrm>
                <a:off x="1152" y="2736"/>
                <a:ext cx="0" cy="11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5891" name="Line 18">
                <a:extLst>
                  <a:ext uri="{FF2B5EF4-FFF2-40B4-BE49-F238E27FC236}">
                    <a16:creationId xmlns:a16="http://schemas.microsoft.com/office/drawing/2014/main" id="{2C9EA01B-DF76-4FC1-8A90-0F53EBC26654}"/>
                  </a:ext>
                </a:extLst>
              </p:cNvPr>
              <p:cNvSpPr>
                <a:spLocks noChangeShapeType="1"/>
              </p:cNvSpPr>
              <p:nvPr/>
            </p:nvSpPr>
            <p:spPr bwMode="auto">
              <a:xfrm>
                <a:off x="1728" y="2736"/>
                <a:ext cx="0" cy="11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5892" name="Line 19">
                <a:extLst>
                  <a:ext uri="{FF2B5EF4-FFF2-40B4-BE49-F238E27FC236}">
                    <a16:creationId xmlns:a16="http://schemas.microsoft.com/office/drawing/2014/main" id="{672CDBD6-2898-4630-8D99-1B254E9C113E}"/>
                  </a:ext>
                </a:extLst>
              </p:cNvPr>
              <p:cNvSpPr>
                <a:spLocks noChangeShapeType="1"/>
              </p:cNvSpPr>
              <p:nvPr/>
            </p:nvSpPr>
            <p:spPr bwMode="auto">
              <a:xfrm>
                <a:off x="2304" y="2736"/>
                <a:ext cx="0" cy="11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5882" name="Line 25">
              <a:extLst>
                <a:ext uri="{FF2B5EF4-FFF2-40B4-BE49-F238E27FC236}">
                  <a16:creationId xmlns:a16="http://schemas.microsoft.com/office/drawing/2014/main" id="{0D8CAA92-A124-4C2B-9A46-926F65BE1343}"/>
                </a:ext>
              </a:extLst>
            </p:cNvPr>
            <p:cNvSpPr>
              <a:spLocks noChangeShapeType="1"/>
            </p:cNvSpPr>
            <p:nvPr/>
          </p:nvSpPr>
          <p:spPr bwMode="auto">
            <a:xfrm>
              <a:off x="3265196" y="5080000"/>
              <a:ext cx="42546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5883" name="Line 26">
              <a:extLst>
                <a:ext uri="{FF2B5EF4-FFF2-40B4-BE49-F238E27FC236}">
                  <a16:creationId xmlns:a16="http://schemas.microsoft.com/office/drawing/2014/main" id="{1858C4C9-CECC-4BCB-A40D-19BBEFF9020C}"/>
                </a:ext>
              </a:extLst>
            </p:cNvPr>
            <p:cNvSpPr>
              <a:spLocks noChangeShapeType="1"/>
            </p:cNvSpPr>
            <p:nvPr/>
          </p:nvSpPr>
          <p:spPr bwMode="auto">
            <a:xfrm>
              <a:off x="4785306" y="4387850"/>
              <a:ext cx="423322"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0765" name="Freeform 61">
              <a:extLst>
                <a:ext uri="{FF2B5EF4-FFF2-40B4-BE49-F238E27FC236}">
                  <a16:creationId xmlns:a16="http://schemas.microsoft.com/office/drawing/2014/main" id="{A70E441A-EFC6-4126-BDBB-E004FD2C7A41}"/>
                </a:ext>
              </a:extLst>
            </p:cNvPr>
            <p:cNvSpPr>
              <a:spLocks/>
            </p:cNvSpPr>
            <p:nvPr/>
          </p:nvSpPr>
          <p:spPr bwMode="auto">
            <a:xfrm>
              <a:off x="2148519" y="3946525"/>
              <a:ext cx="1619051" cy="557213"/>
            </a:xfrm>
            <a:custGeom>
              <a:avLst/>
              <a:gdLst>
                <a:gd name="T0" fmla="*/ 0 w 2300"/>
                <a:gd name="T1" fmla="*/ 0 h 1066"/>
                <a:gd name="T2" fmla="*/ 0 w 2300"/>
                <a:gd name="T3" fmla="*/ 0 h 1066"/>
                <a:gd name="T4" fmla="*/ 0 w 2300"/>
                <a:gd name="T5" fmla="*/ 0 h 1066"/>
                <a:gd name="T6" fmla="*/ 0 w 2300"/>
                <a:gd name="T7" fmla="*/ 0 h 1066"/>
                <a:gd name="T8" fmla="*/ 0 60000 65536"/>
                <a:gd name="T9" fmla="*/ 0 60000 65536"/>
                <a:gd name="T10" fmla="*/ 0 60000 65536"/>
                <a:gd name="T11" fmla="*/ 0 60000 65536"/>
                <a:gd name="T12" fmla="*/ 0 w 2300"/>
                <a:gd name="T13" fmla="*/ 0 h 1066"/>
                <a:gd name="T14" fmla="*/ 2300 w 2300"/>
                <a:gd name="T15" fmla="*/ 1066 h 1066"/>
              </a:gdLst>
              <a:ahLst/>
              <a:cxnLst>
                <a:cxn ang="T8">
                  <a:pos x="T0" y="T1"/>
                </a:cxn>
                <a:cxn ang="T9">
                  <a:pos x="T2" y="T3"/>
                </a:cxn>
                <a:cxn ang="T10">
                  <a:pos x="T4" y="T5"/>
                </a:cxn>
                <a:cxn ang="T11">
                  <a:pos x="T6" y="T7"/>
                </a:cxn>
              </a:cxnLst>
              <a:rect l="T12" t="T13" r="T14" b="T15"/>
              <a:pathLst>
                <a:path w="2300" h="1066">
                  <a:moveTo>
                    <a:pt x="0" y="933"/>
                  </a:moveTo>
                  <a:cubicBezTo>
                    <a:pt x="796" y="869"/>
                    <a:pt x="724" y="12"/>
                    <a:pt x="1079" y="9"/>
                  </a:cubicBezTo>
                  <a:cubicBezTo>
                    <a:pt x="1308" y="0"/>
                    <a:pt x="1426" y="951"/>
                    <a:pt x="2130" y="914"/>
                  </a:cubicBezTo>
                  <a:cubicBezTo>
                    <a:pt x="2300" y="1066"/>
                    <a:pt x="2107" y="918"/>
                    <a:pt x="2101" y="919"/>
                  </a:cubicBezTo>
                </a:path>
              </a:pathLst>
            </a:custGeom>
            <a:solidFill>
              <a:schemeClr val="accent1">
                <a:lumMod val="20000"/>
                <a:lumOff val="80000"/>
              </a:schemeClr>
            </a:solidFill>
            <a:ln w="57150">
              <a:solidFill>
                <a:schemeClr val="accent1">
                  <a:lumMod val="20000"/>
                  <a:lumOff val="80000"/>
                </a:schemeClr>
              </a:solidFill>
              <a:round/>
              <a:headEnd/>
              <a:tailEnd/>
            </a:ln>
          </p:spPr>
          <p:txBody>
            <a:bodyPr/>
            <a:lstStyle/>
            <a:p>
              <a:pPr eaLnBrk="1" hangingPunct="1">
                <a:defRPr/>
              </a:pPr>
              <a:endParaRPr lang="en-US">
                <a:latin typeface="Arial" charset="0"/>
                <a:cs typeface="Arial" charset="0"/>
              </a:endParaRPr>
            </a:p>
          </p:txBody>
        </p:sp>
        <p:sp>
          <p:nvSpPr>
            <p:cNvPr id="30766" name="Freeform 62">
              <a:extLst>
                <a:ext uri="{FF2B5EF4-FFF2-40B4-BE49-F238E27FC236}">
                  <a16:creationId xmlns:a16="http://schemas.microsoft.com/office/drawing/2014/main" id="{77CE122E-7257-483B-82C0-1EC5F3C5064A}"/>
                </a:ext>
              </a:extLst>
            </p:cNvPr>
            <p:cNvSpPr>
              <a:spLocks/>
            </p:cNvSpPr>
            <p:nvPr/>
          </p:nvSpPr>
          <p:spPr bwMode="auto">
            <a:xfrm>
              <a:off x="2246932" y="4602163"/>
              <a:ext cx="887303" cy="473075"/>
            </a:xfrm>
            <a:custGeom>
              <a:avLst/>
              <a:gdLst>
                <a:gd name="T0" fmla="*/ 0 w 2130"/>
                <a:gd name="T1" fmla="*/ 0 h 951"/>
                <a:gd name="T2" fmla="*/ 0 w 2130"/>
                <a:gd name="T3" fmla="*/ 0 h 951"/>
                <a:gd name="T4" fmla="*/ 0 w 2130"/>
                <a:gd name="T5" fmla="*/ 0 h 951"/>
                <a:gd name="T6" fmla="*/ 0 60000 65536"/>
                <a:gd name="T7" fmla="*/ 0 60000 65536"/>
                <a:gd name="T8" fmla="*/ 0 60000 65536"/>
                <a:gd name="T9" fmla="*/ 0 w 2130"/>
                <a:gd name="T10" fmla="*/ 0 h 951"/>
                <a:gd name="T11" fmla="*/ 2130 w 2130"/>
                <a:gd name="T12" fmla="*/ 951 h 951"/>
              </a:gdLst>
              <a:ahLst/>
              <a:cxnLst>
                <a:cxn ang="T6">
                  <a:pos x="T0" y="T1"/>
                </a:cxn>
                <a:cxn ang="T7">
                  <a:pos x="T2" y="T3"/>
                </a:cxn>
                <a:cxn ang="T8">
                  <a:pos x="T4" y="T5"/>
                </a:cxn>
              </a:cxnLst>
              <a:rect l="T9" t="T10" r="T11" b="T12"/>
              <a:pathLst>
                <a:path w="2130" h="951">
                  <a:moveTo>
                    <a:pt x="0" y="933"/>
                  </a:moveTo>
                  <a:cubicBezTo>
                    <a:pt x="796" y="869"/>
                    <a:pt x="724" y="12"/>
                    <a:pt x="1079" y="9"/>
                  </a:cubicBezTo>
                  <a:cubicBezTo>
                    <a:pt x="1308" y="0"/>
                    <a:pt x="1426" y="951"/>
                    <a:pt x="2130" y="914"/>
                  </a:cubicBezTo>
                </a:path>
              </a:pathLst>
            </a:custGeom>
            <a:solidFill>
              <a:schemeClr val="accent1">
                <a:lumMod val="50000"/>
              </a:schemeClr>
            </a:solidFill>
            <a:ln w="57150">
              <a:solidFill>
                <a:schemeClr val="accent1">
                  <a:lumMod val="50000"/>
                </a:schemeClr>
              </a:solidFill>
              <a:round/>
              <a:headEnd/>
              <a:tailEnd/>
            </a:ln>
          </p:spPr>
          <p:txBody>
            <a:bodyPr/>
            <a:lstStyle/>
            <a:p>
              <a:pPr eaLnBrk="1" hangingPunct="1">
                <a:defRPr/>
              </a:pPr>
              <a:endParaRPr lang="en-US">
                <a:latin typeface="Arial" charset="0"/>
                <a:cs typeface="Arial" charset="0"/>
              </a:endParaRPr>
            </a:p>
          </p:txBody>
        </p:sp>
        <p:sp>
          <p:nvSpPr>
            <p:cNvPr id="35886" name="Freeform 63">
              <a:extLst>
                <a:ext uri="{FF2B5EF4-FFF2-40B4-BE49-F238E27FC236}">
                  <a16:creationId xmlns:a16="http://schemas.microsoft.com/office/drawing/2014/main" id="{11062FB7-DA9C-4A01-B7E9-007B55E28721}"/>
                </a:ext>
              </a:extLst>
            </p:cNvPr>
            <p:cNvSpPr>
              <a:spLocks/>
            </p:cNvSpPr>
            <p:nvPr/>
          </p:nvSpPr>
          <p:spPr bwMode="auto">
            <a:xfrm>
              <a:off x="3923696" y="3946525"/>
              <a:ext cx="592223" cy="473075"/>
            </a:xfrm>
            <a:custGeom>
              <a:avLst/>
              <a:gdLst>
                <a:gd name="T0" fmla="*/ 0 w 2130"/>
                <a:gd name="T1" fmla="*/ 0 h 951"/>
                <a:gd name="T2" fmla="*/ 0 w 2130"/>
                <a:gd name="T3" fmla="*/ 0 h 951"/>
                <a:gd name="T4" fmla="*/ 0 w 2130"/>
                <a:gd name="T5" fmla="*/ 0 h 951"/>
                <a:gd name="T6" fmla="*/ 0 60000 65536"/>
                <a:gd name="T7" fmla="*/ 0 60000 65536"/>
                <a:gd name="T8" fmla="*/ 0 60000 65536"/>
                <a:gd name="T9" fmla="*/ 0 w 2130"/>
                <a:gd name="T10" fmla="*/ 0 h 951"/>
                <a:gd name="T11" fmla="*/ 2130 w 2130"/>
                <a:gd name="T12" fmla="*/ 951 h 951"/>
              </a:gdLst>
              <a:ahLst/>
              <a:cxnLst>
                <a:cxn ang="T6">
                  <a:pos x="T0" y="T1"/>
                </a:cxn>
                <a:cxn ang="T7">
                  <a:pos x="T2" y="T3"/>
                </a:cxn>
                <a:cxn ang="T8">
                  <a:pos x="T4" y="T5"/>
                </a:cxn>
              </a:cxnLst>
              <a:rect l="T9" t="T10" r="T11" b="T12"/>
              <a:pathLst>
                <a:path w="2130" h="951">
                  <a:moveTo>
                    <a:pt x="0" y="933"/>
                  </a:moveTo>
                  <a:cubicBezTo>
                    <a:pt x="796" y="869"/>
                    <a:pt x="724" y="12"/>
                    <a:pt x="1079" y="9"/>
                  </a:cubicBezTo>
                  <a:cubicBezTo>
                    <a:pt x="1308" y="0"/>
                    <a:pt x="1426" y="951"/>
                    <a:pt x="2130" y="914"/>
                  </a:cubicBezTo>
                </a:path>
              </a:pathLst>
            </a:custGeom>
            <a:solidFill>
              <a:schemeClr val="accent1"/>
            </a:solidFill>
            <a:ln w="57150">
              <a:solidFill>
                <a:schemeClr val="accent1"/>
              </a:solidFill>
              <a:round/>
              <a:headEnd/>
              <a:tailEnd/>
            </a:ln>
          </p:spPr>
          <p:txBody>
            <a:bodyPr/>
            <a:lstStyle/>
            <a:p>
              <a:endParaRPr lang="en-US"/>
            </a:p>
          </p:txBody>
        </p:sp>
        <p:sp>
          <p:nvSpPr>
            <p:cNvPr id="35887" name="Freeform 64">
              <a:extLst>
                <a:ext uri="{FF2B5EF4-FFF2-40B4-BE49-F238E27FC236}">
                  <a16:creationId xmlns:a16="http://schemas.microsoft.com/office/drawing/2014/main" id="{1D1A12F8-CAE9-40CB-BD50-6595B37D773E}"/>
                </a:ext>
              </a:extLst>
            </p:cNvPr>
            <p:cNvSpPr>
              <a:spLocks/>
            </p:cNvSpPr>
            <p:nvPr/>
          </p:nvSpPr>
          <p:spPr bwMode="auto">
            <a:xfrm>
              <a:off x="3803969" y="4568825"/>
              <a:ext cx="1498730" cy="496888"/>
            </a:xfrm>
            <a:custGeom>
              <a:avLst/>
              <a:gdLst>
                <a:gd name="T0" fmla="*/ 0 w 2130"/>
                <a:gd name="T1" fmla="*/ 0 h 951"/>
                <a:gd name="T2" fmla="*/ 0 w 2130"/>
                <a:gd name="T3" fmla="*/ 0 h 951"/>
                <a:gd name="T4" fmla="*/ 0 w 2130"/>
                <a:gd name="T5" fmla="*/ 0 h 951"/>
                <a:gd name="T6" fmla="*/ 0 60000 65536"/>
                <a:gd name="T7" fmla="*/ 0 60000 65536"/>
                <a:gd name="T8" fmla="*/ 0 60000 65536"/>
                <a:gd name="T9" fmla="*/ 0 w 2130"/>
                <a:gd name="T10" fmla="*/ 0 h 951"/>
                <a:gd name="T11" fmla="*/ 2130 w 2130"/>
                <a:gd name="T12" fmla="*/ 951 h 951"/>
              </a:gdLst>
              <a:ahLst/>
              <a:cxnLst>
                <a:cxn ang="T6">
                  <a:pos x="T0" y="T1"/>
                </a:cxn>
                <a:cxn ang="T7">
                  <a:pos x="T2" y="T3"/>
                </a:cxn>
                <a:cxn ang="T8">
                  <a:pos x="T4" y="T5"/>
                </a:cxn>
              </a:cxnLst>
              <a:rect l="T9" t="T10" r="T11" b="T12"/>
              <a:pathLst>
                <a:path w="2130" h="951">
                  <a:moveTo>
                    <a:pt x="0" y="933"/>
                  </a:moveTo>
                  <a:cubicBezTo>
                    <a:pt x="796" y="869"/>
                    <a:pt x="724" y="12"/>
                    <a:pt x="1079" y="9"/>
                  </a:cubicBezTo>
                  <a:cubicBezTo>
                    <a:pt x="1308" y="0"/>
                    <a:pt x="1426" y="951"/>
                    <a:pt x="2130" y="914"/>
                  </a:cubicBezTo>
                </a:path>
              </a:pathLst>
            </a:custGeom>
            <a:solidFill>
              <a:schemeClr val="accent1"/>
            </a:solidFill>
            <a:ln w="57150">
              <a:solidFill>
                <a:schemeClr val="accent1"/>
              </a:solidFill>
              <a:round/>
              <a:headEnd/>
              <a:tailEnd/>
            </a:ln>
          </p:spPr>
          <p:txBody>
            <a:bodyPr/>
            <a:lstStyle/>
            <a:p>
              <a:endParaRPr lang="en-US" dirty="0"/>
            </a:p>
          </p:txBody>
        </p:sp>
        <p:sp>
          <p:nvSpPr>
            <p:cNvPr id="30769" name="Freeform 65">
              <a:extLst>
                <a:ext uri="{FF2B5EF4-FFF2-40B4-BE49-F238E27FC236}">
                  <a16:creationId xmlns:a16="http://schemas.microsoft.com/office/drawing/2014/main" id="{C4C06B5D-1B19-40C5-966F-BF9B6AE3B618}"/>
                </a:ext>
              </a:extLst>
            </p:cNvPr>
            <p:cNvSpPr>
              <a:spLocks/>
            </p:cNvSpPr>
            <p:nvPr/>
          </p:nvSpPr>
          <p:spPr bwMode="auto">
            <a:xfrm>
              <a:off x="5302493" y="4276725"/>
              <a:ext cx="1498415" cy="496888"/>
            </a:xfrm>
            <a:custGeom>
              <a:avLst/>
              <a:gdLst>
                <a:gd name="T0" fmla="*/ 0 w 2130"/>
                <a:gd name="T1" fmla="*/ 0 h 951"/>
                <a:gd name="T2" fmla="*/ 0 w 2130"/>
                <a:gd name="T3" fmla="*/ 0 h 951"/>
                <a:gd name="T4" fmla="*/ 0 w 2130"/>
                <a:gd name="T5" fmla="*/ 0 h 951"/>
                <a:gd name="T6" fmla="*/ 0 60000 65536"/>
                <a:gd name="T7" fmla="*/ 0 60000 65536"/>
                <a:gd name="T8" fmla="*/ 0 60000 65536"/>
                <a:gd name="T9" fmla="*/ 0 w 2130"/>
                <a:gd name="T10" fmla="*/ 0 h 951"/>
                <a:gd name="T11" fmla="*/ 2130 w 2130"/>
                <a:gd name="T12" fmla="*/ 951 h 951"/>
              </a:gdLst>
              <a:ahLst/>
              <a:cxnLst>
                <a:cxn ang="T6">
                  <a:pos x="T0" y="T1"/>
                </a:cxn>
                <a:cxn ang="T7">
                  <a:pos x="T2" y="T3"/>
                </a:cxn>
                <a:cxn ang="T8">
                  <a:pos x="T4" y="T5"/>
                </a:cxn>
              </a:cxnLst>
              <a:rect l="T9" t="T10" r="T11" b="T12"/>
              <a:pathLst>
                <a:path w="2130" h="951">
                  <a:moveTo>
                    <a:pt x="0" y="933"/>
                  </a:moveTo>
                  <a:cubicBezTo>
                    <a:pt x="796" y="869"/>
                    <a:pt x="724" y="12"/>
                    <a:pt x="1079" y="9"/>
                  </a:cubicBezTo>
                  <a:cubicBezTo>
                    <a:pt x="1308" y="0"/>
                    <a:pt x="1426" y="951"/>
                    <a:pt x="2130" y="914"/>
                  </a:cubicBezTo>
                </a:path>
              </a:pathLst>
            </a:custGeom>
            <a:solidFill>
              <a:schemeClr val="accent1">
                <a:lumMod val="50000"/>
              </a:schemeClr>
            </a:solidFill>
            <a:ln w="57150">
              <a:solidFill>
                <a:schemeClr val="accent1">
                  <a:lumMod val="50000"/>
                </a:schemeClr>
              </a:solidFill>
              <a:round/>
              <a:headEnd/>
              <a:tailEnd/>
            </a:ln>
          </p:spPr>
          <p:txBody>
            <a:bodyPr/>
            <a:lstStyle/>
            <a:p>
              <a:pPr eaLnBrk="1" hangingPunct="1">
                <a:defRPr/>
              </a:pPr>
              <a:endParaRPr lang="en-US">
                <a:latin typeface="Arial" charset="0"/>
                <a:cs typeface="Arial" charset="0"/>
              </a:endParaRPr>
            </a:p>
          </p:txBody>
        </p:sp>
      </p:grpSp>
      <p:grpSp>
        <p:nvGrpSpPr>
          <p:cNvPr id="35848" name="Group 2">
            <a:extLst>
              <a:ext uri="{FF2B5EF4-FFF2-40B4-BE49-F238E27FC236}">
                <a16:creationId xmlns:a16="http://schemas.microsoft.com/office/drawing/2014/main" id="{1E05093D-DDB8-40BB-A08C-B82F56ECC27C}"/>
              </a:ext>
            </a:extLst>
          </p:cNvPr>
          <p:cNvGrpSpPr>
            <a:grpSpLocks/>
          </p:cNvGrpSpPr>
          <p:nvPr/>
        </p:nvGrpSpPr>
        <p:grpSpPr bwMode="auto">
          <a:xfrm>
            <a:off x="3305175" y="1646239"/>
            <a:ext cx="5149850" cy="1893887"/>
            <a:chOff x="1781966" y="1645444"/>
            <a:chExt cx="5148665" cy="1894681"/>
          </a:xfrm>
        </p:grpSpPr>
        <p:sp>
          <p:nvSpPr>
            <p:cNvPr id="35849" name="Line 28">
              <a:extLst>
                <a:ext uri="{FF2B5EF4-FFF2-40B4-BE49-F238E27FC236}">
                  <a16:creationId xmlns:a16="http://schemas.microsoft.com/office/drawing/2014/main" id="{DE5A7B9C-C834-4DB4-9490-792E9BEC6085}"/>
                </a:ext>
              </a:extLst>
            </p:cNvPr>
            <p:cNvSpPr>
              <a:spLocks noChangeShapeType="1"/>
            </p:cNvSpPr>
            <p:nvPr/>
          </p:nvSpPr>
          <p:spPr bwMode="auto">
            <a:xfrm>
              <a:off x="3462338" y="2031206"/>
              <a:ext cx="0" cy="990599"/>
            </a:xfrm>
            <a:prstGeom prst="line">
              <a:avLst/>
            </a:prstGeom>
            <a:noFill/>
            <a:ln w="9525" algn="ctr">
              <a:solidFill>
                <a:schemeClr val="tx1"/>
              </a:solidFill>
              <a:round/>
              <a:headEnd/>
              <a:tailEnd/>
            </a:ln>
          </p:spPr>
          <p:txBody>
            <a:bodyPr/>
            <a:lstStyle/>
            <a:p>
              <a:endParaRPr lang="en-US"/>
            </a:p>
          </p:txBody>
        </p:sp>
        <p:sp>
          <p:nvSpPr>
            <p:cNvPr id="35850" name="Line 29">
              <a:extLst>
                <a:ext uri="{FF2B5EF4-FFF2-40B4-BE49-F238E27FC236}">
                  <a16:creationId xmlns:a16="http://schemas.microsoft.com/office/drawing/2014/main" id="{69C0584D-B53D-4386-94AB-FF9CD84A0C9D}"/>
                </a:ext>
              </a:extLst>
            </p:cNvPr>
            <p:cNvSpPr>
              <a:spLocks noChangeShapeType="1"/>
            </p:cNvSpPr>
            <p:nvPr/>
          </p:nvSpPr>
          <p:spPr bwMode="auto">
            <a:xfrm>
              <a:off x="1781966" y="2298700"/>
              <a:ext cx="374148" cy="0"/>
            </a:xfrm>
            <a:prstGeom prst="line">
              <a:avLst/>
            </a:prstGeom>
            <a:noFill/>
            <a:ln w="9525" algn="ctr">
              <a:solidFill>
                <a:schemeClr val="tx1"/>
              </a:solidFill>
              <a:round/>
              <a:headEnd/>
              <a:tailEnd/>
            </a:ln>
          </p:spPr>
          <p:txBody>
            <a:bodyPr/>
            <a:lstStyle/>
            <a:p>
              <a:endParaRPr lang="en-US"/>
            </a:p>
          </p:txBody>
        </p:sp>
        <p:sp>
          <p:nvSpPr>
            <p:cNvPr id="35851" name="Line 30">
              <a:extLst>
                <a:ext uri="{FF2B5EF4-FFF2-40B4-BE49-F238E27FC236}">
                  <a16:creationId xmlns:a16="http://schemas.microsoft.com/office/drawing/2014/main" id="{2E5C2139-F393-4964-B0AE-7356DAFF79DC}"/>
                </a:ext>
              </a:extLst>
            </p:cNvPr>
            <p:cNvSpPr>
              <a:spLocks noChangeShapeType="1"/>
            </p:cNvSpPr>
            <p:nvPr/>
          </p:nvSpPr>
          <p:spPr bwMode="auto">
            <a:xfrm>
              <a:off x="2880357" y="2476500"/>
              <a:ext cx="579599" cy="0"/>
            </a:xfrm>
            <a:prstGeom prst="line">
              <a:avLst/>
            </a:prstGeom>
            <a:noFill/>
            <a:ln w="9525" algn="ctr">
              <a:solidFill>
                <a:schemeClr val="tx1"/>
              </a:solidFill>
              <a:round/>
              <a:headEnd/>
              <a:tailEnd/>
            </a:ln>
          </p:spPr>
          <p:txBody>
            <a:bodyPr/>
            <a:lstStyle/>
            <a:p>
              <a:endParaRPr lang="en-US"/>
            </a:p>
          </p:txBody>
        </p:sp>
        <p:sp>
          <p:nvSpPr>
            <p:cNvPr id="35852" name="Line 31">
              <a:extLst>
                <a:ext uri="{FF2B5EF4-FFF2-40B4-BE49-F238E27FC236}">
                  <a16:creationId xmlns:a16="http://schemas.microsoft.com/office/drawing/2014/main" id="{11541D99-E414-4F11-8C02-4B2EC2F310FF}"/>
                </a:ext>
              </a:extLst>
            </p:cNvPr>
            <p:cNvSpPr>
              <a:spLocks noChangeShapeType="1"/>
            </p:cNvSpPr>
            <p:nvPr/>
          </p:nvSpPr>
          <p:spPr bwMode="auto">
            <a:xfrm flipV="1">
              <a:off x="3464028" y="2034382"/>
              <a:ext cx="585809" cy="0"/>
            </a:xfrm>
            <a:prstGeom prst="line">
              <a:avLst/>
            </a:prstGeom>
            <a:noFill/>
            <a:ln w="9525" algn="ctr">
              <a:solidFill>
                <a:schemeClr val="tx1"/>
              </a:solidFill>
              <a:round/>
              <a:headEnd/>
              <a:tailEnd/>
            </a:ln>
          </p:spPr>
          <p:txBody>
            <a:bodyPr/>
            <a:lstStyle/>
            <a:p>
              <a:endParaRPr lang="en-US"/>
            </a:p>
          </p:txBody>
        </p:sp>
        <p:sp>
          <p:nvSpPr>
            <p:cNvPr id="30729" name="Oval 32">
              <a:extLst>
                <a:ext uri="{FF2B5EF4-FFF2-40B4-BE49-F238E27FC236}">
                  <a16:creationId xmlns:a16="http://schemas.microsoft.com/office/drawing/2014/main" id="{9CC2E70D-7533-4B49-A407-973F83FDD704}"/>
                </a:ext>
              </a:extLst>
            </p:cNvPr>
            <p:cNvSpPr>
              <a:spLocks noChangeArrowheads="1"/>
            </p:cNvSpPr>
            <p:nvPr/>
          </p:nvSpPr>
          <p:spPr bwMode="auto">
            <a:xfrm>
              <a:off x="2783449" y="2425233"/>
              <a:ext cx="98402" cy="101643"/>
            </a:xfrm>
            <a:prstGeom prst="ellipse">
              <a:avLst/>
            </a:prstGeom>
            <a:solidFill>
              <a:schemeClr val="accent1">
                <a:lumMod val="20000"/>
                <a:lumOff val="80000"/>
              </a:schemeClr>
            </a:solidFill>
            <a:ln w="95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35854" name="Line 33">
              <a:extLst>
                <a:ext uri="{FF2B5EF4-FFF2-40B4-BE49-F238E27FC236}">
                  <a16:creationId xmlns:a16="http://schemas.microsoft.com/office/drawing/2014/main" id="{4E61317D-4586-4275-85FE-6F7D361F78C4}"/>
                </a:ext>
              </a:extLst>
            </p:cNvPr>
            <p:cNvSpPr>
              <a:spLocks noChangeShapeType="1"/>
            </p:cNvSpPr>
            <p:nvPr/>
          </p:nvSpPr>
          <p:spPr bwMode="auto">
            <a:xfrm>
              <a:off x="3459956" y="3026172"/>
              <a:ext cx="589881" cy="794"/>
            </a:xfrm>
            <a:prstGeom prst="line">
              <a:avLst/>
            </a:prstGeom>
            <a:noFill/>
            <a:ln w="9525" algn="ctr">
              <a:solidFill>
                <a:schemeClr val="tx1"/>
              </a:solidFill>
              <a:round/>
              <a:headEnd/>
              <a:tailEnd/>
            </a:ln>
          </p:spPr>
          <p:txBody>
            <a:bodyPr/>
            <a:lstStyle/>
            <a:p>
              <a:endParaRPr lang="en-US"/>
            </a:p>
          </p:txBody>
        </p:sp>
        <p:sp>
          <p:nvSpPr>
            <p:cNvPr id="35855" name="AutoShape 34">
              <a:extLst>
                <a:ext uri="{FF2B5EF4-FFF2-40B4-BE49-F238E27FC236}">
                  <a16:creationId xmlns:a16="http://schemas.microsoft.com/office/drawing/2014/main" id="{92F7375E-F4D5-4D45-8A6F-94C739077E48}"/>
                </a:ext>
              </a:extLst>
            </p:cNvPr>
            <p:cNvSpPr>
              <a:spLocks noChangeArrowheads="1"/>
            </p:cNvSpPr>
            <p:nvPr/>
          </p:nvSpPr>
          <p:spPr bwMode="auto">
            <a:xfrm rot="5400000">
              <a:off x="4020082" y="2668456"/>
              <a:ext cx="777875" cy="716226"/>
            </a:xfrm>
            <a:prstGeom prst="triangle">
              <a:avLst>
                <a:gd name="adj" fmla="val 50000"/>
              </a:avLst>
            </a:prstGeom>
            <a:solidFill>
              <a:schemeClr val="accent1"/>
            </a:solidFill>
            <a:ln w="9525">
              <a:solidFill>
                <a:schemeClr val="accent1"/>
              </a:solidFill>
              <a:miter lim="800000"/>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5856" name="Line 35">
              <a:extLst>
                <a:ext uri="{FF2B5EF4-FFF2-40B4-BE49-F238E27FC236}">
                  <a16:creationId xmlns:a16="http://schemas.microsoft.com/office/drawing/2014/main" id="{D877D4B3-322F-42A7-B8D1-E9DD0C3AB668}"/>
                </a:ext>
              </a:extLst>
            </p:cNvPr>
            <p:cNvSpPr>
              <a:spLocks noChangeShapeType="1"/>
            </p:cNvSpPr>
            <p:nvPr/>
          </p:nvSpPr>
          <p:spPr bwMode="auto">
            <a:xfrm flipV="1">
              <a:off x="4759456" y="3026569"/>
              <a:ext cx="427792" cy="0"/>
            </a:xfrm>
            <a:prstGeom prst="line">
              <a:avLst/>
            </a:prstGeom>
            <a:noFill/>
            <a:ln w="9525" algn="ctr">
              <a:solidFill>
                <a:schemeClr val="tx1"/>
              </a:solidFill>
              <a:round/>
              <a:headEnd/>
              <a:tailEnd/>
            </a:ln>
          </p:spPr>
          <p:txBody>
            <a:bodyPr/>
            <a:lstStyle/>
            <a:p>
              <a:endParaRPr lang="en-US"/>
            </a:p>
          </p:txBody>
        </p:sp>
        <p:sp>
          <p:nvSpPr>
            <p:cNvPr id="35857" name="Line 36">
              <a:extLst>
                <a:ext uri="{FF2B5EF4-FFF2-40B4-BE49-F238E27FC236}">
                  <a16:creationId xmlns:a16="http://schemas.microsoft.com/office/drawing/2014/main" id="{5C0A153C-A142-473C-8977-3B3D8E29A88D}"/>
                </a:ext>
              </a:extLst>
            </p:cNvPr>
            <p:cNvSpPr>
              <a:spLocks noChangeShapeType="1"/>
            </p:cNvSpPr>
            <p:nvPr/>
          </p:nvSpPr>
          <p:spPr bwMode="auto">
            <a:xfrm>
              <a:off x="5185615" y="2744925"/>
              <a:ext cx="0" cy="285476"/>
            </a:xfrm>
            <a:prstGeom prst="line">
              <a:avLst/>
            </a:prstGeom>
            <a:noFill/>
            <a:ln w="9525" algn="ctr">
              <a:solidFill>
                <a:schemeClr val="tx1"/>
              </a:solidFill>
              <a:round/>
              <a:headEnd/>
              <a:tailEnd/>
            </a:ln>
          </p:spPr>
          <p:txBody>
            <a:bodyPr/>
            <a:lstStyle/>
            <a:p>
              <a:endParaRPr lang="en-US"/>
            </a:p>
          </p:txBody>
        </p:sp>
        <p:sp>
          <p:nvSpPr>
            <p:cNvPr id="35858" name="Line 37">
              <a:extLst>
                <a:ext uri="{FF2B5EF4-FFF2-40B4-BE49-F238E27FC236}">
                  <a16:creationId xmlns:a16="http://schemas.microsoft.com/office/drawing/2014/main" id="{6037A4F7-312B-43FA-9AF3-971C29B4E683}"/>
                </a:ext>
              </a:extLst>
            </p:cNvPr>
            <p:cNvSpPr>
              <a:spLocks noChangeShapeType="1"/>
            </p:cNvSpPr>
            <p:nvPr/>
          </p:nvSpPr>
          <p:spPr bwMode="auto">
            <a:xfrm flipV="1">
              <a:off x="4753236" y="2034382"/>
              <a:ext cx="446840" cy="0"/>
            </a:xfrm>
            <a:prstGeom prst="line">
              <a:avLst/>
            </a:prstGeom>
            <a:noFill/>
            <a:ln w="9525" algn="ctr">
              <a:solidFill>
                <a:schemeClr val="tx1"/>
              </a:solidFill>
              <a:round/>
              <a:headEnd/>
              <a:tailEnd/>
            </a:ln>
          </p:spPr>
          <p:txBody>
            <a:bodyPr/>
            <a:lstStyle/>
            <a:p>
              <a:endParaRPr lang="en-US"/>
            </a:p>
          </p:txBody>
        </p:sp>
        <p:sp>
          <p:nvSpPr>
            <p:cNvPr id="35859" name="Line 38">
              <a:extLst>
                <a:ext uri="{FF2B5EF4-FFF2-40B4-BE49-F238E27FC236}">
                  <a16:creationId xmlns:a16="http://schemas.microsoft.com/office/drawing/2014/main" id="{FB3BAC5E-A4F7-4773-8F0D-3C063517E6E9}"/>
                </a:ext>
              </a:extLst>
            </p:cNvPr>
            <p:cNvSpPr>
              <a:spLocks noChangeShapeType="1"/>
            </p:cNvSpPr>
            <p:nvPr/>
          </p:nvSpPr>
          <p:spPr bwMode="auto">
            <a:xfrm>
              <a:off x="5200076" y="2029620"/>
              <a:ext cx="0" cy="269080"/>
            </a:xfrm>
            <a:prstGeom prst="line">
              <a:avLst/>
            </a:prstGeom>
            <a:noFill/>
            <a:ln w="9525" algn="ctr">
              <a:solidFill>
                <a:schemeClr val="tx1"/>
              </a:solidFill>
              <a:round/>
              <a:headEnd/>
              <a:tailEnd/>
            </a:ln>
          </p:spPr>
          <p:txBody>
            <a:bodyPr/>
            <a:lstStyle/>
            <a:p>
              <a:endParaRPr lang="en-US"/>
            </a:p>
          </p:txBody>
        </p:sp>
        <p:sp>
          <p:nvSpPr>
            <p:cNvPr id="35860" name="Line 39">
              <a:extLst>
                <a:ext uri="{FF2B5EF4-FFF2-40B4-BE49-F238E27FC236}">
                  <a16:creationId xmlns:a16="http://schemas.microsoft.com/office/drawing/2014/main" id="{090D8F84-621E-48BB-8E58-03B040D74D0E}"/>
                </a:ext>
              </a:extLst>
            </p:cNvPr>
            <p:cNvSpPr>
              <a:spLocks noChangeShapeType="1"/>
            </p:cNvSpPr>
            <p:nvPr/>
          </p:nvSpPr>
          <p:spPr bwMode="auto">
            <a:xfrm>
              <a:off x="5200077" y="2298700"/>
              <a:ext cx="609326" cy="0"/>
            </a:xfrm>
            <a:prstGeom prst="line">
              <a:avLst/>
            </a:prstGeom>
            <a:noFill/>
            <a:ln w="9525" algn="ctr">
              <a:solidFill>
                <a:schemeClr val="tx1"/>
              </a:solidFill>
              <a:round/>
              <a:headEnd/>
              <a:tailEnd/>
            </a:ln>
          </p:spPr>
          <p:txBody>
            <a:bodyPr/>
            <a:lstStyle/>
            <a:p>
              <a:endParaRPr lang="en-US"/>
            </a:p>
          </p:txBody>
        </p:sp>
        <p:sp>
          <p:nvSpPr>
            <p:cNvPr id="35861" name="Line 40">
              <a:extLst>
                <a:ext uri="{FF2B5EF4-FFF2-40B4-BE49-F238E27FC236}">
                  <a16:creationId xmlns:a16="http://schemas.microsoft.com/office/drawing/2014/main" id="{798C4891-8EAA-4EB8-B5B1-8B70AE29C7D6}"/>
                </a:ext>
              </a:extLst>
            </p:cNvPr>
            <p:cNvSpPr>
              <a:spLocks noChangeShapeType="1"/>
            </p:cNvSpPr>
            <p:nvPr/>
          </p:nvSpPr>
          <p:spPr bwMode="auto">
            <a:xfrm>
              <a:off x="5181600" y="2741613"/>
              <a:ext cx="638493" cy="3175"/>
            </a:xfrm>
            <a:prstGeom prst="line">
              <a:avLst/>
            </a:prstGeom>
            <a:noFill/>
            <a:ln w="9525" algn="ctr">
              <a:solidFill>
                <a:schemeClr val="tx1"/>
              </a:solidFill>
              <a:round/>
              <a:headEnd/>
              <a:tailEnd/>
            </a:ln>
          </p:spPr>
          <p:txBody>
            <a:bodyPr/>
            <a:lstStyle/>
            <a:p>
              <a:endParaRPr lang="en-US"/>
            </a:p>
          </p:txBody>
        </p:sp>
        <p:sp>
          <p:nvSpPr>
            <p:cNvPr id="30738" name="AutoShape 41">
              <a:extLst>
                <a:ext uri="{FF2B5EF4-FFF2-40B4-BE49-F238E27FC236}">
                  <a16:creationId xmlns:a16="http://schemas.microsoft.com/office/drawing/2014/main" id="{6A7DDC73-F04A-4EE1-A0B3-661E0C44F952}"/>
                </a:ext>
              </a:extLst>
            </p:cNvPr>
            <p:cNvSpPr>
              <a:spLocks noChangeArrowheads="1"/>
            </p:cNvSpPr>
            <p:nvPr/>
          </p:nvSpPr>
          <p:spPr bwMode="auto">
            <a:xfrm>
              <a:off x="5884710" y="2120305"/>
              <a:ext cx="742779" cy="762319"/>
            </a:xfrm>
            <a:prstGeom prst="flowChartDelay">
              <a:avLst/>
            </a:prstGeom>
            <a:solidFill>
              <a:schemeClr val="accent1">
                <a:lumMod val="50000"/>
              </a:schemeClr>
            </a:solidFill>
            <a:ln w="95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35863" name="Line 42">
              <a:extLst>
                <a:ext uri="{FF2B5EF4-FFF2-40B4-BE49-F238E27FC236}">
                  <a16:creationId xmlns:a16="http://schemas.microsoft.com/office/drawing/2014/main" id="{903331B9-29D0-47DC-9C9A-FD8B98DD474B}"/>
                </a:ext>
              </a:extLst>
            </p:cNvPr>
            <p:cNvSpPr>
              <a:spLocks noChangeShapeType="1"/>
            </p:cNvSpPr>
            <p:nvPr/>
          </p:nvSpPr>
          <p:spPr bwMode="auto">
            <a:xfrm>
              <a:off x="6631313" y="2501900"/>
              <a:ext cx="299318" cy="0"/>
            </a:xfrm>
            <a:prstGeom prst="line">
              <a:avLst/>
            </a:prstGeom>
            <a:noFill/>
            <a:ln w="9525" algn="ctr">
              <a:solidFill>
                <a:schemeClr val="tx1"/>
              </a:solidFill>
              <a:round/>
              <a:headEnd/>
              <a:tailEnd/>
            </a:ln>
          </p:spPr>
          <p:txBody>
            <a:bodyPr/>
            <a:lstStyle/>
            <a:p>
              <a:endParaRPr lang="en-US"/>
            </a:p>
          </p:txBody>
        </p:sp>
        <p:sp>
          <p:nvSpPr>
            <p:cNvPr id="30740" name="Oval 43">
              <a:extLst>
                <a:ext uri="{FF2B5EF4-FFF2-40B4-BE49-F238E27FC236}">
                  <a16:creationId xmlns:a16="http://schemas.microsoft.com/office/drawing/2014/main" id="{E2C21148-981D-4C4D-A146-51409A6A29D5}"/>
                </a:ext>
              </a:extLst>
            </p:cNvPr>
            <p:cNvSpPr>
              <a:spLocks noChangeArrowheads="1"/>
            </p:cNvSpPr>
            <p:nvPr/>
          </p:nvSpPr>
          <p:spPr bwMode="auto">
            <a:xfrm>
              <a:off x="5810114" y="2247358"/>
              <a:ext cx="99990" cy="101643"/>
            </a:xfrm>
            <a:prstGeom prst="ellipse">
              <a:avLst/>
            </a:prstGeom>
            <a:solidFill>
              <a:schemeClr val="accent1">
                <a:lumMod val="50000"/>
              </a:schemeClr>
            </a:solidFill>
            <a:ln w="95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30741" name="Oval 44">
              <a:extLst>
                <a:ext uri="{FF2B5EF4-FFF2-40B4-BE49-F238E27FC236}">
                  <a16:creationId xmlns:a16="http://schemas.microsoft.com/office/drawing/2014/main" id="{CB35690E-A502-4EF6-A455-53CE8170420F}"/>
                </a:ext>
              </a:extLst>
            </p:cNvPr>
            <p:cNvSpPr>
              <a:spLocks noChangeArrowheads="1"/>
            </p:cNvSpPr>
            <p:nvPr/>
          </p:nvSpPr>
          <p:spPr bwMode="auto">
            <a:xfrm>
              <a:off x="5810114" y="2692045"/>
              <a:ext cx="99990" cy="101643"/>
            </a:xfrm>
            <a:prstGeom prst="ellipse">
              <a:avLst/>
            </a:prstGeom>
            <a:solidFill>
              <a:schemeClr val="accent1">
                <a:lumMod val="50000"/>
              </a:schemeClr>
            </a:solidFill>
            <a:ln w="9525">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35866" name="Freeform 45">
              <a:extLst>
                <a:ext uri="{FF2B5EF4-FFF2-40B4-BE49-F238E27FC236}">
                  <a16:creationId xmlns:a16="http://schemas.microsoft.com/office/drawing/2014/main" id="{4AB3C377-F861-4F96-8189-B11E70AB2A0A}"/>
                </a:ext>
              </a:extLst>
            </p:cNvPr>
            <p:cNvSpPr>
              <a:spLocks/>
            </p:cNvSpPr>
            <p:nvPr/>
          </p:nvSpPr>
          <p:spPr bwMode="auto">
            <a:xfrm flipV="1">
              <a:off x="3679965" y="3206750"/>
              <a:ext cx="1297759" cy="333375"/>
            </a:xfrm>
            <a:custGeom>
              <a:avLst/>
              <a:gdLst>
                <a:gd name="T0" fmla="*/ 0 w 714"/>
                <a:gd name="T1" fmla="*/ 3323461 h 162"/>
                <a:gd name="T2" fmla="*/ 21811 w 714"/>
                <a:gd name="T3" fmla="*/ 1531056 h 162"/>
                <a:gd name="T4" fmla="*/ 92697 w 714"/>
                <a:gd name="T5" fmla="*/ 259292 h 162"/>
                <a:gd name="T6" fmla="*/ 179941 w 714"/>
                <a:gd name="T7" fmla="*/ 131704 h 162"/>
                <a:gd name="T8" fmla="*/ 249010 w 714"/>
                <a:gd name="T9" fmla="*/ 1016588 h 162"/>
                <a:gd name="T10" fmla="*/ 301720 w 714"/>
                <a:gd name="T11" fmla="*/ 3451049 h 162"/>
                <a:gd name="T12" fmla="*/ 0 60000 65536"/>
                <a:gd name="T13" fmla="*/ 0 60000 65536"/>
                <a:gd name="T14" fmla="*/ 0 60000 65536"/>
                <a:gd name="T15" fmla="*/ 0 60000 65536"/>
                <a:gd name="T16" fmla="*/ 0 60000 65536"/>
                <a:gd name="T17" fmla="*/ 0 60000 65536"/>
                <a:gd name="T18" fmla="*/ 0 w 714"/>
                <a:gd name="T19" fmla="*/ 0 h 162"/>
                <a:gd name="T20" fmla="*/ 714 w 714"/>
                <a:gd name="T21" fmla="*/ 162 h 162"/>
              </a:gdLst>
              <a:ahLst/>
              <a:cxnLst>
                <a:cxn ang="T12">
                  <a:pos x="T0" y="T1"/>
                </a:cxn>
                <a:cxn ang="T13">
                  <a:pos x="T2" y="T3"/>
                </a:cxn>
                <a:cxn ang="T14">
                  <a:pos x="T4" y="T5"/>
                </a:cxn>
                <a:cxn ang="T15">
                  <a:pos x="T6" y="T7"/>
                </a:cxn>
                <a:cxn ang="T16">
                  <a:pos x="T8" y="T9"/>
                </a:cxn>
                <a:cxn ang="T17">
                  <a:pos x="T10" y="T11"/>
                </a:cxn>
              </a:cxnLst>
              <a:rect l="T18" t="T19" r="T20" b="T21"/>
              <a:pathLst>
                <a:path w="714" h="162">
                  <a:moveTo>
                    <a:pt x="0" y="156"/>
                  </a:moveTo>
                  <a:cubicBezTo>
                    <a:pt x="5" y="126"/>
                    <a:pt x="11" y="96"/>
                    <a:pt x="48" y="72"/>
                  </a:cubicBezTo>
                  <a:cubicBezTo>
                    <a:pt x="85" y="48"/>
                    <a:pt x="159" y="23"/>
                    <a:pt x="222" y="12"/>
                  </a:cubicBezTo>
                  <a:cubicBezTo>
                    <a:pt x="285" y="1"/>
                    <a:pt x="365" y="0"/>
                    <a:pt x="426" y="6"/>
                  </a:cubicBezTo>
                  <a:cubicBezTo>
                    <a:pt x="487" y="12"/>
                    <a:pt x="540" y="22"/>
                    <a:pt x="588" y="48"/>
                  </a:cubicBezTo>
                  <a:cubicBezTo>
                    <a:pt x="636" y="74"/>
                    <a:pt x="693" y="144"/>
                    <a:pt x="714" y="162"/>
                  </a:cubicBezTo>
                </a:path>
              </a:pathLst>
            </a:custGeom>
            <a:noFill/>
            <a:ln w="9525">
              <a:solidFill>
                <a:srgbClr val="0000FF"/>
              </a:solidFill>
              <a:prstDash val="lgDash"/>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867" name="Line 46">
              <a:extLst>
                <a:ext uri="{FF2B5EF4-FFF2-40B4-BE49-F238E27FC236}">
                  <a16:creationId xmlns:a16="http://schemas.microsoft.com/office/drawing/2014/main" id="{460EE8E2-FF4E-4810-AD33-B3F1660CB68F}"/>
                </a:ext>
              </a:extLst>
            </p:cNvPr>
            <p:cNvSpPr>
              <a:spLocks noChangeShapeType="1"/>
            </p:cNvSpPr>
            <p:nvPr/>
          </p:nvSpPr>
          <p:spPr bwMode="auto">
            <a:xfrm>
              <a:off x="5890646" y="2282825"/>
              <a:ext cx="737606" cy="219075"/>
            </a:xfrm>
            <a:prstGeom prst="line">
              <a:avLst/>
            </a:prstGeom>
            <a:noFill/>
            <a:ln w="1905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8" name="Line 47">
              <a:extLst>
                <a:ext uri="{FF2B5EF4-FFF2-40B4-BE49-F238E27FC236}">
                  <a16:creationId xmlns:a16="http://schemas.microsoft.com/office/drawing/2014/main" id="{480604AE-C40B-47D7-9A10-5FC339C805F1}"/>
                </a:ext>
              </a:extLst>
            </p:cNvPr>
            <p:cNvSpPr>
              <a:spLocks noChangeShapeType="1"/>
            </p:cNvSpPr>
            <p:nvPr/>
          </p:nvSpPr>
          <p:spPr bwMode="auto">
            <a:xfrm flipV="1">
              <a:off x="5929130" y="2511425"/>
              <a:ext cx="707674" cy="228600"/>
            </a:xfrm>
            <a:prstGeom prst="line">
              <a:avLst/>
            </a:prstGeom>
            <a:noFill/>
            <a:ln w="1905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9" name="Oval 48">
              <a:extLst>
                <a:ext uri="{FF2B5EF4-FFF2-40B4-BE49-F238E27FC236}">
                  <a16:creationId xmlns:a16="http://schemas.microsoft.com/office/drawing/2014/main" id="{D075649B-D9E9-4F19-AB50-35AD0C3744D0}"/>
                </a:ext>
              </a:extLst>
            </p:cNvPr>
            <p:cNvSpPr>
              <a:spLocks noChangeArrowheads="1"/>
            </p:cNvSpPr>
            <p:nvPr/>
          </p:nvSpPr>
          <p:spPr bwMode="auto">
            <a:xfrm>
              <a:off x="4771216" y="2975769"/>
              <a:ext cx="100485" cy="1016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0747" name="AutoShape 50">
              <a:extLst>
                <a:ext uri="{FF2B5EF4-FFF2-40B4-BE49-F238E27FC236}">
                  <a16:creationId xmlns:a16="http://schemas.microsoft.com/office/drawing/2014/main" id="{9D373934-E401-4C3D-9CC6-1845325F2A37}"/>
                </a:ext>
              </a:extLst>
            </p:cNvPr>
            <p:cNvSpPr>
              <a:spLocks noChangeArrowheads="1"/>
            </p:cNvSpPr>
            <p:nvPr/>
          </p:nvSpPr>
          <p:spPr bwMode="auto">
            <a:xfrm>
              <a:off x="2159704" y="2101247"/>
              <a:ext cx="623744" cy="762319"/>
            </a:xfrm>
            <a:prstGeom prst="flowChartDelay">
              <a:avLst/>
            </a:prstGeom>
            <a:solidFill>
              <a:schemeClr val="accent1">
                <a:lumMod val="20000"/>
                <a:lumOff val="80000"/>
              </a:schemeClr>
            </a:solidFill>
            <a:ln w="95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35871" name="Line 51">
              <a:extLst>
                <a:ext uri="{FF2B5EF4-FFF2-40B4-BE49-F238E27FC236}">
                  <a16:creationId xmlns:a16="http://schemas.microsoft.com/office/drawing/2014/main" id="{7CBDCF79-B007-4187-9ED5-227533356F55}"/>
                </a:ext>
              </a:extLst>
            </p:cNvPr>
            <p:cNvSpPr>
              <a:spLocks noChangeShapeType="1"/>
            </p:cNvSpPr>
            <p:nvPr/>
          </p:nvSpPr>
          <p:spPr bwMode="auto">
            <a:xfrm>
              <a:off x="1782160" y="2727325"/>
              <a:ext cx="372010" cy="0"/>
            </a:xfrm>
            <a:prstGeom prst="line">
              <a:avLst/>
            </a:prstGeom>
            <a:noFill/>
            <a:ln w="9525" algn="ctr">
              <a:solidFill>
                <a:schemeClr val="tx1"/>
              </a:solidFill>
              <a:round/>
              <a:headEnd/>
              <a:tailEnd/>
            </a:ln>
          </p:spPr>
          <p:txBody>
            <a:bodyPr/>
            <a:lstStyle/>
            <a:p>
              <a:endParaRPr lang="en-US"/>
            </a:p>
          </p:txBody>
        </p:sp>
        <p:sp>
          <p:nvSpPr>
            <p:cNvPr id="35872" name="Line 52">
              <a:extLst>
                <a:ext uri="{FF2B5EF4-FFF2-40B4-BE49-F238E27FC236}">
                  <a16:creationId xmlns:a16="http://schemas.microsoft.com/office/drawing/2014/main" id="{EC1F933C-CC3D-4822-B646-0C77801C6254}"/>
                </a:ext>
              </a:extLst>
            </p:cNvPr>
            <p:cNvSpPr>
              <a:spLocks noChangeShapeType="1"/>
            </p:cNvSpPr>
            <p:nvPr/>
          </p:nvSpPr>
          <p:spPr bwMode="auto">
            <a:xfrm flipV="1">
              <a:off x="4079769" y="3022600"/>
              <a:ext cx="590085" cy="0"/>
            </a:xfrm>
            <a:prstGeom prst="line">
              <a:avLst/>
            </a:prstGeom>
            <a:noFill/>
            <a:ln w="1905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73" name="AutoShape 53">
              <a:extLst>
                <a:ext uri="{FF2B5EF4-FFF2-40B4-BE49-F238E27FC236}">
                  <a16:creationId xmlns:a16="http://schemas.microsoft.com/office/drawing/2014/main" id="{8BDD9575-640E-4327-9B25-C4FB7E6237A2}"/>
                </a:ext>
              </a:extLst>
            </p:cNvPr>
            <p:cNvSpPr>
              <a:spLocks noChangeArrowheads="1"/>
            </p:cNvSpPr>
            <p:nvPr/>
          </p:nvSpPr>
          <p:spPr bwMode="auto">
            <a:xfrm rot="5400000">
              <a:off x="4018187" y="1676269"/>
              <a:ext cx="777875" cy="716226"/>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0751" name="Text Box 60">
              <a:extLst>
                <a:ext uri="{FF2B5EF4-FFF2-40B4-BE49-F238E27FC236}">
                  <a16:creationId xmlns:a16="http://schemas.microsoft.com/office/drawing/2014/main" id="{ABE8EF77-3CA2-4AC3-A57A-81726CA4832D}"/>
                </a:ext>
              </a:extLst>
            </p:cNvPr>
            <p:cNvSpPr txBox="1">
              <a:spLocks noChangeArrowheads="1"/>
            </p:cNvSpPr>
            <p:nvPr/>
          </p:nvSpPr>
          <p:spPr bwMode="auto">
            <a:xfrm>
              <a:off x="5211765" y="1732793"/>
              <a:ext cx="577717" cy="397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zh-CN" sz="2000" b="1" i="1" dirty="0">
                  <a:latin typeface="+mj-lt"/>
                </a:rPr>
                <a:t>C</a:t>
              </a:r>
            </a:p>
          </p:txBody>
        </p:sp>
        <p:sp>
          <p:nvSpPr>
            <p:cNvPr id="35875" name="Oval 49">
              <a:extLst>
                <a:ext uri="{FF2B5EF4-FFF2-40B4-BE49-F238E27FC236}">
                  <a16:creationId xmlns:a16="http://schemas.microsoft.com/office/drawing/2014/main" id="{2E9A8544-D660-4F3E-83B1-E9089825B3D8}"/>
                </a:ext>
              </a:extLst>
            </p:cNvPr>
            <p:cNvSpPr>
              <a:spLocks noChangeArrowheads="1"/>
            </p:cNvSpPr>
            <p:nvPr/>
          </p:nvSpPr>
          <p:spPr bwMode="auto">
            <a:xfrm>
              <a:off x="4762371" y="1983582"/>
              <a:ext cx="100485" cy="1016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5">
            <a:extLst>
              <a:ext uri="{FF2B5EF4-FFF2-40B4-BE49-F238E27FC236}">
                <a16:creationId xmlns:a16="http://schemas.microsoft.com/office/drawing/2014/main" id="{85716592-1244-4EDA-BD9F-918DB300FF7F}"/>
              </a:ext>
            </a:extLst>
          </p:cNvPr>
          <p:cNvSpPr>
            <a:spLocks noGrp="1"/>
          </p:cNvSpPr>
          <p:nvPr>
            <p:ph type="title"/>
          </p:nvPr>
        </p:nvSpPr>
        <p:spPr/>
        <p:txBody>
          <a:bodyPr/>
          <a:lstStyle/>
          <a:p>
            <a:r>
              <a:rPr lang="en-US" altLang="en-US"/>
              <a:t>Statistical ADD Operation</a:t>
            </a:r>
          </a:p>
        </p:txBody>
      </p:sp>
      <p:sp>
        <p:nvSpPr>
          <p:cNvPr id="37891" name="Line 8">
            <a:extLst>
              <a:ext uri="{FF2B5EF4-FFF2-40B4-BE49-F238E27FC236}">
                <a16:creationId xmlns:a16="http://schemas.microsoft.com/office/drawing/2014/main" id="{5CD31926-2177-45AD-9949-98361301FFD9}"/>
              </a:ext>
            </a:extLst>
          </p:cNvPr>
          <p:cNvSpPr>
            <a:spLocks noChangeShapeType="1"/>
          </p:cNvSpPr>
          <p:nvPr/>
        </p:nvSpPr>
        <p:spPr bwMode="auto">
          <a:xfrm flipV="1">
            <a:off x="2133600" y="3733800"/>
            <a:ext cx="1219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7892" name="Group 11">
            <a:extLst>
              <a:ext uri="{FF2B5EF4-FFF2-40B4-BE49-F238E27FC236}">
                <a16:creationId xmlns:a16="http://schemas.microsoft.com/office/drawing/2014/main" id="{6A5F4A52-A8D8-492A-B8A9-02ECDD284F1D}"/>
              </a:ext>
            </a:extLst>
          </p:cNvPr>
          <p:cNvGrpSpPr>
            <a:grpSpLocks/>
          </p:cNvGrpSpPr>
          <p:nvPr/>
        </p:nvGrpSpPr>
        <p:grpSpPr bwMode="auto">
          <a:xfrm>
            <a:off x="2182814" y="3151188"/>
            <a:ext cx="922337" cy="584200"/>
            <a:chOff x="1944" y="5721"/>
            <a:chExt cx="2808" cy="1296"/>
          </a:xfrm>
        </p:grpSpPr>
        <p:sp>
          <p:nvSpPr>
            <p:cNvPr id="37935" name="Freeform 10">
              <a:extLst>
                <a:ext uri="{FF2B5EF4-FFF2-40B4-BE49-F238E27FC236}">
                  <a16:creationId xmlns:a16="http://schemas.microsoft.com/office/drawing/2014/main" id="{7EF8F06E-0DAB-4AC7-BB68-8EDC781EE70C}"/>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36" name="Freeform 11">
              <a:extLst>
                <a:ext uri="{FF2B5EF4-FFF2-40B4-BE49-F238E27FC236}">
                  <a16:creationId xmlns:a16="http://schemas.microsoft.com/office/drawing/2014/main" id="{A31AFF92-44F5-4910-8F4F-AE702514454D}"/>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7893" name="Line 15">
            <a:extLst>
              <a:ext uri="{FF2B5EF4-FFF2-40B4-BE49-F238E27FC236}">
                <a16:creationId xmlns:a16="http://schemas.microsoft.com/office/drawing/2014/main" id="{DD8E805B-AD8A-4951-A843-503C40415FE7}"/>
              </a:ext>
            </a:extLst>
          </p:cNvPr>
          <p:cNvSpPr>
            <a:spLocks noChangeShapeType="1"/>
          </p:cNvSpPr>
          <p:nvPr/>
        </p:nvSpPr>
        <p:spPr bwMode="auto">
          <a:xfrm>
            <a:off x="2630489" y="3151188"/>
            <a:ext cx="1587" cy="58420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894" name="Line 8">
            <a:extLst>
              <a:ext uri="{FF2B5EF4-FFF2-40B4-BE49-F238E27FC236}">
                <a16:creationId xmlns:a16="http://schemas.microsoft.com/office/drawing/2014/main" id="{C3FD6932-F97F-43A1-96D5-3A163506135D}"/>
              </a:ext>
            </a:extLst>
          </p:cNvPr>
          <p:cNvSpPr>
            <a:spLocks noChangeShapeType="1"/>
          </p:cNvSpPr>
          <p:nvPr/>
        </p:nvSpPr>
        <p:spPr bwMode="auto">
          <a:xfrm flipV="1">
            <a:off x="2133600" y="3001964"/>
            <a:ext cx="0" cy="73183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895" name="TextBox 18">
            <a:extLst>
              <a:ext uri="{FF2B5EF4-FFF2-40B4-BE49-F238E27FC236}">
                <a16:creationId xmlns:a16="http://schemas.microsoft.com/office/drawing/2014/main" id="{5F7DC274-E7B4-467A-B0B1-0EB45C584D28}"/>
              </a:ext>
            </a:extLst>
          </p:cNvPr>
          <p:cNvSpPr txBox="1">
            <a:spLocks noChangeArrowheads="1"/>
          </p:cNvSpPr>
          <p:nvPr/>
        </p:nvSpPr>
        <p:spPr bwMode="auto">
          <a:xfrm>
            <a:off x="2209800" y="283527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f</a:t>
            </a:r>
            <a:r>
              <a:rPr lang="en-US" altLang="en-US" sz="2400" baseline="-25000"/>
              <a:t>1</a:t>
            </a:r>
          </a:p>
        </p:txBody>
      </p:sp>
      <p:sp>
        <p:nvSpPr>
          <p:cNvPr id="37896" name="Line 8">
            <a:extLst>
              <a:ext uri="{FF2B5EF4-FFF2-40B4-BE49-F238E27FC236}">
                <a16:creationId xmlns:a16="http://schemas.microsoft.com/office/drawing/2014/main" id="{FFB1007F-615C-4BBF-8230-9201EDBFF39A}"/>
              </a:ext>
            </a:extLst>
          </p:cNvPr>
          <p:cNvSpPr>
            <a:spLocks noChangeShapeType="1"/>
          </p:cNvSpPr>
          <p:nvPr/>
        </p:nvSpPr>
        <p:spPr bwMode="auto">
          <a:xfrm flipV="1">
            <a:off x="3886200" y="3729038"/>
            <a:ext cx="1219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7897" name="Group 11">
            <a:extLst>
              <a:ext uri="{FF2B5EF4-FFF2-40B4-BE49-F238E27FC236}">
                <a16:creationId xmlns:a16="http://schemas.microsoft.com/office/drawing/2014/main" id="{55E15E63-0779-4B05-AF2B-97CC00701FDA}"/>
              </a:ext>
            </a:extLst>
          </p:cNvPr>
          <p:cNvGrpSpPr>
            <a:grpSpLocks/>
          </p:cNvGrpSpPr>
          <p:nvPr/>
        </p:nvGrpSpPr>
        <p:grpSpPr bwMode="auto">
          <a:xfrm>
            <a:off x="3935414" y="3146425"/>
            <a:ext cx="922337" cy="584200"/>
            <a:chOff x="1944" y="5721"/>
            <a:chExt cx="2808" cy="1296"/>
          </a:xfrm>
        </p:grpSpPr>
        <p:sp>
          <p:nvSpPr>
            <p:cNvPr id="37933" name="Freeform 10">
              <a:extLst>
                <a:ext uri="{FF2B5EF4-FFF2-40B4-BE49-F238E27FC236}">
                  <a16:creationId xmlns:a16="http://schemas.microsoft.com/office/drawing/2014/main" id="{D1D767F7-6C4A-416E-B245-3420F26DCE86}"/>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34" name="Freeform 11">
              <a:extLst>
                <a:ext uri="{FF2B5EF4-FFF2-40B4-BE49-F238E27FC236}">
                  <a16:creationId xmlns:a16="http://schemas.microsoft.com/office/drawing/2014/main" id="{80C6858E-6730-4E44-A37F-0AC8AFAD3B34}"/>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7898" name="Line 15">
            <a:extLst>
              <a:ext uri="{FF2B5EF4-FFF2-40B4-BE49-F238E27FC236}">
                <a16:creationId xmlns:a16="http://schemas.microsoft.com/office/drawing/2014/main" id="{9E575E09-8942-4F5D-927E-64120592FCB5}"/>
              </a:ext>
            </a:extLst>
          </p:cNvPr>
          <p:cNvSpPr>
            <a:spLocks noChangeShapeType="1"/>
          </p:cNvSpPr>
          <p:nvPr/>
        </p:nvSpPr>
        <p:spPr bwMode="auto">
          <a:xfrm>
            <a:off x="4383089" y="3146425"/>
            <a:ext cx="1587" cy="58420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899" name="Line 8">
            <a:extLst>
              <a:ext uri="{FF2B5EF4-FFF2-40B4-BE49-F238E27FC236}">
                <a16:creationId xmlns:a16="http://schemas.microsoft.com/office/drawing/2014/main" id="{B9F683FD-38E2-4E0E-990C-FF94C3121B6C}"/>
              </a:ext>
            </a:extLst>
          </p:cNvPr>
          <p:cNvSpPr>
            <a:spLocks noChangeShapeType="1"/>
          </p:cNvSpPr>
          <p:nvPr/>
        </p:nvSpPr>
        <p:spPr bwMode="auto">
          <a:xfrm flipV="1">
            <a:off x="3886200" y="2997200"/>
            <a:ext cx="0" cy="73183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0" name="TextBox 19">
            <a:extLst>
              <a:ext uri="{FF2B5EF4-FFF2-40B4-BE49-F238E27FC236}">
                <a16:creationId xmlns:a16="http://schemas.microsoft.com/office/drawing/2014/main" id="{35FFC236-A0E2-477B-AE95-7DD033280C34}"/>
              </a:ext>
            </a:extLst>
          </p:cNvPr>
          <p:cNvSpPr txBox="1">
            <a:spLocks noChangeArrowheads="1"/>
          </p:cNvSpPr>
          <p:nvPr/>
        </p:nvSpPr>
        <p:spPr bwMode="auto">
          <a:xfrm>
            <a:off x="3962400" y="287813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f</a:t>
            </a:r>
            <a:r>
              <a:rPr lang="en-US" altLang="en-US" sz="2400" baseline="-25000"/>
              <a:t>2</a:t>
            </a:r>
          </a:p>
        </p:txBody>
      </p:sp>
      <p:sp>
        <p:nvSpPr>
          <p:cNvPr id="37901" name="Line 25">
            <a:extLst>
              <a:ext uri="{FF2B5EF4-FFF2-40B4-BE49-F238E27FC236}">
                <a16:creationId xmlns:a16="http://schemas.microsoft.com/office/drawing/2014/main" id="{FE06D149-6D25-4895-BC40-164445DC21F6}"/>
              </a:ext>
            </a:extLst>
          </p:cNvPr>
          <p:cNvSpPr>
            <a:spLocks noChangeShapeType="1"/>
          </p:cNvSpPr>
          <p:nvPr/>
        </p:nvSpPr>
        <p:spPr bwMode="auto">
          <a:xfrm>
            <a:off x="1905000" y="2039938"/>
            <a:ext cx="3124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2" name="AutoShape 26">
            <a:extLst>
              <a:ext uri="{FF2B5EF4-FFF2-40B4-BE49-F238E27FC236}">
                <a16:creationId xmlns:a16="http://schemas.microsoft.com/office/drawing/2014/main" id="{8AEBE665-51A3-4CCD-B088-C9FA4D06306E}"/>
              </a:ext>
            </a:extLst>
          </p:cNvPr>
          <p:cNvSpPr>
            <a:spLocks noChangeArrowheads="1"/>
          </p:cNvSpPr>
          <p:nvPr/>
        </p:nvSpPr>
        <p:spPr bwMode="auto">
          <a:xfrm rot="5400000">
            <a:off x="2286000" y="1735138"/>
            <a:ext cx="762000" cy="6096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03" name="AutoShape 27">
            <a:extLst>
              <a:ext uri="{FF2B5EF4-FFF2-40B4-BE49-F238E27FC236}">
                <a16:creationId xmlns:a16="http://schemas.microsoft.com/office/drawing/2014/main" id="{FB676280-77C5-4AF8-B0F1-4ECF5210A066}"/>
              </a:ext>
            </a:extLst>
          </p:cNvPr>
          <p:cNvSpPr>
            <a:spLocks noChangeArrowheads="1"/>
          </p:cNvSpPr>
          <p:nvPr/>
        </p:nvSpPr>
        <p:spPr bwMode="auto">
          <a:xfrm rot="5400000">
            <a:off x="3810000" y="1735138"/>
            <a:ext cx="762000" cy="6096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04" name="Oval 28">
            <a:extLst>
              <a:ext uri="{FF2B5EF4-FFF2-40B4-BE49-F238E27FC236}">
                <a16:creationId xmlns:a16="http://schemas.microsoft.com/office/drawing/2014/main" id="{DC78B6DA-7D6D-47C5-B0CF-C2A33ABFDC69}"/>
              </a:ext>
            </a:extLst>
          </p:cNvPr>
          <p:cNvSpPr>
            <a:spLocks noChangeArrowheads="1"/>
          </p:cNvSpPr>
          <p:nvPr/>
        </p:nvSpPr>
        <p:spPr bwMode="auto">
          <a:xfrm>
            <a:off x="2957513" y="1963738"/>
            <a:ext cx="152400" cy="1524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05" name="Oval 29">
            <a:extLst>
              <a:ext uri="{FF2B5EF4-FFF2-40B4-BE49-F238E27FC236}">
                <a16:creationId xmlns:a16="http://schemas.microsoft.com/office/drawing/2014/main" id="{EC45B5E0-9D4F-454A-8BE7-BEB2CFC08927}"/>
              </a:ext>
            </a:extLst>
          </p:cNvPr>
          <p:cNvSpPr>
            <a:spLocks noChangeArrowheads="1"/>
          </p:cNvSpPr>
          <p:nvPr/>
        </p:nvSpPr>
        <p:spPr bwMode="auto">
          <a:xfrm>
            <a:off x="4486275" y="1963738"/>
            <a:ext cx="152400" cy="1524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06" name="TextBox 19">
            <a:extLst>
              <a:ext uri="{FF2B5EF4-FFF2-40B4-BE49-F238E27FC236}">
                <a16:creationId xmlns:a16="http://schemas.microsoft.com/office/drawing/2014/main" id="{81FB8DE4-24A8-4B2C-99B8-F1D75BF75804}"/>
              </a:ext>
            </a:extLst>
          </p:cNvPr>
          <p:cNvSpPr txBox="1">
            <a:spLocks noChangeArrowheads="1"/>
          </p:cNvSpPr>
          <p:nvPr/>
        </p:nvSpPr>
        <p:spPr bwMode="auto">
          <a:xfrm>
            <a:off x="4724400" y="1658938"/>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i="1"/>
              <a:t>f</a:t>
            </a:r>
            <a:endParaRPr lang="en-US" altLang="en-US" sz="2400" i="1" baseline="-25000"/>
          </a:p>
        </p:txBody>
      </p:sp>
      <p:sp>
        <p:nvSpPr>
          <p:cNvPr id="37907" name="Text Box 41">
            <a:extLst>
              <a:ext uri="{FF2B5EF4-FFF2-40B4-BE49-F238E27FC236}">
                <a16:creationId xmlns:a16="http://schemas.microsoft.com/office/drawing/2014/main" id="{C4BE1BF3-BC3B-4C5A-A4C8-5E4E44B15A85}"/>
              </a:ext>
            </a:extLst>
          </p:cNvPr>
          <p:cNvSpPr txBox="1">
            <a:spLocks noChangeArrowheads="1"/>
          </p:cNvSpPr>
          <p:nvPr/>
        </p:nvSpPr>
        <p:spPr bwMode="auto">
          <a:xfrm>
            <a:off x="2209800" y="1277939"/>
            <a:ext cx="1219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200"/>
              <a:t>Gate</a:t>
            </a:r>
            <a:endParaRPr lang="ru-RU" altLang="en-US" sz="1200"/>
          </a:p>
        </p:txBody>
      </p:sp>
      <p:sp>
        <p:nvSpPr>
          <p:cNvPr id="37908" name="Text Box 42">
            <a:extLst>
              <a:ext uri="{FF2B5EF4-FFF2-40B4-BE49-F238E27FC236}">
                <a16:creationId xmlns:a16="http://schemas.microsoft.com/office/drawing/2014/main" id="{77A09480-EA3A-441E-A7A1-003CFA04063C}"/>
              </a:ext>
            </a:extLst>
          </p:cNvPr>
          <p:cNvSpPr txBox="1">
            <a:spLocks noChangeArrowheads="1"/>
          </p:cNvSpPr>
          <p:nvPr/>
        </p:nvSpPr>
        <p:spPr bwMode="auto">
          <a:xfrm>
            <a:off x="3200400" y="1277939"/>
            <a:ext cx="1600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200"/>
              <a:t>Interconnect</a:t>
            </a:r>
            <a:endParaRPr lang="ru-RU" altLang="en-US" sz="1200"/>
          </a:p>
        </p:txBody>
      </p:sp>
      <p:sp>
        <p:nvSpPr>
          <p:cNvPr id="37909" name="Line 43">
            <a:extLst>
              <a:ext uri="{FF2B5EF4-FFF2-40B4-BE49-F238E27FC236}">
                <a16:creationId xmlns:a16="http://schemas.microsoft.com/office/drawing/2014/main" id="{0F1C98D3-71A8-49FD-BB6E-A066D0FB3159}"/>
              </a:ext>
            </a:extLst>
          </p:cNvPr>
          <p:cNvSpPr>
            <a:spLocks noChangeShapeType="1"/>
          </p:cNvSpPr>
          <p:nvPr/>
        </p:nvSpPr>
        <p:spPr bwMode="auto">
          <a:xfrm flipH="1">
            <a:off x="3352800" y="1506538"/>
            <a:ext cx="2286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10" name="Line 8">
            <a:extLst>
              <a:ext uri="{FF2B5EF4-FFF2-40B4-BE49-F238E27FC236}">
                <a16:creationId xmlns:a16="http://schemas.microsoft.com/office/drawing/2014/main" id="{52324F3E-1C4B-4C71-894A-3B95A8C23AAB}"/>
              </a:ext>
            </a:extLst>
          </p:cNvPr>
          <p:cNvSpPr>
            <a:spLocks noChangeShapeType="1"/>
          </p:cNvSpPr>
          <p:nvPr/>
        </p:nvSpPr>
        <p:spPr bwMode="auto">
          <a:xfrm flipV="1">
            <a:off x="6524625" y="3122613"/>
            <a:ext cx="320040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7911" name="Group 11">
            <a:extLst>
              <a:ext uri="{FF2B5EF4-FFF2-40B4-BE49-F238E27FC236}">
                <a16:creationId xmlns:a16="http://schemas.microsoft.com/office/drawing/2014/main" id="{E9DA17F3-9DCD-4A5F-80CF-23CE04ACE984}"/>
              </a:ext>
            </a:extLst>
          </p:cNvPr>
          <p:cNvGrpSpPr>
            <a:grpSpLocks/>
          </p:cNvGrpSpPr>
          <p:nvPr/>
        </p:nvGrpSpPr>
        <p:grpSpPr bwMode="auto">
          <a:xfrm>
            <a:off x="6653213" y="1593851"/>
            <a:ext cx="2424112" cy="1533525"/>
            <a:chOff x="1944" y="5721"/>
            <a:chExt cx="2808" cy="1296"/>
          </a:xfrm>
        </p:grpSpPr>
        <p:sp>
          <p:nvSpPr>
            <p:cNvPr id="37931" name="Freeform 10">
              <a:extLst>
                <a:ext uri="{FF2B5EF4-FFF2-40B4-BE49-F238E27FC236}">
                  <a16:creationId xmlns:a16="http://schemas.microsoft.com/office/drawing/2014/main" id="{215CF646-327F-4F86-AD5C-0FAF8767CCD5}"/>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32" name="Freeform 11">
              <a:extLst>
                <a:ext uri="{FF2B5EF4-FFF2-40B4-BE49-F238E27FC236}">
                  <a16:creationId xmlns:a16="http://schemas.microsoft.com/office/drawing/2014/main" id="{AE5BFE94-47CE-4EC9-ADD8-45EB03A5B418}"/>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7912" name="Line 15">
            <a:extLst>
              <a:ext uri="{FF2B5EF4-FFF2-40B4-BE49-F238E27FC236}">
                <a16:creationId xmlns:a16="http://schemas.microsoft.com/office/drawing/2014/main" id="{0B0C385D-04C7-4F7F-8D4F-14CAFEEEBAE3}"/>
              </a:ext>
            </a:extLst>
          </p:cNvPr>
          <p:cNvSpPr>
            <a:spLocks noChangeShapeType="1"/>
          </p:cNvSpPr>
          <p:nvPr/>
        </p:nvSpPr>
        <p:spPr bwMode="auto">
          <a:xfrm flipH="1">
            <a:off x="7815264" y="1593850"/>
            <a:ext cx="14287" cy="1652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913" name="Line 8">
            <a:extLst>
              <a:ext uri="{FF2B5EF4-FFF2-40B4-BE49-F238E27FC236}">
                <a16:creationId xmlns:a16="http://schemas.microsoft.com/office/drawing/2014/main" id="{5BDA719A-746B-4D85-AFB6-1A195E4A8040}"/>
              </a:ext>
            </a:extLst>
          </p:cNvPr>
          <p:cNvSpPr>
            <a:spLocks noChangeShapeType="1"/>
          </p:cNvSpPr>
          <p:nvPr/>
        </p:nvSpPr>
        <p:spPr bwMode="auto">
          <a:xfrm flipV="1">
            <a:off x="6524625" y="1201739"/>
            <a:ext cx="0" cy="192087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14" name="Text Box 51">
            <a:extLst>
              <a:ext uri="{FF2B5EF4-FFF2-40B4-BE49-F238E27FC236}">
                <a16:creationId xmlns:a16="http://schemas.microsoft.com/office/drawing/2014/main" id="{70BC7037-8725-43A2-A66E-D1C50C0EDF3F}"/>
              </a:ext>
            </a:extLst>
          </p:cNvPr>
          <p:cNvSpPr txBox="1">
            <a:spLocks noChangeArrowheads="1"/>
          </p:cNvSpPr>
          <p:nvPr/>
        </p:nvSpPr>
        <p:spPr bwMode="auto">
          <a:xfrm>
            <a:off x="6143625" y="3473450"/>
            <a:ext cx="365760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endParaRPr lang="ru-RU" altLang="en-US" sz="900" baseline="-25000"/>
          </a:p>
        </p:txBody>
      </p:sp>
      <p:sp>
        <p:nvSpPr>
          <p:cNvPr id="37915" name="Text Box 52">
            <a:extLst>
              <a:ext uri="{FF2B5EF4-FFF2-40B4-BE49-F238E27FC236}">
                <a16:creationId xmlns:a16="http://schemas.microsoft.com/office/drawing/2014/main" id="{A46D74EF-0E0C-4360-B3F5-C7DC5AA9DDDF}"/>
              </a:ext>
            </a:extLst>
          </p:cNvPr>
          <p:cNvSpPr txBox="1">
            <a:spLocks noChangeArrowheads="1"/>
          </p:cNvSpPr>
          <p:nvPr/>
        </p:nvSpPr>
        <p:spPr bwMode="auto">
          <a:xfrm rot="10800000">
            <a:off x="6094870" y="1125539"/>
            <a:ext cx="430887"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600"/>
              <a:t>Distribution density</a:t>
            </a:r>
            <a:endParaRPr lang="ru-RU" altLang="en-US" sz="1600"/>
          </a:p>
        </p:txBody>
      </p:sp>
      <p:sp>
        <p:nvSpPr>
          <p:cNvPr id="37916" name="Text Box 53">
            <a:extLst>
              <a:ext uri="{FF2B5EF4-FFF2-40B4-BE49-F238E27FC236}">
                <a16:creationId xmlns:a16="http://schemas.microsoft.com/office/drawing/2014/main" id="{B2275455-2CF5-400F-A8B0-466251C41145}"/>
              </a:ext>
            </a:extLst>
          </p:cNvPr>
          <p:cNvSpPr txBox="1">
            <a:spLocks noChangeArrowheads="1"/>
          </p:cNvSpPr>
          <p:nvPr/>
        </p:nvSpPr>
        <p:spPr bwMode="auto">
          <a:xfrm>
            <a:off x="7972425" y="1444626"/>
            <a:ext cx="2286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sum(f</a:t>
            </a:r>
            <a:r>
              <a:rPr lang="en-US" altLang="en-US" sz="1400" baseline="-25000"/>
              <a:t>1</a:t>
            </a:r>
            <a:r>
              <a:rPr lang="en-US" altLang="en-US" sz="1400"/>
              <a:t>, f</a:t>
            </a:r>
            <a:r>
              <a:rPr lang="en-US" altLang="en-US" sz="1400" baseline="-25000"/>
              <a:t>2</a:t>
            </a:r>
            <a:r>
              <a:rPr lang="en-US" altLang="en-US" sz="1400"/>
              <a:t>)</a:t>
            </a:r>
            <a:endParaRPr lang="ru-RU" altLang="en-US" sz="1400" baseline="-25000"/>
          </a:p>
        </p:txBody>
      </p:sp>
      <p:sp>
        <p:nvSpPr>
          <p:cNvPr id="46" name="Text Box 83">
            <a:extLst>
              <a:ext uri="{FF2B5EF4-FFF2-40B4-BE49-F238E27FC236}">
                <a16:creationId xmlns:a16="http://schemas.microsoft.com/office/drawing/2014/main" id="{953C32F5-34B0-4700-B777-EEF041D3F614}"/>
              </a:ext>
            </a:extLst>
          </p:cNvPr>
          <p:cNvSpPr txBox="1">
            <a:spLocks noChangeArrowheads="1"/>
          </p:cNvSpPr>
          <p:nvPr/>
        </p:nvSpPr>
        <p:spPr bwMode="auto">
          <a:xfrm>
            <a:off x="2025651" y="4233864"/>
            <a:ext cx="7947025" cy="338137"/>
          </a:xfrm>
          <a:prstGeom prst="rect">
            <a:avLst/>
          </a:prstGeom>
          <a:solidFill>
            <a:schemeClr val="accent1">
              <a:lumMod val="20000"/>
              <a:lumOff val="80000"/>
            </a:schemeClr>
          </a:solidFill>
          <a:ln>
            <a:headEnd/>
            <a:tailEnd/>
          </a:ln>
          <a:effectLst/>
        </p:spPr>
        <p:style>
          <a:lnRef idx="1">
            <a:schemeClr val="accent5"/>
          </a:lnRef>
          <a:fillRef idx="2">
            <a:schemeClr val="accent5"/>
          </a:fillRef>
          <a:effectRef idx="1">
            <a:schemeClr val="accent5"/>
          </a:effectRef>
          <a:fontRef idx="minor">
            <a:schemeClr val="dk1"/>
          </a:fontRef>
        </p:style>
        <p:txBody>
          <a:bodyPr>
            <a:spAutoFit/>
          </a:bodyPr>
          <a:lstStyle/>
          <a:p>
            <a:pPr algn="ctr" eaLnBrk="1" hangingPunct="1">
              <a:spcBef>
                <a:spcPct val="50000"/>
              </a:spcBef>
              <a:defRPr/>
            </a:pPr>
            <a:r>
              <a:rPr lang="en-US" sz="1600" dirty="0">
                <a:solidFill>
                  <a:schemeClr val="tx1"/>
                </a:solidFill>
              </a:rPr>
              <a:t>Delay PDF of path is statistical </a:t>
            </a:r>
            <a:r>
              <a:rPr lang="en-US" sz="1600" dirty="0">
                <a:solidFill>
                  <a:srgbClr val="0000FF"/>
                </a:solidFill>
              </a:rPr>
              <a:t>sum</a:t>
            </a:r>
            <a:r>
              <a:rPr lang="en-US" sz="1600" b="1" i="1" dirty="0">
                <a:solidFill>
                  <a:schemeClr val="tx1"/>
                </a:solidFill>
              </a:rPr>
              <a:t> </a:t>
            </a:r>
            <a:r>
              <a:rPr lang="en-US" sz="1600" dirty="0">
                <a:solidFill>
                  <a:schemeClr val="tx1"/>
                </a:solidFill>
              </a:rPr>
              <a:t>of f</a:t>
            </a:r>
            <a:r>
              <a:rPr lang="en-US" sz="1600" baseline="-25000" dirty="0">
                <a:solidFill>
                  <a:schemeClr val="tx1"/>
                </a:solidFill>
              </a:rPr>
              <a:t>1</a:t>
            </a:r>
            <a:r>
              <a:rPr lang="en-US" sz="1600" dirty="0">
                <a:solidFill>
                  <a:schemeClr val="tx1"/>
                </a:solidFill>
              </a:rPr>
              <a:t> and f</a:t>
            </a:r>
            <a:r>
              <a:rPr lang="en-US" sz="1600" baseline="-25000" dirty="0">
                <a:solidFill>
                  <a:schemeClr val="tx1"/>
                </a:solidFill>
              </a:rPr>
              <a:t>2</a:t>
            </a:r>
            <a:endParaRPr lang="ru-RU" sz="1600" baseline="-25000" dirty="0">
              <a:solidFill>
                <a:schemeClr val="tx1"/>
              </a:solidFill>
            </a:endParaRPr>
          </a:p>
        </p:txBody>
      </p:sp>
      <p:sp>
        <p:nvSpPr>
          <p:cNvPr id="37918" name="Text Box 42">
            <a:extLst>
              <a:ext uri="{FF2B5EF4-FFF2-40B4-BE49-F238E27FC236}">
                <a16:creationId xmlns:a16="http://schemas.microsoft.com/office/drawing/2014/main" id="{6866ECCF-75F9-418E-9E22-0F504B7DEAD4}"/>
              </a:ext>
            </a:extLst>
          </p:cNvPr>
          <p:cNvSpPr txBox="1">
            <a:spLocks noChangeArrowheads="1"/>
          </p:cNvSpPr>
          <p:nvPr/>
        </p:nvSpPr>
        <p:spPr bwMode="auto">
          <a:xfrm>
            <a:off x="1905001" y="3819526"/>
            <a:ext cx="16850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Average m</a:t>
            </a:r>
            <a:r>
              <a:rPr lang="en-US" altLang="en-US" sz="1400" baseline="-25000"/>
              <a:t>1</a:t>
            </a:r>
            <a:r>
              <a:rPr lang="en-US" altLang="en-US" sz="1400"/>
              <a:t>, 3</a:t>
            </a:r>
            <a:r>
              <a:rPr lang="el-GR" altLang="en-US" sz="1400">
                <a:latin typeface="Arial Unicode"/>
              </a:rPr>
              <a:t>σ</a:t>
            </a:r>
            <a:r>
              <a:rPr lang="en-US" altLang="en-US" sz="1400">
                <a:latin typeface="Arial Unicode"/>
              </a:rPr>
              <a:t>=s</a:t>
            </a:r>
            <a:r>
              <a:rPr lang="en-US" altLang="en-US" sz="1400" baseline="-25000">
                <a:latin typeface="Arial Unicode"/>
              </a:rPr>
              <a:t>1</a:t>
            </a:r>
            <a:endParaRPr lang="el-GR" altLang="en-US" sz="1400" baseline="-25000">
              <a:latin typeface="Arial Unicode"/>
            </a:endParaRPr>
          </a:p>
        </p:txBody>
      </p:sp>
      <p:sp>
        <p:nvSpPr>
          <p:cNvPr id="37919" name="Text Box 43">
            <a:extLst>
              <a:ext uri="{FF2B5EF4-FFF2-40B4-BE49-F238E27FC236}">
                <a16:creationId xmlns:a16="http://schemas.microsoft.com/office/drawing/2014/main" id="{CF6C8079-156C-4355-81AC-64D034D5A2D7}"/>
              </a:ext>
            </a:extLst>
          </p:cNvPr>
          <p:cNvSpPr txBox="1">
            <a:spLocks noChangeArrowheads="1"/>
          </p:cNvSpPr>
          <p:nvPr/>
        </p:nvSpPr>
        <p:spPr bwMode="auto">
          <a:xfrm>
            <a:off x="3644901" y="3819526"/>
            <a:ext cx="16850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Average m</a:t>
            </a:r>
            <a:r>
              <a:rPr lang="en-US" altLang="en-US" sz="1400" baseline="-25000"/>
              <a:t>2</a:t>
            </a:r>
            <a:r>
              <a:rPr lang="en-US" altLang="en-US" sz="1400"/>
              <a:t>, 3</a:t>
            </a:r>
            <a:r>
              <a:rPr lang="el-GR" altLang="en-US" sz="1400">
                <a:latin typeface="Arial Unicode"/>
              </a:rPr>
              <a:t>σ</a:t>
            </a:r>
            <a:r>
              <a:rPr lang="en-US" altLang="en-US" sz="1400">
                <a:latin typeface="Arial Unicode"/>
              </a:rPr>
              <a:t>=s</a:t>
            </a:r>
            <a:r>
              <a:rPr lang="en-US" altLang="en-US" sz="1400" baseline="-25000">
                <a:latin typeface="Arial Unicode"/>
              </a:rPr>
              <a:t>2</a:t>
            </a:r>
            <a:endParaRPr lang="el-GR" altLang="en-US" sz="1400" baseline="-25000">
              <a:latin typeface="Arial Unicode"/>
            </a:endParaRPr>
          </a:p>
        </p:txBody>
      </p:sp>
      <p:sp>
        <p:nvSpPr>
          <p:cNvPr id="37920" name="Text Box 47">
            <a:extLst>
              <a:ext uri="{FF2B5EF4-FFF2-40B4-BE49-F238E27FC236}">
                <a16:creationId xmlns:a16="http://schemas.microsoft.com/office/drawing/2014/main" id="{7E82A6C4-AC41-40BE-B4C1-A1CF83F2D873}"/>
              </a:ext>
            </a:extLst>
          </p:cNvPr>
          <p:cNvSpPr txBox="1">
            <a:spLocks noChangeArrowheads="1"/>
          </p:cNvSpPr>
          <p:nvPr/>
        </p:nvSpPr>
        <p:spPr bwMode="auto">
          <a:xfrm>
            <a:off x="2843213" y="4745038"/>
            <a:ext cx="44114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900"/>
              <a:t>STA:</a:t>
            </a:r>
            <a:endParaRPr lang="ru-RU" altLang="en-US" sz="900" b="1" i="1" baseline="-25000"/>
          </a:p>
        </p:txBody>
      </p:sp>
      <p:sp>
        <p:nvSpPr>
          <p:cNvPr id="37921" name="Text Box 49">
            <a:extLst>
              <a:ext uri="{FF2B5EF4-FFF2-40B4-BE49-F238E27FC236}">
                <a16:creationId xmlns:a16="http://schemas.microsoft.com/office/drawing/2014/main" id="{7A38017D-B7EF-414E-AAF6-714ED963CEE5}"/>
              </a:ext>
            </a:extLst>
          </p:cNvPr>
          <p:cNvSpPr txBox="1">
            <a:spLocks noChangeArrowheads="1"/>
          </p:cNvSpPr>
          <p:nvPr/>
        </p:nvSpPr>
        <p:spPr bwMode="auto">
          <a:xfrm>
            <a:off x="2840039" y="5330825"/>
            <a:ext cx="51809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900"/>
              <a:t>SSTA:</a:t>
            </a:r>
            <a:endParaRPr lang="ru-RU" altLang="en-US" sz="900" b="1" i="1" baseline="-25000"/>
          </a:p>
        </p:txBody>
      </p:sp>
      <p:graphicFrame>
        <p:nvGraphicFramePr>
          <p:cNvPr id="37922" name="Object 50">
            <a:extLst>
              <a:ext uri="{FF2B5EF4-FFF2-40B4-BE49-F238E27FC236}">
                <a16:creationId xmlns:a16="http://schemas.microsoft.com/office/drawing/2014/main" id="{1DF919D8-A1D1-487A-AE90-B4EFA0527BF7}"/>
              </a:ext>
            </a:extLst>
          </p:cNvPr>
          <p:cNvGraphicFramePr>
            <a:graphicFrameLocks noChangeAspect="1"/>
          </p:cNvGraphicFramePr>
          <p:nvPr/>
        </p:nvGraphicFramePr>
        <p:xfrm>
          <a:off x="3776663" y="4725989"/>
          <a:ext cx="2533650" cy="261937"/>
        </p:xfrm>
        <a:graphic>
          <a:graphicData uri="http://schemas.openxmlformats.org/presentationml/2006/ole">
            <mc:AlternateContent xmlns:mc="http://schemas.openxmlformats.org/markup-compatibility/2006">
              <mc:Choice xmlns:v="urn:schemas-microsoft-com:vml" Requires="v">
                <p:oleObj name="Equation" r:id="rId3" imgW="2082600" imgH="215640" progId="Equation.3">
                  <p:embed/>
                </p:oleObj>
              </mc:Choice>
              <mc:Fallback>
                <p:oleObj name="Equation" r:id="rId3" imgW="2082600" imgH="215640" progId="Equation.3">
                  <p:embed/>
                  <p:pic>
                    <p:nvPicPr>
                      <p:cNvPr id="37922" name="Object 50">
                        <a:extLst>
                          <a:ext uri="{FF2B5EF4-FFF2-40B4-BE49-F238E27FC236}">
                            <a16:creationId xmlns:a16="http://schemas.microsoft.com/office/drawing/2014/main" id="{1DF919D8-A1D1-487A-AE90-B4EFA0527B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6663" y="4725989"/>
                        <a:ext cx="2533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923" name="Object 51">
            <a:extLst>
              <a:ext uri="{FF2B5EF4-FFF2-40B4-BE49-F238E27FC236}">
                <a16:creationId xmlns:a16="http://schemas.microsoft.com/office/drawing/2014/main" id="{F52868D1-BB4D-41E2-91C6-90798AC72C82}"/>
              </a:ext>
            </a:extLst>
          </p:cNvPr>
          <p:cNvGraphicFramePr>
            <a:graphicFrameLocks noChangeAspect="1"/>
          </p:cNvGraphicFramePr>
          <p:nvPr/>
        </p:nvGraphicFramePr>
        <p:xfrm>
          <a:off x="3776664" y="5229225"/>
          <a:ext cx="2841625" cy="355600"/>
        </p:xfrm>
        <a:graphic>
          <a:graphicData uri="http://schemas.openxmlformats.org/presentationml/2006/ole">
            <mc:AlternateContent xmlns:mc="http://schemas.openxmlformats.org/markup-compatibility/2006">
              <mc:Choice xmlns:v="urn:schemas-microsoft-com:vml" Requires="v">
                <p:oleObj name="Equation" r:id="rId5" imgW="2336800" imgH="292100" progId="Equation.3">
                  <p:embed/>
                </p:oleObj>
              </mc:Choice>
              <mc:Fallback>
                <p:oleObj name="Equation" r:id="rId5" imgW="2336800" imgH="292100" progId="Equation.3">
                  <p:embed/>
                  <p:pic>
                    <p:nvPicPr>
                      <p:cNvPr id="37923" name="Object 51">
                        <a:extLst>
                          <a:ext uri="{FF2B5EF4-FFF2-40B4-BE49-F238E27FC236}">
                            <a16:creationId xmlns:a16="http://schemas.microsoft.com/office/drawing/2014/main" id="{F52868D1-BB4D-41E2-91C6-90798AC72C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6664" y="5229225"/>
                        <a:ext cx="28416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924" name="Object 53">
            <a:extLst>
              <a:ext uri="{FF2B5EF4-FFF2-40B4-BE49-F238E27FC236}">
                <a16:creationId xmlns:a16="http://schemas.microsoft.com/office/drawing/2014/main" id="{921CC209-98A4-41CD-A9B4-F772F1FE1440}"/>
              </a:ext>
            </a:extLst>
          </p:cNvPr>
          <p:cNvGraphicFramePr>
            <a:graphicFrameLocks noChangeAspect="1"/>
          </p:cNvGraphicFramePr>
          <p:nvPr/>
        </p:nvGraphicFramePr>
        <p:xfrm>
          <a:off x="7705726" y="3722688"/>
          <a:ext cx="1719263" cy="387350"/>
        </p:xfrm>
        <a:graphic>
          <a:graphicData uri="http://schemas.openxmlformats.org/presentationml/2006/ole">
            <mc:AlternateContent xmlns:mc="http://schemas.openxmlformats.org/markup-compatibility/2006">
              <mc:Choice xmlns:v="urn:schemas-microsoft-com:vml" Requires="v">
                <p:oleObj name="Equation" r:id="rId7" imgW="787058" imgH="177723" progId="Equation.3">
                  <p:embed/>
                </p:oleObj>
              </mc:Choice>
              <mc:Fallback>
                <p:oleObj name="Equation" r:id="rId7" imgW="787058" imgH="177723" progId="Equation.3">
                  <p:embed/>
                  <p:pic>
                    <p:nvPicPr>
                      <p:cNvPr id="37924" name="Object 53">
                        <a:extLst>
                          <a:ext uri="{FF2B5EF4-FFF2-40B4-BE49-F238E27FC236}">
                            <a16:creationId xmlns:a16="http://schemas.microsoft.com/office/drawing/2014/main" id="{921CC209-98A4-41CD-A9B4-F772F1FE144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05726" y="3722688"/>
                        <a:ext cx="1719263"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25" name="Line 15">
            <a:extLst>
              <a:ext uri="{FF2B5EF4-FFF2-40B4-BE49-F238E27FC236}">
                <a16:creationId xmlns:a16="http://schemas.microsoft.com/office/drawing/2014/main" id="{27033145-A404-4868-85BE-83A22B2BF18E}"/>
              </a:ext>
            </a:extLst>
          </p:cNvPr>
          <p:cNvSpPr>
            <a:spLocks noChangeShapeType="1"/>
          </p:cNvSpPr>
          <p:nvPr/>
        </p:nvSpPr>
        <p:spPr bwMode="auto">
          <a:xfrm>
            <a:off x="8437563" y="2635250"/>
            <a:ext cx="0" cy="6111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926" name="Line 15">
            <a:extLst>
              <a:ext uri="{FF2B5EF4-FFF2-40B4-BE49-F238E27FC236}">
                <a16:creationId xmlns:a16="http://schemas.microsoft.com/office/drawing/2014/main" id="{2B4134B3-E2F6-4024-ADF6-C118E2E40F8F}"/>
              </a:ext>
            </a:extLst>
          </p:cNvPr>
          <p:cNvSpPr>
            <a:spLocks noChangeShapeType="1"/>
          </p:cNvSpPr>
          <p:nvPr/>
        </p:nvSpPr>
        <p:spPr bwMode="auto">
          <a:xfrm>
            <a:off x="8766175" y="2635250"/>
            <a:ext cx="0" cy="6111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927" name="Line 57">
            <a:extLst>
              <a:ext uri="{FF2B5EF4-FFF2-40B4-BE49-F238E27FC236}">
                <a16:creationId xmlns:a16="http://schemas.microsoft.com/office/drawing/2014/main" id="{AB3E2653-4BBE-464F-97E0-739387FE57FD}"/>
              </a:ext>
            </a:extLst>
          </p:cNvPr>
          <p:cNvSpPr>
            <a:spLocks noChangeShapeType="1"/>
          </p:cNvSpPr>
          <p:nvPr/>
        </p:nvSpPr>
        <p:spPr bwMode="auto">
          <a:xfrm>
            <a:off x="7815263" y="2698750"/>
            <a:ext cx="950912" cy="0"/>
          </a:xfrm>
          <a:prstGeom prst="line">
            <a:avLst/>
          </a:prstGeom>
          <a:noFill/>
          <a:ln w="9525" algn="ctr">
            <a:solidFill>
              <a:srgbClr val="0000FF"/>
            </a:solidFill>
            <a:round/>
            <a:headEnd type="triangle" w="med" len="med"/>
            <a:tailEnd type="triangle" w="med" len="med"/>
          </a:ln>
        </p:spPr>
        <p:txBody>
          <a:bodyPr/>
          <a:lstStyle/>
          <a:p>
            <a:endParaRPr lang="en-US"/>
          </a:p>
        </p:txBody>
      </p:sp>
      <p:sp>
        <p:nvSpPr>
          <p:cNvPr id="37928" name="Line 58">
            <a:extLst>
              <a:ext uri="{FF2B5EF4-FFF2-40B4-BE49-F238E27FC236}">
                <a16:creationId xmlns:a16="http://schemas.microsoft.com/office/drawing/2014/main" id="{917E97FE-3D41-4170-8CBD-127C10C313F5}"/>
              </a:ext>
            </a:extLst>
          </p:cNvPr>
          <p:cNvSpPr>
            <a:spLocks noChangeShapeType="1"/>
          </p:cNvSpPr>
          <p:nvPr/>
        </p:nvSpPr>
        <p:spPr bwMode="auto">
          <a:xfrm flipV="1">
            <a:off x="7851775" y="3209925"/>
            <a:ext cx="585788" cy="0"/>
          </a:xfrm>
          <a:prstGeom prst="line">
            <a:avLst/>
          </a:prstGeom>
          <a:noFill/>
          <a:ln w="9525" algn="ctr">
            <a:solidFill>
              <a:srgbClr val="0000FF"/>
            </a:solidFill>
            <a:round/>
            <a:headEnd type="triangle" w="med" len="med"/>
            <a:tailEnd type="triangle" w="med" len="med"/>
          </a:ln>
        </p:spPr>
        <p:txBody>
          <a:bodyPr/>
          <a:lstStyle/>
          <a:p>
            <a:endParaRPr lang="en-US"/>
          </a:p>
        </p:txBody>
      </p:sp>
      <p:sp>
        <p:nvSpPr>
          <p:cNvPr id="37929" name="Line 59">
            <a:extLst>
              <a:ext uri="{FF2B5EF4-FFF2-40B4-BE49-F238E27FC236}">
                <a16:creationId xmlns:a16="http://schemas.microsoft.com/office/drawing/2014/main" id="{B7E8FD0B-0A67-401D-ABCF-5CC03E191513}"/>
              </a:ext>
            </a:extLst>
          </p:cNvPr>
          <p:cNvSpPr>
            <a:spLocks noChangeShapeType="1"/>
          </p:cNvSpPr>
          <p:nvPr/>
        </p:nvSpPr>
        <p:spPr bwMode="auto">
          <a:xfrm flipV="1">
            <a:off x="7997826" y="3319463"/>
            <a:ext cx="366713" cy="330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30" name="Line 60">
            <a:extLst>
              <a:ext uri="{FF2B5EF4-FFF2-40B4-BE49-F238E27FC236}">
                <a16:creationId xmlns:a16="http://schemas.microsoft.com/office/drawing/2014/main" id="{A8A992F0-329B-43FD-8EC5-E73404CEC8AC}"/>
              </a:ext>
            </a:extLst>
          </p:cNvPr>
          <p:cNvSpPr>
            <a:spLocks noChangeShapeType="1"/>
          </p:cNvSpPr>
          <p:nvPr/>
        </p:nvSpPr>
        <p:spPr bwMode="auto">
          <a:xfrm flipH="1" flipV="1">
            <a:off x="8802689" y="3282950"/>
            <a:ext cx="365125" cy="4397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0319D999-7131-4C42-9579-A5AE64D275DB}"/>
              </a:ext>
            </a:extLst>
          </p:cNvPr>
          <p:cNvSpPr>
            <a:spLocks noGrp="1"/>
          </p:cNvSpPr>
          <p:nvPr>
            <p:ph type="title"/>
          </p:nvPr>
        </p:nvSpPr>
        <p:spPr/>
        <p:txBody>
          <a:bodyPr/>
          <a:lstStyle/>
          <a:p>
            <a:r>
              <a:rPr lang="en-US" altLang="en-US"/>
              <a:t>Statistical MAX Operation</a:t>
            </a:r>
          </a:p>
        </p:txBody>
      </p:sp>
      <p:cxnSp>
        <p:nvCxnSpPr>
          <p:cNvPr id="39939" name="Straight Connector 7">
            <a:extLst>
              <a:ext uri="{FF2B5EF4-FFF2-40B4-BE49-F238E27FC236}">
                <a16:creationId xmlns:a16="http://schemas.microsoft.com/office/drawing/2014/main" id="{B4644D0B-D8FC-43FA-837C-A196605936E7}"/>
              </a:ext>
            </a:extLst>
          </p:cNvPr>
          <p:cNvCxnSpPr>
            <a:cxnSpLocks noChangeShapeType="1"/>
          </p:cNvCxnSpPr>
          <p:nvPr/>
        </p:nvCxnSpPr>
        <p:spPr bwMode="auto">
          <a:xfrm>
            <a:off x="4781550" y="3141663"/>
            <a:ext cx="457200" cy="0"/>
          </a:xfrm>
          <a:prstGeom prst="line">
            <a:avLst/>
          </a:prstGeom>
          <a:noFill/>
          <a:ln w="9525" algn="ctr">
            <a:solidFill>
              <a:schemeClr val="tx1"/>
            </a:solidFill>
            <a:round/>
            <a:headEnd/>
            <a:tailEnd/>
          </a:ln>
        </p:spPr>
      </p:cxnSp>
      <p:cxnSp>
        <p:nvCxnSpPr>
          <p:cNvPr id="39940" name="Straight Connector 8">
            <a:extLst>
              <a:ext uri="{FF2B5EF4-FFF2-40B4-BE49-F238E27FC236}">
                <a16:creationId xmlns:a16="http://schemas.microsoft.com/office/drawing/2014/main" id="{493882B6-4944-4B03-AF55-927D51EA71B9}"/>
              </a:ext>
            </a:extLst>
          </p:cNvPr>
          <p:cNvCxnSpPr>
            <a:cxnSpLocks noChangeShapeType="1"/>
          </p:cNvCxnSpPr>
          <p:nvPr/>
        </p:nvCxnSpPr>
        <p:spPr bwMode="auto">
          <a:xfrm>
            <a:off x="3597275" y="2887663"/>
            <a:ext cx="560388" cy="0"/>
          </a:xfrm>
          <a:prstGeom prst="line">
            <a:avLst/>
          </a:prstGeom>
          <a:noFill/>
          <a:ln w="9525" algn="ctr">
            <a:solidFill>
              <a:schemeClr val="tx1"/>
            </a:solidFill>
            <a:round/>
            <a:headEnd/>
            <a:tailEnd/>
          </a:ln>
        </p:spPr>
      </p:cxnSp>
      <p:cxnSp>
        <p:nvCxnSpPr>
          <p:cNvPr id="39941" name="Straight Connector 10">
            <a:extLst>
              <a:ext uri="{FF2B5EF4-FFF2-40B4-BE49-F238E27FC236}">
                <a16:creationId xmlns:a16="http://schemas.microsoft.com/office/drawing/2014/main" id="{04EA2E07-8B8D-4A33-96CB-BA2FAE873461}"/>
              </a:ext>
            </a:extLst>
          </p:cNvPr>
          <p:cNvCxnSpPr>
            <a:cxnSpLocks noChangeShapeType="1"/>
          </p:cNvCxnSpPr>
          <p:nvPr/>
        </p:nvCxnSpPr>
        <p:spPr bwMode="auto">
          <a:xfrm>
            <a:off x="3597276" y="3397250"/>
            <a:ext cx="612775" cy="0"/>
          </a:xfrm>
          <a:prstGeom prst="line">
            <a:avLst/>
          </a:prstGeom>
          <a:noFill/>
          <a:ln w="9525" algn="ctr">
            <a:solidFill>
              <a:schemeClr val="tx1"/>
            </a:solidFill>
            <a:round/>
            <a:headEnd/>
            <a:tailEnd/>
          </a:ln>
        </p:spPr>
      </p:cxnSp>
      <p:sp>
        <p:nvSpPr>
          <p:cNvPr id="39942" name="TextBox 18">
            <a:extLst>
              <a:ext uri="{FF2B5EF4-FFF2-40B4-BE49-F238E27FC236}">
                <a16:creationId xmlns:a16="http://schemas.microsoft.com/office/drawing/2014/main" id="{FABA8D8A-BE01-4632-980A-914D53CDEA59}"/>
              </a:ext>
            </a:extLst>
          </p:cNvPr>
          <p:cNvSpPr txBox="1">
            <a:spLocks noChangeArrowheads="1"/>
          </p:cNvSpPr>
          <p:nvPr/>
        </p:nvSpPr>
        <p:spPr bwMode="auto">
          <a:xfrm>
            <a:off x="3662363" y="2151063"/>
            <a:ext cx="4175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t>f</a:t>
            </a:r>
            <a:r>
              <a:rPr lang="en-US" altLang="en-US" sz="2800" baseline="-25000"/>
              <a:t>1</a:t>
            </a:r>
          </a:p>
        </p:txBody>
      </p:sp>
      <p:sp>
        <p:nvSpPr>
          <p:cNvPr id="39943" name="TextBox 19">
            <a:extLst>
              <a:ext uri="{FF2B5EF4-FFF2-40B4-BE49-F238E27FC236}">
                <a16:creationId xmlns:a16="http://schemas.microsoft.com/office/drawing/2014/main" id="{E738D410-6850-4375-810B-0DD6281A9D68}"/>
              </a:ext>
            </a:extLst>
          </p:cNvPr>
          <p:cNvSpPr txBox="1">
            <a:spLocks noChangeArrowheads="1"/>
          </p:cNvSpPr>
          <p:nvPr/>
        </p:nvSpPr>
        <p:spPr bwMode="auto">
          <a:xfrm>
            <a:off x="3662363" y="3446463"/>
            <a:ext cx="4175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t>f</a:t>
            </a:r>
            <a:r>
              <a:rPr lang="en-US" altLang="en-US" sz="2800" baseline="-25000"/>
              <a:t>2</a:t>
            </a:r>
          </a:p>
        </p:txBody>
      </p:sp>
      <p:sp>
        <p:nvSpPr>
          <p:cNvPr id="39944" name="TextBox 20">
            <a:extLst>
              <a:ext uri="{FF2B5EF4-FFF2-40B4-BE49-F238E27FC236}">
                <a16:creationId xmlns:a16="http://schemas.microsoft.com/office/drawing/2014/main" id="{C48CF497-5479-4531-B9E8-53CF11B8B4DD}"/>
              </a:ext>
            </a:extLst>
          </p:cNvPr>
          <p:cNvSpPr txBox="1">
            <a:spLocks noChangeArrowheads="1"/>
          </p:cNvSpPr>
          <p:nvPr/>
        </p:nvSpPr>
        <p:spPr bwMode="auto">
          <a:xfrm>
            <a:off x="4745039" y="26177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t>f</a:t>
            </a:r>
            <a:endParaRPr lang="en-US" altLang="en-US" sz="2800" baseline="-25000"/>
          </a:p>
        </p:txBody>
      </p:sp>
      <p:sp>
        <p:nvSpPr>
          <p:cNvPr id="39945" name="Line 8">
            <a:extLst>
              <a:ext uri="{FF2B5EF4-FFF2-40B4-BE49-F238E27FC236}">
                <a16:creationId xmlns:a16="http://schemas.microsoft.com/office/drawing/2014/main" id="{A801D044-3B4A-445D-AF71-41185CB579C6}"/>
              </a:ext>
            </a:extLst>
          </p:cNvPr>
          <p:cNvSpPr>
            <a:spLocks noChangeShapeType="1"/>
          </p:cNvSpPr>
          <p:nvPr/>
        </p:nvSpPr>
        <p:spPr bwMode="auto">
          <a:xfrm flipV="1">
            <a:off x="6477000" y="3597275"/>
            <a:ext cx="320040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9946" name="Group 11">
            <a:extLst>
              <a:ext uri="{FF2B5EF4-FFF2-40B4-BE49-F238E27FC236}">
                <a16:creationId xmlns:a16="http://schemas.microsoft.com/office/drawing/2014/main" id="{4A8F3C9B-934A-4DC1-9349-E72BAFECF71C}"/>
              </a:ext>
            </a:extLst>
          </p:cNvPr>
          <p:cNvGrpSpPr>
            <a:grpSpLocks/>
          </p:cNvGrpSpPr>
          <p:nvPr/>
        </p:nvGrpSpPr>
        <p:grpSpPr bwMode="auto">
          <a:xfrm>
            <a:off x="6605588" y="2068514"/>
            <a:ext cx="2424112" cy="1533525"/>
            <a:chOff x="1944" y="5721"/>
            <a:chExt cx="2808" cy="1296"/>
          </a:xfrm>
        </p:grpSpPr>
        <p:sp>
          <p:nvSpPr>
            <p:cNvPr id="39977" name="Freeform 10">
              <a:extLst>
                <a:ext uri="{FF2B5EF4-FFF2-40B4-BE49-F238E27FC236}">
                  <a16:creationId xmlns:a16="http://schemas.microsoft.com/office/drawing/2014/main" id="{8C65AB84-7819-49AC-854D-A53390A75693}"/>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78" name="Freeform 11">
              <a:extLst>
                <a:ext uri="{FF2B5EF4-FFF2-40B4-BE49-F238E27FC236}">
                  <a16:creationId xmlns:a16="http://schemas.microsoft.com/office/drawing/2014/main" id="{9F51F7A8-A938-4503-9EB9-544274990BB5}"/>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9947" name="Line 15">
            <a:extLst>
              <a:ext uri="{FF2B5EF4-FFF2-40B4-BE49-F238E27FC236}">
                <a16:creationId xmlns:a16="http://schemas.microsoft.com/office/drawing/2014/main" id="{28D15439-95AC-47C0-91B0-DCB72422D016}"/>
              </a:ext>
            </a:extLst>
          </p:cNvPr>
          <p:cNvSpPr>
            <a:spLocks noChangeShapeType="1"/>
          </p:cNvSpPr>
          <p:nvPr/>
        </p:nvSpPr>
        <p:spPr bwMode="auto">
          <a:xfrm flipH="1">
            <a:off x="7759700" y="1947863"/>
            <a:ext cx="46038" cy="177165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9948" name="Line 8">
            <a:extLst>
              <a:ext uri="{FF2B5EF4-FFF2-40B4-BE49-F238E27FC236}">
                <a16:creationId xmlns:a16="http://schemas.microsoft.com/office/drawing/2014/main" id="{F16BAFB5-EAF3-4397-A6BC-CA1EED1B5F60}"/>
              </a:ext>
            </a:extLst>
          </p:cNvPr>
          <p:cNvSpPr>
            <a:spLocks noChangeShapeType="1"/>
          </p:cNvSpPr>
          <p:nvPr/>
        </p:nvSpPr>
        <p:spPr bwMode="auto">
          <a:xfrm flipV="1">
            <a:off x="6477000" y="1676401"/>
            <a:ext cx="0" cy="192087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49" name="Text Box 41">
            <a:extLst>
              <a:ext uri="{FF2B5EF4-FFF2-40B4-BE49-F238E27FC236}">
                <a16:creationId xmlns:a16="http://schemas.microsoft.com/office/drawing/2014/main" id="{57EAAF3C-A377-4EA2-863D-EF777E2914AD}"/>
              </a:ext>
            </a:extLst>
          </p:cNvPr>
          <p:cNvSpPr txBox="1">
            <a:spLocks noChangeArrowheads="1"/>
          </p:cNvSpPr>
          <p:nvPr/>
        </p:nvSpPr>
        <p:spPr bwMode="auto">
          <a:xfrm rot="10800000">
            <a:off x="6047245" y="1524000"/>
            <a:ext cx="430887"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600"/>
              <a:t>Distribution density</a:t>
            </a:r>
            <a:endParaRPr lang="ru-RU" altLang="en-US" sz="1600"/>
          </a:p>
        </p:txBody>
      </p:sp>
      <p:sp>
        <p:nvSpPr>
          <p:cNvPr id="32775" name="Text Box 42">
            <a:extLst>
              <a:ext uri="{FF2B5EF4-FFF2-40B4-BE49-F238E27FC236}">
                <a16:creationId xmlns:a16="http://schemas.microsoft.com/office/drawing/2014/main" id="{5943C258-985E-4FE0-80E5-D833A0EDA29F}"/>
              </a:ext>
            </a:extLst>
          </p:cNvPr>
          <p:cNvSpPr txBox="1">
            <a:spLocks noChangeArrowheads="1"/>
          </p:cNvSpPr>
          <p:nvPr/>
        </p:nvSpPr>
        <p:spPr bwMode="auto">
          <a:xfrm>
            <a:off x="7924800" y="1919288"/>
            <a:ext cx="22860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defRPr/>
            </a:pPr>
            <a:r>
              <a:rPr lang="en-US" sz="1050" dirty="0"/>
              <a:t>max(d</a:t>
            </a:r>
            <a:r>
              <a:rPr lang="en-US" sz="1050" baseline="-25000" dirty="0"/>
              <a:t>1</a:t>
            </a:r>
            <a:r>
              <a:rPr lang="en-US" sz="1050" dirty="0"/>
              <a:t>, d</a:t>
            </a:r>
            <a:r>
              <a:rPr lang="en-US" sz="1050" baseline="-25000" dirty="0"/>
              <a:t>2</a:t>
            </a:r>
            <a:r>
              <a:rPr lang="en-US" sz="1050" dirty="0"/>
              <a:t>)</a:t>
            </a:r>
            <a:endParaRPr lang="ru-RU" sz="1050" baseline="-25000" dirty="0"/>
          </a:p>
        </p:txBody>
      </p:sp>
      <p:sp>
        <p:nvSpPr>
          <p:cNvPr id="39951" name="Line 8">
            <a:extLst>
              <a:ext uri="{FF2B5EF4-FFF2-40B4-BE49-F238E27FC236}">
                <a16:creationId xmlns:a16="http://schemas.microsoft.com/office/drawing/2014/main" id="{C6E86F20-E0D5-4D3A-8B24-922E58E1F7F1}"/>
              </a:ext>
            </a:extLst>
          </p:cNvPr>
          <p:cNvSpPr>
            <a:spLocks noChangeShapeType="1"/>
          </p:cNvSpPr>
          <p:nvPr/>
        </p:nvSpPr>
        <p:spPr bwMode="auto">
          <a:xfrm flipV="1">
            <a:off x="2057400" y="2422525"/>
            <a:ext cx="1219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9952" name="Group 11">
            <a:extLst>
              <a:ext uri="{FF2B5EF4-FFF2-40B4-BE49-F238E27FC236}">
                <a16:creationId xmlns:a16="http://schemas.microsoft.com/office/drawing/2014/main" id="{24A48C4F-2BB5-4A45-BA6D-2E66428C2F4A}"/>
              </a:ext>
            </a:extLst>
          </p:cNvPr>
          <p:cNvGrpSpPr>
            <a:grpSpLocks/>
          </p:cNvGrpSpPr>
          <p:nvPr/>
        </p:nvGrpSpPr>
        <p:grpSpPr bwMode="auto">
          <a:xfrm>
            <a:off x="2106614" y="1839913"/>
            <a:ext cx="922337" cy="584200"/>
            <a:chOff x="1944" y="5721"/>
            <a:chExt cx="2808" cy="1296"/>
          </a:xfrm>
        </p:grpSpPr>
        <p:sp>
          <p:nvSpPr>
            <p:cNvPr id="39975" name="Freeform 10">
              <a:extLst>
                <a:ext uri="{FF2B5EF4-FFF2-40B4-BE49-F238E27FC236}">
                  <a16:creationId xmlns:a16="http://schemas.microsoft.com/office/drawing/2014/main" id="{983544B2-05D6-491B-9358-95A538167FA8}"/>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76" name="Freeform 11">
              <a:extLst>
                <a:ext uri="{FF2B5EF4-FFF2-40B4-BE49-F238E27FC236}">
                  <a16:creationId xmlns:a16="http://schemas.microsoft.com/office/drawing/2014/main" id="{089EF717-A9C6-4C0C-A060-64F96183F6B8}"/>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9953" name="Line 15">
            <a:extLst>
              <a:ext uri="{FF2B5EF4-FFF2-40B4-BE49-F238E27FC236}">
                <a16:creationId xmlns:a16="http://schemas.microsoft.com/office/drawing/2014/main" id="{8A4FAF65-3AD1-4A84-860A-6F161E80224A}"/>
              </a:ext>
            </a:extLst>
          </p:cNvPr>
          <p:cNvSpPr>
            <a:spLocks noChangeShapeType="1"/>
          </p:cNvSpPr>
          <p:nvPr/>
        </p:nvSpPr>
        <p:spPr bwMode="auto">
          <a:xfrm>
            <a:off x="2554289" y="1839913"/>
            <a:ext cx="1587" cy="58420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9954" name="Line 8">
            <a:extLst>
              <a:ext uri="{FF2B5EF4-FFF2-40B4-BE49-F238E27FC236}">
                <a16:creationId xmlns:a16="http://schemas.microsoft.com/office/drawing/2014/main" id="{1C13C625-6F0B-4927-BD51-B4AC98FFD791}"/>
              </a:ext>
            </a:extLst>
          </p:cNvPr>
          <p:cNvSpPr>
            <a:spLocks noChangeShapeType="1"/>
          </p:cNvSpPr>
          <p:nvPr/>
        </p:nvSpPr>
        <p:spPr bwMode="auto">
          <a:xfrm flipV="1">
            <a:off x="2057400" y="1690689"/>
            <a:ext cx="0" cy="73183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55" name="TextBox 18">
            <a:extLst>
              <a:ext uri="{FF2B5EF4-FFF2-40B4-BE49-F238E27FC236}">
                <a16:creationId xmlns:a16="http://schemas.microsoft.com/office/drawing/2014/main" id="{7282514D-EABE-4676-8DEF-69502B93CBB9}"/>
              </a:ext>
            </a:extLst>
          </p:cNvPr>
          <p:cNvSpPr txBox="1">
            <a:spLocks noChangeArrowheads="1"/>
          </p:cNvSpPr>
          <p:nvPr/>
        </p:nvSpPr>
        <p:spPr bwMode="auto">
          <a:xfrm>
            <a:off x="2133600" y="1524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f</a:t>
            </a:r>
            <a:r>
              <a:rPr lang="en-US" altLang="en-US" sz="2400" baseline="-25000"/>
              <a:t>1</a:t>
            </a:r>
          </a:p>
        </p:txBody>
      </p:sp>
      <p:sp>
        <p:nvSpPr>
          <p:cNvPr id="39956" name="TextBox 19">
            <a:extLst>
              <a:ext uri="{FF2B5EF4-FFF2-40B4-BE49-F238E27FC236}">
                <a16:creationId xmlns:a16="http://schemas.microsoft.com/office/drawing/2014/main" id="{3C1874EA-9D6B-421D-B1EF-D3920945FA34}"/>
              </a:ext>
            </a:extLst>
          </p:cNvPr>
          <p:cNvSpPr txBox="1">
            <a:spLocks noChangeArrowheads="1"/>
          </p:cNvSpPr>
          <p:nvPr/>
        </p:nvSpPr>
        <p:spPr bwMode="auto">
          <a:xfrm>
            <a:off x="2286001" y="2438401"/>
            <a:ext cx="517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t>d</a:t>
            </a:r>
            <a:r>
              <a:rPr lang="en-US" altLang="en-US" sz="2800" baseline="-25000"/>
              <a:t>1</a:t>
            </a:r>
          </a:p>
        </p:txBody>
      </p:sp>
      <p:sp>
        <p:nvSpPr>
          <p:cNvPr id="39957" name="Line 8">
            <a:extLst>
              <a:ext uri="{FF2B5EF4-FFF2-40B4-BE49-F238E27FC236}">
                <a16:creationId xmlns:a16="http://schemas.microsoft.com/office/drawing/2014/main" id="{8400E9F5-E610-467F-BE0A-E8B077CAACB3}"/>
              </a:ext>
            </a:extLst>
          </p:cNvPr>
          <p:cNvSpPr>
            <a:spLocks noChangeShapeType="1"/>
          </p:cNvSpPr>
          <p:nvPr/>
        </p:nvSpPr>
        <p:spPr bwMode="auto">
          <a:xfrm flipV="1">
            <a:off x="2057400" y="4051300"/>
            <a:ext cx="1219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9958" name="Group 11">
            <a:extLst>
              <a:ext uri="{FF2B5EF4-FFF2-40B4-BE49-F238E27FC236}">
                <a16:creationId xmlns:a16="http://schemas.microsoft.com/office/drawing/2014/main" id="{F9B8297A-D437-4136-B150-030226436E93}"/>
              </a:ext>
            </a:extLst>
          </p:cNvPr>
          <p:cNvGrpSpPr>
            <a:grpSpLocks/>
          </p:cNvGrpSpPr>
          <p:nvPr/>
        </p:nvGrpSpPr>
        <p:grpSpPr bwMode="auto">
          <a:xfrm>
            <a:off x="2106614" y="3468688"/>
            <a:ext cx="922337" cy="584200"/>
            <a:chOff x="1944" y="5721"/>
            <a:chExt cx="2808" cy="1296"/>
          </a:xfrm>
        </p:grpSpPr>
        <p:sp>
          <p:nvSpPr>
            <p:cNvPr id="39973" name="Freeform 10">
              <a:extLst>
                <a:ext uri="{FF2B5EF4-FFF2-40B4-BE49-F238E27FC236}">
                  <a16:creationId xmlns:a16="http://schemas.microsoft.com/office/drawing/2014/main" id="{63089B4C-7F22-45B3-8F67-47351F6F9045}"/>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74" name="Freeform 11">
              <a:extLst>
                <a:ext uri="{FF2B5EF4-FFF2-40B4-BE49-F238E27FC236}">
                  <a16:creationId xmlns:a16="http://schemas.microsoft.com/office/drawing/2014/main" id="{F71BCD46-B19F-4F58-AF5F-B1F9209FD569}"/>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9959" name="Line 15">
            <a:extLst>
              <a:ext uri="{FF2B5EF4-FFF2-40B4-BE49-F238E27FC236}">
                <a16:creationId xmlns:a16="http://schemas.microsoft.com/office/drawing/2014/main" id="{CF01019F-83DC-4828-8C7A-4AFAEB1ED1EC}"/>
              </a:ext>
            </a:extLst>
          </p:cNvPr>
          <p:cNvSpPr>
            <a:spLocks noChangeShapeType="1"/>
          </p:cNvSpPr>
          <p:nvPr/>
        </p:nvSpPr>
        <p:spPr bwMode="auto">
          <a:xfrm>
            <a:off x="2554289" y="3468688"/>
            <a:ext cx="1587" cy="58420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9960" name="Line 8">
            <a:extLst>
              <a:ext uri="{FF2B5EF4-FFF2-40B4-BE49-F238E27FC236}">
                <a16:creationId xmlns:a16="http://schemas.microsoft.com/office/drawing/2014/main" id="{8E019967-45E2-4427-BDB6-B18275813BCC}"/>
              </a:ext>
            </a:extLst>
          </p:cNvPr>
          <p:cNvSpPr>
            <a:spLocks noChangeShapeType="1"/>
          </p:cNvSpPr>
          <p:nvPr/>
        </p:nvSpPr>
        <p:spPr bwMode="auto">
          <a:xfrm flipV="1">
            <a:off x="2057400" y="3319464"/>
            <a:ext cx="0" cy="73183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61" name="TextBox 19">
            <a:extLst>
              <a:ext uri="{FF2B5EF4-FFF2-40B4-BE49-F238E27FC236}">
                <a16:creationId xmlns:a16="http://schemas.microsoft.com/office/drawing/2014/main" id="{617E61F5-883B-4DA2-A472-AE95BCD80D5E}"/>
              </a:ext>
            </a:extLst>
          </p:cNvPr>
          <p:cNvSpPr txBox="1">
            <a:spLocks noChangeArrowheads="1"/>
          </p:cNvSpPr>
          <p:nvPr/>
        </p:nvSpPr>
        <p:spPr bwMode="auto">
          <a:xfrm>
            <a:off x="2133600" y="3200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f</a:t>
            </a:r>
            <a:r>
              <a:rPr lang="en-US" altLang="en-US" sz="2400" baseline="-25000"/>
              <a:t>2</a:t>
            </a:r>
          </a:p>
        </p:txBody>
      </p:sp>
      <p:sp>
        <p:nvSpPr>
          <p:cNvPr id="39962" name="TextBox 19">
            <a:extLst>
              <a:ext uri="{FF2B5EF4-FFF2-40B4-BE49-F238E27FC236}">
                <a16:creationId xmlns:a16="http://schemas.microsoft.com/office/drawing/2014/main" id="{1D71A1E4-363B-4CF7-9EAD-26D3B15A427B}"/>
              </a:ext>
            </a:extLst>
          </p:cNvPr>
          <p:cNvSpPr txBox="1">
            <a:spLocks noChangeArrowheads="1"/>
          </p:cNvSpPr>
          <p:nvPr/>
        </p:nvSpPr>
        <p:spPr bwMode="auto">
          <a:xfrm>
            <a:off x="2286001" y="4129088"/>
            <a:ext cx="517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t>d</a:t>
            </a:r>
            <a:r>
              <a:rPr lang="en-US" altLang="en-US" sz="2800" baseline="-25000"/>
              <a:t>2</a:t>
            </a:r>
          </a:p>
        </p:txBody>
      </p:sp>
      <p:sp>
        <p:nvSpPr>
          <p:cNvPr id="46" name="Text Box 83">
            <a:extLst>
              <a:ext uri="{FF2B5EF4-FFF2-40B4-BE49-F238E27FC236}">
                <a16:creationId xmlns:a16="http://schemas.microsoft.com/office/drawing/2014/main" id="{466FE455-12D4-445E-A586-5FB2BBCE8BAD}"/>
              </a:ext>
            </a:extLst>
          </p:cNvPr>
          <p:cNvSpPr txBox="1">
            <a:spLocks noChangeArrowheads="1"/>
          </p:cNvSpPr>
          <p:nvPr/>
        </p:nvSpPr>
        <p:spPr bwMode="auto">
          <a:xfrm>
            <a:off x="4087813" y="5108576"/>
            <a:ext cx="4724400" cy="523875"/>
          </a:xfrm>
          <a:prstGeom prst="rect">
            <a:avLst/>
          </a:prstGeom>
          <a:solidFill>
            <a:schemeClr val="accent1">
              <a:lumMod val="20000"/>
              <a:lumOff val="80000"/>
            </a:schemeClr>
          </a:solidFill>
          <a:ln>
            <a:headEnd/>
            <a:tailEnd/>
          </a:ln>
          <a:effectLst/>
        </p:spPr>
        <p:style>
          <a:lnRef idx="1">
            <a:schemeClr val="accent5"/>
          </a:lnRef>
          <a:fillRef idx="2">
            <a:schemeClr val="accent5"/>
          </a:fillRef>
          <a:effectRef idx="1">
            <a:schemeClr val="accent5"/>
          </a:effectRef>
          <a:fontRef idx="minor">
            <a:schemeClr val="dk1"/>
          </a:fontRef>
        </p:style>
        <p:txBody>
          <a:bodyPr>
            <a:spAutoFit/>
          </a:bodyPr>
          <a:lstStyle/>
          <a:p>
            <a:pPr eaLnBrk="1" hangingPunct="1">
              <a:spcBef>
                <a:spcPct val="50000"/>
              </a:spcBef>
              <a:defRPr/>
            </a:pPr>
            <a:r>
              <a:rPr lang="en-US" sz="1400" dirty="0">
                <a:solidFill>
                  <a:schemeClr val="tx1"/>
                </a:solidFill>
              </a:rPr>
              <a:t>Delay PDF at output pin is calculated as upper bound of statistical max of d</a:t>
            </a:r>
            <a:r>
              <a:rPr lang="en-US" sz="1400" baseline="-25000" dirty="0">
                <a:solidFill>
                  <a:schemeClr val="tx1"/>
                </a:solidFill>
              </a:rPr>
              <a:t>1 </a:t>
            </a:r>
            <a:r>
              <a:rPr lang="en-US" sz="1400" dirty="0">
                <a:solidFill>
                  <a:schemeClr val="tx1"/>
                </a:solidFill>
              </a:rPr>
              <a:t>and d</a:t>
            </a:r>
            <a:r>
              <a:rPr lang="en-US" sz="1400" baseline="-25000" dirty="0">
                <a:solidFill>
                  <a:schemeClr val="tx1"/>
                </a:solidFill>
              </a:rPr>
              <a:t>2</a:t>
            </a:r>
            <a:endParaRPr lang="ru-RU" sz="1400" baseline="-25000" dirty="0">
              <a:solidFill>
                <a:schemeClr val="tx1"/>
              </a:solidFill>
            </a:endParaRPr>
          </a:p>
        </p:txBody>
      </p:sp>
      <p:graphicFrame>
        <p:nvGraphicFramePr>
          <p:cNvPr id="39964" name="Object 45">
            <a:extLst>
              <a:ext uri="{FF2B5EF4-FFF2-40B4-BE49-F238E27FC236}">
                <a16:creationId xmlns:a16="http://schemas.microsoft.com/office/drawing/2014/main" id="{B2FE1A5A-5342-44CF-BFCB-CF151354431F}"/>
              </a:ext>
            </a:extLst>
          </p:cNvPr>
          <p:cNvGraphicFramePr>
            <a:graphicFrameLocks noChangeAspect="1"/>
          </p:cNvGraphicFramePr>
          <p:nvPr/>
        </p:nvGraphicFramePr>
        <p:xfrm>
          <a:off x="7705726" y="4197350"/>
          <a:ext cx="1719263" cy="387350"/>
        </p:xfrm>
        <a:graphic>
          <a:graphicData uri="http://schemas.openxmlformats.org/presentationml/2006/ole">
            <mc:AlternateContent xmlns:mc="http://schemas.openxmlformats.org/markup-compatibility/2006">
              <mc:Choice xmlns:v="urn:schemas-microsoft-com:vml" Requires="v">
                <p:oleObj name="Equation" r:id="rId3" imgW="787058" imgH="177723" progId="Equation.3">
                  <p:embed/>
                </p:oleObj>
              </mc:Choice>
              <mc:Fallback>
                <p:oleObj name="Equation" r:id="rId3" imgW="787058" imgH="177723" progId="Equation.3">
                  <p:embed/>
                  <p:pic>
                    <p:nvPicPr>
                      <p:cNvPr id="39964" name="Object 45">
                        <a:extLst>
                          <a:ext uri="{FF2B5EF4-FFF2-40B4-BE49-F238E27FC236}">
                            <a16:creationId xmlns:a16="http://schemas.microsoft.com/office/drawing/2014/main" id="{B2FE1A5A-5342-44CF-BFCB-CF15135443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5726" y="4197350"/>
                        <a:ext cx="1719263"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5" name="Line 15">
            <a:extLst>
              <a:ext uri="{FF2B5EF4-FFF2-40B4-BE49-F238E27FC236}">
                <a16:creationId xmlns:a16="http://schemas.microsoft.com/office/drawing/2014/main" id="{63D740F3-D466-4A36-AC77-E62A03E3391D}"/>
              </a:ext>
            </a:extLst>
          </p:cNvPr>
          <p:cNvSpPr>
            <a:spLocks noChangeShapeType="1"/>
          </p:cNvSpPr>
          <p:nvPr/>
        </p:nvSpPr>
        <p:spPr bwMode="auto">
          <a:xfrm>
            <a:off x="8437563" y="3109914"/>
            <a:ext cx="0" cy="61118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9966" name="Line 15">
            <a:extLst>
              <a:ext uri="{FF2B5EF4-FFF2-40B4-BE49-F238E27FC236}">
                <a16:creationId xmlns:a16="http://schemas.microsoft.com/office/drawing/2014/main" id="{3070A5BD-336A-480D-BCB6-4DC313063BAC}"/>
              </a:ext>
            </a:extLst>
          </p:cNvPr>
          <p:cNvSpPr>
            <a:spLocks noChangeShapeType="1"/>
          </p:cNvSpPr>
          <p:nvPr/>
        </p:nvSpPr>
        <p:spPr bwMode="auto">
          <a:xfrm>
            <a:off x="8766175" y="3109914"/>
            <a:ext cx="0" cy="61118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9967" name="Line 57">
            <a:extLst>
              <a:ext uri="{FF2B5EF4-FFF2-40B4-BE49-F238E27FC236}">
                <a16:creationId xmlns:a16="http://schemas.microsoft.com/office/drawing/2014/main" id="{F2EBA6AB-6BED-4A33-9C3C-AA131DC934E0}"/>
              </a:ext>
            </a:extLst>
          </p:cNvPr>
          <p:cNvSpPr>
            <a:spLocks noChangeShapeType="1"/>
          </p:cNvSpPr>
          <p:nvPr/>
        </p:nvSpPr>
        <p:spPr bwMode="auto">
          <a:xfrm flipV="1">
            <a:off x="7815264" y="3173413"/>
            <a:ext cx="617537" cy="0"/>
          </a:xfrm>
          <a:prstGeom prst="line">
            <a:avLst/>
          </a:prstGeom>
          <a:noFill/>
          <a:ln w="9525" algn="ctr">
            <a:solidFill>
              <a:srgbClr val="0000FF"/>
            </a:solidFill>
            <a:round/>
            <a:headEnd type="triangle" w="med" len="med"/>
            <a:tailEnd type="triangle" w="med" len="med"/>
          </a:ln>
        </p:spPr>
        <p:txBody>
          <a:bodyPr/>
          <a:lstStyle/>
          <a:p>
            <a:endParaRPr lang="en-US"/>
          </a:p>
        </p:txBody>
      </p:sp>
      <p:sp>
        <p:nvSpPr>
          <p:cNvPr id="39968" name="Line 58">
            <a:extLst>
              <a:ext uri="{FF2B5EF4-FFF2-40B4-BE49-F238E27FC236}">
                <a16:creationId xmlns:a16="http://schemas.microsoft.com/office/drawing/2014/main" id="{38C69D0A-5997-4116-9258-548AEAD950F4}"/>
              </a:ext>
            </a:extLst>
          </p:cNvPr>
          <p:cNvSpPr>
            <a:spLocks noChangeShapeType="1"/>
          </p:cNvSpPr>
          <p:nvPr/>
        </p:nvSpPr>
        <p:spPr bwMode="auto">
          <a:xfrm>
            <a:off x="7775575" y="3684588"/>
            <a:ext cx="985838" cy="0"/>
          </a:xfrm>
          <a:prstGeom prst="line">
            <a:avLst/>
          </a:prstGeom>
          <a:noFill/>
          <a:ln w="9525" algn="ctr">
            <a:solidFill>
              <a:srgbClr val="0000FF"/>
            </a:solidFill>
            <a:round/>
            <a:headEnd type="triangle" w="med" len="med"/>
            <a:tailEnd type="triangle" w="med" len="med"/>
          </a:ln>
        </p:spPr>
        <p:txBody>
          <a:bodyPr/>
          <a:lstStyle/>
          <a:p>
            <a:endParaRPr lang="en-US"/>
          </a:p>
        </p:txBody>
      </p:sp>
      <p:sp>
        <p:nvSpPr>
          <p:cNvPr id="39969" name="Line 59">
            <a:extLst>
              <a:ext uri="{FF2B5EF4-FFF2-40B4-BE49-F238E27FC236}">
                <a16:creationId xmlns:a16="http://schemas.microsoft.com/office/drawing/2014/main" id="{153A4496-0263-4A7E-B95A-06BBC1D39E44}"/>
              </a:ext>
            </a:extLst>
          </p:cNvPr>
          <p:cNvSpPr>
            <a:spLocks noChangeShapeType="1"/>
          </p:cNvSpPr>
          <p:nvPr/>
        </p:nvSpPr>
        <p:spPr bwMode="auto">
          <a:xfrm flipV="1">
            <a:off x="7997826" y="3794125"/>
            <a:ext cx="366713" cy="330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70" name="Line 60">
            <a:extLst>
              <a:ext uri="{FF2B5EF4-FFF2-40B4-BE49-F238E27FC236}">
                <a16:creationId xmlns:a16="http://schemas.microsoft.com/office/drawing/2014/main" id="{BE2E845B-E3D7-4540-B1A7-AF9422E2A9B0}"/>
              </a:ext>
            </a:extLst>
          </p:cNvPr>
          <p:cNvSpPr>
            <a:spLocks noChangeShapeType="1"/>
          </p:cNvSpPr>
          <p:nvPr/>
        </p:nvSpPr>
        <p:spPr bwMode="auto">
          <a:xfrm flipH="1" flipV="1">
            <a:off x="8802689" y="3757614"/>
            <a:ext cx="365125" cy="4397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71" name="TextBox 52">
            <a:extLst>
              <a:ext uri="{FF2B5EF4-FFF2-40B4-BE49-F238E27FC236}">
                <a16:creationId xmlns:a16="http://schemas.microsoft.com/office/drawing/2014/main" id="{094D3FC1-5B42-497C-A07F-3B907F88651B}"/>
              </a:ext>
            </a:extLst>
          </p:cNvPr>
          <p:cNvSpPr txBox="1">
            <a:spLocks noChangeArrowheads="1"/>
          </p:cNvSpPr>
          <p:nvPr/>
        </p:nvSpPr>
        <p:spPr bwMode="auto">
          <a:xfrm>
            <a:off x="7848600" y="3611564"/>
            <a:ext cx="3952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t>3</a:t>
            </a:r>
            <a:r>
              <a:rPr lang="el-GR" altLang="en-US" sz="1400">
                <a:latin typeface="Arial Unicode"/>
              </a:rPr>
              <a:t>σ</a:t>
            </a:r>
            <a:endParaRPr lang="en-US" altLang="en-US" sz="1400"/>
          </a:p>
        </p:txBody>
      </p:sp>
      <p:sp>
        <p:nvSpPr>
          <p:cNvPr id="6" name="Chord 5">
            <a:extLst>
              <a:ext uri="{FF2B5EF4-FFF2-40B4-BE49-F238E27FC236}">
                <a16:creationId xmlns:a16="http://schemas.microsoft.com/office/drawing/2014/main" id="{16488FD7-7D5F-41CE-964F-D6F4851AA97C}"/>
              </a:ext>
            </a:extLst>
          </p:cNvPr>
          <p:cNvSpPr/>
          <p:nvPr/>
        </p:nvSpPr>
        <p:spPr bwMode="auto">
          <a:xfrm flipH="1">
            <a:off x="3394076" y="2684464"/>
            <a:ext cx="1425575" cy="915987"/>
          </a:xfrm>
          <a:prstGeom prst="chord">
            <a:avLst>
              <a:gd name="adj1" fmla="val 5351299"/>
              <a:gd name="adj2" fmla="val 16200000"/>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A6C51821-2FDF-45F4-904B-C67D78A3A938}"/>
              </a:ext>
            </a:extLst>
          </p:cNvPr>
          <p:cNvSpPr>
            <a:spLocks noGrp="1"/>
          </p:cNvSpPr>
          <p:nvPr>
            <p:ph type="title"/>
          </p:nvPr>
        </p:nvSpPr>
        <p:spPr/>
        <p:txBody>
          <a:bodyPr/>
          <a:lstStyle/>
          <a:p>
            <a:r>
              <a:rPr lang="en-US" altLang="en-US"/>
              <a:t>Statistical MAX Operation (2)</a:t>
            </a:r>
          </a:p>
        </p:txBody>
      </p:sp>
      <p:sp>
        <p:nvSpPr>
          <p:cNvPr id="41987" name="Rectangle 4">
            <a:extLst>
              <a:ext uri="{FF2B5EF4-FFF2-40B4-BE49-F238E27FC236}">
                <a16:creationId xmlns:a16="http://schemas.microsoft.com/office/drawing/2014/main" id="{B7EF72B4-A431-4840-8DE2-EBD6F2C9B550}"/>
              </a:ext>
            </a:extLst>
          </p:cNvPr>
          <p:cNvSpPr>
            <a:spLocks noChangeArrowheads="1"/>
          </p:cNvSpPr>
          <p:nvPr/>
        </p:nvSpPr>
        <p:spPr bwMode="auto">
          <a:xfrm>
            <a:off x="1600200" y="4237039"/>
            <a:ext cx="1841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1988" name="Rectangle 5">
            <a:extLst>
              <a:ext uri="{FF2B5EF4-FFF2-40B4-BE49-F238E27FC236}">
                <a16:creationId xmlns:a16="http://schemas.microsoft.com/office/drawing/2014/main" id="{B156C4C0-A2D3-4DBF-9E54-14652A18B9C0}"/>
              </a:ext>
            </a:extLst>
          </p:cNvPr>
          <p:cNvSpPr>
            <a:spLocks noChangeArrowheads="1"/>
          </p:cNvSpPr>
          <p:nvPr/>
        </p:nvSpPr>
        <p:spPr bwMode="auto">
          <a:xfrm>
            <a:off x="1600201" y="3913659"/>
            <a:ext cx="18473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1989" name="Rectangle 6">
            <a:extLst>
              <a:ext uri="{FF2B5EF4-FFF2-40B4-BE49-F238E27FC236}">
                <a16:creationId xmlns:a16="http://schemas.microsoft.com/office/drawing/2014/main" id="{8B777AD3-CDD9-4504-8856-873DB5677CCB}"/>
              </a:ext>
            </a:extLst>
          </p:cNvPr>
          <p:cNvSpPr>
            <a:spLocks noChangeArrowheads="1"/>
          </p:cNvSpPr>
          <p:nvPr/>
        </p:nvSpPr>
        <p:spPr bwMode="auto">
          <a:xfrm>
            <a:off x="1600201" y="3866034"/>
            <a:ext cx="18473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nvGrpSpPr>
          <p:cNvPr id="41990" name="Group 12">
            <a:extLst>
              <a:ext uri="{FF2B5EF4-FFF2-40B4-BE49-F238E27FC236}">
                <a16:creationId xmlns:a16="http://schemas.microsoft.com/office/drawing/2014/main" id="{F33F63BC-A9E9-4D8F-A6C4-CEE650301FBB}"/>
              </a:ext>
            </a:extLst>
          </p:cNvPr>
          <p:cNvGrpSpPr>
            <a:grpSpLocks/>
          </p:cNvGrpSpPr>
          <p:nvPr/>
        </p:nvGrpSpPr>
        <p:grpSpPr bwMode="auto">
          <a:xfrm>
            <a:off x="3843338" y="3332163"/>
            <a:ext cx="1947862" cy="557212"/>
            <a:chOff x="1944" y="5721"/>
            <a:chExt cx="2808" cy="1296"/>
          </a:xfrm>
        </p:grpSpPr>
        <p:sp>
          <p:nvSpPr>
            <p:cNvPr id="42024" name="Freeform 13">
              <a:extLst>
                <a:ext uri="{FF2B5EF4-FFF2-40B4-BE49-F238E27FC236}">
                  <a16:creationId xmlns:a16="http://schemas.microsoft.com/office/drawing/2014/main" id="{9FC16C7A-3D21-48D2-802B-6B3535E6551B}"/>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25" name="Freeform 14">
              <a:extLst>
                <a:ext uri="{FF2B5EF4-FFF2-40B4-BE49-F238E27FC236}">
                  <a16:creationId xmlns:a16="http://schemas.microsoft.com/office/drawing/2014/main" id="{1A0BA3A6-CF94-496C-BB7C-79FBAA9ABCFA}"/>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1991" name="Line 16">
            <a:extLst>
              <a:ext uri="{FF2B5EF4-FFF2-40B4-BE49-F238E27FC236}">
                <a16:creationId xmlns:a16="http://schemas.microsoft.com/office/drawing/2014/main" id="{32D365AE-C1D0-4848-8D44-CA8F7D440F13}"/>
              </a:ext>
            </a:extLst>
          </p:cNvPr>
          <p:cNvSpPr>
            <a:spLocks noChangeShapeType="1"/>
          </p:cNvSpPr>
          <p:nvPr/>
        </p:nvSpPr>
        <p:spPr bwMode="auto">
          <a:xfrm>
            <a:off x="4794250" y="3335339"/>
            <a:ext cx="1588" cy="55403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1992" name="Text Box 17">
            <a:extLst>
              <a:ext uri="{FF2B5EF4-FFF2-40B4-BE49-F238E27FC236}">
                <a16:creationId xmlns:a16="http://schemas.microsoft.com/office/drawing/2014/main" id="{CF40BC35-F151-4A43-BA02-5570F927CAAF}"/>
              </a:ext>
            </a:extLst>
          </p:cNvPr>
          <p:cNvSpPr txBox="1">
            <a:spLocks noChangeArrowheads="1"/>
          </p:cNvSpPr>
          <p:nvPr/>
        </p:nvSpPr>
        <p:spPr bwMode="auto">
          <a:xfrm>
            <a:off x="2790825" y="3908425"/>
            <a:ext cx="427038"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a:latin typeface="Times New Roman" panose="02020603050405020304" pitchFamily="18" charset="0"/>
                <a:cs typeface="Shruti" panose="020B0502040204020203" pitchFamily="34" charset="0"/>
                <a:sym typeface="Symbol" panose="05050102010706020507" pitchFamily="18" charset="2"/>
              </a:rPr>
              <a:t></a:t>
            </a:r>
            <a:r>
              <a:rPr lang="en-US" altLang="en-US" sz="1400" baseline="-25000">
                <a:latin typeface="Times New Roman" panose="02020603050405020304" pitchFamily="18" charset="0"/>
                <a:cs typeface="Shruti" panose="020B0502040204020203" pitchFamily="34" charset="0"/>
              </a:rPr>
              <a:t>1</a:t>
            </a:r>
            <a:endParaRPr lang="en-US" altLang="en-US" sz="1400">
              <a:latin typeface="Times New Roman" panose="02020603050405020304" pitchFamily="18" charset="0"/>
            </a:endParaRPr>
          </a:p>
        </p:txBody>
      </p:sp>
      <p:sp>
        <p:nvSpPr>
          <p:cNvPr id="41993" name="Text Box 18">
            <a:extLst>
              <a:ext uri="{FF2B5EF4-FFF2-40B4-BE49-F238E27FC236}">
                <a16:creationId xmlns:a16="http://schemas.microsoft.com/office/drawing/2014/main" id="{232278E1-B02A-4B9A-BB67-484147BF6981}"/>
              </a:ext>
            </a:extLst>
          </p:cNvPr>
          <p:cNvSpPr txBox="1">
            <a:spLocks noChangeArrowheads="1"/>
          </p:cNvSpPr>
          <p:nvPr/>
        </p:nvSpPr>
        <p:spPr bwMode="auto">
          <a:xfrm>
            <a:off x="4598989" y="3908425"/>
            <a:ext cx="427037"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a:latin typeface="Times New Roman" panose="02020603050405020304" pitchFamily="18" charset="0"/>
                <a:cs typeface="Shruti" panose="020B0502040204020203" pitchFamily="34" charset="0"/>
                <a:sym typeface="Symbol" panose="05050102010706020507" pitchFamily="18" charset="2"/>
              </a:rPr>
              <a:t></a:t>
            </a:r>
            <a:r>
              <a:rPr lang="en-US" altLang="en-US" sz="1400" baseline="-25000">
                <a:latin typeface="Times New Roman" panose="02020603050405020304" pitchFamily="18" charset="0"/>
                <a:cs typeface="Shruti" panose="020B0502040204020203" pitchFamily="34" charset="0"/>
              </a:rPr>
              <a:t>2</a:t>
            </a:r>
            <a:endParaRPr lang="en-US" altLang="en-US" sz="1400">
              <a:latin typeface="Times New Roman" panose="02020603050405020304" pitchFamily="18" charset="0"/>
            </a:endParaRPr>
          </a:p>
        </p:txBody>
      </p:sp>
      <p:sp>
        <p:nvSpPr>
          <p:cNvPr id="41994" name="Text Box 19">
            <a:extLst>
              <a:ext uri="{FF2B5EF4-FFF2-40B4-BE49-F238E27FC236}">
                <a16:creationId xmlns:a16="http://schemas.microsoft.com/office/drawing/2014/main" id="{035B9D8B-F25D-4519-805E-ABD6D7210666}"/>
              </a:ext>
            </a:extLst>
          </p:cNvPr>
          <p:cNvSpPr txBox="1">
            <a:spLocks noChangeArrowheads="1"/>
          </p:cNvSpPr>
          <p:nvPr/>
        </p:nvSpPr>
        <p:spPr bwMode="auto">
          <a:xfrm>
            <a:off x="2681289" y="2743200"/>
            <a:ext cx="427037"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a:latin typeface="Times New Roman" panose="02020603050405020304" pitchFamily="18" charset="0"/>
                <a:cs typeface="Shruti" panose="020B0502040204020203" pitchFamily="34" charset="0"/>
              </a:rPr>
              <a:t>    P</a:t>
            </a:r>
            <a:r>
              <a:rPr lang="en-US" altLang="en-US" sz="1400" baseline="-25000">
                <a:latin typeface="Times New Roman" panose="02020603050405020304" pitchFamily="18" charset="0"/>
                <a:cs typeface="Shruti" panose="020B0502040204020203" pitchFamily="34" charset="0"/>
              </a:rPr>
              <a:t>1</a:t>
            </a:r>
            <a:endParaRPr lang="en-US" altLang="en-US" sz="1400">
              <a:latin typeface="Times New Roman" panose="02020603050405020304" pitchFamily="18" charset="0"/>
            </a:endParaRPr>
          </a:p>
        </p:txBody>
      </p:sp>
      <p:sp>
        <p:nvSpPr>
          <p:cNvPr id="41995" name="Text Box 20">
            <a:extLst>
              <a:ext uri="{FF2B5EF4-FFF2-40B4-BE49-F238E27FC236}">
                <a16:creationId xmlns:a16="http://schemas.microsoft.com/office/drawing/2014/main" id="{5170B2A3-7B89-4E5A-B2CB-334FF5A06E5E}"/>
              </a:ext>
            </a:extLst>
          </p:cNvPr>
          <p:cNvSpPr txBox="1">
            <a:spLocks noChangeArrowheads="1"/>
          </p:cNvSpPr>
          <p:nvPr/>
        </p:nvSpPr>
        <p:spPr bwMode="auto">
          <a:xfrm>
            <a:off x="4611689" y="3068638"/>
            <a:ext cx="427037"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a:latin typeface="Times New Roman" panose="02020603050405020304" pitchFamily="18" charset="0"/>
                <a:cs typeface="Shruti" panose="020B0502040204020203" pitchFamily="34" charset="0"/>
              </a:rPr>
              <a:t>P</a:t>
            </a:r>
            <a:r>
              <a:rPr lang="en-US" altLang="en-US" sz="1400" baseline="-25000">
                <a:latin typeface="Times New Roman" panose="02020603050405020304" pitchFamily="18" charset="0"/>
                <a:cs typeface="Shruti" panose="020B0502040204020203" pitchFamily="34" charset="0"/>
              </a:rPr>
              <a:t>2</a:t>
            </a:r>
            <a:endParaRPr lang="en-US" altLang="en-US" sz="1400">
              <a:latin typeface="Times New Roman" panose="02020603050405020304" pitchFamily="18" charset="0"/>
            </a:endParaRPr>
          </a:p>
        </p:txBody>
      </p:sp>
      <p:sp>
        <p:nvSpPr>
          <p:cNvPr id="41996" name="Text Box 21">
            <a:extLst>
              <a:ext uri="{FF2B5EF4-FFF2-40B4-BE49-F238E27FC236}">
                <a16:creationId xmlns:a16="http://schemas.microsoft.com/office/drawing/2014/main" id="{FFFB9822-798E-4281-A009-E1614A7EB506}"/>
              </a:ext>
            </a:extLst>
          </p:cNvPr>
          <p:cNvSpPr txBox="1">
            <a:spLocks noChangeArrowheads="1"/>
          </p:cNvSpPr>
          <p:nvPr/>
        </p:nvSpPr>
        <p:spPr bwMode="auto">
          <a:xfrm>
            <a:off x="3276601" y="4114801"/>
            <a:ext cx="123507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nl-NL" altLang="en-US" sz="1400">
              <a:latin typeface="Times New Roman" panose="02020603050405020304" pitchFamily="18" charset="0"/>
            </a:endParaRPr>
          </a:p>
        </p:txBody>
      </p:sp>
      <p:sp>
        <p:nvSpPr>
          <p:cNvPr id="41997" name="Line 42">
            <a:extLst>
              <a:ext uri="{FF2B5EF4-FFF2-40B4-BE49-F238E27FC236}">
                <a16:creationId xmlns:a16="http://schemas.microsoft.com/office/drawing/2014/main" id="{535655A8-D04A-4427-B055-7354623A7A00}"/>
              </a:ext>
            </a:extLst>
          </p:cNvPr>
          <p:cNvSpPr>
            <a:spLocks noChangeShapeType="1"/>
          </p:cNvSpPr>
          <p:nvPr/>
        </p:nvSpPr>
        <p:spPr bwMode="auto">
          <a:xfrm flipV="1">
            <a:off x="6248401" y="3986213"/>
            <a:ext cx="41243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1998" name="Group 43">
            <a:extLst>
              <a:ext uri="{FF2B5EF4-FFF2-40B4-BE49-F238E27FC236}">
                <a16:creationId xmlns:a16="http://schemas.microsoft.com/office/drawing/2014/main" id="{8F3DA6D5-1F2B-4F3B-B316-9425F83F16C0}"/>
              </a:ext>
            </a:extLst>
          </p:cNvPr>
          <p:cNvGrpSpPr>
            <a:grpSpLocks/>
          </p:cNvGrpSpPr>
          <p:nvPr/>
        </p:nvGrpSpPr>
        <p:grpSpPr bwMode="auto">
          <a:xfrm>
            <a:off x="7859714" y="2963863"/>
            <a:ext cx="1697037" cy="1028700"/>
            <a:chOff x="1944" y="5721"/>
            <a:chExt cx="2808" cy="1296"/>
          </a:xfrm>
        </p:grpSpPr>
        <p:sp>
          <p:nvSpPr>
            <p:cNvPr id="42022" name="Freeform 44">
              <a:extLst>
                <a:ext uri="{FF2B5EF4-FFF2-40B4-BE49-F238E27FC236}">
                  <a16:creationId xmlns:a16="http://schemas.microsoft.com/office/drawing/2014/main" id="{742AE107-A040-4E81-8C5C-90B905962A1B}"/>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23" name="Freeform 45">
              <a:extLst>
                <a:ext uri="{FF2B5EF4-FFF2-40B4-BE49-F238E27FC236}">
                  <a16:creationId xmlns:a16="http://schemas.microsoft.com/office/drawing/2014/main" id="{509F7D3F-E942-4BB9-9AA1-BAD92AB36AE4}"/>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1999" name="Line 46">
            <a:extLst>
              <a:ext uri="{FF2B5EF4-FFF2-40B4-BE49-F238E27FC236}">
                <a16:creationId xmlns:a16="http://schemas.microsoft.com/office/drawing/2014/main" id="{61C28E4C-21D6-498E-9C90-915FF11DBD4D}"/>
              </a:ext>
            </a:extLst>
          </p:cNvPr>
          <p:cNvSpPr>
            <a:spLocks noChangeShapeType="1"/>
          </p:cNvSpPr>
          <p:nvPr/>
        </p:nvSpPr>
        <p:spPr bwMode="auto">
          <a:xfrm flipH="1">
            <a:off x="8289925" y="3309939"/>
            <a:ext cx="0" cy="68262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000" name="Text Box 47">
            <a:extLst>
              <a:ext uri="{FF2B5EF4-FFF2-40B4-BE49-F238E27FC236}">
                <a16:creationId xmlns:a16="http://schemas.microsoft.com/office/drawing/2014/main" id="{8D30D666-6C8A-4390-BE5C-B38C9FC95F25}"/>
              </a:ext>
            </a:extLst>
          </p:cNvPr>
          <p:cNvSpPr txBox="1">
            <a:spLocks noChangeArrowheads="1"/>
          </p:cNvSpPr>
          <p:nvPr/>
        </p:nvSpPr>
        <p:spPr bwMode="auto">
          <a:xfrm>
            <a:off x="8043864" y="3059113"/>
            <a:ext cx="503237"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a:latin typeface="Times New Roman" panose="02020603050405020304" pitchFamily="18" charset="0"/>
                <a:cs typeface="Shruti" panose="020B0502040204020203" pitchFamily="34" charset="0"/>
              </a:rPr>
              <a:t>P</a:t>
            </a:r>
            <a:r>
              <a:rPr lang="en-US" altLang="en-US" sz="1400" baseline="-25000">
                <a:latin typeface="Times New Roman" panose="02020603050405020304" pitchFamily="18" charset="0"/>
                <a:cs typeface="Shruti" panose="020B0502040204020203" pitchFamily="34" charset="0"/>
              </a:rPr>
              <a:t>1</a:t>
            </a:r>
            <a:endParaRPr lang="en-US" altLang="en-US" sz="1400">
              <a:latin typeface="Times New Roman" panose="02020603050405020304" pitchFamily="18" charset="0"/>
            </a:endParaRPr>
          </a:p>
        </p:txBody>
      </p:sp>
      <p:sp>
        <p:nvSpPr>
          <p:cNvPr id="42001" name="Text Box 48">
            <a:extLst>
              <a:ext uri="{FF2B5EF4-FFF2-40B4-BE49-F238E27FC236}">
                <a16:creationId xmlns:a16="http://schemas.microsoft.com/office/drawing/2014/main" id="{A661EB1D-1496-49E0-B320-5C5EAB9C0FE3}"/>
              </a:ext>
            </a:extLst>
          </p:cNvPr>
          <p:cNvSpPr txBox="1">
            <a:spLocks noChangeArrowheads="1"/>
          </p:cNvSpPr>
          <p:nvPr/>
        </p:nvSpPr>
        <p:spPr bwMode="auto">
          <a:xfrm>
            <a:off x="8461375" y="2743201"/>
            <a:ext cx="503238"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a:latin typeface="Times New Roman" panose="02020603050405020304" pitchFamily="18" charset="0"/>
                <a:cs typeface="Shruti" panose="020B0502040204020203" pitchFamily="34" charset="0"/>
              </a:rPr>
              <a:t>P</a:t>
            </a:r>
            <a:r>
              <a:rPr lang="en-US" altLang="en-US" sz="1400" baseline="-25000">
                <a:latin typeface="Times New Roman" panose="02020603050405020304" pitchFamily="18" charset="0"/>
                <a:cs typeface="Shruti" panose="020B0502040204020203" pitchFamily="34" charset="0"/>
              </a:rPr>
              <a:t>2</a:t>
            </a:r>
            <a:endParaRPr lang="en-US" altLang="en-US" sz="1400">
              <a:latin typeface="Times New Roman" panose="02020603050405020304" pitchFamily="18" charset="0"/>
            </a:endParaRPr>
          </a:p>
        </p:txBody>
      </p:sp>
      <p:sp>
        <p:nvSpPr>
          <p:cNvPr id="42002" name="Line 49">
            <a:extLst>
              <a:ext uri="{FF2B5EF4-FFF2-40B4-BE49-F238E27FC236}">
                <a16:creationId xmlns:a16="http://schemas.microsoft.com/office/drawing/2014/main" id="{8C29AD16-90FF-4ED3-98FD-7A16A79C01F0}"/>
              </a:ext>
            </a:extLst>
          </p:cNvPr>
          <p:cNvSpPr>
            <a:spLocks noChangeShapeType="1"/>
          </p:cNvSpPr>
          <p:nvPr/>
        </p:nvSpPr>
        <p:spPr bwMode="auto">
          <a:xfrm>
            <a:off x="8689975" y="2963863"/>
            <a:ext cx="0" cy="102235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2003" name="Group 50">
            <a:extLst>
              <a:ext uri="{FF2B5EF4-FFF2-40B4-BE49-F238E27FC236}">
                <a16:creationId xmlns:a16="http://schemas.microsoft.com/office/drawing/2014/main" id="{C4CCA93A-0D26-4D48-8A2F-D16FD17AA654}"/>
              </a:ext>
            </a:extLst>
          </p:cNvPr>
          <p:cNvGrpSpPr>
            <a:grpSpLocks/>
          </p:cNvGrpSpPr>
          <p:nvPr/>
        </p:nvGrpSpPr>
        <p:grpSpPr bwMode="auto">
          <a:xfrm>
            <a:off x="6278563" y="3302000"/>
            <a:ext cx="4062412" cy="590550"/>
            <a:chOff x="1636" y="3295"/>
            <a:chExt cx="3962" cy="574"/>
          </a:xfrm>
        </p:grpSpPr>
        <p:sp>
          <p:nvSpPr>
            <p:cNvPr id="42020" name="Freeform 51">
              <a:extLst>
                <a:ext uri="{FF2B5EF4-FFF2-40B4-BE49-F238E27FC236}">
                  <a16:creationId xmlns:a16="http://schemas.microsoft.com/office/drawing/2014/main" id="{E131D980-928B-4EA4-B9C6-3ABC7F0612D2}"/>
                </a:ext>
              </a:extLst>
            </p:cNvPr>
            <p:cNvSpPr>
              <a:spLocks/>
            </p:cNvSpPr>
            <p:nvPr/>
          </p:nvSpPr>
          <p:spPr bwMode="auto">
            <a:xfrm>
              <a:off x="1636" y="3295"/>
              <a:ext cx="1974" cy="574"/>
            </a:xfrm>
            <a:custGeom>
              <a:avLst/>
              <a:gdLst>
                <a:gd name="T0" fmla="*/ 1974 w 1974"/>
                <a:gd name="T1" fmla="*/ 0 h 574"/>
                <a:gd name="T2" fmla="*/ 1400 w 1974"/>
                <a:gd name="T3" fmla="*/ 98 h 574"/>
                <a:gd name="T4" fmla="*/ 588 w 1974"/>
                <a:gd name="T5" fmla="*/ 420 h 574"/>
                <a:gd name="T6" fmla="*/ 0 w 1974"/>
                <a:gd name="T7" fmla="*/ 574 h 574"/>
                <a:gd name="T8" fmla="*/ 0 60000 65536"/>
                <a:gd name="T9" fmla="*/ 0 60000 65536"/>
                <a:gd name="T10" fmla="*/ 0 60000 65536"/>
                <a:gd name="T11" fmla="*/ 0 60000 65536"/>
                <a:gd name="T12" fmla="*/ 0 w 1974"/>
                <a:gd name="T13" fmla="*/ 0 h 574"/>
                <a:gd name="T14" fmla="*/ 1974 w 1974"/>
                <a:gd name="T15" fmla="*/ 574 h 574"/>
              </a:gdLst>
              <a:ahLst/>
              <a:cxnLst>
                <a:cxn ang="T8">
                  <a:pos x="T0" y="T1"/>
                </a:cxn>
                <a:cxn ang="T9">
                  <a:pos x="T2" y="T3"/>
                </a:cxn>
                <a:cxn ang="T10">
                  <a:pos x="T4" y="T5"/>
                </a:cxn>
                <a:cxn ang="T11">
                  <a:pos x="T6" y="T7"/>
                </a:cxn>
              </a:cxnLst>
              <a:rect l="T12" t="T13" r="T14" b="T15"/>
              <a:pathLst>
                <a:path w="1974" h="574">
                  <a:moveTo>
                    <a:pt x="1974" y="0"/>
                  </a:moveTo>
                  <a:cubicBezTo>
                    <a:pt x="1802" y="14"/>
                    <a:pt x="1631" y="28"/>
                    <a:pt x="1400" y="98"/>
                  </a:cubicBezTo>
                  <a:cubicBezTo>
                    <a:pt x="1169" y="168"/>
                    <a:pt x="821" y="341"/>
                    <a:pt x="588" y="420"/>
                  </a:cubicBezTo>
                  <a:cubicBezTo>
                    <a:pt x="355" y="499"/>
                    <a:pt x="177" y="536"/>
                    <a:pt x="0" y="574"/>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21" name="Freeform 52">
              <a:extLst>
                <a:ext uri="{FF2B5EF4-FFF2-40B4-BE49-F238E27FC236}">
                  <a16:creationId xmlns:a16="http://schemas.microsoft.com/office/drawing/2014/main" id="{A7169A92-5220-4F28-9731-A17FA4FAF62D}"/>
                </a:ext>
              </a:extLst>
            </p:cNvPr>
            <p:cNvSpPr>
              <a:spLocks/>
            </p:cNvSpPr>
            <p:nvPr/>
          </p:nvSpPr>
          <p:spPr bwMode="auto">
            <a:xfrm flipH="1">
              <a:off x="3624" y="3295"/>
              <a:ext cx="1974" cy="574"/>
            </a:xfrm>
            <a:custGeom>
              <a:avLst/>
              <a:gdLst>
                <a:gd name="T0" fmla="*/ 1974 w 1974"/>
                <a:gd name="T1" fmla="*/ 0 h 574"/>
                <a:gd name="T2" fmla="*/ 1400 w 1974"/>
                <a:gd name="T3" fmla="*/ 98 h 574"/>
                <a:gd name="T4" fmla="*/ 588 w 1974"/>
                <a:gd name="T5" fmla="*/ 420 h 574"/>
                <a:gd name="T6" fmla="*/ 0 w 1974"/>
                <a:gd name="T7" fmla="*/ 574 h 574"/>
                <a:gd name="T8" fmla="*/ 0 60000 65536"/>
                <a:gd name="T9" fmla="*/ 0 60000 65536"/>
                <a:gd name="T10" fmla="*/ 0 60000 65536"/>
                <a:gd name="T11" fmla="*/ 0 60000 65536"/>
                <a:gd name="T12" fmla="*/ 0 w 1974"/>
                <a:gd name="T13" fmla="*/ 0 h 574"/>
                <a:gd name="T14" fmla="*/ 1974 w 1974"/>
                <a:gd name="T15" fmla="*/ 574 h 574"/>
              </a:gdLst>
              <a:ahLst/>
              <a:cxnLst>
                <a:cxn ang="T8">
                  <a:pos x="T0" y="T1"/>
                </a:cxn>
                <a:cxn ang="T9">
                  <a:pos x="T2" y="T3"/>
                </a:cxn>
                <a:cxn ang="T10">
                  <a:pos x="T4" y="T5"/>
                </a:cxn>
                <a:cxn ang="T11">
                  <a:pos x="T6" y="T7"/>
                </a:cxn>
              </a:cxnLst>
              <a:rect l="T12" t="T13" r="T14" b="T15"/>
              <a:pathLst>
                <a:path w="1974" h="574">
                  <a:moveTo>
                    <a:pt x="1974" y="0"/>
                  </a:moveTo>
                  <a:cubicBezTo>
                    <a:pt x="1802" y="14"/>
                    <a:pt x="1631" y="28"/>
                    <a:pt x="1400" y="98"/>
                  </a:cubicBezTo>
                  <a:cubicBezTo>
                    <a:pt x="1169" y="168"/>
                    <a:pt x="821" y="341"/>
                    <a:pt x="588" y="420"/>
                  </a:cubicBezTo>
                  <a:cubicBezTo>
                    <a:pt x="355" y="499"/>
                    <a:pt x="177" y="536"/>
                    <a:pt x="0" y="574"/>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004" name="Line 53">
            <a:extLst>
              <a:ext uri="{FF2B5EF4-FFF2-40B4-BE49-F238E27FC236}">
                <a16:creationId xmlns:a16="http://schemas.microsoft.com/office/drawing/2014/main" id="{8A1514ED-8F95-4E4C-A4D6-1D0FEE996CC4}"/>
              </a:ext>
            </a:extLst>
          </p:cNvPr>
          <p:cNvSpPr>
            <a:spLocks noChangeShapeType="1"/>
          </p:cNvSpPr>
          <p:nvPr/>
        </p:nvSpPr>
        <p:spPr bwMode="auto">
          <a:xfrm>
            <a:off x="8893175" y="3532189"/>
            <a:ext cx="0" cy="466725"/>
          </a:xfrm>
          <a:prstGeom prst="line">
            <a:avLst/>
          </a:prstGeom>
          <a:noFill/>
          <a:ln w="25400" cap="rnd">
            <a:solidFill>
              <a:srgbClr val="00008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2005" name="Line 54">
            <a:extLst>
              <a:ext uri="{FF2B5EF4-FFF2-40B4-BE49-F238E27FC236}">
                <a16:creationId xmlns:a16="http://schemas.microsoft.com/office/drawing/2014/main" id="{5093D265-83E2-458D-B40A-EE5B21489834}"/>
              </a:ext>
            </a:extLst>
          </p:cNvPr>
          <p:cNvSpPr>
            <a:spLocks noChangeShapeType="1"/>
          </p:cNvSpPr>
          <p:nvPr/>
        </p:nvSpPr>
        <p:spPr bwMode="auto">
          <a:xfrm>
            <a:off x="9264651" y="3548064"/>
            <a:ext cx="3175" cy="466725"/>
          </a:xfrm>
          <a:prstGeom prst="line">
            <a:avLst/>
          </a:prstGeom>
          <a:noFill/>
          <a:ln w="25400" cap="rnd">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2006" name="Line 55">
            <a:extLst>
              <a:ext uri="{FF2B5EF4-FFF2-40B4-BE49-F238E27FC236}">
                <a16:creationId xmlns:a16="http://schemas.microsoft.com/office/drawing/2014/main" id="{B39BD6F4-C1B0-4DE4-9D1A-9DDF7F028DC1}"/>
              </a:ext>
            </a:extLst>
          </p:cNvPr>
          <p:cNvSpPr>
            <a:spLocks noChangeShapeType="1"/>
          </p:cNvSpPr>
          <p:nvPr/>
        </p:nvSpPr>
        <p:spPr bwMode="auto">
          <a:xfrm flipH="1">
            <a:off x="8505825" y="3476625"/>
            <a:ext cx="0" cy="515938"/>
          </a:xfrm>
          <a:prstGeom prst="line">
            <a:avLst/>
          </a:prstGeom>
          <a:noFill/>
          <a:ln w="25400" cap="rnd">
            <a:solidFill>
              <a:srgbClr val="00008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2007" name="Line 56">
            <a:extLst>
              <a:ext uri="{FF2B5EF4-FFF2-40B4-BE49-F238E27FC236}">
                <a16:creationId xmlns:a16="http://schemas.microsoft.com/office/drawing/2014/main" id="{245B4B8E-FC00-4F07-9E32-7541EE51373E}"/>
              </a:ext>
            </a:extLst>
          </p:cNvPr>
          <p:cNvSpPr>
            <a:spLocks noChangeShapeType="1"/>
          </p:cNvSpPr>
          <p:nvPr/>
        </p:nvSpPr>
        <p:spPr bwMode="auto">
          <a:xfrm>
            <a:off x="7627938" y="3433764"/>
            <a:ext cx="0" cy="581025"/>
          </a:xfrm>
          <a:prstGeom prst="line">
            <a:avLst/>
          </a:prstGeom>
          <a:noFill/>
          <a:ln w="25400" cap="rnd">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2008" name="Line 57">
            <a:extLst>
              <a:ext uri="{FF2B5EF4-FFF2-40B4-BE49-F238E27FC236}">
                <a16:creationId xmlns:a16="http://schemas.microsoft.com/office/drawing/2014/main" id="{64477C1F-A8C1-4548-8EB1-4F6FE1540171}"/>
              </a:ext>
            </a:extLst>
          </p:cNvPr>
          <p:cNvSpPr>
            <a:spLocks noChangeShapeType="1"/>
          </p:cNvSpPr>
          <p:nvPr/>
        </p:nvSpPr>
        <p:spPr bwMode="auto">
          <a:xfrm>
            <a:off x="7643814" y="3433763"/>
            <a:ext cx="890587" cy="0"/>
          </a:xfrm>
          <a:prstGeom prst="line">
            <a:avLst/>
          </a:prstGeom>
          <a:noFill/>
          <a:ln w="25400"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2009" name="Line 58">
            <a:extLst>
              <a:ext uri="{FF2B5EF4-FFF2-40B4-BE49-F238E27FC236}">
                <a16:creationId xmlns:a16="http://schemas.microsoft.com/office/drawing/2014/main" id="{E1B558C0-D661-4900-BD1B-8DF8ECADDF97}"/>
              </a:ext>
            </a:extLst>
          </p:cNvPr>
          <p:cNvSpPr>
            <a:spLocks noChangeShapeType="1"/>
          </p:cNvSpPr>
          <p:nvPr/>
        </p:nvSpPr>
        <p:spPr bwMode="auto">
          <a:xfrm>
            <a:off x="8905876" y="3532188"/>
            <a:ext cx="358775" cy="0"/>
          </a:xfrm>
          <a:prstGeom prst="line">
            <a:avLst/>
          </a:prstGeom>
          <a:noFill/>
          <a:ln w="25400"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2010" name="Text Box 59">
            <a:extLst>
              <a:ext uri="{FF2B5EF4-FFF2-40B4-BE49-F238E27FC236}">
                <a16:creationId xmlns:a16="http://schemas.microsoft.com/office/drawing/2014/main" id="{DC2302B3-65FE-412E-A394-989CA8A6F464}"/>
              </a:ext>
            </a:extLst>
          </p:cNvPr>
          <p:cNvSpPr txBox="1">
            <a:spLocks noChangeArrowheads="1"/>
          </p:cNvSpPr>
          <p:nvPr/>
        </p:nvSpPr>
        <p:spPr bwMode="auto">
          <a:xfrm>
            <a:off x="7440614" y="3948114"/>
            <a:ext cx="2039937"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a:latin typeface="Times New Roman" panose="02020603050405020304" pitchFamily="18" charset="0"/>
                <a:cs typeface="Shruti" panose="020B0502040204020203" pitchFamily="34" charset="0"/>
              </a:rPr>
              <a:t>   x</a:t>
            </a:r>
            <a:r>
              <a:rPr lang="en-US" altLang="en-US" sz="1400" baseline="-25000">
                <a:latin typeface="Times New Roman" panose="02020603050405020304" pitchFamily="18" charset="0"/>
                <a:cs typeface="Shruti" panose="020B0502040204020203" pitchFamily="34" charset="0"/>
              </a:rPr>
              <a:t>1</a:t>
            </a:r>
            <a:r>
              <a:rPr lang="en-US" altLang="en-US" sz="1400">
                <a:latin typeface="Times New Roman" panose="02020603050405020304" pitchFamily="18" charset="0"/>
                <a:cs typeface="Shruti" panose="020B0502040204020203" pitchFamily="34" charset="0"/>
              </a:rPr>
              <a:t>           </a:t>
            </a:r>
            <a:r>
              <a:rPr lang="en-US" altLang="en-US" sz="1400">
                <a:latin typeface="Times New Roman" panose="02020603050405020304" pitchFamily="18" charset="0"/>
                <a:cs typeface="Shruti" panose="020B0502040204020203" pitchFamily="34" charset="0"/>
                <a:sym typeface="Symbol" panose="05050102010706020507" pitchFamily="18" charset="2"/>
              </a:rPr>
              <a:t></a:t>
            </a:r>
            <a:r>
              <a:rPr lang="en-US" altLang="en-US" sz="1400" baseline="-25000">
                <a:latin typeface="Times New Roman" panose="02020603050405020304" pitchFamily="18" charset="0"/>
                <a:cs typeface="Shruti" panose="020B0502040204020203" pitchFamily="34" charset="0"/>
              </a:rPr>
              <a:t>1</a:t>
            </a:r>
            <a:r>
              <a:rPr lang="en-US" altLang="en-US" sz="1400">
                <a:latin typeface="Times New Roman" panose="02020603050405020304" pitchFamily="18" charset="0"/>
                <a:cs typeface="Shruti" panose="020B0502040204020203" pitchFamily="34" charset="0"/>
              </a:rPr>
              <a:t> x</a:t>
            </a:r>
            <a:r>
              <a:rPr lang="en-US" altLang="en-US" sz="1400" baseline="-25000">
                <a:latin typeface="Times New Roman" panose="02020603050405020304" pitchFamily="18" charset="0"/>
                <a:cs typeface="Shruti" panose="020B0502040204020203" pitchFamily="34" charset="0"/>
              </a:rPr>
              <a:t>2</a:t>
            </a:r>
            <a:r>
              <a:rPr lang="en-US" altLang="en-US" sz="1400">
                <a:latin typeface="Times New Roman" panose="02020603050405020304" pitchFamily="18" charset="0"/>
                <a:cs typeface="Shruti" panose="020B0502040204020203" pitchFamily="34" charset="0"/>
              </a:rPr>
              <a:t> </a:t>
            </a:r>
            <a:r>
              <a:rPr lang="en-US" altLang="en-US" sz="1400">
                <a:latin typeface="Times New Roman" panose="02020603050405020304" pitchFamily="18" charset="0"/>
                <a:cs typeface="Shruti" panose="020B0502040204020203" pitchFamily="34" charset="0"/>
                <a:sym typeface="Symbol" panose="05050102010706020507" pitchFamily="18" charset="2"/>
              </a:rPr>
              <a:t></a:t>
            </a:r>
            <a:r>
              <a:rPr lang="en-US" altLang="en-US" sz="1400" baseline="-25000">
                <a:latin typeface="Times New Roman" panose="02020603050405020304" pitchFamily="18" charset="0"/>
                <a:cs typeface="Shruti" panose="020B0502040204020203" pitchFamily="34" charset="0"/>
              </a:rPr>
              <a:t>2</a:t>
            </a:r>
            <a:r>
              <a:rPr lang="en-US" altLang="en-US" sz="1400">
                <a:latin typeface="Times New Roman" panose="02020603050405020304" pitchFamily="18" charset="0"/>
                <a:cs typeface="Shruti" panose="020B0502040204020203" pitchFamily="34" charset="0"/>
              </a:rPr>
              <a:t> y</a:t>
            </a:r>
            <a:r>
              <a:rPr lang="en-US" altLang="en-US" sz="1400" baseline="-25000">
                <a:latin typeface="Times New Roman" panose="02020603050405020304" pitchFamily="18" charset="0"/>
                <a:cs typeface="Shruti" panose="020B0502040204020203" pitchFamily="34" charset="0"/>
              </a:rPr>
              <a:t>2</a:t>
            </a:r>
            <a:r>
              <a:rPr lang="en-US" altLang="en-US" sz="1400">
                <a:latin typeface="Times New Roman" panose="02020603050405020304" pitchFamily="18" charset="0"/>
                <a:cs typeface="Shruti" panose="020B0502040204020203" pitchFamily="34" charset="0"/>
              </a:rPr>
              <a:t>     y</a:t>
            </a:r>
            <a:r>
              <a:rPr lang="en-US" altLang="en-US" sz="1400" baseline="-25000">
                <a:latin typeface="Times New Roman" panose="02020603050405020304" pitchFamily="18" charset="0"/>
                <a:cs typeface="Shruti" panose="020B0502040204020203" pitchFamily="34" charset="0"/>
              </a:rPr>
              <a:t>1</a:t>
            </a:r>
            <a:endParaRPr lang="en-US" altLang="en-US" sz="1400">
              <a:latin typeface="Times New Roman" panose="02020603050405020304" pitchFamily="18" charset="0"/>
            </a:endParaRPr>
          </a:p>
        </p:txBody>
      </p:sp>
      <p:sp>
        <p:nvSpPr>
          <p:cNvPr id="46" name="Text Box 83">
            <a:extLst>
              <a:ext uri="{FF2B5EF4-FFF2-40B4-BE49-F238E27FC236}">
                <a16:creationId xmlns:a16="http://schemas.microsoft.com/office/drawing/2014/main" id="{8248450E-BF11-4DF3-9567-50131A09629A}"/>
              </a:ext>
            </a:extLst>
          </p:cNvPr>
          <p:cNvSpPr txBox="1">
            <a:spLocks noChangeArrowheads="1"/>
          </p:cNvSpPr>
          <p:nvPr/>
        </p:nvSpPr>
        <p:spPr bwMode="auto">
          <a:xfrm>
            <a:off x="6172200" y="4343400"/>
            <a:ext cx="4267200" cy="261938"/>
          </a:xfrm>
          <a:prstGeom prst="rect">
            <a:avLst/>
          </a:prstGeom>
          <a:solidFill>
            <a:schemeClr val="accent1">
              <a:lumMod val="20000"/>
              <a:lumOff val="80000"/>
            </a:schemeClr>
          </a:solidFill>
          <a:ln>
            <a:headEnd/>
            <a:tailEnd/>
          </a:ln>
          <a:effectLst/>
        </p:spPr>
        <p:style>
          <a:lnRef idx="1">
            <a:schemeClr val="accent1"/>
          </a:lnRef>
          <a:fillRef idx="2">
            <a:schemeClr val="accent1"/>
          </a:fillRef>
          <a:effectRef idx="1">
            <a:schemeClr val="accent1"/>
          </a:effectRef>
          <a:fontRef idx="minor">
            <a:schemeClr val="dk1"/>
          </a:fontRef>
        </p:style>
        <p:txBody>
          <a:bodyPr>
            <a:spAutoFit/>
          </a:bodyPr>
          <a:lstStyle/>
          <a:p>
            <a:pPr algn="ctr" eaLnBrk="1" hangingPunct="1">
              <a:defRPr/>
            </a:pPr>
            <a:r>
              <a:rPr lang="en-US" sz="1100" dirty="0">
                <a:solidFill>
                  <a:schemeClr val="tx1"/>
                </a:solidFill>
              </a:rPr>
              <a:t>MAX is complicated</a:t>
            </a:r>
          </a:p>
        </p:txBody>
      </p:sp>
      <p:sp>
        <p:nvSpPr>
          <p:cNvPr id="47" name="Text Box 90">
            <a:extLst>
              <a:ext uri="{FF2B5EF4-FFF2-40B4-BE49-F238E27FC236}">
                <a16:creationId xmlns:a16="http://schemas.microsoft.com/office/drawing/2014/main" id="{01A73472-8775-4E18-90A2-3CA17621A37D}"/>
              </a:ext>
            </a:extLst>
          </p:cNvPr>
          <p:cNvSpPr txBox="1">
            <a:spLocks noChangeArrowheads="1"/>
          </p:cNvSpPr>
          <p:nvPr/>
        </p:nvSpPr>
        <p:spPr bwMode="auto">
          <a:xfrm>
            <a:off x="1828800" y="4343400"/>
            <a:ext cx="4114800" cy="261938"/>
          </a:xfrm>
          <a:prstGeom prst="rect">
            <a:avLst/>
          </a:prstGeom>
          <a:solidFill>
            <a:schemeClr val="accent1">
              <a:lumMod val="20000"/>
              <a:lumOff val="80000"/>
            </a:schemeClr>
          </a:solidFill>
          <a:ln>
            <a:headEnd/>
            <a:tailEnd/>
          </a:ln>
          <a:effectLst/>
        </p:spPr>
        <p:style>
          <a:lnRef idx="1">
            <a:schemeClr val="accent1"/>
          </a:lnRef>
          <a:fillRef idx="2">
            <a:schemeClr val="accent1"/>
          </a:fillRef>
          <a:effectRef idx="1">
            <a:schemeClr val="accent1"/>
          </a:effectRef>
          <a:fontRef idx="minor">
            <a:schemeClr val="dk1"/>
          </a:fontRef>
        </p:style>
        <p:txBody>
          <a:bodyPr>
            <a:spAutoFit/>
          </a:bodyPr>
          <a:lstStyle/>
          <a:p>
            <a:pPr algn="ctr" eaLnBrk="1" hangingPunct="1">
              <a:defRPr/>
            </a:pPr>
            <a:r>
              <a:rPr lang="en-US" sz="1100">
                <a:solidFill>
                  <a:schemeClr val="tx1"/>
                </a:solidFill>
              </a:rPr>
              <a:t>MAX is trivial</a:t>
            </a:r>
          </a:p>
        </p:txBody>
      </p:sp>
      <p:sp>
        <p:nvSpPr>
          <p:cNvPr id="42013" name="Line 8">
            <a:extLst>
              <a:ext uri="{FF2B5EF4-FFF2-40B4-BE49-F238E27FC236}">
                <a16:creationId xmlns:a16="http://schemas.microsoft.com/office/drawing/2014/main" id="{C05E2481-D7F8-4266-981F-DE91042A5740}"/>
              </a:ext>
            </a:extLst>
          </p:cNvPr>
          <p:cNvSpPr>
            <a:spLocks noChangeShapeType="1"/>
          </p:cNvSpPr>
          <p:nvPr/>
        </p:nvSpPr>
        <p:spPr bwMode="auto">
          <a:xfrm>
            <a:off x="2209800" y="3889375"/>
            <a:ext cx="3581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2014" name="Group 11">
            <a:extLst>
              <a:ext uri="{FF2B5EF4-FFF2-40B4-BE49-F238E27FC236}">
                <a16:creationId xmlns:a16="http://schemas.microsoft.com/office/drawing/2014/main" id="{A6DC06A4-69A7-4640-ABE1-24205F4C32AA}"/>
              </a:ext>
            </a:extLst>
          </p:cNvPr>
          <p:cNvGrpSpPr>
            <a:grpSpLocks/>
          </p:cNvGrpSpPr>
          <p:nvPr/>
        </p:nvGrpSpPr>
        <p:grpSpPr bwMode="auto">
          <a:xfrm>
            <a:off x="2273300" y="2976563"/>
            <a:ext cx="1443038" cy="912812"/>
            <a:chOff x="1944" y="5721"/>
            <a:chExt cx="2808" cy="1296"/>
          </a:xfrm>
        </p:grpSpPr>
        <p:sp>
          <p:nvSpPr>
            <p:cNvPr id="42018" name="Freeform 10">
              <a:extLst>
                <a:ext uri="{FF2B5EF4-FFF2-40B4-BE49-F238E27FC236}">
                  <a16:creationId xmlns:a16="http://schemas.microsoft.com/office/drawing/2014/main" id="{E205BB81-B422-427E-8C0C-74BA38058F32}"/>
                </a:ext>
              </a:extLst>
            </p:cNvPr>
            <p:cNvSpPr>
              <a:spLocks/>
            </p:cNvSpPr>
            <p:nvPr/>
          </p:nvSpPr>
          <p:spPr bwMode="auto">
            <a:xfrm>
              <a:off x="1944" y="5721"/>
              <a:ext cx="1368" cy="1296"/>
            </a:xfrm>
            <a:custGeom>
              <a:avLst/>
              <a:gdLst>
                <a:gd name="T0" fmla="*/ 0 w 1440"/>
                <a:gd name="T1" fmla="*/ 516 h 1368"/>
                <a:gd name="T2" fmla="*/ 257 w 1440"/>
                <a:gd name="T3" fmla="*/ 489 h 1368"/>
                <a:gd name="T4" fmla="*/ 371 w 1440"/>
                <a:gd name="T5" fmla="*/ 408 h 1368"/>
                <a:gd name="T6" fmla="*/ 458 w 1440"/>
                <a:gd name="T7" fmla="*/ 191 h 1368"/>
                <a:gd name="T8" fmla="*/ 514 w 1440"/>
                <a:gd name="T9" fmla="*/ 55 h 1368"/>
                <a:gd name="T10" fmla="*/ 572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19" name="Freeform 11">
              <a:extLst>
                <a:ext uri="{FF2B5EF4-FFF2-40B4-BE49-F238E27FC236}">
                  <a16:creationId xmlns:a16="http://schemas.microsoft.com/office/drawing/2014/main" id="{F52CEEA4-E5BE-47BD-80DF-AEE766D38396}"/>
                </a:ext>
              </a:extLst>
            </p:cNvPr>
            <p:cNvSpPr>
              <a:spLocks/>
            </p:cNvSpPr>
            <p:nvPr/>
          </p:nvSpPr>
          <p:spPr bwMode="auto">
            <a:xfrm flipH="1">
              <a:off x="3312" y="5721"/>
              <a:ext cx="1440" cy="1296"/>
            </a:xfrm>
            <a:custGeom>
              <a:avLst/>
              <a:gdLst>
                <a:gd name="T0" fmla="*/ 0 w 1440"/>
                <a:gd name="T1" fmla="*/ 516 h 1368"/>
                <a:gd name="T2" fmla="*/ 648 w 1440"/>
                <a:gd name="T3" fmla="*/ 489 h 1368"/>
                <a:gd name="T4" fmla="*/ 936 w 1440"/>
                <a:gd name="T5" fmla="*/ 408 h 1368"/>
                <a:gd name="T6" fmla="*/ 1152 w 1440"/>
                <a:gd name="T7" fmla="*/ 191 h 1368"/>
                <a:gd name="T8" fmla="*/ 1296 w 1440"/>
                <a:gd name="T9" fmla="*/ 55 h 1368"/>
                <a:gd name="T10" fmla="*/ 1440 w 1440"/>
                <a:gd name="T11" fmla="*/ 0 h 1368"/>
                <a:gd name="T12" fmla="*/ 0 60000 65536"/>
                <a:gd name="T13" fmla="*/ 0 60000 65536"/>
                <a:gd name="T14" fmla="*/ 0 60000 65536"/>
                <a:gd name="T15" fmla="*/ 0 60000 65536"/>
                <a:gd name="T16" fmla="*/ 0 60000 65536"/>
                <a:gd name="T17" fmla="*/ 0 60000 65536"/>
                <a:gd name="T18" fmla="*/ 0 w 1440"/>
                <a:gd name="T19" fmla="*/ 0 h 1368"/>
                <a:gd name="T20" fmla="*/ 1440 w 144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1440" h="1368">
                  <a:moveTo>
                    <a:pt x="0" y="1368"/>
                  </a:moveTo>
                  <a:cubicBezTo>
                    <a:pt x="246" y="1356"/>
                    <a:pt x="492" y="1344"/>
                    <a:pt x="648" y="1296"/>
                  </a:cubicBezTo>
                  <a:cubicBezTo>
                    <a:pt x="804" y="1248"/>
                    <a:pt x="852" y="1212"/>
                    <a:pt x="936" y="1080"/>
                  </a:cubicBezTo>
                  <a:cubicBezTo>
                    <a:pt x="1020" y="948"/>
                    <a:pt x="1092" y="660"/>
                    <a:pt x="1152" y="504"/>
                  </a:cubicBezTo>
                  <a:cubicBezTo>
                    <a:pt x="1212" y="348"/>
                    <a:pt x="1248" y="228"/>
                    <a:pt x="1296" y="144"/>
                  </a:cubicBezTo>
                  <a:cubicBezTo>
                    <a:pt x="1344" y="60"/>
                    <a:pt x="1404" y="24"/>
                    <a:pt x="1440" y="0"/>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015" name="Line 15">
            <a:extLst>
              <a:ext uri="{FF2B5EF4-FFF2-40B4-BE49-F238E27FC236}">
                <a16:creationId xmlns:a16="http://schemas.microsoft.com/office/drawing/2014/main" id="{4853E58C-1316-48C5-ABC2-06B375DBD457}"/>
              </a:ext>
            </a:extLst>
          </p:cNvPr>
          <p:cNvSpPr>
            <a:spLocks noChangeShapeType="1"/>
          </p:cNvSpPr>
          <p:nvPr/>
        </p:nvSpPr>
        <p:spPr bwMode="auto">
          <a:xfrm>
            <a:off x="2973389" y="2976563"/>
            <a:ext cx="1587" cy="91281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016" name="Rectangle 1">
            <a:extLst>
              <a:ext uri="{FF2B5EF4-FFF2-40B4-BE49-F238E27FC236}">
                <a16:creationId xmlns:a16="http://schemas.microsoft.com/office/drawing/2014/main" id="{A7041A65-17C1-4A6F-9DA3-1DD5AFBB8638}"/>
              </a:ext>
            </a:extLst>
          </p:cNvPr>
          <p:cNvSpPr>
            <a:spLocks noChangeArrowheads="1"/>
          </p:cNvSpPr>
          <p:nvPr/>
        </p:nvSpPr>
        <p:spPr bwMode="auto">
          <a:xfrm>
            <a:off x="6708776" y="1933575"/>
            <a:ext cx="32178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latin typeface="Verdana" panose="020B0604030504040204" pitchFamily="34" charset="0"/>
              </a:rPr>
              <a:t>Highly correlated, overlapping, </a:t>
            </a:r>
          </a:p>
          <a:p>
            <a:pPr algn="ctr" eaLnBrk="1" hangingPunct="1"/>
            <a:r>
              <a:rPr lang="en-US" altLang="en-US" sz="1600">
                <a:latin typeface="Verdana" panose="020B0604030504040204" pitchFamily="34" charset="0"/>
              </a:rPr>
              <a:t>different sigmas</a:t>
            </a:r>
          </a:p>
        </p:txBody>
      </p:sp>
      <p:sp>
        <p:nvSpPr>
          <p:cNvPr id="42017" name="Rectangle 2">
            <a:extLst>
              <a:ext uri="{FF2B5EF4-FFF2-40B4-BE49-F238E27FC236}">
                <a16:creationId xmlns:a16="http://schemas.microsoft.com/office/drawing/2014/main" id="{3DFF0C30-D1E5-440C-92EA-CFFFE9290E97}"/>
              </a:ext>
            </a:extLst>
          </p:cNvPr>
          <p:cNvSpPr>
            <a:spLocks noChangeArrowheads="1"/>
          </p:cNvSpPr>
          <p:nvPr/>
        </p:nvSpPr>
        <p:spPr bwMode="auto">
          <a:xfrm>
            <a:off x="3213101" y="2424114"/>
            <a:ext cx="18907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Verdana" panose="020B0604030504040204" pitchFamily="34" charset="0"/>
              </a:rPr>
              <a:t>Non-overlapping</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4">
            <a:extLst>
              <a:ext uri="{FF2B5EF4-FFF2-40B4-BE49-F238E27FC236}">
                <a16:creationId xmlns:a16="http://schemas.microsoft.com/office/drawing/2014/main" id="{0BDF878C-2D0C-4AD9-866E-2B67D8667E3B}"/>
              </a:ext>
            </a:extLst>
          </p:cNvPr>
          <p:cNvSpPr>
            <a:spLocks noGrp="1"/>
          </p:cNvSpPr>
          <p:nvPr>
            <p:ph type="title"/>
          </p:nvPr>
        </p:nvSpPr>
        <p:spPr/>
        <p:txBody>
          <a:bodyPr/>
          <a:lstStyle/>
          <a:p>
            <a:r>
              <a:rPr lang="en-US" altLang="en-US"/>
              <a:t>SSTA Approaches </a:t>
            </a:r>
          </a:p>
        </p:txBody>
      </p:sp>
      <p:sp>
        <p:nvSpPr>
          <p:cNvPr id="2" name="Text Placeholder 1">
            <a:extLst>
              <a:ext uri="{FF2B5EF4-FFF2-40B4-BE49-F238E27FC236}">
                <a16:creationId xmlns:a16="http://schemas.microsoft.com/office/drawing/2014/main" id="{419C99AE-47F7-4A22-9B40-C2E8479FCBCA}"/>
              </a:ext>
            </a:extLst>
          </p:cNvPr>
          <p:cNvSpPr>
            <a:spLocks noGrp="1"/>
          </p:cNvSpPr>
          <p:nvPr>
            <p:ph type="body" sz="quarter" idx="10"/>
          </p:nvPr>
        </p:nvSpPr>
        <p:spPr/>
        <p:txBody>
          <a:bodyPr/>
          <a:lstStyle/>
          <a:p>
            <a:endParaRPr lang="en-US" dirty="0">
              <a:solidFill>
                <a:schemeClr val="bg1"/>
              </a:solidFill>
            </a:endParaRPr>
          </a:p>
        </p:txBody>
      </p:sp>
      <p:grpSp>
        <p:nvGrpSpPr>
          <p:cNvPr id="44035" name="Group 3">
            <a:extLst>
              <a:ext uri="{FF2B5EF4-FFF2-40B4-BE49-F238E27FC236}">
                <a16:creationId xmlns:a16="http://schemas.microsoft.com/office/drawing/2014/main" id="{E603C62D-546F-4A16-8838-6E5E5F59DFE9}"/>
              </a:ext>
            </a:extLst>
          </p:cNvPr>
          <p:cNvGrpSpPr>
            <a:grpSpLocks/>
          </p:cNvGrpSpPr>
          <p:nvPr/>
        </p:nvGrpSpPr>
        <p:grpSpPr bwMode="auto">
          <a:xfrm>
            <a:off x="2201863" y="2393951"/>
            <a:ext cx="3763962" cy="2238375"/>
            <a:chOff x="2352676" y="1973263"/>
            <a:chExt cx="3763962" cy="2238375"/>
          </a:xfrm>
        </p:grpSpPr>
        <p:sp>
          <p:nvSpPr>
            <p:cNvPr id="44067" name="Oval 32">
              <a:extLst>
                <a:ext uri="{FF2B5EF4-FFF2-40B4-BE49-F238E27FC236}">
                  <a16:creationId xmlns:a16="http://schemas.microsoft.com/office/drawing/2014/main" id="{BDB63AD1-2799-44BA-8C4B-48259C20028E}"/>
                </a:ext>
              </a:extLst>
            </p:cNvPr>
            <p:cNvSpPr>
              <a:spLocks noChangeArrowheads="1"/>
            </p:cNvSpPr>
            <p:nvPr/>
          </p:nvSpPr>
          <p:spPr bwMode="auto">
            <a:xfrm>
              <a:off x="2352676" y="2832101"/>
              <a:ext cx="342900" cy="3429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68" name="Oval 33">
              <a:extLst>
                <a:ext uri="{FF2B5EF4-FFF2-40B4-BE49-F238E27FC236}">
                  <a16:creationId xmlns:a16="http://schemas.microsoft.com/office/drawing/2014/main" id="{3286ED77-EDC5-480A-8D92-E46BFFB1880E}"/>
                </a:ext>
              </a:extLst>
            </p:cNvPr>
            <p:cNvSpPr>
              <a:spLocks noChangeArrowheads="1"/>
            </p:cNvSpPr>
            <p:nvPr/>
          </p:nvSpPr>
          <p:spPr bwMode="auto">
            <a:xfrm>
              <a:off x="4779963" y="2868613"/>
              <a:ext cx="342900" cy="3429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69" name="Oval 34">
              <a:extLst>
                <a:ext uri="{FF2B5EF4-FFF2-40B4-BE49-F238E27FC236}">
                  <a16:creationId xmlns:a16="http://schemas.microsoft.com/office/drawing/2014/main" id="{6F914E8B-E2BF-4BB4-9770-EA3D45763F85}"/>
                </a:ext>
              </a:extLst>
            </p:cNvPr>
            <p:cNvSpPr>
              <a:spLocks noChangeArrowheads="1"/>
            </p:cNvSpPr>
            <p:nvPr/>
          </p:nvSpPr>
          <p:spPr bwMode="auto">
            <a:xfrm>
              <a:off x="3949701" y="3352801"/>
              <a:ext cx="228600" cy="2286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70" name="Oval 35">
              <a:extLst>
                <a:ext uri="{FF2B5EF4-FFF2-40B4-BE49-F238E27FC236}">
                  <a16:creationId xmlns:a16="http://schemas.microsoft.com/office/drawing/2014/main" id="{653B696F-00D9-42A6-A4D0-E7D480B61F75}"/>
                </a:ext>
              </a:extLst>
            </p:cNvPr>
            <p:cNvSpPr>
              <a:spLocks noChangeArrowheads="1"/>
            </p:cNvSpPr>
            <p:nvPr/>
          </p:nvSpPr>
          <p:spPr bwMode="auto">
            <a:xfrm>
              <a:off x="3090863" y="3922713"/>
              <a:ext cx="228600" cy="2286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71" name="Oval 36">
              <a:extLst>
                <a:ext uri="{FF2B5EF4-FFF2-40B4-BE49-F238E27FC236}">
                  <a16:creationId xmlns:a16="http://schemas.microsoft.com/office/drawing/2014/main" id="{2CFE400E-D7D4-4415-8849-B0DFC63D6A16}"/>
                </a:ext>
              </a:extLst>
            </p:cNvPr>
            <p:cNvSpPr>
              <a:spLocks noChangeArrowheads="1"/>
            </p:cNvSpPr>
            <p:nvPr/>
          </p:nvSpPr>
          <p:spPr bwMode="auto">
            <a:xfrm>
              <a:off x="3100388" y="3141663"/>
              <a:ext cx="228600" cy="2286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72" name="Oval 37">
              <a:extLst>
                <a:ext uri="{FF2B5EF4-FFF2-40B4-BE49-F238E27FC236}">
                  <a16:creationId xmlns:a16="http://schemas.microsoft.com/office/drawing/2014/main" id="{0D318061-A2D0-4C86-8607-1A67C85E1D09}"/>
                </a:ext>
              </a:extLst>
            </p:cNvPr>
            <p:cNvSpPr>
              <a:spLocks noChangeArrowheads="1"/>
            </p:cNvSpPr>
            <p:nvPr/>
          </p:nvSpPr>
          <p:spPr bwMode="auto">
            <a:xfrm>
              <a:off x="3938588" y="2189163"/>
              <a:ext cx="228600" cy="2286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73" name="Oval 38">
              <a:extLst>
                <a:ext uri="{FF2B5EF4-FFF2-40B4-BE49-F238E27FC236}">
                  <a16:creationId xmlns:a16="http://schemas.microsoft.com/office/drawing/2014/main" id="{D69C8555-B50C-467B-AF45-6E9362ECF12D}"/>
                </a:ext>
              </a:extLst>
            </p:cNvPr>
            <p:cNvSpPr>
              <a:spLocks noChangeArrowheads="1"/>
            </p:cNvSpPr>
            <p:nvPr/>
          </p:nvSpPr>
          <p:spPr bwMode="auto">
            <a:xfrm>
              <a:off x="3090863" y="2179638"/>
              <a:ext cx="228600" cy="228600"/>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cxnSp>
          <p:nvCxnSpPr>
            <p:cNvPr id="44074" name="AutoShape 39">
              <a:extLst>
                <a:ext uri="{FF2B5EF4-FFF2-40B4-BE49-F238E27FC236}">
                  <a16:creationId xmlns:a16="http://schemas.microsoft.com/office/drawing/2014/main" id="{2A63FED6-4606-4F11-93F7-A85886977E53}"/>
                </a:ext>
              </a:extLst>
            </p:cNvPr>
            <p:cNvCxnSpPr>
              <a:cxnSpLocks noChangeShapeType="1"/>
              <a:stCxn id="44067" idx="7"/>
              <a:endCxn id="44073" idx="3"/>
            </p:cNvCxnSpPr>
            <p:nvPr/>
          </p:nvCxnSpPr>
          <p:spPr bwMode="auto">
            <a:xfrm flipV="1">
              <a:off x="2644776" y="2374901"/>
              <a:ext cx="479425" cy="508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75" name="AutoShape 40">
              <a:extLst>
                <a:ext uri="{FF2B5EF4-FFF2-40B4-BE49-F238E27FC236}">
                  <a16:creationId xmlns:a16="http://schemas.microsoft.com/office/drawing/2014/main" id="{CA47CC34-F2F6-4D5B-A26A-0652100E2E2D}"/>
                </a:ext>
              </a:extLst>
            </p:cNvPr>
            <p:cNvCxnSpPr>
              <a:cxnSpLocks noChangeShapeType="1"/>
              <a:stCxn id="44073" idx="5"/>
              <a:endCxn id="44069" idx="0"/>
            </p:cNvCxnSpPr>
            <p:nvPr/>
          </p:nvCxnSpPr>
          <p:spPr bwMode="auto">
            <a:xfrm>
              <a:off x="3286126" y="2374901"/>
              <a:ext cx="777875" cy="9779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76" name="AutoShape 41">
              <a:extLst>
                <a:ext uri="{FF2B5EF4-FFF2-40B4-BE49-F238E27FC236}">
                  <a16:creationId xmlns:a16="http://schemas.microsoft.com/office/drawing/2014/main" id="{D8705AD4-DD70-4524-8EA8-08FD8338EB51}"/>
                </a:ext>
              </a:extLst>
            </p:cNvPr>
            <p:cNvCxnSpPr>
              <a:cxnSpLocks noChangeShapeType="1"/>
              <a:stCxn id="44067" idx="6"/>
              <a:endCxn id="44071" idx="1"/>
            </p:cNvCxnSpPr>
            <p:nvPr/>
          </p:nvCxnSpPr>
          <p:spPr bwMode="auto">
            <a:xfrm>
              <a:off x="2695576" y="3003551"/>
              <a:ext cx="438150" cy="1714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77" name="AutoShape 42">
              <a:extLst>
                <a:ext uri="{FF2B5EF4-FFF2-40B4-BE49-F238E27FC236}">
                  <a16:creationId xmlns:a16="http://schemas.microsoft.com/office/drawing/2014/main" id="{1C910DBC-094B-4210-944F-8CD4D4F1675A}"/>
                </a:ext>
              </a:extLst>
            </p:cNvPr>
            <p:cNvCxnSpPr>
              <a:cxnSpLocks noChangeShapeType="1"/>
              <a:stCxn id="44071" idx="6"/>
              <a:endCxn id="44069" idx="2"/>
            </p:cNvCxnSpPr>
            <p:nvPr/>
          </p:nvCxnSpPr>
          <p:spPr bwMode="auto">
            <a:xfrm>
              <a:off x="3328988" y="3255963"/>
              <a:ext cx="620713" cy="21113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78" name="AutoShape 43">
              <a:extLst>
                <a:ext uri="{FF2B5EF4-FFF2-40B4-BE49-F238E27FC236}">
                  <a16:creationId xmlns:a16="http://schemas.microsoft.com/office/drawing/2014/main" id="{7CF69E51-51CA-41BA-80C3-5C6F5963CC1C}"/>
                </a:ext>
              </a:extLst>
            </p:cNvPr>
            <p:cNvCxnSpPr>
              <a:cxnSpLocks noChangeShapeType="1"/>
              <a:stCxn id="44070" idx="7"/>
              <a:endCxn id="44069" idx="3"/>
            </p:cNvCxnSpPr>
            <p:nvPr/>
          </p:nvCxnSpPr>
          <p:spPr bwMode="auto">
            <a:xfrm flipV="1">
              <a:off x="3286126" y="3548063"/>
              <a:ext cx="696913" cy="4079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79" name="AutoShape 44">
              <a:extLst>
                <a:ext uri="{FF2B5EF4-FFF2-40B4-BE49-F238E27FC236}">
                  <a16:creationId xmlns:a16="http://schemas.microsoft.com/office/drawing/2014/main" id="{16C63105-78A8-4FC2-97F9-124AD9EDC3B1}"/>
                </a:ext>
              </a:extLst>
            </p:cNvPr>
            <p:cNvCxnSpPr>
              <a:cxnSpLocks noChangeShapeType="1"/>
              <a:stCxn id="44067" idx="5"/>
              <a:endCxn id="44070" idx="1"/>
            </p:cNvCxnSpPr>
            <p:nvPr/>
          </p:nvCxnSpPr>
          <p:spPr bwMode="auto">
            <a:xfrm>
              <a:off x="2644776" y="3124201"/>
              <a:ext cx="479425" cy="8318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80" name="AutoShape 45">
              <a:extLst>
                <a:ext uri="{FF2B5EF4-FFF2-40B4-BE49-F238E27FC236}">
                  <a16:creationId xmlns:a16="http://schemas.microsoft.com/office/drawing/2014/main" id="{413063E8-D214-464E-B857-C56E605EEC09}"/>
                </a:ext>
              </a:extLst>
            </p:cNvPr>
            <p:cNvCxnSpPr>
              <a:cxnSpLocks noChangeShapeType="1"/>
              <a:stCxn id="44073" idx="6"/>
              <a:endCxn id="44072" idx="2"/>
            </p:cNvCxnSpPr>
            <p:nvPr/>
          </p:nvCxnSpPr>
          <p:spPr bwMode="auto">
            <a:xfrm>
              <a:off x="3319463" y="2293938"/>
              <a:ext cx="619125"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81" name="AutoShape 46">
              <a:extLst>
                <a:ext uri="{FF2B5EF4-FFF2-40B4-BE49-F238E27FC236}">
                  <a16:creationId xmlns:a16="http://schemas.microsoft.com/office/drawing/2014/main" id="{AB672A34-D85A-4186-A45C-72D821D126D9}"/>
                </a:ext>
              </a:extLst>
            </p:cNvPr>
            <p:cNvCxnSpPr>
              <a:cxnSpLocks noChangeShapeType="1"/>
              <a:stCxn id="44072" idx="5"/>
              <a:endCxn id="44068" idx="1"/>
            </p:cNvCxnSpPr>
            <p:nvPr/>
          </p:nvCxnSpPr>
          <p:spPr bwMode="auto">
            <a:xfrm>
              <a:off x="4133851" y="2384426"/>
              <a:ext cx="696913" cy="5349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82" name="AutoShape 47">
              <a:extLst>
                <a:ext uri="{FF2B5EF4-FFF2-40B4-BE49-F238E27FC236}">
                  <a16:creationId xmlns:a16="http://schemas.microsoft.com/office/drawing/2014/main" id="{83F0D3D5-D8DE-4DB3-A3B6-41CED95979DF}"/>
                </a:ext>
              </a:extLst>
            </p:cNvPr>
            <p:cNvCxnSpPr>
              <a:cxnSpLocks noChangeShapeType="1"/>
              <a:stCxn id="44069" idx="7"/>
              <a:endCxn id="44068" idx="3"/>
            </p:cNvCxnSpPr>
            <p:nvPr/>
          </p:nvCxnSpPr>
          <p:spPr bwMode="auto">
            <a:xfrm flipV="1">
              <a:off x="4144963" y="3160713"/>
              <a:ext cx="685800" cy="2254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4083" name="Text Box 48">
              <a:extLst>
                <a:ext uri="{FF2B5EF4-FFF2-40B4-BE49-F238E27FC236}">
                  <a16:creationId xmlns:a16="http://schemas.microsoft.com/office/drawing/2014/main" id="{5BF22EB6-9EC8-4A16-84B2-28A135BB5E2C}"/>
                </a:ext>
              </a:extLst>
            </p:cNvPr>
            <p:cNvSpPr txBox="1">
              <a:spLocks noChangeArrowheads="1"/>
            </p:cNvSpPr>
            <p:nvPr/>
          </p:nvSpPr>
          <p:spPr bwMode="auto">
            <a:xfrm>
              <a:off x="3057522" y="2177406"/>
              <a:ext cx="3946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V1</a:t>
              </a:r>
              <a:endParaRPr lang="ru-RU" altLang="en-US" sz="1100">
                <a:solidFill>
                  <a:schemeClr val="bg1"/>
                </a:solidFill>
              </a:endParaRPr>
            </a:p>
          </p:txBody>
        </p:sp>
        <p:sp>
          <p:nvSpPr>
            <p:cNvPr id="44084" name="Text Box 49">
              <a:extLst>
                <a:ext uri="{FF2B5EF4-FFF2-40B4-BE49-F238E27FC236}">
                  <a16:creationId xmlns:a16="http://schemas.microsoft.com/office/drawing/2014/main" id="{430D9CCB-AB2B-43F9-BBE7-1525693AE72F}"/>
                </a:ext>
              </a:extLst>
            </p:cNvPr>
            <p:cNvSpPr txBox="1">
              <a:spLocks noChangeArrowheads="1"/>
            </p:cNvSpPr>
            <p:nvPr/>
          </p:nvSpPr>
          <p:spPr bwMode="auto">
            <a:xfrm>
              <a:off x="3902314" y="2186931"/>
              <a:ext cx="4370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V2</a:t>
              </a:r>
              <a:endParaRPr lang="ru-RU" altLang="en-US" sz="1100">
                <a:solidFill>
                  <a:schemeClr val="bg1"/>
                </a:solidFill>
              </a:endParaRPr>
            </a:p>
          </p:txBody>
        </p:sp>
        <p:sp>
          <p:nvSpPr>
            <p:cNvPr id="44085" name="Text Box 50">
              <a:extLst>
                <a:ext uri="{FF2B5EF4-FFF2-40B4-BE49-F238E27FC236}">
                  <a16:creationId xmlns:a16="http://schemas.microsoft.com/office/drawing/2014/main" id="{8E6E93C7-E06D-497F-99E7-432C332546D6}"/>
                </a:ext>
              </a:extLst>
            </p:cNvPr>
            <p:cNvSpPr txBox="1">
              <a:spLocks noChangeArrowheads="1"/>
            </p:cNvSpPr>
            <p:nvPr/>
          </p:nvSpPr>
          <p:spPr bwMode="auto">
            <a:xfrm>
              <a:off x="3062286" y="3139432"/>
              <a:ext cx="37561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V3</a:t>
              </a:r>
              <a:endParaRPr lang="ru-RU" altLang="en-US" sz="1100">
                <a:solidFill>
                  <a:schemeClr val="bg1"/>
                </a:solidFill>
              </a:endParaRPr>
            </a:p>
          </p:txBody>
        </p:sp>
        <p:sp>
          <p:nvSpPr>
            <p:cNvPr id="44086" name="Text Box 51">
              <a:extLst>
                <a:ext uri="{FF2B5EF4-FFF2-40B4-BE49-F238E27FC236}">
                  <a16:creationId xmlns:a16="http://schemas.microsoft.com/office/drawing/2014/main" id="{0E172C3F-DFF7-4080-9682-E56D5F9EA825}"/>
                </a:ext>
              </a:extLst>
            </p:cNvPr>
            <p:cNvSpPr txBox="1">
              <a:spLocks noChangeArrowheads="1"/>
            </p:cNvSpPr>
            <p:nvPr/>
          </p:nvSpPr>
          <p:spPr bwMode="auto">
            <a:xfrm>
              <a:off x="3044207" y="3927477"/>
              <a:ext cx="40798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V4</a:t>
              </a:r>
              <a:endParaRPr lang="ru-RU" altLang="en-US" sz="1100">
                <a:solidFill>
                  <a:schemeClr val="bg1"/>
                </a:solidFill>
              </a:endParaRPr>
            </a:p>
          </p:txBody>
        </p:sp>
        <p:sp>
          <p:nvSpPr>
            <p:cNvPr id="44087" name="Text Box 52">
              <a:extLst>
                <a:ext uri="{FF2B5EF4-FFF2-40B4-BE49-F238E27FC236}">
                  <a16:creationId xmlns:a16="http://schemas.microsoft.com/office/drawing/2014/main" id="{17CB5904-04DB-4D50-8C43-756FC16F2202}"/>
                </a:ext>
              </a:extLst>
            </p:cNvPr>
            <p:cNvSpPr txBox="1">
              <a:spLocks noChangeArrowheads="1"/>
            </p:cNvSpPr>
            <p:nvPr/>
          </p:nvSpPr>
          <p:spPr bwMode="auto">
            <a:xfrm>
              <a:off x="3905367" y="3353743"/>
              <a:ext cx="36131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V5</a:t>
              </a:r>
              <a:endParaRPr lang="ru-RU" altLang="en-US" sz="1100">
                <a:solidFill>
                  <a:schemeClr val="bg1"/>
                </a:solidFill>
              </a:endParaRPr>
            </a:p>
          </p:txBody>
        </p:sp>
        <p:sp>
          <p:nvSpPr>
            <p:cNvPr id="44088" name="Text Box 53">
              <a:extLst>
                <a:ext uri="{FF2B5EF4-FFF2-40B4-BE49-F238E27FC236}">
                  <a16:creationId xmlns:a16="http://schemas.microsoft.com/office/drawing/2014/main" id="{4CA63AA1-9194-4E01-B878-D63F032EF6F1}"/>
                </a:ext>
              </a:extLst>
            </p:cNvPr>
            <p:cNvSpPr txBox="1">
              <a:spLocks noChangeArrowheads="1"/>
            </p:cNvSpPr>
            <p:nvPr/>
          </p:nvSpPr>
          <p:spPr bwMode="auto">
            <a:xfrm>
              <a:off x="2396078" y="2888135"/>
              <a:ext cx="22117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S</a:t>
              </a:r>
              <a:endParaRPr lang="ru-RU" altLang="en-US" sz="1100">
                <a:solidFill>
                  <a:schemeClr val="bg1"/>
                </a:solidFill>
              </a:endParaRPr>
            </a:p>
          </p:txBody>
        </p:sp>
        <p:sp>
          <p:nvSpPr>
            <p:cNvPr id="44089" name="Text Box 54">
              <a:extLst>
                <a:ext uri="{FF2B5EF4-FFF2-40B4-BE49-F238E27FC236}">
                  <a16:creationId xmlns:a16="http://schemas.microsoft.com/office/drawing/2014/main" id="{10A958F3-8AA9-46C1-BFAD-5C2F8547F3E6}"/>
                </a:ext>
              </a:extLst>
            </p:cNvPr>
            <p:cNvSpPr txBox="1">
              <a:spLocks noChangeArrowheads="1"/>
            </p:cNvSpPr>
            <p:nvPr/>
          </p:nvSpPr>
          <p:spPr bwMode="auto">
            <a:xfrm>
              <a:off x="4822566" y="2921007"/>
              <a:ext cx="26301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E</a:t>
              </a:r>
              <a:endParaRPr lang="ru-RU" altLang="en-US" sz="1100">
                <a:solidFill>
                  <a:schemeClr val="bg1"/>
                </a:solidFill>
              </a:endParaRPr>
            </a:p>
          </p:txBody>
        </p:sp>
        <p:sp>
          <p:nvSpPr>
            <p:cNvPr id="44090" name="Freeform 60">
              <a:extLst>
                <a:ext uri="{FF2B5EF4-FFF2-40B4-BE49-F238E27FC236}">
                  <a16:creationId xmlns:a16="http://schemas.microsoft.com/office/drawing/2014/main" id="{7BA6D5C4-9B7F-42FB-9098-70DFC7162D88}"/>
                </a:ext>
              </a:extLst>
            </p:cNvPr>
            <p:cNvSpPr>
              <a:spLocks/>
            </p:cNvSpPr>
            <p:nvPr/>
          </p:nvSpPr>
          <p:spPr bwMode="auto">
            <a:xfrm>
              <a:off x="2414588" y="2017713"/>
              <a:ext cx="2540000" cy="752475"/>
            </a:xfrm>
            <a:custGeom>
              <a:avLst/>
              <a:gdLst>
                <a:gd name="T0" fmla="*/ 0 w 1600"/>
                <a:gd name="T1" fmla="*/ 2147483646 h 474"/>
                <a:gd name="T2" fmla="*/ 2147483646 w 1600"/>
                <a:gd name="T3" fmla="*/ 2147483646 h 474"/>
                <a:gd name="T4" fmla="*/ 2147483646 w 1600"/>
                <a:gd name="T5" fmla="*/ 2147483646 h 474"/>
                <a:gd name="T6" fmla="*/ 2147483646 w 1600"/>
                <a:gd name="T7" fmla="*/ 2147483646 h 474"/>
                <a:gd name="T8" fmla="*/ 2147483646 w 1600"/>
                <a:gd name="T9" fmla="*/ 2147483646 h 474"/>
                <a:gd name="T10" fmla="*/ 2147483646 w 1600"/>
                <a:gd name="T11" fmla="*/ 2147483646 h 474"/>
                <a:gd name="T12" fmla="*/ 2147483646 w 1600"/>
                <a:gd name="T13" fmla="*/ 2147483646 h 474"/>
                <a:gd name="T14" fmla="*/ 2147483646 w 1600"/>
                <a:gd name="T15" fmla="*/ 2147483646 h 474"/>
                <a:gd name="T16" fmla="*/ 0 60000 65536"/>
                <a:gd name="T17" fmla="*/ 0 60000 65536"/>
                <a:gd name="T18" fmla="*/ 0 60000 65536"/>
                <a:gd name="T19" fmla="*/ 0 60000 65536"/>
                <a:gd name="T20" fmla="*/ 0 60000 65536"/>
                <a:gd name="T21" fmla="*/ 0 60000 65536"/>
                <a:gd name="T22" fmla="*/ 0 60000 65536"/>
                <a:gd name="T23" fmla="*/ 0 60000 65536"/>
                <a:gd name="T24" fmla="*/ 0 w 1600"/>
                <a:gd name="T25" fmla="*/ 0 h 474"/>
                <a:gd name="T26" fmla="*/ 1600 w 1600"/>
                <a:gd name="T27" fmla="*/ 474 h 47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0" h="474">
                  <a:moveTo>
                    <a:pt x="0" y="474"/>
                  </a:moveTo>
                  <a:cubicBezTo>
                    <a:pt x="23" y="456"/>
                    <a:pt x="52" y="371"/>
                    <a:pt x="119" y="310"/>
                  </a:cubicBezTo>
                  <a:cubicBezTo>
                    <a:pt x="207" y="234"/>
                    <a:pt x="384" y="67"/>
                    <a:pt x="530" y="17"/>
                  </a:cubicBezTo>
                  <a:cubicBezTo>
                    <a:pt x="629" y="0"/>
                    <a:pt x="900" y="3"/>
                    <a:pt x="997" y="8"/>
                  </a:cubicBezTo>
                  <a:cubicBezTo>
                    <a:pt x="1123" y="28"/>
                    <a:pt x="1231" y="112"/>
                    <a:pt x="1289" y="136"/>
                  </a:cubicBezTo>
                  <a:cubicBezTo>
                    <a:pt x="1371" y="191"/>
                    <a:pt x="1438" y="285"/>
                    <a:pt x="1490" y="337"/>
                  </a:cubicBezTo>
                  <a:cubicBezTo>
                    <a:pt x="1529" y="374"/>
                    <a:pt x="1555" y="417"/>
                    <a:pt x="1600" y="447"/>
                  </a:cubicBezTo>
                  <a:cubicBezTo>
                    <a:pt x="1591" y="450"/>
                    <a:pt x="1573" y="456"/>
                    <a:pt x="1573" y="456"/>
                  </a:cubicBezTo>
                </a:path>
              </a:pathLst>
            </a:custGeom>
            <a:noFill/>
            <a:ln w="28575">
              <a:solidFill>
                <a:schemeClr val="tx1"/>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solidFill>
                  <a:schemeClr val="bg1"/>
                </a:solidFill>
              </a:endParaRPr>
            </a:p>
          </p:txBody>
        </p:sp>
        <p:sp>
          <p:nvSpPr>
            <p:cNvPr id="44091" name="Freeform 61">
              <a:extLst>
                <a:ext uri="{FF2B5EF4-FFF2-40B4-BE49-F238E27FC236}">
                  <a16:creationId xmlns:a16="http://schemas.microsoft.com/office/drawing/2014/main" id="{EBCCBACC-D811-491E-8104-BA341EDF6945}"/>
                </a:ext>
              </a:extLst>
            </p:cNvPr>
            <p:cNvSpPr>
              <a:spLocks/>
            </p:cNvSpPr>
            <p:nvPr/>
          </p:nvSpPr>
          <p:spPr bwMode="auto">
            <a:xfrm>
              <a:off x="2762250" y="2544763"/>
              <a:ext cx="1916113" cy="769937"/>
            </a:xfrm>
            <a:custGeom>
              <a:avLst/>
              <a:gdLst>
                <a:gd name="T0" fmla="*/ 0 w 1207"/>
                <a:gd name="T1" fmla="*/ 2147483646 h 485"/>
                <a:gd name="T2" fmla="*/ 2147483646 w 1207"/>
                <a:gd name="T3" fmla="*/ 2147483646 h 485"/>
                <a:gd name="T4" fmla="*/ 2147483646 w 1207"/>
                <a:gd name="T5" fmla="*/ 2147483646 h 485"/>
                <a:gd name="T6" fmla="*/ 2147483646 w 1207"/>
                <a:gd name="T7" fmla="*/ 2147483646 h 485"/>
                <a:gd name="T8" fmla="*/ 2147483646 w 1207"/>
                <a:gd name="T9" fmla="*/ 2147483646 h 485"/>
                <a:gd name="T10" fmla="*/ 2147483646 w 1207"/>
                <a:gd name="T11" fmla="*/ 2147483646 h 485"/>
                <a:gd name="T12" fmla="*/ 0 60000 65536"/>
                <a:gd name="T13" fmla="*/ 0 60000 65536"/>
                <a:gd name="T14" fmla="*/ 0 60000 65536"/>
                <a:gd name="T15" fmla="*/ 0 60000 65536"/>
                <a:gd name="T16" fmla="*/ 0 60000 65536"/>
                <a:gd name="T17" fmla="*/ 0 60000 65536"/>
                <a:gd name="T18" fmla="*/ 0 w 1207"/>
                <a:gd name="T19" fmla="*/ 0 h 485"/>
                <a:gd name="T20" fmla="*/ 1207 w 1207"/>
                <a:gd name="T21" fmla="*/ 485 h 485"/>
              </a:gdLst>
              <a:ahLst/>
              <a:cxnLst>
                <a:cxn ang="T12">
                  <a:pos x="T0" y="T1"/>
                </a:cxn>
                <a:cxn ang="T13">
                  <a:pos x="T2" y="T3"/>
                </a:cxn>
                <a:cxn ang="T14">
                  <a:pos x="T4" y="T5"/>
                </a:cxn>
                <a:cxn ang="T15">
                  <a:pos x="T6" y="T7"/>
                </a:cxn>
                <a:cxn ang="T16">
                  <a:pos x="T8" y="T9"/>
                </a:cxn>
                <a:cxn ang="T17">
                  <a:pos x="T10" y="T11"/>
                </a:cxn>
              </a:cxnLst>
              <a:rect l="T18" t="T19" r="T20" b="T21"/>
              <a:pathLst>
                <a:path w="1207" h="485">
                  <a:moveTo>
                    <a:pt x="0" y="252"/>
                  </a:moveTo>
                  <a:cubicBezTo>
                    <a:pt x="59" y="222"/>
                    <a:pt x="181" y="0"/>
                    <a:pt x="325" y="36"/>
                  </a:cubicBezTo>
                  <a:cubicBezTo>
                    <a:pt x="409" y="66"/>
                    <a:pt x="484" y="264"/>
                    <a:pt x="531" y="325"/>
                  </a:cubicBezTo>
                  <a:cubicBezTo>
                    <a:pt x="570" y="377"/>
                    <a:pt x="621" y="458"/>
                    <a:pt x="685" y="474"/>
                  </a:cubicBezTo>
                  <a:cubicBezTo>
                    <a:pt x="740" y="485"/>
                    <a:pt x="814" y="466"/>
                    <a:pt x="901" y="444"/>
                  </a:cubicBezTo>
                  <a:cubicBezTo>
                    <a:pt x="988" y="422"/>
                    <a:pt x="1143" y="364"/>
                    <a:pt x="1207" y="343"/>
                  </a:cubicBezTo>
                </a:path>
              </a:pathLst>
            </a:custGeom>
            <a:noFill/>
            <a:ln w="28575">
              <a:solidFill>
                <a:schemeClr val="tx1"/>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solidFill>
                  <a:schemeClr val="bg1"/>
                </a:solidFill>
              </a:endParaRPr>
            </a:p>
          </p:txBody>
        </p:sp>
        <p:sp>
          <p:nvSpPr>
            <p:cNvPr id="44092" name="Freeform 62">
              <a:extLst>
                <a:ext uri="{FF2B5EF4-FFF2-40B4-BE49-F238E27FC236}">
                  <a16:creationId xmlns:a16="http://schemas.microsoft.com/office/drawing/2014/main" id="{F1BCAAA1-A015-4ED7-9390-A585FE415FBB}"/>
                </a:ext>
              </a:extLst>
            </p:cNvPr>
            <p:cNvSpPr>
              <a:spLocks/>
            </p:cNvSpPr>
            <p:nvPr/>
          </p:nvSpPr>
          <p:spPr bwMode="auto">
            <a:xfrm>
              <a:off x="2698750" y="3082925"/>
              <a:ext cx="2170113" cy="604838"/>
            </a:xfrm>
            <a:custGeom>
              <a:avLst/>
              <a:gdLst>
                <a:gd name="T0" fmla="*/ 0 w 1367"/>
                <a:gd name="T1" fmla="*/ 0 h 381"/>
                <a:gd name="T2" fmla="*/ 2147483646 w 1367"/>
                <a:gd name="T3" fmla="*/ 2147483646 h 381"/>
                <a:gd name="T4" fmla="*/ 2147483646 w 1367"/>
                <a:gd name="T5" fmla="*/ 2147483646 h 381"/>
                <a:gd name="T6" fmla="*/ 2147483646 w 1367"/>
                <a:gd name="T7" fmla="*/ 2147483646 h 381"/>
                <a:gd name="T8" fmla="*/ 2147483646 w 1367"/>
                <a:gd name="T9" fmla="*/ 2147483646 h 381"/>
                <a:gd name="T10" fmla="*/ 0 60000 65536"/>
                <a:gd name="T11" fmla="*/ 0 60000 65536"/>
                <a:gd name="T12" fmla="*/ 0 60000 65536"/>
                <a:gd name="T13" fmla="*/ 0 60000 65536"/>
                <a:gd name="T14" fmla="*/ 0 60000 65536"/>
                <a:gd name="T15" fmla="*/ 0 w 1367"/>
                <a:gd name="T16" fmla="*/ 0 h 381"/>
                <a:gd name="T17" fmla="*/ 1367 w 1367"/>
                <a:gd name="T18" fmla="*/ 381 h 381"/>
              </a:gdLst>
              <a:ahLst/>
              <a:cxnLst>
                <a:cxn ang="T10">
                  <a:pos x="T0" y="T1"/>
                </a:cxn>
                <a:cxn ang="T11">
                  <a:pos x="T2" y="T3"/>
                </a:cxn>
                <a:cxn ang="T12">
                  <a:pos x="T4" y="T5"/>
                </a:cxn>
                <a:cxn ang="T13">
                  <a:pos x="T6" y="T7"/>
                </a:cxn>
                <a:cxn ang="T14">
                  <a:pos x="T8" y="T9"/>
                </a:cxn>
              </a:cxnLst>
              <a:rect l="T15" t="T16" r="T17" b="T18"/>
              <a:pathLst>
                <a:path w="1367" h="381">
                  <a:moveTo>
                    <a:pt x="0" y="0"/>
                  </a:moveTo>
                  <a:cubicBezTo>
                    <a:pt x="19" y="14"/>
                    <a:pt x="43" y="78"/>
                    <a:pt x="99" y="125"/>
                  </a:cubicBezTo>
                  <a:cubicBezTo>
                    <a:pt x="173" y="182"/>
                    <a:pt x="321" y="309"/>
                    <a:pt x="443" y="347"/>
                  </a:cubicBezTo>
                  <a:cubicBezTo>
                    <a:pt x="525" y="360"/>
                    <a:pt x="575" y="381"/>
                    <a:pt x="827" y="363"/>
                  </a:cubicBezTo>
                  <a:cubicBezTo>
                    <a:pt x="981" y="324"/>
                    <a:pt x="1278" y="151"/>
                    <a:pt x="1367" y="111"/>
                  </a:cubicBezTo>
                </a:path>
              </a:pathLst>
            </a:custGeom>
            <a:noFill/>
            <a:ln w="28575">
              <a:solidFill>
                <a:schemeClr val="tx1"/>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solidFill>
                  <a:schemeClr val="bg1"/>
                </a:solidFill>
              </a:endParaRPr>
            </a:p>
          </p:txBody>
        </p:sp>
        <p:sp>
          <p:nvSpPr>
            <p:cNvPr id="44093" name="Freeform 63">
              <a:extLst>
                <a:ext uri="{FF2B5EF4-FFF2-40B4-BE49-F238E27FC236}">
                  <a16:creationId xmlns:a16="http://schemas.microsoft.com/office/drawing/2014/main" id="{5A5FE87F-C28A-4838-9F9F-B253E4AD5708}"/>
                </a:ext>
              </a:extLst>
            </p:cNvPr>
            <p:cNvSpPr>
              <a:spLocks/>
            </p:cNvSpPr>
            <p:nvPr/>
          </p:nvSpPr>
          <p:spPr bwMode="auto">
            <a:xfrm>
              <a:off x="2506663" y="3214688"/>
              <a:ext cx="2352675" cy="996950"/>
            </a:xfrm>
            <a:custGeom>
              <a:avLst/>
              <a:gdLst>
                <a:gd name="T0" fmla="*/ 2147483646 w 1482"/>
                <a:gd name="T1" fmla="*/ 0 h 628"/>
                <a:gd name="T2" fmla="*/ 2147483646 w 1482"/>
                <a:gd name="T3" fmla="*/ 2147483646 h 628"/>
                <a:gd name="T4" fmla="*/ 2147483646 w 1482"/>
                <a:gd name="T5" fmla="*/ 2147483646 h 628"/>
                <a:gd name="T6" fmla="*/ 0 60000 65536"/>
                <a:gd name="T7" fmla="*/ 0 60000 65536"/>
                <a:gd name="T8" fmla="*/ 0 60000 65536"/>
                <a:gd name="T9" fmla="*/ 0 w 1482"/>
                <a:gd name="T10" fmla="*/ 0 h 628"/>
                <a:gd name="T11" fmla="*/ 1482 w 1482"/>
                <a:gd name="T12" fmla="*/ 628 h 628"/>
              </a:gdLst>
              <a:ahLst/>
              <a:cxnLst>
                <a:cxn ang="T6">
                  <a:pos x="T0" y="T1"/>
                </a:cxn>
                <a:cxn ang="T7">
                  <a:pos x="T2" y="T3"/>
                </a:cxn>
                <a:cxn ang="T8">
                  <a:pos x="T4" y="T5"/>
                </a:cxn>
              </a:cxnLst>
              <a:rect l="T9" t="T10" r="T11" b="T12"/>
              <a:pathLst>
                <a:path w="1482" h="628">
                  <a:moveTo>
                    <a:pt x="12" y="0"/>
                  </a:moveTo>
                  <a:cubicBezTo>
                    <a:pt x="0" y="124"/>
                    <a:pt x="151" y="611"/>
                    <a:pt x="396" y="628"/>
                  </a:cubicBezTo>
                  <a:cubicBezTo>
                    <a:pt x="1302" y="514"/>
                    <a:pt x="1301" y="188"/>
                    <a:pt x="1482" y="100"/>
                  </a:cubicBezTo>
                </a:path>
              </a:pathLst>
            </a:custGeom>
            <a:noFill/>
            <a:ln w="28575">
              <a:solidFill>
                <a:schemeClr val="tx1"/>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solidFill>
                  <a:schemeClr val="bg1"/>
                </a:solidFill>
              </a:endParaRPr>
            </a:p>
          </p:txBody>
        </p:sp>
        <p:sp>
          <p:nvSpPr>
            <p:cNvPr id="44094" name="Freeform 64">
              <a:extLst>
                <a:ext uri="{FF2B5EF4-FFF2-40B4-BE49-F238E27FC236}">
                  <a16:creationId xmlns:a16="http://schemas.microsoft.com/office/drawing/2014/main" id="{7E5FA3ED-B6D5-4455-9F89-47839D35DCB0}"/>
                </a:ext>
              </a:extLst>
            </p:cNvPr>
            <p:cNvSpPr>
              <a:spLocks/>
            </p:cNvSpPr>
            <p:nvPr/>
          </p:nvSpPr>
          <p:spPr bwMode="auto">
            <a:xfrm>
              <a:off x="5214938" y="3683000"/>
              <a:ext cx="901700" cy="303213"/>
            </a:xfrm>
            <a:custGeom>
              <a:avLst/>
              <a:gdLst>
                <a:gd name="T0" fmla="*/ 0 w 568"/>
                <a:gd name="T1" fmla="*/ 2147483646 h 191"/>
                <a:gd name="T2" fmla="*/ 2147483646 w 568"/>
                <a:gd name="T3" fmla="*/ 2147483646 h 191"/>
                <a:gd name="T4" fmla="*/ 2147483646 w 568"/>
                <a:gd name="T5" fmla="*/ 2147483646 h 191"/>
                <a:gd name="T6" fmla="*/ 2147483646 w 568"/>
                <a:gd name="T7" fmla="*/ 2147483646 h 191"/>
                <a:gd name="T8" fmla="*/ 0 60000 65536"/>
                <a:gd name="T9" fmla="*/ 0 60000 65536"/>
                <a:gd name="T10" fmla="*/ 0 60000 65536"/>
                <a:gd name="T11" fmla="*/ 0 60000 65536"/>
                <a:gd name="T12" fmla="*/ 0 w 568"/>
                <a:gd name="T13" fmla="*/ 0 h 191"/>
                <a:gd name="T14" fmla="*/ 568 w 568"/>
                <a:gd name="T15" fmla="*/ 191 h 191"/>
              </a:gdLst>
              <a:ahLst/>
              <a:cxnLst>
                <a:cxn ang="T8">
                  <a:pos x="T0" y="T1"/>
                </a:cxn>
                <a:cxn ang="T9">
                  <a:pos x="T2" y="T3"/>
                </a:cxn>
                <a:cxn ang="T10">
                  <a:pos x="T4" y="T5"/>
                </a:cxn>
                <a:cxn ang="T11">
                  <a:pos x="T6" y="T7"/>
                </a:cxn>
              </a:cxnLst>
              <a:rect l="T12" t="T13" r="T14" b="T15"/>
              <a:pathLst>
                <a:path w="568" h="191">
                  <a:moveTo>
                    <a:pt x="0" y="187"/>
                  </a:moveTo>
                  <a:cubicBezTo>
                    <a:pt x="236" y="191"/>
                    <a:pt x="172" y="19"/>
                    <a:pt x="296" y="3"/>
                  </a:cubicBezTo>
                  <a:cubicBezTo>
                    <a:pt x="365" y="0"/>
                    <a:pt x="381" y="113"/>
                    <a:pt x="416" y="151"/>
                  </a:cubicBezTo>
                  <a:cubicBezTo>
                    <a:pt x="470" y="189"/>
                    <a:pt x="533" y="180"/>
                    <a:pt x="568" y="191"/>
                  </a:cubicBezTo>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chemeClr val="bg1"/>
                </a:solidFill>
              </a:endParaRPr>
            </a:p>
          </p:txBody>
        </p:sp>
        <p:sp>
          <p:nvSpPr>
            <p:cNvPr id="44095" name="Freeform 66">
              <a:extLst>
                <a:ext uri="{FF2B5EF4-FFF2-40B4-BE49-F238E27FC236}">
                  <a16:creationId xmlns:a16="http://schemas.microsoft.com/office/drawing/2014/main" id="{B9EF9701-46F0-4DDB-865A-3AEDB2273B16}"/>
                </a:ext>
              </a:extLst>
            </p:cNvPr>
            <p:cNvSpPr>
              <a:spLocks/>
            </p:cNvSpPr>
            <p:nvPr/>
          </p:nvSpPr>
          <p:spPr bwMode="auto">
            <a:xfrm>
              <a:off x="5292725" y="3086100"/>
              <a:ext cx="563563" cy="503238"/>
            </a:xfrm>
            <a:custGeom>
              <a:avLst/>
              <a:gdLst>
                <a:gd name="T0" fmla="*/ 0 w 355"/>
                <a:gd name="T1" fmla="*/ 2147483646 h 317"/>
                <a:gd name="T2" fmla="*/ 2147483646 w 355"/>
                <a:gd name="T3" fmla="*/ 2147483646 h 317"/>
                <a:gd name="T4" fmla="*/ 2147483646 w 355"/>
                <a:gd name="T5" fmla="*/ 2147483646 h 317"/>
                <a:gd name="T6" fmla="*/ 2147483646 w 355"/>
                <a:gd name="T7" fmla="*/ 2147483646 h 317"/>
                <a:gd name="T8" fmla="*/ 0 60000 65536"/>
                <a:gd name="T9" fmla="*/ 0 60000 65536"/>
                <a:gd name="T10" fmla="*/ 0 60000 65536"/>
                <a:gd name="T11" fmla="*/ 0 60000 65536"/>
                <a:gd name="T12" fmla="*/ 0 w 355"/>
                <a:gd name="T13" fmla="*/ 0 h 317"/>
                <a:gd name="T14" fmla="*/ 355 w 355"/>
                <a:gd name="T15" fmla="*/ 317 h 317"/>
              </a:gdLst>
              <a:ahLst/>
              <a:cxnLst>
                <a:cxn ang="T8">
                  <a:pos x="T0" y="T1"/>
                </a:cxn>
                <a:cxn ang="T9">
                  <a:pos x="T2" y="T3"/>
                </a:cxn>
                <a:cxn ang="T10">
                  <a:pos x="T4" y="T5"/>
                </a:cxn>
                <a:cxn ang="T11">
                  <a:pos x="T6" y="T7"/>
                </a:cxn>
              </a:cxnLst>
              <a:rect l="T12" t="T13" r="T14" b="T15"/>
              <a:pathLst>
                <a:path w="355" h="317">
                  <a:moveTo>
                    <a:pt x="0" y="308"/>
                  </a:moveTo>
                  <a:cubicBezTo>
                    <a:pt x="236" y="312"/>
                    <a:pt x="79" y="19"/>
                    <a:pt x="203" y="3"/>
                  </a:cubicBezTo>
                  <a:cubicBezTo>
                    <a:pt x="272" y="0"/>
                    <a:pt x="224" y="241"/>
                    <a:pt x="259" y="279"/>
                  </a:cubicBezTo>
                  <a:cubicBezTo>
                    <a:pt x="313" y="317"/>
                    <a:pt x="320" y="300"/>
                    <a:pt x="355" y="311"/>
                  </a:cubicBezTo>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chemeClr val="bg1"/>
                </a:solidFill>
              </a:endParaRPr>
            </a:p>
          </p:txBody>
        </p:sp>
        <p:sp>
          <p:nvSpPr>
            <p:cNvPr id="44096" name="Freeform 67">
              <a:extLst>
                <a:ext uri="{FF2B5EF4-FFF2-40B4-BE49-F238E27FC236}">
                  <a16:creationId xmlns:a16="http://schemas.microsoft.com/office/drawing/2014/main" id="{C57F1482-4261-440C-BEBA-D1398EB3AFC8}"/>
                </a:ext>
              </a:extLst>
            </p:cNvPr>
            <p:cNvSpPr>
              <a:spLocks/>
            </p:cNvSpPr>
            <p:nvPr/>
          </p:nvSpPr>
          <p:spPr bwMode="auto">
            <a:xfrm>
              <a:off x="5311775" y="2705100"/>
              <a:ext cx="595313" cy="388938"/>
            </a:xfrm>
            <a:custGeom>
              <a:avLst/>
              <a:gdLst>
                <a:gd name="T0" fmla="*/ 0 w 375"/>
                <a:gd name="T1" fmla="*/ 2147483646 h 245"/>
                <a:gd name="T2" fmla="*/ 2147483646 w 375"/>
                <a:gd name="T3" fmla="*/ 2147483646 h 245"/>
                <a:gd name="T4" fmla="*/ 2147483646 w 375"/>
                <a:gd name="T5" fmla="*/ 2147483646 h 245"/>
                <a:gd name="T6" fmla="*/ 2147483646 w 375"/>
                <a:gd name="T7" fmla="*/ 2147483646 h 245"/>
                <a:gd name="T8" fmla="*/ 0 60000 65536"/>
                <a:gd name="T9" fmla="*/ 0 60000 65536"/>
                <a:gd name="T10" fmla="*/ 0 60000 65536"/>
                <a:gd name="T11" fmla="*/ 0 60000 65536"/>
                <a:gd name="T12" fmla="*/ 0 w 375"/>
                <a:gd name="T13" fmla="*/ 0 h 245"/>
                <a:gd name="T14" fmla="*/ 375 w 375"/>
                <a:gd name="T15" fmla="*/ 245 h 245"/>
              </a:gdLst>
              <a:ahLst/>
              <a:cxnLst>
                <a:cxn ang="T8">
                  <a:pos x="T0" y="T1"/>
                </a:cxn>
                <a:cxn ang="T9">
                  <a:pos x="T2" y="T3"/>
                </a:cxn>
                <a:cxn ang="T10">
                  <a:pos x="T4" y="T5"/>
                </a:cxn>
                <a:cxn ang="T11">
                  <a:pos x="T6" y="T7"/>
                </a:cxn>
              </a:cxnLst>
              <a:rect l="T12" t="T13" r="T14" b="T15"/>
              <a:pathLst>
                <a:path w="375" h="245">
                  <a:moveTo>
                    <a:pt x="0" y="224"/>
                  </a:moveTo>
                  <a:cubicBezTo>
                    <a:pt x="236" y="228"/>
                    <a:pt x="83" y="19"/>
                    <a:pt x="207" y="3"/>
                  </a:cubicBezTo>
                  <a:cubicBezTo>
                    <a:pt x="276" y="0"/>
                    <a:pt x="256" y="169"/>
                    <a:pt x="291" y="207"/>
                  </a:cubicBezTo>
                  <a:cubicBezTo>
                    <a:pt x="345" y="245"/>
                    <a:pt x="340" y="212"/>
                    <a:pt x="375" y="223"/>
                  </a:cubicBezTo>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chemeClr val="bg1"/>
                </a:solidFill>
              </a:endParaRPr>
            </a:p>
          </p:txBody>
        </p:sp>
        <p:sp>
          <p:nvSpPr>
            <p:cNvPr id="44097" name="Freeform 68">
              <a:extLst>
                <a:ext uri="{FF2B5EF4-FFF2-40B4-BE49-F238E27FC236}">
                  <a16:creationId xmlns:a16="http://schemas.microsoft.com/office/drawing/2014/main" id="{2D929C4D-19B9-4C90-A8F0-6B777AE64BFB}"/>
                </a:ext>
              </a:extLst>
            </p:cNvPr>
            <p:cNvSpPr>
              <a:spLocks/>
            </p:cNvSpPr>
            <p:nvPr/>
          </p:nvSpPr>
          <p:spPr bwMode="auto">
            <a:xfrm>
              <a:off x="5343525" y="2343150"/>
              <a:ext cx="557213" cy="319088"/>
            </a:xfrm>
            <a:custGeom>
              <a:avLst/>
              <a:gdLst>
                <a:gd name="T0" fmla="*/ 0 w 351"/>
                <a:gd name="T1" fmla="*/ 2147483646 h 201"/>
                <a:gd name="T2" fmla="*/ 2147483646 w 351"/>
                <a:gd name="T3" fmla="*/ 2147483646 h 201"/>
                <a:gd name="T4" fmla="*/ 2147483646 w 351"/>
                <a:gd name="T5" fmla="*/ 2147483646 h 201"/>
                <a:gd name="T6" fmla="*/ 2147483646 w 351"/>
                <a:gd name="T7" fmla="*/ 2147483646 h 201"/>
                <a:gd name="T8" fmla="*/ 0 60000 65536"/>
                <a:gd name="T9" fmla="*/ 0 60000 65536"/>
                <a:gd name="T10" fmla="*/ 0 60000 65536"/>
                <a:gd name="T11" fmla="*/ 0 60000 65536"/>
                <a:gd name="T12" fmla="*/ 0 w 351"/>
                <a:gd name="T13" fmla="*/ 0 h 201"/>
                <a:gd name="T14" fmla="*/ 351 w 351"/>
                <a:gd name="T15" fmla="*/ 201 h 201"/>
              </a:gdLst>
              <a:ahLst/>
              <a:cxnLst>
                <a:cxn ang="T8">
                  <a:pos x="T0" y="T1"/>
                </a:cxn>
                <a:cxn ang="T9">
                  <a:pos x="T2" y="T3"/>
                </a:cxn>
                <a:cxn ang="T10">
                  <a:pos x="T4" y="T5"/>
                </a:cxn>
                <a:cxn ang="T11">
                  <a:pos x="T6" y="T7"/>
                </a:cxn>
              </a:cxnLst>
              <a:rect l="T12" t="T13" r="T14" b="T15"/>
              <a:pathLst>
                <a:path w="351" h="201">
                  <a:moveTo>
                    <a:pt x="0" y="184"/>
                  </a:moveTo>
                  <a:cubicBezTo>
                    <a:pt x="191" y="171"/>
                    <a:pt x="59" y="99"/>
                    <a:pt x="191" y="3"/>
                  </a:cubicBezTo>
                  <a:cubicBezTo>
                    <a:pt x="260" y="0"/>
                    <a:pt x="224" y="125"/>
                    <a:pt x="259" y="163"/>
                  </a:cubicBezTo>
                  <a:cubicBezTo>
                    <a:pt x="313" y="201"/>
                    <a:pt x="316" y="172"/>
                    <a:pt x="351" y="183"/>
                  </a:cubicBezTo>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chemeClr val="bg1"/>
                </a:solidFill>
              </a:endParaRPr>
            </a:p>
          </p:txBody>
        </p:sp>
        <p:sp>
          <p:nvSpPr>
            <p:cNvPr id="44098" name="Text Box 69">
              <a:extLst>
                <a:ext uri="{FF2B5EF4-FFF2-40B4-BE49-F238E27FC236}">
                  <a16:creationId xmlns:a16="http://schemas.microsoft.com/office/drawing/2014/main" id="{522FFF2C-2972-49C8-B3AD-5A68D9D10FDF}"/>
                </a:ext>
              </a:extLst>
            </p:cNvPr>
            <p:cNvSpPr txBox="1">
              <a:spLocks noChangeArrowheads="1"/>
            </p:cNvSpPr>
            <p:nvPr/>
          </p:nvSpPr>
          <p:spPr bwMode="auto">
            <a:xfrm>
              <a:off x="4862513" y="1973263"/>
              <a:ext cx="124425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t>Path delay PDFs</a:t>
              </a:r>
              <a:endParaRPr lang="ru-RU" altLang="en-US" sz="1100"/>
            </a:p>
          </p:txBody>
        </p:sp>
      </p:grpSp>
      <p:sp>
        <p:nvSpPr>
          <p:cNvPr id="44036" name="Rectangle 1">
            <a:extLst>
              <a:ext uri="{FF2B5EF4-FFF2-40B4-BE49-F238E27FC236}">
                <a16:creationId xmlns:a16="http://schemas.microsoft.com/office/drawing/2014/main" id="{F95D0A4C-E14D-45C1-941F-0CB7FD645995}"/>
              </a:ext>
            </a:extLst>
          </p:cNvPr>
          <p:cNvSpPr>
            <a:spLocks noChangeArrowheads="1"/>
          </p:cNvSpPr>
          <p:nvPr/>
        </p:nvSpPr>
        <p:spPr bwMode="auto">
          <a:xfrm>
            <a:off x="2397125" y="4868863"/>
            <a:ext cx="40020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500">
                <a:solidFill>
                  <a:srgbClr val="000000"/>
                </a:solidFill>
                <a:latin typeface="Verdana" panose="020B0604030504040204" pitchFamily="34" charset="0"/>
              </a:rPr>
              <a:t>Individual analysis of paths from S to E</a:t>
            </a:r>
          </a:p>
        </p:txBody>
      </p:sp>
      <p:sp>
        <p:nvSpPr>
          <p:cNvPr id="44037" name="Rectangle 2">
            <a:extLst>
              <a:ext uri="{FF2B5EF4-FFF2-40B4-BE49-F238E27FC236}">
                <a16:creationId xmlns:a16="http://schemas.microsoft.com/office/drawing/2014/main" id="{1AC0F492-3CD5-4E01-9336-EEC75B1D8243}"/>
              </a:ext>
            </a:extLst>
          </p:cNvPr>
          <p:cNvSpPr>
            <a:spLocks noChangeArrowheads="1"/>
          </p:cNvSpPr>
          <p:nvPr/>
        </p:nvSpPr>
        <p:spPr bwMode="auto">
          <a:xfrm>
            <a:off x="2527300" y="1762125"/>
            <a:ext cx="19002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t>Path-Based SSTA</a:t>
            </a:r>
          </a:p>
        </p:txBody>
      </p:sp>
      <p:grpSp>
        <p:nvGrpSpPr>
          <p:cNvPr id="44038" name="Group 4">
            <a:extLst>
              <a:ext uri="{FF2B5EF4-FFF2-40B4-BE49-F238E27FC236}">
                <a16:creationId xmlns:a16="http://schemas.microsoft.com/office/drawing/2014/main" id="{69728BBF-A6C6-411D-A4C3-24E20E93E009}"/>
              </a:ext>
            </a:extLst>
          </p:cNvPr>
          <p:cNvGrpSpPr>
            <a:grpSpLocks/>
          </p:cNvGrpSpPr>
          <p:nvPr/>
        </p:nvGrpSpPr>
        <p:grpSpPr bwMode="auto">
          <a:xfrm>
            <a:off x="6464301" y="2295525"/>
            <a:ext cx="3535363" cy="2616200"/>
            <a:chOff x="2260601" y="1990725"/>
            <a:chExt cx="3998606" cy="2957505"/>
          </a:xfrm>
        </p:grpSpPr>
        <p:grpSp>
          <p:nvGrpSpPr>
            <p:cNvPr id="44040" name="Group 4">
              <a:extLst>
                <a:ext uri="{FF2B5EF4-FFF2-40B4-BE49-F238E27FC236}">
                  <a16:creationId xmlns:a16="http://schemas.microsoft.com/office/drawing/2014/main" id="{B1CF99C7-460B-4A85-8577-D6A26C151CBA}"/>
                </a:ext>
              </a:extLst>
            </p:cNvPr>
            <p:cNvGrpSpPr>
              <a:grpSpLocks/>
            </p:cNvGrpSpPr>
            <p:nvPr/>
          </p:nvGrpSpPr>
          <p:grpSpPr bwMode="auto">
            <a:xfrm>
              <a:off x="2260601" y="2179639"/>
              <a:ext cx="2770188" cy="2039938"/>
              <a:chOff x="3240" y="1659"/>
              <a:chExt cx="1745" cy="1285"/>
            </a:xfrm>
          </p:grpSpPr>
          <p:sp>
            <p:nvSpPr>
              <p:cNvPr id="44044" name="Oval 5">
                <a:extLst>
                  <a:ext uri="{FF2B5EF4-FFF2-40B4-BE49-F238E27FC236}">
                    <a16:creationId xmlns:a16="http://schemas.microsoft.com/office/drawing/2014/main" id="{495AE134-6124-427E-942B-27228928884C}"/>
                  </a:ext>
                </a:extLst>
              </p:cNvPr>
              <p:cNvSpPr>
                <a:spLocks noChangeArrowheads="1"/>
              </p:cNvSpPr>
              <p:nvPr/>
            </p:nvSpPr>
            <p:spPr bwMode="auto">
              <a:xfrm>
                <a:off x="3240" y="2070"/>
                <a:ext cx="216" cy="216"/>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45" name="Oval 6">
                <a:extLst>
                  <a:ext uri="{FF2B5EF4-FFF2-40B4-BE49-F238E27FC236}">
                    <a16:creationId xmlns:a16="http://schemas.microsoft.com/office/drawing/2014/main" id="{BD0139C5-B7B8-4446-9569-4EB8D2B7056E}"/>
                  </a:ext>
                </a:extLst>
              </p:cNvPr>
              <p:cNvSpPr>
                <a:spLocks noChangeArrowheads="1"/>
              </p:cNvSpPr>
              <p:nvPr/>
            </p:nvSpPr>
            <p:spPr bwMode="auto">
              <a:xfrm>
                <a:off x="4769" y="2093"/>
                <a:ext cx="216" cy="216"/>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46" name="Oval 7">
                <a:extLst>
                  <a:ext uri="{FF2B5EF4-FFF2-40B4-BE49-F238E27FC236}">
                    <a16:creationId xmlns:a16="http://schemas.microsoft.com/office/drawing/2014/main" id="{D46CD7FD-061E-4D36-AA1E-EFCE6E0F5A3A}"/>
                  </a:ext>
                </a:extLst>
              </p:cNvPr>
              <p:cNvSpPr>
                <a:spLocks noChangeArrowheads="1"/>
              </p:cNvSpPr>
              <p:nvPr/>
            </p:nvSpPr>
            <p:spPr bwMode="auto">
              <a:xfrm>
                <a:off x="4246" y="2398"/>
                <a:ext cx="144" cy="144"/>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47" name="Oval 8">
                <a:extLst>
                  <a:ext uri="{FF2B5EF4-FFF2-40B4-BE49-F238E27FC236}">
                    <a16:creationId xmlns:a16="http://schemas.microsoft.com/office/drawing/2014/main" id="{6D5F4FA5-85FE-43AA-BE55-1F52E76A2045}"/>
                  </a:ext>
                </a:extLst>
              </p:cNvPr>
              <p:cNvSpPr>
                <a:spLocks noChangeArrowheads="1"/>
              </p:cNvSpPr>
              <p:nvPr/>
            </p:nvSpPr>
            <p:spPr bwMode="auto">
              <a:xfrm>
                <a:off x="3705" y="2757"/>
                <a:ext cx="144" cy="144"/>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48" name="Oval 9">
                <a:extLst>
                  <a:ext uri="{FF2B5EF4-FFF2-40B4-BE49-F238E27FC236}">
                    <a16:creationId xmlns:a16="http://schemas.microsoft.com/office/drawing/2014/main" id="{C1070991-8689-4531-B4E5-BF36B7E9A638}"/>
                  </a:ext>
                </a:extLst>
              </p:cNvPr>
              <p:cNvSpPr>
                <a:spLocks noChangeArrowheads="1"/>
              </p:cNvSpPr>
              <p:nvPr/>
            </p:nvSpPr>
            <p:spPr bwMode="auto">
              <a:xfrm>
                <a:off x="3711" y="2265"/>
                <a:ext cx="144" cy="144"/>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49" name="Oval 10">
                <a:extLst>
                  <a:ext uri="{FF2B5EF4-FFF2-40B4-BE49-F238E27FC236}">
                    <a16:creationId xmlns:a16="http://schemas.microsoft.com/office/drawing/2014/main" id="{CAEA6E41-F6EA-4F3E-B79E-04C5229E420F}"/>
                  </a:ext>
                </a:extLst>
              </p:cNvPr>
              <p:cNvSpPr>
                <a:spLocks noChangeArrowheads="1"/>
              </p:cNvSpPr>
              <p:nvPr/>
            </p:nvSpPr>
            <p:spPr bwMode="auto">
              <a:xfrm>
                <a:off x="4239" y="1665"/>
                <a:ext cx="144" cy="144"/>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sp>
            <p:nvSpPr>
              <p:cNvPr id="44050" name="Oval 11">
                <a:extLst>
                  <a:ext uri="{FF2B5EF4-FFF2-40B4-BE49-F238E27FC236}">
                    <a16:creationId xmlns:a16="http://schemas.microsoft.com/office/drawing/2014/main" id="{3A11B7C4-3A9D-4A67-B1C0-C27AB30DBE5C}"/>
                  </a:ext>
                </a:extLst>
              </p:cNvPr>
              <p:cNvSpPr>
                <a:spLocks noChangeArrowheads="1"/>
              </p:cNvSpPr>
              <p:nvPr/>
            </p:nvSpPr>
            <p:spPr bwMode="auto">
              <a:xfrm>
                <a:off x="3705" y="1659"/>
                <a:ext cx="144" cy="144"/>
              </a:xfrm>
              <a:prstGeom prst="ellipse">
                <a:avLst/>
              </a:prstGeom>
              <a:solidFill>
                <a:schemeClr val="accent1"/>
              </a:solidFill>
              <a:ln w="9525">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100">
                  <a:solidFill>
                    <a:schemeClr val="bg1"/>
                  </a:solidFill>
                </a:endParaRPr>
              </a:p>
            </p:txBody>
          </p:sp>
          <p:cxnSp>
            <p:nvCxnSpPr>
              <p:cNvPr id="44051" name="AutoShape 12">
                <a:extLst>
                  <a:ext uri="{FF2B5EF4-FFF2-40B4-BE49-F238E27FC236}">
                    <a16:creationId xmlns:a16="http://schemas.microsoft.com/office/drawing/2014/main" id="{BB62184C-51FC-417F-8541-58E978A48548}"/>
                  </a:ext>
                </a:extLst>
              </p:cNvPr>
              <p:cNvCxnSpPr>
                <a:cxnSpLocks noChangeShapeType="1"/>
                <a:stCxn id="44044" idx="7"/>
                <a:endCxn id="44050" idx="3"/>
              </p:cNvCxnSpPr>
              <p:nvPr/>
            </p:nvCxnSpPr>
            <p:spPr bwMode="auto">
              <a:xfrm flipV="1">
                <a:off x="3424" y="1782"/>
                <a:ext cx="302" cy="3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52" name="AutoShape 13">
                <a:extLst>
                  <a:ext uri="{FF2B5EF4-FFF2-40B4-BE49-F238E27FC236}">
                    <a16:creationId xmlns:a16="http://schemas.microsoft.com/office/drawing/2014/main" id="{5843CE50-CD2D-4041-B10E-ADDC93C6F8F6}"/>
                  </a:ext>
                </a:extLst>
              </p:cNvPr>
              <p:cNvCxnSpPr>
                <a:cxnSpLocks noChangeShapeType="1"/>
                <a:stCxn id="44050" idx="5"/>
                <a:endCxn id="44046" idx="0"/>
              </p:cNvCxnSpPr>
              <p:nvPr/>
            </p:nvCxnSpPr>
            <p:spPr bwMode="auto">
              <a:xfrm>
                <a:off x="3828" y="1782"/>
                <a:ext cx="490" cy="61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53" name="AutoShape 14">
                <a:extLst>
                  <a:ext uri="{FF2B5EF4-FFF2-40B4-BE49-F238E27FC236}">
                    <a16:creationId xmlns:a16="http://schemas.microsoft.com/office/drawing/2014/main" id="{66AF50EF-C26B-4F8B-967E-45765B2170AB}"/>
                  </a:ext>
                </a:extLst>
              </p:cNvPr>
              <p:cNvCxnSpPr>
                <a:cxnSpLocks noChangeShapeType="1"/>
                <a:stCxn id="44044" idx="6"/>
                <a:endCxn id="44048" idx="1"/>
              </p:cNvCxnSpPr>
              <p:nvPr/>
            </p:nvCxnSpPr>
            <p:spPr bwMode="auto">
              <a:xfrm>
                <a:off x="3456" y="2178"/>
                <a:ext cx="276" cy="10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54" name="AutoShape 15">
                <a:extLst>
                  <a:ext uri="{FF2B5EF4-FFF2-40B4-BE49-F238E27FC236}">
                    <a16:creationId xmlns:a16="http://schemas.microsoft.com/office/drawing/2014/main" id="{E91BC94E-0FA4-4620-ADF7-42E83B1B5532}"/>
                  </a:ext>
                </a:extLst>
              </p:cNvPr>
              <p:cNvCxnSpPr>
                <a:cxnSpLocks noChangeShapeType="1"/>
                <a:stCxn id="44048" idx="6"/>
                <a:endCxn id="44046" idx="2"/>
              </p:cNvCxnSpPr>
              <p:nvPr/>
            </p:nvCxnSpPr>
            <p:spPr bwMode="auto">
              <a:xfrm>
                <a:off x="3855" y="2337"/>
                <a:ext cx="391" cy="13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55" name="AutoShape 16">
                <a:extLst>
                  <a:ext uri="{FF2B5EF4-FFF2-40B4-BE49-F238E27FC236}">
                    <a16:creationId xmlns:a16="http://schemas.microsoft.com/office/drawing/2014/main" id="{8C3DED5C-611C-4135-A8C2-C3EBACEEB029}"/>
                  </a:ext>
                </a:extLst>
              </p:cNvPr>
              <p:cNvCxnSpPr>
                <a:cxnSpLocks noChangeShapeType="1"/>
                <a:stCxn id="44047" idx="7"/>
                <a:endCxn id="44046" idx="3"/>
              </p:cNvCxnSpPr>
              <p:nvPr/>
            </p:nvCxnSpPr>
            <p:spPr bwMode="auto">
              <a:xfrm flipV="1">
                <a:off x="3828" y="2521"/>
                <a:ext cx="439" cy="25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56" name="AutoShape 17">
                <a:extLst>
                  <a:ext uri="{FF2B5EF4-FFF2-40B4-BE49-F238E27FC236}">
                    <a16:creationId xmlns:a16="http://schemas.microsoft.com/office/drawing/2014/main" id="{AA05E021-9B6D-488F-AAE6-596694308FC7}"/>
                  </a:ext>
                </a:extLst>
              </p:cNvPr>
              <p:cNvCxnSpPr>
                <a:cxnSpLocks noChangeShapeType="1"/>
                <a:stCxn id="44044" idx="5"/>
                <a:endCxn id="44047" idx="1"/>
              </p:cNvCxnSpPr>
              <p:nvPr/>
            </p:nvCxnSpPr>
            <p:spPr bwMode="auto">
              <a:xfrm>
                <a:off x="3424" y="2254"/>
                <a:ext cx="302" cy="52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57" name="AutoShape 18">
                <a:extLst>
                  <a:ext uri="{FF2B5EF4-FFF2-40B4-BE49-F238E27FC236}">
                    <a16:creationId xmlns:a16="http://schemas.microsoft.com/office/drawing/2014/main" id="{3839F306-298F-44FD-85C7-5255A16F806A}"/>
                  </a:ext>
                </a:extLst>
              </p:cNvPr>
              <p:cNvCxnSpPr>
                <a:cxnSpLocks noChangeShapeType="1"/>
                <a:stCxn id="44050" idx="6"/>
                <a:endCxn id="44049" idx="2"/>
              </p:cNvCxnSpPr>
              <p:nvPr/>
            </p:nvCxnSpPr>
            <p:spPr bwMode="auto">
              <a:xfrm>
                <a:off x="3849" y="1731"/>
                <a:ext cx="39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58" name="AutoShape 19">
                <a:extLst>
                  <a:ext uri="{FF2B5EF4-FFF2-40B4-BE49-F238E27FC236}">
                    <a16:creationId xmlns:a16="http://schemas.microsoft.com/office/drawing/2014/main" id="{A2F3F42D-74E3-4A93-BF0B-2EB92F453534}"/>
                  </a:ext>
                </a:extLst>
              </p:cNvPr>
              <p:cNvCxnSpPr>
                <a:cxnSpLocks noChangeShapeType="1"/>
                <a:stCxn id="44049" idx="5"/>
                <a:endCxn id="44045" idx="1"/>
              </p:cNvCxnSpPr>
              <p:nvPr/>
            </p:nvCxnSpPr>
            <p:spPr bwMode="auto">
              <a:xfrm>
                <a:off x="4362" y="1788"/>
                <a:ext cx="439" cy="33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59" name="AutoShape 20">
                <a:extLst>
                  <a:ext uri="{FF2B5EF4-FFF2-40B4-BE49-F238E27FC236}">
                    <a16:creationId xmlns:a16="http://schemas.microsoft.com/office/drawing/2014/main" id="{6DA459A0-D7AA-4266-8DAC-4A49097D5AD5}"/>
                  </a:ext>
                </a:extLst>
              </p:cNvPr>
              <p:cNvCxnSpPr>
                <a:cxnSpLocks noChangeShapeType="1"/>
                <a:stCxn id="44046" idx="7"/>
                <a:endCxn id="44045" idx="3"/>
              </p:cNvCxnSpPr>
              <p:nvPr/>
            </p:nvCxnSpPr>
            <p:spPr bwMode="auto">
              <a:xfrm flipV="1">
                <a:off x="4369" y="2277"/>
                <a:ext cx="432" cy="14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4060" name="Text Box 21">
                <a:extLst>
                  <a:ext uri="{FF2B5EF4-FFF2-40B4-BE49-F238E27FC236}">
                    <a16:creationId xmlns:a16="http://schemas.microsoft.com/office/drawing/2014/main" id="{850E15F3-6086-4B81-BA90-6EC4766BAE42}"/>
                  </a:ext>
                </a:extLst>
              </p:cNvPr>
              <p:cNvSpPr txBox="1">
                <a:spLocks noChangeArrowheads="1"/>
              </p:cNvSpPr>
              <p:nvPr/>
            </p:nvSpPr>
            <p:spPr bwMode="auto">
              <a:xfrm>
                <a:off x="3671" y="1662"/>
                <a:ext cx="254"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V1</a:t>
                </a:r>
                <a:endParaRPr lang="ru-RU" altLang="en-US" sz="1100">
                  <a:solidFill>
                    <a:schemeClr val="bg1"/>
                  </a:solidFill>
                </a:endParaRPr>
              </a:p>
            </p:txBody>
          </p:sp>
          <p:sp>
            <p:nvSpPr>
              <p:cNvPr id="44061" name="Text Box 22">
                <a:extLst>
                  <a:ext uri="{FF2B5EF4-FFF2-40B4-BE49-F238E27FC236}">
                    <a16:creationId xmlns:a16="http://schemas.microsoft.com/office/drawing/2014/main" id="{0F7A8649-7653-4EC5-B910-752B81B3D623}"/>
                  </a:ext>
                </a:extLst>
              </p:cNvPr>
              <p:cNvSpPr txBox="1">
                <a:spLocks noChangeArrowheads="1"/>
              </p:cNvSpPr>
              <p:nvPr/>
            </p:nvSpPr>
            <p:spPr bwMode="auto">
              <a:xfrm>
                <a:off x="4203" y="1665"/>
                <a:ext cx="28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V2</a:t>
                </a:r>
                <a:endParaRPr lang="ru-RU" altLang="en-US" sz="1100">
                  <a:solidFill>
                    <a:schemeClr val="bg1"/>
                  </a:solidFill>
                </a:endParaRPr>
              </a:p>
            </p:txBody>
          </p:sp>
          <p:sp>
            <p:nvSpPr>
              <p:cNvPr id="44062" name="Text Box 23">
                <a:extLst>
                  <a:ext uri="{FF2B5EF4-FFF2-40B4-BE49-F238E27FC236}">
                    <a16:creationId xmlns:a16="http://schemas.microsoft.com/office/drawing/2014/main" id="{926627C6-2DC1-4B49-9406-74C6A04B5C85}"/>
                  </a:ext>
                </a:extLst>
              </p:cNvPr>
              <p:cNvSpPr txBox="1">
                <a:spLocks noChangeArrowheads="1"/>
              </p:cNvSpPr>
              <p:nvPr/>
            </p:nvSpPr>
            <p:spPr bwMode="auto">
              <a:xfrm>
                <a:off x="3671" y="2266"/>
                <a:ext cx="265"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V3</a:t>
                </a:r>
                <a:endParaRPr lang="ru-RU" altLang="en-US" sz="1100">
                  <a:solidFill>
                    <a:schemeClr val="bg1"/>
                  </a:solidFill>
                </a:endParaRPr>
              </a:p>
            </p:txBody>
          </p:sp>
          <p:sp>
            <p:nvSpPr>
              <p:cNvPr id="44063" name="Text Box 24">
                <a:extLst>
                  <a:ext uri="{FF2B5EF4-FFF2-40B4-BE49-F238E27FC236}">
                    <a16:creationId xmlns:a16="http://schemas.microsoft.com/office/drawing/2014/main" id="{466B3116-D0ED-48E7-9978-EA7B48CD26CE}"/>
                  </a:ext>
                </a:extLst>
              </p:cNvPr>
              <p:cNvSpPr txBox="1">
                <a:spLocks noChangeArrowheads="1"/>
              </p:cNvSpPr>
              <p:nvPr/>
            </p:nvSpPr>
            <p:spPr bwMode="auto">
              <a:xfrm>
                <a:off x="3673" y="2758"/>
                <a:ext cx="254"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V4</a:t>
                </a:r>
                <a:endParaRPr lang="ru-RU" altLang="en-US" sz="1100">
                  <a:solidFill>
                    <a:schemeClr val="bg1"/>
                  </a:solidFill>
                </a:endParaRPr>
              </a:p>
            </p:txBody>
          </p:sp>
          <p:sp>
            <p:nvSpPr>
              <p:cNvPr id="44064" name="Text Box 25">
                <a:extLst>
                  <a:ext uri="{FF2B5EF4-FFF2-40B4-BE49-F238E27FC236}">
                    <a16:creationId xmlns:a16="http://schemas.microsoft.com/office/drawing/2014/main" id="{C8B6956E-BDC1-42B9-B65D-32477D7074D4}"/>
                  </a:ext>
                </a:extLst>
              </p:cNvPr>
              <p:cNvSpPr txBox="1">
                <a:spLocks noChangeArrowheads="1"/>
              </p:cNvSpPr>
              <p:nvPr/>
            </p:nvSpPr>
            <p:spPr bwMode="auto">
              <a:xfrm>
                <a:off x="4209" y="2398"/>
                <a:ext cx="284"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V5</a:t>
                </a:r>
                <a:endParaRPr lang="ru-RU" altLang="en-US" sz="1100">
                  <a:solidFill>
                    <a:schemeClr val="bg1"/>
                  </a:solidFill>
                </a:endParaRPr>
              </a:p>
            </p:txBody>
          </p:sp>
          <p:sp>
            <p:nvSpPr>
              <p:cNvPr id="44065" name="Text Box 26">
                <a:extLst>
                  <a:ext uri="{FF2B5EF4-FFF2-40B4-BE49-F238E27FC236}">
                    <a16:creationId xmlns:a16="http://schemas.microsoft.com/office/drawing/2014/main" id="{3F9E0200-4FD9-4602-B9AD-0EADB6535FCE}"/>
                  </a:ext>
                </a:extLst>
              </p:cNvPr>
              <p:cNvSpPr txBox="1">
                <a:spLocks noChangeArrowheads="1"/>
              </p:cNvSpPr>
              <p:nvPr/>
            </p:nvSpPr>
            <p:spPr bwMode="auto">
              <a:xfrm>
                <a:off x="3267" y="2106"/>
                <a:ext cx="13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S</a:t>
                </a:r>
                <a:endParaRPr lang="ru-RU" altLang="en-US" sz="1100">
                  <a:solidFill>
                    <a:schemeClr val="bg1"/>
                  </a:solidFill>
                </a:endParaRPr>
              </a:p>
            </p:txBody>
          </p:sp>
          <p:sp>
            <p:nvSpPr>
              <p:cNvPr id="44066" name="Text Box 27">
                <a:extLst>
                  <a:ext uri="{FF2B5EF4-FFF2-40B4-BE49-F238E27FC236}">
                    <a16:creationId xmlns:a16="http://schemas.microsoft.com/office/drawing/2014/main" id="{455D64F1-B717-4D0F-9370-77B36B3FB28B}"/>
                  </a:ext>
                </a:extLst>
              </p:cNvPr>
              <p:cNvSpPr txBox="1">
                <a:spLocks noChangeArrowheads="1"/>
              </p:cNvSpPr>
              <p:nvPr/>
            </p:nvSpPr>
            <p:spPr bwMode="auto">
              <a:xfrm>
                <a:off x="4794" y="2125"/>
                <a:ext cx="172"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100">
                    <a:solidFill>
                      <a:schemeClr val="bg1"/>
                    </a:solidFill>
                  </a:rPr>
                  <a:t>E</a:t>
                </a:r>
                <a:endParaRPr lang="ru-RU" altLang="en-US" sz="1100">
                  <a:solidFill>
                    <a:schemeClr val="bg1"/>
                  </a:solidFill>
                </a:endParaRPr>
              </a:p>
            </p:txBody>
          </p:sp>
        </p:grpSp>
        <p:sp>
          <p:nvSpPr>
            <p:cNvPr id="44041" name="Rectangle 30">
              <a:extLst>
                <a:ext uri="{FF2B5EF4-FFF2-40B4-BE49-F238E27FC236}">
                  <a16:creationId xmlns:a16="http://schemas.microsoft.com/office/drawing/2014/main" id="{F3EBD37B-BC20-44E6-82CC-19B36CE23292}"/>
                </a:ext>
              </a:extLst>
            </p:cNvPr>
            <p:cNvSpPr>
              <a:spLocks noChangeArrowheads="1"/>
            </p:cNvSpPr>
            <p:nvPr/>
          </p:nvSpPr>
          <p:spPr bwMode="auto">
            <a:xfrm>
              <a:off x="4806950" y="1990725"/>
              <a:ext cx="1452257" cy="295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a:t>Circuit delay PDF</a:t>
              </a:r>
              <a:endParaRPr lang="ru-RU" altLang="en-US" sz="1100" dirty="0"/>
            </a:p>
          </p:txBody>
        </p:sp>
        <p:sp>
          <p:nvSpPr>
            <p:cNvPr id="44042" name="Freeform 31">
              <a:extLst>
                <a:ext uri="{FF2B5EF4-FFF2-40B4-BE49-F238E27FC236}">
                  <a16:creationId xmlns:a16="http://schemas.microsoft.com/office/drawing/2014/main" id="{AF8605C3-5A38-4966-9508-976D650DD79B}"/>
                </a:ext>
              </a:extLst>
            </p:cNvPr>
            <p:cNvSpPr>
              <a:spLocks/>
            </p:cNvSpPr>
            <p:nvPr/>
          </p:nvSpPr>
          <p:spPr bwMode="auto">
            <a:xfrm>
              <a:off x="5113338" y="2690813"/>
              <a:ext cx="901700" cy="303212"/>
            </a:xfrm>
            <a:custGeom>
              <a:avLst/>
              <a:gdLst>
                <a:gd name="T0" fmla="*/ 0 w 568"/>
                <a:gd name="T1" fmla="*/ 2147483646 h 191"/>
                <a:gd name="T2" fmla="*/ 2147483646 w 568"/>
                <a:gd name="T3" fmla="*/ 2147483646 h 191"/>
                <a:gd name="T4" fmla="*/ 2147483646 w 568"/>
                <a:gd name="T5" fmla="*/ 2147483646 h 191"/>
                <a:gd name="T6" fmla="*/ 2147483646 w 568"/>
                <a:gd name="T7" fmla="*/ 2147483646 h 191"/>
                <a:gd name="T8" fmla="*/ 0 60000 65536"/>
                <a:gd name="T9" fmla="*/ 0 60000 65536"/>
                <a:gd name="T10" fmla="*/ 0 60000 65536"/>
                <a:gd name="T11" fmla="*/ 0 60000 65536"/>
                <a:gd name="T12" fmla="*/ 0 w 568"/>
                <a:gd name="T13" fmla="*/ 0 h 191"/>
                <a:gd name="T14" fmla="*/ 568 w 568"/>
                <a:gd name="T15" fmla="*/ 191 h 191"/>
              </a:gdLst>
              <a:ahLst/>
              <a:cxnLst>
                <a:cxn ang="T8">
                  <a:pos x="T0" y="T1"/>
                </a:cxn>
                <a:cxn ang="T9">
                  <a:pos x="T2" y="T3"/>
                </a:cxn>
                <a:cxn ang="T10">
                  <a:pos x="T4" y="T5"/>
                </a:cxn>
                <a:cxn ang="T11">
                  <a:pos x="T6" y="T7"/>
                </a:cxn>
              </a:cxnLst>
              <a:rect l="T12" t="T13" r="T14" b="T15"/>
              <a:pathLst>
                <a:path w="568" h="191">
                  <a:moveTo>
                    <a:pt x="0" y="187"/>
                  </a:moveTo>
                  <a:cubicBezTo>
                    <a:pt x="236" y="191"/>
                    <a:pt x="172" y="19"/>
                    <a:pt x="296" y="3"/>
                  </a:cubicBezTo>
                  <a:cubicBezTo>
                    <a:pt x="365" y="0"/>
                    <a:pt x="381" y="113"/>
                    <a:pt x="416" y="151"/>
                  </a:cubicBezTo>
                  <a:cubicBezTo>
                    <a:pt x="470" y="189"/>
                    <a:pt x="533" y="180"/>
                    <a:pt x="568" y="191"/>
                  </a:cubicBezTo>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chemeClr val="bg1"/>
                </a:solidFill>
              </a:endParaRPr>
            </a:p>
          </p:txBody>
        </p:sp>
        <p:sp>
          <p:nvSpPr>
            <p:cNvPr id="44043" name="Rectangle 90">
              <a:extLst>
                <a:ext uri="{FF2B5EF4-FFF2-40B4-BE49-F238E27FC236}">
                  <a16:creationId xmlns:a16="http://schemas.microsoft.com/office/drawing/2014/main" id="{4C04FF39-A0AA-44B8-9485-F505EE1D2500}"/>
                </a:ext>
              </a:extLst>
            </p:cNvPr>
            <p:cNvSpPr>
              <a:spLocks noChangeArrowheads="1"/>
            </p:cNvSpPr>
            <p:nvPr/>
          </p:nvSpPr>
          <p:spPr bwMode="auto">
            <a:xfrm>
              <a:off x="2837819" y="4461003"/>
              <a:ext cx="2499941" cy="487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a:latin typeface="Verdana" panose="020B0604030504040204" pitchFamily="34" charset="0"/>
                </a:rPr>
                <a:t>Simultaneous analysis of all </a:t>
              </a:r>
            </a:p>
            <a:p>
              <a:pPr eaLnBrk="1" hangingPunct="1"/>
              <a:r>
                <a:rPr lang="en-US" altLang="en-US" sz="1100" dirty="0">
                  <a:latin typeface="Verdana" panose="020B0604030504040204" pitchFamily="34" charset="0"/>
                </a:rPr>
                <a:t>paths from S to E</a:t>
              </a:r>
            </a:p>
          </p:txBody>
        </p:sp>
      </p:grpSp>
      <p:sp>
        <p:nvSpPr>
          <p:cNvPr id="44039" name="Rectangle 5">
            <a:extLst>
              <a:ext uri="{FF2B5EF4-FFF2-40B4-BE49-F238E27FC236}">
                <a16:creationId xmlns:a16="http://schemas.microsoft.com/office/drawing/2014/main" id="{8A0679D8-AE22-4481-B36C-6D5D690886BC}"/>
              </a:ext>
            </a:extLst>
          </p:cNvPr>
          <p:cNvSpPr>
            <a:spLocks noChangeArrowheads="1"/>
          </p:cNvSpPr>
          <p:nvPr/>
        </p:nvSpPr>
        <p:spPr bwMode="auto">
          <a:xfrm>
            <a:off x="7154863" y="1760539"/>
            <a:ext cx="19097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t>Block-Based SSTA</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2455287-7D9C-4351-8348-6AC4F3CF147F}"/>
              </a:ext>
            </a:extLst>
          </p:cNvPr>
          <p:cNvSpPr>
            <a:spLocks noGrp="1"/>
          </p:cNvSpPr>
          <p:nvPr>
            <p:ph type="title"/>
          </p:nvPr>
        </p:nvSpPr>
        <p:spPr/>
        <p:txBody>
          <a:bodyPr/>
          <a:lstStyle/>
          <a:p>
            <a:r>
              <a:rPr lang="en-US" altLang="en-US"/>
              <a:t>Spatial Correlations</a:t>
            </a:r>
            <a:endParaRPr lang="ru-RU" altLang="en-US"/>
          </a:p>
        </p:txBody>
      </p:sp>
      <p:grpSp>
        <p:nvGrpSpPr>
          <p:cNvPr id="46083" name="Group 74">
            <a:extLst>
              <a:ext uri="{FF2B5EF4-FFF2-40B4-BE49-F238E27FC236}">
                <a16:creationId xmlns:a16="http://schemas.microsoft.com/office/drawing/2014/main" id="{00F7349D-2800-4E26-9C7D-11CD4849032A}"/>
              </a:ext>
            </a:extLst>
          </p:cNvPr>
          <p:cNvGrpSpPr>
            <a:grpSpLocks/>
          </p:cNvGrpSpPr>
          <p:nvPr/>
        </p:nvGrpSpPr>
        <p:grpSpPr bwMode="auto">
          <a:xfrm>
            <a:off x="3430993" y="1519541"/>
            <a:ext cx="4572000" cy="4584700"/>
            <a:chOff x="1198" y="698"/>
            <a:chExt cx="3155" cy="3164"/>
          </a:xfrm>
        </p:grpSpPr>
        <p:grpSp>
          <p:nvGrpSpPr>
            <p:cNvPr id="46085" name="Group 73">
              <a:extLst>
                <a:ext uri="{FF2B5EF4-FFF2-40B4-BE49-F238E27FC236}">
                  <a16:creationId xmlns:a16="http://schemas.microsoft.com/office/drawing/2014/main" id="{A6A96692-617F-42B7-8520-0E2C875E59A4}"/>
                </a:ext>
              </a:extLst>
            </p:cNvPr>
            <p:cNvGrpSpPr>
              <a:grpSpLocks/>
            </p:cNvGrpSpPr>
            <p:nvPr/>
          </p:nvGrpSpPr>
          <p:grpSpPr bwMode="auto">
            <a:xfrm>
              <a:off x="1198" y="698"/>
              <a:ext cx="3155" cy="3164"/>
              <a:chOff x="1198" y="698"/>
              <a:chExt cx="3155" cy="3164"/>
            </a:xfrm>
          </p:grpSpPr>
          <p:sp>
            <p:nvSpPr>
              <p:cNvPr id="46107" name="Line 6">
                <a:extLst>
                  <a:ext uri="{FF2B5EF4-FFF2-40B4-BE49-F238E27FC236}">
                    <a16:creationId xmlns:a16="http://schemas.microsoft.com/office/drawing/2014/main" id="{7F234B90-EF56-4833-B85A-615A4488DA3E}"/>
                  </a:ext>
                </a:extLst>
              </p:cNvPr>
              <p:cNvSpPr>
                <a:spLocks noChangeShapeType="1"/>
              </p:cNvSpPr>
              <p:nvPr/>
            </p:nvSpPr>
            <p:spPr bwMode="auto">
              <a:xfrm>
                <a:off x="1198" y="1307"/>
                <a:ext cx="0" cy="2111"/>
              </a:xfrm>
              <a:prstGeom prst="line">
                <a:avLst/>
              </a:prstGeom>
              <a:noFill/>
              <a:ln w="28575">
                <a:solidFill>
                  <a:schemeClr val="accent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6108" name="Line 7">
                <a:extLst>
                  <a:ext uri="{FF2B5EF4-FFF2-40B4-BE49-F238E27FC236}">
                    <a16:creationId xmlns:a16="http://schemas.microsoft.com/office/drawing/2014/main" id="{D0F5E2CB-7AEF-4B4C-9D4F-51E87822302D}"/>
                  </a:ext>
                </a:extLst>
              </p:cNvPr>
              <p:cNvSpPr>
                <a:spLocks noChangeShapeType="1"/>
              </p:cNvSpPr>
              <p:nvPr/>
            </p:nvSpPr>
            <p:spPr bwMode="auto">
              <a:xfrm>
                <a:off x="1899" y="977"/>
                <a:ext cx="0" cy="2112"/>
              </a:xfrm>
              <a:prstGeom prst="line">
                <a:avLst/>
              </a:prstGeom>
              <a:noFill/>
              <a:ln w="28575">
                <a:solidFill>
                  <a:schemeClr val="accent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6109" name="Line 8">
                <a:extLst>
                  <a:ext uri="{FF2B5EF4-FFF2-40B4-BE49-F238E27FC236}">
                    <a16:creationId xmlns:a16="http://schemas.microsoft.com/office/drawing/2014/main" id="{79B7B871-0E7D-46BF-9115-F1B164636C17}"/>
                  </a:ext>
                </a:extLst>
              </p:cNvPr>
              <p:cNvSpPr>
                <a:spLocks noChangeShapeType="1"/>
              </p:cNvSpPr>
              <p:nvPr/>
            </p:nvSpPr>
            <p:spPr bwMode="auto">
              <a:xfrm>
                <a:off x="2449" y="698"/>
                <a:ext cx="0" cy="2111"/>
              </a:xfrm>
              <a:prstGeom prst="line">
                <a:avLst/>
              </a:prstGeom>
              <a:noFill/>
              <a:ln w="28575">
                <a:solidFill>
                  <a:schemeClr val="accent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6110" name="Line 9">
                <a:extLst>
                  <a:ext uri="{FF2B5EF4-FFF2-40B4-BE49-F238E27FC236}">
                    <a16:creationId xmlns:a16="http://schemas.microsoft.com/office/drawing/2014/main" id="{349E1C4E-1575-4218-90E1-76304B6E7493}"/>
                  </a:ext>
                </a:extLst>
              </p:cNvPr>
              <p:cNvSpPr>
                <a:spLocks noChangeShapeType="1"/>
              </p:cNvSpPr>
              <p:nvPr/>
            </p:nvSpPr>
            <p:spPr bwMode="auto">
              <a:xfrm>
                <a:off x="3098" y="1751"/>
                <a:ext cx="0" cy="2111"/>
              </a:xfrm>
              <a:prstGeom prst="line">
                <a:avLst/>
              </a:prstGeom>
              <a:noFill/>
              <a:ln w="28575">
                <a:solidFill>
                  <a:schemeClr val="accent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6111" name="Line 10">
                <a:extLst>
                  <a:ext uri="{FF2B5EF4-FFF2-40B4-BE49-F238E27FC236}">
                    <a16:creationId xmlns:a16="http://schemas.microsoft.com/office/drawing/2014/main" id="{4B33FD31-98CF-4380-A777-ED40AC0CB4D3}"/>
                  </a:ext>
                </a:extLst>
              </p:cNvPr>
              <p:cNvSpPr>
                <a:spLocks noChangeShapeType="1"/>
              </p:cNvSpPr>
              <p:nvPr/>
            </p:nvSpPr>
            <p:spPr bwMode="auto">
              <a:xfrm>
                <a:off x="2155" y="1505"/>
                <a:ext cx="0" cy="2112"/>
              </a:xfrm>
              <a:prstGeom prst="line">
                <a:avLst/>
              </a:prstGeom>
              <a:noFill/>
              <a:ln w="28575">
                <a:solidFill>
                  <a:schemeClr val="accent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6112" name="Line 11">
                <a:extLst>
                  <a:ext uri="{FF2B5EF4-FFF2-40B4-BE49-F238E27FC236}">
                    <a16:creationId xmlns:a16="http://schemas.microsoft.com/office/drawing/2014/main" id="{2C07E181-471A-4A76-ABC6-CE14B04518AA}"/>
                  </a:ext>
                </a:extLst>
              </p:cNvPr>
              <p:cNvSpPr>
                <a:spLocks noChangeShapeType="1"/>
              </p:cNvSpPr>
              <p:nvPr/>
            </p:nvSpPr>
            <p:spPr bwMode="auto">
              <a:xfrm>
                <a:off x="3440" y="920"/>
                <a:ext cx="0" cy="2111"/>
              </a:xfrm>
              <a:prstGeom prst="line">
                <a:avLst/>
              </a:prstGeom>
              <a:noFill/>
              <a:ln w="28575">
                <a:solidFill>
                  <a:schemeClr val="accent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6113" name="Line 12">
                <a:extLst>
                  <a:ext uri="{FF2B5EF4-FFF2-40B4-BE49-F238E27FC236}">
                    <a16:creationId xmlns:a16="http://schemas.microsoft.com/office/drawing/2014/main" id="{A96AF847-D338-41DE-B8EC-FC3913D65C9E}"/>
                  </a:ext>
                </a:extLst>
              </p:cNvPr>
              <p:cNvSpPr>
                <a:spLocks noChangeShapeType="1"/>
              </p:cNvSpPr>
              <p:nvPr/>
            </p:nvSpPr>
            <p:spPr bwMode="auto">
              <a:xfrm>
                <a:off x="4353" y="1148"/>
                <a:ext cx="0" cy="2112"/>
              </a:xfrm>
              <a:prstGeom prst="line">
                <a:avLst/>
              </a:prstGeom>
              <a:noFill/>
              <a:ln w="28575">
                <a:solidFill>
                  <a:schemeClr val="accent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6114" name="Line 19">
                <a:extLst>
                  <a:ext uri="{FF2B5EF4-FFF2-40B4-BE49-F238E27FC236}">
                    <a16:creationId xmlns:a16="http://schemas.microsoft.com/office/drawing/2014/main" id="{4902206D-1C7B-446C-8B95-CBE719B5FA55}"/>
                  </a:ext>
                </a:extLst>
              </p:cNvPr>
              <p:cNvSpPr>
                <a:spLocks noChangeShapeType="1"/>
              </p:cNvSpPr>
              <p:nvPr/>
            </p:nvSpPr>
            <p:spPr bwMode="auto">
              <a:xfrm flipH="1">
                <a:off x="3098" y="2170"/>
                <a:ext cx="1255" cy="6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5" name="Line 20">
                <a:extLst>
                  <a:ext uri="{FF2B5EF4-FFF2-40B4-BE49-F238E27FC236}">
                    <a16:creationId xmlns:a16="http://schemas.microsoft.com/office/drawing/2014/main" id="{0AA226E6-B959-4512-8462-764788577428}"/>
                  </a:ext>
                </a:extLst>
              </p:cNvPr>
              <p:cNvSpPr>
                <a:spLocks noChangeShapeType="1"/>
              </p:cNvSpPr>
              <p:nvPr/>
            </p:nvSpPr>
            <p:spPr bwMode="auto">
              <a:xfrm flipH="1" flipV="1">
                <a:off x="1215" y="2385"/>
                <a:ext cx="1883" cy="4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6" name="Line 22">
                <a:extLst>
                  <a:ext uri="{FF2B5EF4-FFF2-40B4-BE49-F238E27FC236}">
                    <a16:creationId xmlns:a16="http://schemas.microsoft.com/office/drawing/2014/main" id="{F0851435-7610-4EE5-900C-24A2E3D1C673}"/>
                  </a:ext>
                </a:extLst>
              </p:cNvPr>
              <p:cNvSpPr>
                <a:spLocks noChangeShapeType="1"/>
              </p:cNvSpPr>
              <p:nvPr/>
            </p:nvSpPr>
            <p:spPr bwMode="auto">
              <a:xfrm flipV="1">
                <a:off x="1215" y="1719"/>
                <a:ext cx="1304" cy="6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7" name="Line 23">
                <a:extLst>
                  <a:ext uri="{FF2B5EF4-FFF2-40B4-BE49-F238E27FC236}">
                    <a16:creationId xmlns:a16="http://schemas.microsoft.com/office/drawing/2014/main" id="{2642A74F-3D35-4F6E-B0BE-70611CE4A982}"/>
                  </a:ext>
                </a:extLst>
              </p:cNvPr>
              <p:cNvSpPr>
                <a:spLocks noChangeShapeType="1"/>
              </p:cNvSpPr>
              <p:nvPr/>
            </p:nvSpPr>
            <p:spPr bwMode="auto">
              <a:xfrm>
                <a:off x="2519" y="1719"/>
                <a:ext cx="1834" cy="4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8" name="Line 24">
                <a:extLst>
                  <a:ext uri="{FF2B5EF4-FFF2-40B4-BE49-F238E27FC236}">
                    <a16:creationId xmlns:a16="http://schemas.microsoft.com/office/drawing/2014/main" id="{64F6A11D-0188-4C36-B436-2014530CD105}"/>
                  </a:ext>
                </a:extLst>
              </p:cNvPr>
              <p:cNvSpPr>
                <a:spLocks noChangeShapeType="1"/>
              </p:cNvSpPr>
              <p:nvPr/>
            </p:nvSpPr>
            <p:spPr bwMode="auto">
              <a:xfrm>
                <a:off x="1899" y="2034"/>
                <a:ext cx="1883"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9" name="Line 25">
                <a:extLst>
                  <a:ext uri="{FF2B5EF4-FFF2-40B4-BE49-F238E27FC236}">
                    <a16:creationId xmlns:a16="http://schemas.microsoft.com/office/drawing/2014/main" id="{9B94BAB3-4A9C-4EE6-8184-16D4741C637A}"/>
                  </a:ext>
                </a:extLst>
              </p:cNvPr>
              <p:cNvSpPr>
                <a:spLocks noChangeShapeType="1"/>
              </p:cNvSpPr>
              <p:nvPr/>
            </p:nvSpPr>
            <p:spPr bwMode="auto">
              <a:xfrm flipV="1">
                <a:off x="2142" y="1953"/>
                <a:ext cx="1298" cy="6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0" name="Line 28">
                <a:extLst>
                  <a:ext uri="{FF2B5EF4-FFF2-40B4-BE49-F238E27FC236}">
                    <a16:creationId xmlns:a16="http://schemas.microsoft.com/office/drawing/2014/main" id="{78E8F8A0-BC1A-4F7C-949C-181E5F2190A0}"/>
                  </a:ext>
                </a:extLst>
              </p:cNvPr>
              <p:cNvSpPr>
                <a:spLocks noChangeShapeType="1"/>
              </p:cNvSpPr>
              <p:nvPr/>
            </p:nvSpPr>
            <p:spPr bwMode="auto">
              <a:xfrm>
                <a:off x="1899" y="3089"/>
                <a:ext cx="1883" cy="4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1" name="Line 29">
                <a:extLst>
                  <a:ext uri="{FF2B5EF4-FFF2-40B4-BE49-F238E27FC236}">
                    <a16:creationId xmlns:a16="http://schemas.microsoft.com/office/drawing/2014/main" id="{A36030A3-548B-4684-B8D4-760BC9F5D905}"/>
                  </a:ext>
                </a:extLst>
              </p:cNvPr>
              <p:cNvSpPr>
                <a:spLocks noChangeShapeType="1"/>
              </p:cNvSpPr>
              <p:nvPr/>
            </p:nvSpPr>
            <p:spPr bwMode="auto">
              <a:xfrm>
                <a:off x="1575" y="3248"/>
                <a:ext cx="1883" cy="4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2" name="Line 30">
                <a:extLst>
                  <a:ext uri="{FF2B5EF4-FFF2-40B4-BE49-F238E27FC236}">
                    <a16:creationId xmlns:a16="http://schemas.microsoft.com/office/drawing/2014/main" id="{B5D30487-172E-4C93-B539-E51E6D47C66F}"/>
                  </a:ext>
                </a:extLst>
              </p:cNvPr>
              <p:cNvSpPr>
                <a:spLocks noChangeShapeType="1"/>
              </p:cNvSpPr>
              <p:nvPr/>
            </p:nvSpPr>
            <p:spPr bwMode="auto">
              <a:xfrm>
                <a:off x="1229" y="3412"/>
                <a:ext cx="1883" cy="4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3" name="Line 31">
                <a:extLst>
                  <a:ext uri="{FF2B5EF4-FFF2-40B4-BE49-F238E27FC236}">
                    <a16:creationId xmlns:a16="http://schemas.microsoft.com/office/drawing/2014/main" id="{6D900587-8CA7-44FD-A6CB-77C9624EB39A}"/>
                  </a:ext>
                </a:extLst>
              </p:cNvPr>
              <p:cNvSpPr>
                <a:spLocks noChangeShapeType="1"/>
              </p:cNvSpPr>
              <p:nvPr/>
            </p:nvSpPr>
            <p:spPr bwMode="auto">
              <a:xfrm flipV="1">
                <a:off x="3112" y="3248"/>
                <a:ext cx="1241" cy="5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4" name="Line 32">
                <a:extLst>
                  <a:ext uri="{FF2B5EF4-FFF2-40B4-BE49-F238E27FC236}">
                    <a16:creationId xmlns:a16="http://schemas.microsoft.com/office/drawing/2014/main" id="{9030F253-F9C8-479C-94BA-21DA39F8C527}"/>
                  </a:ext>
                </a:extLst>
              </p:cNvPr>
              <p:cNvSpPr>
                <a:spLocks noChangeShapeType="1"/>
              </p:cNvSpPr>
              <p:nvPr/>
            </p:nvSpPr>
            <p:spPr bwMode="auto">
              <a:xfrm flipV="1">
                <a:off x="3111" y="1145"/>
                <a:ext cx="1241" cy="5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5" name="Line 34">
                <a:extLst>
                  <a:ext uri="{FF2B5EF4-FFF2-40B4-BE49-F238E27FC236}">
                    <a16:creationId xmlns:a16="http://schemas.microsoft.com/office/drawing/2014/main" id="{32D4D9E7-45ED-46FD-B133-7E02F7E72798}"/>
                  </a:ext>
                </a:extLst>
              </p:cNvPr>
              <p:cNvSpPr>
                <a:spLocks noChangeShapeType="1"/>
              </p:cNvSpPr>
              <p:nvPr/>
            </p:nvSpPr>
            <p:spPr bwMode="auto">
              <a:xfrm flipV="1">
                <a:off x="1198" y="713"/>
                <a:ext cx="1241" cy="5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6" name="Line 35">
                <a:extLst>
                  <a:ext uri="{FF2B5EF4-FFF2-40B4-BE49-F238E27FC236}">
                    <a16:creationId xmlns:a16="http://schemas.microsoft.com/office/drawing/2014/main" id="{DDFDBF98-3E3F-498F-B0C4-DCF45BD563FB}"/>
                  </a:ext>
                </a:extLst>
              </p:cNvPr>
              <p:cNvSpPr>
                <a:spLocks noChangeShapeType="1"/>
              </p:cNvSpPr>
              <p:nvPr/>
            </p:nvSpPr>
            <p:spPr bwMode="auto">
              <a:xfrm>
                <a:off x="1198" y="1307"/>
                <a:ext cx="1883" cy="4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7" name="Line 36">
                <a:extLst>
                  <a:ext uri="{FF2B5EF4-FFF2-40B4-BE49-F238E27FC236}">
                    <a16:creationId xmlns:a16="http://schemas.microsoft.com/office/drawing/2014/main" id="{6531C359-F3B8-4DB5-9319-C740B8712684}"/>
                  </a:ext>
                </a:extLst>
              </p:cNvPr>
              <p:cNvSpPr>
                <a:spLocks noChangeShapeType="1"/>
              </p:cNvSpPr>
              <p:nvPr/>
            </p:nvSpPr>
            <p:spPr bwMode="auto">
              <a:xfrm>
                <a:off x="2469" y="2816"/>
                <a:ext cx="1883" cy="4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8" name="Line 37">
                <a:extLst>
                  <a:ext uri="{FF2B5EF4-FFF2-40B4-BE49-F238E27FC236}">
                    <a16:creationId xmlns:a16="http://schemas.microsoft.com/office/drawing/2014/main" id="{F89E3D38-066B-4D7A-BFC8-44D68418002B}"/>
                  </a:ext>
                </a:extLst>
              </p:cNvPr>
              <p:cNvSpPr>
                <a:spLocks noChangeShapeType="1"/>
              </p:cNvSpPr>
              <p:nvPr/>
            </p:nvSpPr>
            <p:spPr bwMode="auto">
              <a:xfrm>
                <a:off x="2465" y="705"/>
                <a:ext cx="1883" cy="4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9" name="Line 38">
                <a:extLst>
                  <a:ext uri="{FF2B5EF4-FFF2-40B4-BE49-F238E27FC236}">
                    <a16:creationId xmlns:a16="http://schemas.microsoft.com/office/drawing/2014/main" id="{67908A33-F072-41EE-AA67-ECBBE947592C}"/>
                  </a:ext>
                </a:extLst>
              </p:cNvPr>
              <p:cNvSpPr>
                <a:spLocks noChangeShapeType="1"/>
              </p:cNvSpPr>
              <p:nvPr/>
            </p:nvSpPr>
            <p:spPr bwMode="auto">
              <a:xfrm>
                <a:off x="2195" y="2953"/>
                <a:ext cx="1883" cy="4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0" name="Line 39">
                <a:extLst>
                  <a:ext uri="{FF2B5EF4-FFF2-40B4-BE49-F238E27FC236}">
                    <a16:creationId xmlns:a16="http://schemas.microsoft.com/office/drawing/2014/main" id="{AF072F6B-4ECF-4790-863A-E08039D0F4C8}"/>
                  </a:ext>
                </a:extLst>
              </p:cNvPr>
              <p:cNvSpPr>
                <a:spLocks noChangeShapeType="1"/>
              </p:cNvSpPr>
              <p:nvPr/>
            </p:nvSpPr>
            <p:spPr bwMode="auto">
              <a:xfrm flipV="1">
                <a:off x="1225" y="2816"/>
                <a:ext cx="1241" cy="5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1" name="Line 40">
                <a:extLst>
                  <a:ext uri="{FF2B5EF4-FFF2-40B4-BE49-F238E27FC236}">
                    <a16:creationId xmlns:a16="http://schemas.microsoft.com/office/drawing/2014/main" id="{B3A3E2A8-2B42-4D5C-9674-59914F8ABA8A}"/>
                  </a:ext>
                </a:extLst>
              </p:cNvPr>
              <p:cNvSpPr>
                <a:spLocks noChangeShapeType="1"/>
              </p:cNvSpPr>
              <p:nvPr/>
            </p:nvSpPr>
            <p:spPr bwMode="auto">
              <a:xfrm flipV="1">
                <a:off x="2627" y="3140"/>
                <a:ext cx="1241" cy="5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2" name="Line 41">
                <a:extLst>
                  <a:ext uri="{FF2B5EF4-FFF2-40B4-BE49-F238E27FC236}">
                    <a16:creationId xmlns:a16="http://schemas.microsoft.com/office/drawing/2014/main" id="{802E083D-C63D-4A3F-8BFB-45995561970E}"/>
                  </a:ext>
                </a:extLst>
              </p:cNvPr>
              <p:cNvSpPr>
                <a:spLocks noChangeShapeType="1"/>
              </p:cNvSpPr>
              <p:nvPr/>
            </p:nvSpPr>
            <p:spPr bwMode="auto">
              <a:xfrm flipV="1">
                <a:off x="2168" y="3031"/>
                <a:ext cx="1241" cy="5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3" name="Line 42">
                <a:extLst>
                  <a:ext uri="{FF2B5EF4-FFF2-40B4-BE49-F238E27FC236}">
                    <a16:creationId xmlns:a16="http://schemas.microsoft.com/office/drawing/2014/main" id="{49AED9B3-4744-47F1-A519-2F27FE049A98}"/>
                  </a:ext>
                </a:extLst>
              </p:cNvPr>
              <p:cNvSpPr>
                <a:spLocks noChangeShapeType="1"/>
              </p:cNvSpPr>
              <p:nvPr/>
            </p:nvSpPr>
            <p:spPr bwMode="auto">
              <a:xfrm flipV="1">
                <a:off x="1709" y="2924"/>
                <a:ext cx="1241" cy="5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6086" name="Text Box 49">
              <a:extLst>
                <a:ext uri="{FF2B5EF4-FFF2-40B4-BE49-F238E27FC236}">
                  <a16:creationId xmlns:a16="http://schemas.microsoft.com/office/drawing/2014/main" id="{1ED71401-29AE-4F35-86E4-17F28DEC5942}"/>
                </a:ext>
              </a:extLst>
            </p:cNvPr>
            <p:cNvSpPr txBox="1">
              <a:spLocks noChangeArrowheads="1"/>
            </p:cNvSpPr>
            <p:nvPr/>
          </p:nvSpPr>
          <p:spPr bwMode="auto">
            <a:xfrm>
              <a:off x="2569" y="1171"/>
              <a:ext cx="50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600"/>
                <a:t>(0,1)</a:t>
              </a:r>
              <a:endParaRPr lang="ru-RU" altLang="en-US" sz="1600"/>
            </a:p>
          </p:txBody>
        </p:sp>
        <p:sp>
          <p:nvSpPr>
            <p:cNvPr id="46087" name="Text Box 50">
              <a:extLst>
                <a:ext uri="{FF2B5EF4-FFF2-40B4-BE49-F238E27FC236}">
                  <a16:creationId xmlns:a16="http://schemas.microsoft.com/office/drawing/2014/main" id="{AFEB1FEC-06AB-4DC4-A76E-4F55794A2EB6}"/>
                </a:ext>
              </a:extLst>
            </p:cNvPr>
            <p:cNvSpPr txBox="1">
              <a:spLocks noChangeArrowheads="1"/>
            </p:cNvSpPr>
            <p:nvPr/>
          </p:nvSpPr>
          <p:spPr bwMode="auto">
            <a:xfrm>
              <a:off x="2455" y="1897"/>
              <a:ext cx="50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600"/>
                <a:t>(1,2)</a:t>
              </a:r>
              <a:endParaRPr lang="ru-RU" altLang="en-US" sz="1600"/>
            </a:p>
          </p:txBody>
        </p:sp>
        <p:sp>
          <p:nvSpPr>
            <p:cNvPr id="46088" name="Text Box 51">
              <a:extLst>
                <a:ext uri="{FF2B5EF4-FFF2-40B4-BE49-F238E27FC236}">
                  <a16:creationId xmlns:a16="http://schemas.microsoft.com/office/drawing/2014/main" id="{CD4A84BA-5DE7-43B7-BCA9-A33DB9E12363}"/>
                </a:ext>
              </a:extLst>
            </p:cNvPr>
            <p:cNvSpPr txBox="1">
              <a:spLocks noChangeArrowheads="1"/>
            </p:cNvSpPr>
            <p:nvPr/>
          </p:nvSpPr>
          <p:spPr bwMode="auto">
            <a:xfrm>
              <a:off x="1691" y="2228"/>
              <a:ext cx="50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600"/>
                <a:t>(1,1)</a:t>
              </a:r>
              <a:endParaRPr lang="ru-RU" altLang="en-US" sz="1600"/>
            </a:p>
          </p:txBody>
        </p:sp>
        <p:sp>
          <p:nvSpPr>
            <p:cNvPr id="46089" name="Text Box 52">
              <a:extLst>
                <a:ext uri="{FF2B5EF4-FFF2-40B4-BE49-F238E27FC236}">
                  <a16:creationId xmlns:a16="http://schemas.microsoft.com/office/drawing/2014/main" id="{D22F877E-9057-40DB-89E1-AB954DEE5D1C}"/>
                </a:ext>
              </a:extLst>
            </p:cNvPr>
            <p:cNvSpPr txBox="1">
              <a:spLocks noChangeArrowheads="1"/>
            </p:cNvSpPr>
            <p:nvPr/>
          </p:nvSpPr>
          <p:spPr bwMode="auto">
            <a:xfrm>
              <a:off x="2711" y="2455"/>
              <a:ext cx="50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600"/>
                <a:t>(1,4)</a:t>
              </a:r>
              <a:endParaRPr lang="ru-RU" altLang="en-US" sz="1600"/>
            </a:p>
          </p:txBody>
        </p:sp>
        <p:sp>
          <p:nvSpPr>
            <p:cNvPr id="46090" name="Text Box 53">
              <a:extLst>
                <a:ext uri="{FF2B5EF4-FFF2-40B4-BE49-F238E27FC236}">
                  <a16:creationId xmlns:a16="http://schemas.microsoft.com/office/drawing/2014/main" id="{692C644A-D8D3-4FCE-9C45-CA09020AD55E}"/>
                </a:ext>
              </a:extLst>
            </p:cNvPr>
            <p:cNvSpPr txBox="1">
              <a:spLocks noChangeArrowheads="1"/>
            </p:cNvSpPr>
            <p:nvPr/>
          </p:nvSpPr>
          <p:spPr bwMode="auto">
            <a:xfrm>
              <a:off x="3343" y="2096"/>
              <a:ext cx="50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600"/>
                <a:t>(1,3)</a:t>
              </a:r>
              <a:endParaRPr lang="ru-RU" altLang="en-US" sz="1600"/>
            </a:p>
          </p:txBody>
        </p:sp>
        <p:sp>
          <p:nvSpPr>
            <p:cNvPr id="46091" name="Text Box 55">
              <a:extLst>
                <a:ext uri="{FF2B5EF4-FFF2-40B4-BE49-F238E27FC236}">
                  <a16:creationId xmlns:a16="http://schemas.microsoft.com/office/drawing/2014/main" id="{FC2EBA30-B0BC-42D1-80B2-4AE167A1B6DD}"/>
                </a:ext>
              </a:extLst>
            </p:cNvPr>
            <p:cNvSpPr txBox="1">
              <a:spLocks noChangeArrowheads="1"/>
            </p:cNvSpPr>
            <p:nvPr/>
          </p:nvSpPr>
          <p:spPr bwMode="auto">
            <a:xfrm>
              <a:off x="1388" y="3275"/>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(2,1)</a:t>
              </a:r>
              <a:endParaRPr lang="ru-RU" altLang="en-US" sz="1400"/>
            </a:p>
          </p:txBody>
        </p:sp>
        <p:sp>
          <p:nvSpPr>
            <p:cNvPr id="46092" name="Text Box 56">
              <a:extLst>
                <a:ext uri="{FF2B5EF4-FFF2-40B4-BE49-F238E27FC236}">
                  <a16:creationId xmlns:a16="http://schemas.microsoft.com/office/drawing/2014/main" id="{617A1C91-A24E-4BFA-A415-46F85F90A45B}"/>
                </a:ext>
              </a:extLst>
            </p:cNvPr>
            <p:cNvSpPr txBox="1">
              <a:spLocks noChangeArrowheads="1"/>
            </p:cNvSpPr>
            <p:nvPr/>
          </p:nvSpPr>
          <p:spPr bwMode="auto">
            <a:xfrm>
              <a:off x="1886" y="3388"/>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(2,3)</a:t>
              </a:r>
              <a:endParaRPr lang="ru-RU" altLang="en-US" sz="1400"/>
            </a:p>
          </p:txBody>
        </p:sp>
        <p:sp>
          <p:nvSpPr>
            <p:cNvPr id="46093" name="Text Box 58">
              <a:extLst>
                <a:ext uri="{FF2B5EF4-FFF2-40B4-BE49-F238E27FC236}">
                  <a16:creationId xmlns:a16="http://schemas.microsoft.com/office/drawing/2014/main" id="{42F28977-061D-40D9-AB6B-B98B9FC67DD8}"/>
                </a:ext>
              </a:extLst>
            </p:cNvPr>
            <p:cNvSpPr txBox="1">
              <a:spLocks noChangeArrowheads="1"/>
            </p:cNvSpPr>
            <p:nvPr/>
          </p:nvSpPr>
          <p:spPr bwMode="auto">
            <a:xfrm>
              <a:off x="2358" y="3492"/>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(2,9)</a:t>
              </a:r>
              <a:endParaRPr lang="ru-RU" altLang="en-US" sz="1400"/>
            </a:p>
          </p:txBody>
        </p:sp>
        <p:sp>
          <p:nvSpPr>
            <p:cNvPr id="46094" name="Text Box 59">
              <a:extLst>
                <a:ext uri="{FF2B5EF4-FFF2-40B4-BE49-F238E27FC236}">
                  <a16:creationId xmlns:a16="http://schemas.microsoft.com/office/drawing/2014/main" id="{4A91BB86-26A0-4481-8A44-B38B0A9FA7FB}"/>
                </a:ext>
              </a:extLst>
            </p:cNvPr>
            <p:cNvSpPr txBox="1">
              <a:spLocks noChangeArrowheads="1"/>
            </p:cNvSpPr>
            <p:nvPr/>
          </p:nvSpPr>
          <p:spPr bwMode="auto">
            <a:xfrm>
              <a:off x="2856" y="3605"/>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(2,11)</a:t>
              </a:r>
              <a:endParaRPr lang="ru-RU" altLang="en-US" sz="1400"/>
            </a:p>
          </p:txBody>
        </p:sp>
        <p:sp>
          <p:nvSpPr>
            <p:cNvPr id="46095" name="Text Box 60">
              <a:extLst>
                <a:ext uri="{FF2B5EF4-FFF2-40B4-BE49-F238E27FC236}">
                  <a16:creationId xmlns:a16="http://schemas.microsoft.com/office/drawing/2014/main" id="{81257E4A-72EC-49EE-A050-5301B3D189D1}"/>
                </a:ext>
              </a:extLst>
            </p:cNvPr>
            <p:cNvSpPr txBox="1">
              <a:spLocks noChangeArrowheads="1"/>
            </p:cNvSpPr>
            <p:nvPr/>
          </p:nvSpPr>
          <p:spPr bwMode="auto">
            <a:xfrm>
              <a:off x="1735" y="3109"/>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(2,2)</a:t>
              </a:r>
              <a:endParaRPr lang="ru-RU" altLang="en-US" sz="1400"/>
            </a:p>
          </p:txBody>
        </p:sp>
        <p:sp>
          <p:nvSpPr>
            <p:cNvPr id="46096" name="Text Box 61">
              <a:extLst>
                <a:ext uri="{FF2B5EF4-FFF2-40B4-BE49-F238E27FC236}">
                  <a16:creationId xmlns:a16="http://schemas.microsoft.com/office/drawing/2014/main" id="{E83B62E1-006F-4931-9625-4F16411BF654}"/>
                </a:ext>
              </a:extLst>
            </p:cNvPr>
            <p:cNvSpPr txBox="1">
              <a:spLocks noChangeArrowheads="1"/>
            </p:cNvSpPr>
            <p:nvPr/>
          </p:nvSpPr>
          <p:spPr bwMode="auto">
            <a:xfrm>
              <a:off x="2233" y="3222"/>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(2,4)</a:t>
              </a:r>
              <a:endParaRPr lang="ru-RU" altLang="en-US" sz="1400"/>
            </a:p>
          </p:txBody>
        </p:sp>
        <p:sp>
          <p:nvSpPr>
            <p:cNvPr id="46097" name="Text Box 62">
              <a:extLst>
                <a:ext uri="{FF2B5EF4-FFF2-40B4-BE49-F238E27FC236}">
                  <a16:creationId xmlns:a16="http://schemas.microsoft.com/office/drawing/2014/main" id="{D34D47A4-351B-45F7-8C00-828A16138C2A}"/>
                </a:ext>
              </a:extLst>
            </p:cNvPr>
            <p:cNvSpPr txBox="1">
              <a:spLocks noChangeArrowheads="1"/>
            </p:cNvSpPr>
            <p:nvPr/>
          </p:nvSpPr>
          <p:spPr bwMode="auto">
            <a:xfrm>
              <a:off x="2705" y="3326"/>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(2,10)</a:t>
              </a:r>
              <a:endParaRPr lang="ru-RU" altLang="en-US" sz="1400"/>
            </a:p>
          </p:txBody>
        </p:sp>
        <p:sp>
          <p:nvSpPr>
            <p:cNvPr id="46098" name="Text Box 63">
              <a:extLst>
                <a:ext uri="{FF2B5EF4-FFF2-40B4-BE49-F238E27FC236}">
                  <a16:creationId xmlns:a16="http://schemas.microsoft.com/office/drawing/2014/main" id="{E2064CA9-2FC0-4556-A9E8-ABB6D028B8AA}"/>
                </a:ext>
              </a:extLst>
            </p:cNvPr>
            <p:cNvSpPr txBox="1">
              <a:spLocks noChangeArrowheads="1"/>
            </p:cNvSpPr>
            <p:nvPr/>
          </p:nvSpPr>
          <p:spPr bwMode="auto">
            <a:xfrm>
              <a:off x="3203" y="3439"/>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(2,12)</a:t>
              </a:r>
              <a:endParaRPr lang="ru-RU" altLang="en-US" sz="1400"/>
            </a:p>
          </p:txBody>
        </p:sp>
        <p:sp>
          <p:nvSpPr>
            <p:cNvPr id="46099" name="Text Box 64">
              <a:extLst>
                <a:ext uri="{FF2B5EF4-FFF2-40B4-BE49-F238E27FC236}">
                  <a16:creationId xmlns:a16="http://schemas.microsoft.com/office/drawing/2014/main" id="{FDD29567-BA71-4D4C-8A78-26A1AA8884D4}"/>
                </a:ext>
              </a:extLst>
            </p:cNvPr>
            <p:cNvSpPr txBox="1">
              <a:spLocks noChangeArrowheads="1"/>
            </p:cNvSpPr>
            <p:nvPr/>
          </p:nvSpPr>
          <p:spPr bwMode="auto">
            <a:xfrm>
              <a:off x="2044" y="2959"/>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(2,5)</a:t>
              </a:r>
              <a:endParaRPr lang="ru-RU" altLang="en-US" sz="1400"/>
            </a:p>
          </p:txBody>
        </p:sp>
        <p:sp>
          <p:nvSpPr>
            <p:cNvPr id="46100" name="Text Box 65">
              <a:extLst>
                <a:ext uri="{FF2B5EF4-FFF2-40B4-BE49-F238E27FC236}">
                  <a16:creationId xmlns:a16="http://schemas.microsoft.com/office/drawing/2014/main" id="{B00CEB06-E304-4C89-9A8A-13AE51E0EDDA}"/>
                </a:ext>
              </a:extLst>
            </p:cNvPr>
            <p:cNvSpPr txBox="1">
              <a:spLocks noChangeArrowheads="1"/>
            </p:cNvSpPr>
            <p:nvPr/>
          </p:nvSpPr>
          <p:spPr bwMode="auto">
            <a:xfrm>
              <a:off x="2515" y="3063"/>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dirty="0"/>
                <a:t>(2,7)</a:t>
              </a:r>
              <a:endParaRPr lang="ru-RU" altLang="en-US" sz="1400" dirty="0"/>
            </a:p>
          </p:txBody>
        </p:sp>
        <p:sp>
          <p:nvSpPr>
            <p:cNvPr id="46101" name="Text Box 66">
              <a:extLst>
                <a:ext uri="{FF2B5EF4-FFF2-40B4-BE49-F238E27FC236}">
                  <a16:creationId xmlns:a16="http://schemas.microsoft.com/office/drawing/2014/main" id="{37412E13-D0A9-474C-BAB8-08909F51111A}"/>
                </a:ext>
              </a:extLst>
            </p:cNvPr>
            <p:cNvSpPr txBox="1">
              <a:spLocks noChangeArrowheads="1"/>
            </p:cNvSpPr>
            <p:nvPr/>
          </p:nvSpPr>
          <p:spPr bwMode="auto">
            <a:xfrm>
              <a:off x="2987" y="3167"/>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(2,13)</a:t>
              </a:r>
              <a:endParaRPr lang="ru-RU" altLang="en-US" sz="1400"/>
            </a:p>
          </p:txBody>
        </p:sp>
        <p:sp>
          <p:nvSpPr>
            <p:cNvPr id="46102" name="Text Box 67">
              <a:extLst>
                <a:ext uri="{FF2B5EF4-FFF2-40B4-BE49-F238E27FC236}">
                  <a16:creationId xmlns:a16="http://schemas.microsoft.com/office/drawing/2014/main" id="{7563C6DF-1D56-4360-A606-2A75663C59FE}"/>
                </a:ext>
              </a:extLst>
            </p:cNvPr>
            <p:cNvSpPr txBox="1">
              <a:spLocks noChangeArrowheads="1"/>
            </p:cNvSpPr>
            <p:nvPr/>
          </p:nvSpPr>
          <p:spPr bwMode="auto">
            <a:xfrm>
              <a:off x="3485" y="3280"/>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(2,15)</a:t>
              </a:r>
              <a:endParaRPr lang="ru-RU" altLang="en-US" sz="1400"/>
            </a:p>
          </p:txBody>
        </p:sp>
        <p:sp>
          <p:nvSpPr>
            <p:cNvPr id="46103" name="Text Box 68">
              <a:extLst>
                <a:ext uri="{FF2B5EF4-FFF2-40B4-BE49-F238E27FC236}">
                  <a16:creationId xmlns:a16="http://schemas.microsoft.com/office/drawing/2014/main" id="{FDD4006B-EAD9-41AD-B006-AE85A9D6709F}"/>
                </a:ext>
              </a:extLst>
            </p:cNvPr>
            <p:cNvSpPr txBox="1">
              <a:spLocks noChangeArrowheads="1"/>
            </p:cNvSpPr>
            <p:nvPr/>
          </p:nvSpPr>
          <p:spPr bwMode="auto">
            <a:xfrm>
              <a:off x="2328" y="2820"/>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(2,6)</a:t>
              </a:r>
              <a:endParaRPr lang="ru-RU" altLang="en-US" sz="1400"/>
            </a:p>
          </p:txBody>
        </p:sp>
        <p:sp>
          <p:nvSpPr>
            <p:cNvPr id="46104" name="Text Box 69">
              <a:extLst>
                <a:ext uri="{FF2B5EF4-FFF2-40B4-BE49-F238E27FC236}">
                  <a16:creationId xmlns:a16="http://schemas.microsoft.com/office/drawing/2014/main" id="{CADD6074-AB9B-4134-8F56-1282088124A1}"/>
                </a:ext>
              </a:extLst>
            </p:cNvPr>
            <p:cNvSpPr txBox="1">
              <a:spLocks noChangeArrowheads="1"/>
            </p:cNvSpPr>
            <p:nvPr/>
          </p:nvSpPr>
          <p:spPr bwMode="auto">
            <a:xfrm>
              <a:off x="2826" y="2933"/>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(2,8)</a:t>
              </a:r>
              <a:endParaRPr lang="ru-RU" altLang="en-US" sz="1400"/>
            </a:p>
          </p:txBody>
        </p:sp>
        <p:sp>
          <p:nvSpPr>
            <p:cNvPr id="46105" name="Text Box 70">
              <a:extLst>
                <a:ext uri="{FF2B5EF4-FFF2-40B4-BE49-F238E27FC236}">
                  <a16:creationId xmlns:a16="http://schemas.microsoft.com/office/drawing/2014/main" id="{FC78EB01-8C85-4CB5-9075-13593D6AFD5F}"/>
                </a:ext>
              </a:extLst>
            </p:cNvPr>
            <p:cNvSpPr txBox="1">
              <a:spLocks noChangeArrowheads="1"/>
            </p:cNvSpPr>
            <p:nvPr/>
          </p:nvSpPr>
          <p:spPr bwMode="auto">
            <a:xfrm>
              <a:off x="3298" y="3037"/>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(2,14)</a:t>
              </a:r>
              <a:endParaRPr lang="ru-RU" altLang="en-US" sz="1400"/>
            </a:p>
          </p:txBody>
        </p:sp>
        <p:sp>
          <p:nvSpPr>
            <p:cNvPr id="46106" name="Text Box 71">
              <a:extLst>
                <a:ext uri="{FF2B5EF4-FFF2-40B4-BE49-F238E27FC236}">
                  <a16:creationId xmlns:a16="http://schemas.microsoft.com/office/drawing/2014/main" id="{CBDC77D1-2AF6-4851-87A0-12DF8FA01015}"/>
                </a:ext>
              </a:extLst>
            </p:cNvPr>
            <p:cNvSpPr txBox="1">
              <a:spLocks noChangeArrowheads="1"/>
            </p:cNvSpPr>
            <p:nvPr/>
          </p:nvSpPr>
          <p:spPr bwMode="auto">
            <a:xfrm>
              <a:off x="3796" y="3150"/>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a:t>(2,12)</a:t>
              </a:r>
              <a:endParaRPr lang="ru-RU" altLang="en-US" sz="1400"/>
            </a:p>
          </p:txBody>
        </p:sp>
      </p:grpSp>
      <p:sp>
        <p:nvSpPr>
          <p:cNvPr id="46084" name="Line 12">
            <a:extLst>
              <a:ext uri="{FF2B5EF4-FFF2-40B4-BE49-F238E27FC236}">
                <a16:creationId xmlns:a16="http://schemas.microsoft.com/office/drawing/2014/main" id="{4436A9FA-C65A-4A42-A169-42FA43800D7C}"/>
              </a:ext>
            </a:extLst>
          </p:cNvPr>
          <p:cNvSpPr>
            <a:spLocks noChangeShapeType="1"/>
          </p:cNvSpPr>
          <p:nvPr/>
        </p:nvSpPr>
        <p:spPr bwMode="auto">
          <a:xfrm>
            <a:off x="7156450" y="1943100"/>
            <a:ext cx="0" cy="3352800"/>
          </a:xfrm>
          <a:prstGeom prst="line">
            <a:avLst/>
          </a:prstGeom>
          <a:noFill/>
          <a:ln w="28575">
            <a:solidFill>
              <a:schemeClr val="accent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BD0A6D04-4361-4766-B243-52A8868FBAE0}"/>
              </a:ext>
            </a:extLst>
          </p:cNvPr>
          <p:cNvSpPr>
            <a:spLocks noGrp="1"/>
          </p:cNvSpPr>
          <p:nvPr>
            <p:ph type="title"/>
          </p:nvPr>
        </p:nvSpPr>
        <p:spPr/>
        <p:txBody>
          <a:bodyPr/>
          <a:lstStyle/>
          <a:p>
            <a:r>
              <a:rPr lang="ru-RU" altLang="en-US"/>
              <a:t>Spatial </a:t>
            </a:r>
            <a:r>
              <a:rPr lang="en-US" altLang="en-US"/>
              <a:t>C</a:t>
            </a:r>
            <a:r>
              <a:rPr lang="ru-RU" altLang="en-US"/>
              <a:t>orrelations </a:t>
            </a:r>
            <a:r>
              <a:rPr lang="en-US" altLang="en-US"/>
              <a:t>S</a:t>
            </a:r>
            <a:r>
              <a:rPr lang="ru-RU" altLang="en-US"/>
              <a:t>hould be </a:t>
            </a:r>
            <a:r>
              <a:rPr lang="en-US" altLang="en-US"/>
              <a:t>C</a:t>
            </a:r>
            <a:r>
              <a:rPr lang="ru-RU" altLang="en-US"/>
              <a:t>onsidered</a:t>
            </a:r>
          </a:p>
        </p:txBody>
      </p:sp>
      <p:cxnSp>
        <p:nvCxnSpPr>
          <p:cNvPr id="44" name="Straight Connector 43">
            <a:extLst>
              <a:ext uri="{FF2B5EF4-FFF2-40B4-BE49-F238E27FC236}">
                <a16:creationId xmlns:a16="http://schemas.microsoft.com/office/drawing/2014/main" id="{D2FEB698-C770-4B0F-A50E-74AA5D2B8DE2}"/>
              </a:ext>
            </a:extLst>
          </p:cNvPr>
          <p:cNvCxnSpPr/>
          <p:nvPr/>
        </p:nvCxnSpPr>
        <p:spPr>
          <a:xfrm rot="10800000">
            <a:off x="2844801" y="7299325"/>
            <a:ext cx="111125" cy="1588"/>
          </a:xfrm>
          <a:prstGeom prst="line">
            <a:avLst/>
          </a:prstGeom>
        </p:spPr>
        <p:style>
          <a:lnRef idx="1">
            <a:schemeClr val="accent1"/>
          </a:lnRef>
          <a:fillRef idx="0">
            <a:schemeClr val="accent1"/>
          </a:fillRef>
          <a:effectRef idx="0">
            <a:schemeClr val="accent1"/>
          </a:effectRef>
          <a:fontRef idx="minor">
            <a:schemeClr val="tx1"/>
          </a:fontRef>
        </p:style>
      </p:cxnSp>
      <p:sp>
        <p:nvSpPr>
          <p:cNvPr id="48132" name="Freeform 31">
            <a:extLst>
              <a:ext uri="{FF2B5EF4-FFF2-40B4-BE49-F238E27FC236}">
                <a16:creationId xmlns:a16="http://schemas.microsoft.com/office/drawing/2014/main" id="{F2850977-11A6-49E9-86CF-70BAEA9BB4B9}"/>
              </a:ext>
            </a:extLst>
          </p:cNvPr>
          <p:cNvSpPr>
            <a:spLocks/>
          </p:cNvSpPr>
          <p:nvPr/>
        </p:nvSpPr>
        <p:spPr bwMode="auto">
          <a:xfrm>
            <a:off x="2992438" y="2100264"/>
            <a:ext cx="6426200" cy="3214687"/>
          </a:xfrm>
          <a:custGeom>
            <a:avLst/>
            <a:gdLst>
              <a:gd name="T0" fmla="*/ 0 w 568"/>
              <a:gd name="T1" fmla="*/ 2147483646 h 316"/>
              <a:gd name="T2" fmla="*/ 2147483646 w 568"/>
              <a:gd name="T3" fmla="*/ 2147483646 h 316"/>
              <a:gd name="T4" fmla="*/ 2147483646 w 568"/>
              <a:gd name="T5" fmla="*/ 2147483646 h 316"/>
              <a:gd name="T6" fmla="*/ 2147483646 w 568"/>
              <a:gd name="T7" fmla="*/ 2147483646 h 316"/>
              <a:gd name="T8" fmla="*/ 0 60000 65536"/>
              <a:gd name="T9" fmla="*/ 0 60000 65536"/>
              <a:gd name="T10" fmla="*/ 0 60000 65536"/>
              <a:gd name="T11" fmla="*/ 0 60000 65536"/>
              <a:gd name="T12" fmla="*/ 0 w 568"/>
              <a:gd name="T13" fmla="*/ 0 h 316"/>
              <a:gd name="T14" fmla="*/ 568 w 568"/>
              <a:gd name="T15" fmla="*/ 316 h 316"/>
            </a:gdLst>
            <a:ahLst/>
            <a:cxnLst>
              <a:cxn ang="T8">
                <a:pos x="T0" y="T1"/>
              </a:cxn>
              <a:cxn ang="T9">
                <a:pos x="T2" y="T3"/>
              </a:cxn>
              <a:cxn ang="T10">
                <a:pos x="T4" y="T5"/>
              </a:cxn>
              <a:cxn ang="T11">
                <a:pos x="T6" y="T7"/>
              </a:cxn>
            </a:cxnLst>
            <a:rect l="T12" t="T13" r="T14" b="T15"/>
            <a:pathLst>
              <a:path w="568" h="316">
                <a:moveTo>
                  <a:pt x="0" y="245"/>
                </a:moveTo>
                <a:cubicBezTo>
                  <a:pt x="287" y="256"/>
                  <a:pt x="196" y="256"/>
                  <a:pt x="258" y="78"/>
                </a:cubicBezTo>
                <a:cubicBezTo>
                  <a:pt x="284" y="0"/>
                  <a:pt x="301" y="38"/>
                  <a:pt x="304" y="66"/>
                </a:cubicBezTo>
                <a:cubicBezTo>
                  <a:pt x="371" y="316"/>
                  <a:pt x="483" y="237"/>
                  <a:pt x="568" y="249"/>
                </a:cubicBezTo>
              </a:path>
            </a:pathLst>
          </a:cu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 name="Freeform 31">
            <a:extLst>
              <a:ext uri="{FF2B5EF4-FFF2-40B4-BE49-F238E27FC236}">
                <a16:creationId xmlns:a16="http://schemas.microsoft.com/office/drawing/2014/main" id="{6755FBC3-984B-4501-8DB9-2E7E50A2F8C5}"/>
              </a:ext>
            </a:extLst>
          </p:cNvPr>
          <p:cNvSpPr>
            <a:spLocks/>
          </p:cNvSpPr>
          <p:nvPr/>
        </p:nvSpPr>
        <p:spPr bwMode="auto">
          <a:xfrm>
            <a:off x="3101975" y="3624264"/>
            <a:ext cx="6426200" cy="1012825"/>
          </a:xfrm>
          <a:custGeom>
            <a:avLst/>
            <a:gdLst>
              <a:gd name="connsiteX0" fmla="*/ 0 w 568"/>
              <a:gd name="connsiteY0" fmla="*/ 212 h 216"/>
              <a:gd name="connsiteX1" fmla="*/ 296 w 568"/>
              <a:gd name="connsiteY1" fmla="*/ 3 h 216"/>
              <a:gd name="connsiteX2" fmla="*/ 416 w 568"/>
              <a:gd name="connsiteY2" fmla="*/ 176 h 216"/>
              <a:gd name="connsiteX3" fmla="*/ 568 w 568"/>
              <a:gd name="connsiteY3" fmla="*/ 216 h 216"/>
              <a:gd name="connsiteX0" fmla="*/ 0 w 568"/>
              <a:gd name="connsiteY0" fmla="*/ 209 h 213"/>
              <a:gd name="connsiteX1" fmla="*/ 296 w 568"/>
              <a:gd name="connsiteY1" fmla="*/ 0 h 213"/>
              <a:gd name="connsiteX2" fmla="*/ 277 w 568"/>
              <a:gd name="connsiteY2" fmla="*/ 0 h 213"/>
              <a:gd name="connsiteX3" fmla="*/ 416 w 568"/>
              <a:gd name="connsiteY3" fmla="*/ 173 h 213"/>
              <a:gd name="connsiteX4" fmla="*/ 568 w 568"/>
              <a:gd name="connsiteY4" fmla="*/ 213 h 213"/>
              <a:gd name="connsiteX0" fmla="*/ 0 w 568"/>
              <a:gd name="connsiteY0" fmla="*/ 209 h 213"/>
              <a:gd name="connsiteX1" fmla="*/ 296 w 568"/>
              <a:gd name="connsiteY1" fmla="*/ 0 h 213"/>
              <a:gd name="connsiteX2" fmla="*/ 277 w 568"/>
              <a:gd name="connsiteY2" fmla="*/ 0 h 213"/>
              <a:gd name="connsiteX3" fmla="*/ 416 w 568"/>
              <a:gd name="connsiteY3" fmla="*/ 173 h 213"/>
              <a:gd name="connsiteX4" fmla="*/ 568 w 568"/>
              <a:gd name="connsiteY4" fmla="*/ 213 h 213"/>
              <a:gd name="connsiteX0" fmla="*/ 0 w 568"/>
              <a:gd name="connsiteY0" fmla="*/ 209 h 213"/>
              <a:gd name="connsiteX1" fmla="*/ 296 w 568"/>
              <a:gd name="connsiteY1" fmla="*/ 0 h 213"/>
              <a:gd name="connsiteX2" fmla="*/ 277 w 568"/>
              <a:gd name="connsiteY2" fmla="*/ 0 h 213"/>
              <a:gd name="connsiteX3" fmla="*/ 416 w 568"/>
              <a:gd name="connsiteY3" fmla="*/ 173 h 213"/>
              <a:gd name="connsiteX4" fmla="*/ 568 w 568"/>
              <a:gd name="connsiteY4" fmla="*/ 213 h 213"/>
              <a:gd name="connsiteX0" fmla="*/ 0 w 568"/>
              <a:gd name="connsiteY0" fmla="*/ 215 h 219"/>
              <a:gd name="connsiteX1" fmla="*/ 296 w 568"/>
              <a:gd name="connsiteY1" fmla="*/ 6 h 219"/>
              <a:gd name="connsiteX2" fmla="*/ 416 w 568"/>
              <a:gd name="connsiteY2" fmla="*/ 179 h 219"/>
              <a:gd name="connsiteX3" fmla="*/ 568 w 568"/>
              <a:gd name="connsiteY3" fmla="*/ 219 h 219"/>
              <a:gd name="connsiteX0" fmla="*/ 0 w 568"/>
              <a:gd name="connsiteY0" fmla="*/ 215 h 219"/>
              <a:gd name="connsiteX1" fmla="*/ 281 w 568"/>
              <a:gd name="connsiteY1" fmla="*/ 6 h 219"/>
              <a:gd name="connsiteX2" fmla="*/ 416 w 568"/>
              <a:gd name="connsiteY2" fmla="*/ 179 h 219"/>
              <a:gd name="connsiteX3" fmla="*/ 568 w 568"/>
              <a:gd name="connsiteY3" fmla="*/ 219 h 219"/>
              <a:gd name="connsiteX0" fmla="*/ 0 w 568"/>
              <a:gd name="connsiteY0" fmla="*/ 209 h 213"/>
              <a:gd name="connsiteX1" fmla="*/ 281 w 568"/>
              <a:gd name="connsiteY1" fmla="*/ 0 h 213"/>
              <a:gd name="connsiteX2" fmla="*/ 416 w 568"/>
              <a:gd name="connsiteY2" fmla="*/ 173 h 213"/>
              <a:gd name="connsiteX3" fmla="*/ 568 w 568"/>
              <a:gd name="connsiteY3" fmla="*/ 213 h 213"/>
              <a:gd name="connsiteX0" fmla="*/ 0 w 568"/>
              <a:gd name="connsiteY0" fmla="*/ 209 h 213"/>
              <a:gd name="connsiteX1" fmla="*/ 281 w 568"/>
              <a:gd name="connsiteY1" fmla="*/ 0 h 213"/>
              <a:gd name="connsiteX2" fmla="*/ 416 w 568"/>
              <a:gd name="connsiteY2" fmla="*/ 173 h 213"/>
              <a:gd name="connsiteX3" fmla="*/ 568 w 568"/>
              <a:gd name="connsiteY3" fmla="*/ 213 h 213"/>
              <a:gd name="connsiteX0" fmla="*/ 0 w 568"/>
              <a:gd name="connsiteY0" fmla="*/ 263 h 267"/>
              <a:gd name="connsiteX1" fmla="*/ 281 w 568"/>
              <a:gd name="connsiteY1" fmla="*/ 54 h 267"/>
              <a:gd name="connsiteX2" fmla="*/ 416 w 568"/>
              <a:gd name="connsiteY2" fmla="*/ 227 h 267"/>
              <a:gd name="connsiteX3" fmla="*/ 568 w 568"/>
              <a:gd name="connsiteY3" fmla="*/ 267 h 267"/>
              <a:gd name="connsiteX0" fmla="*/ 0 w 568"/>
              <a:gd name="connsiteY0" fmla="*/ 209 h 213"/>
              <a:gd name="connsiteX1" fmla="*/ 281 w 568"/>
              <a:gd name="connsiteY1" fmla="*/ 0 h 213"/>
              <a:gd name="connsiteX2" fmla="*/ 416 w 568"/>
              <a:gd name="connsiteY2" fmla="*/ 173 h 213"/>
              <a:gd name="connsiteX3" fmla="*/ 568 w 568"/>
              <a:gd name="connsiteY3" fmla="*/ 213 h 213"/>
              <a:gd name="connsiteX0" fmla="*/ 0 w 568"/>
              <a:gd name="connsiteY0" fmla="*/ 223 h 227"/>
              <a:gd name="connsiteX1" fmla="*/ 281 w 568"/>
              <a:gd name="connsiteY1" fmla="*/ 14 h 227"/>
              <a:gd name="connsiteX2" fmla="*/ 416 w 568"/>
              <a:gd name="connsiteY2" fmla="*/ 187 h 227"/>
              <a:gd name="connsiteX3" fmla="*/ 568 w 568"/>
              <a:gd name="connsiteY3" fmla="*/ 227 h 227"/>
              <a:gd name="connsiteX0" fmla="*/ 0 w 568"/>
              <a:gd name="connsiteY0" fmla="*/ 223 h 227"/>
              <a:gd name="connsiteX1" fmla="*/ 281 w 568"/>
              <a:gd name="connsiteY1" fmla="*/ 14 h 227"/>
              <a:gd name="connsiteX2" fmla="*/ 416 w 568"/>
              <a:gd name="connsiteY2" fmla="*/ 187 h 227"/>
              <a:gd name="connsiteX3" fmla="*/ 388 w 568"/>
              <a:gd name="connsiteY3" fmla="*/ 213 h 227"/>
              <a:gd name="connsiteX4" fmla="*/ 568 w 568"/>
              <a:gd name="connsiteY4" fmla="*/ 227 h 227"/>
              <a:gd name="connsiteX0" fmla="*/ 0 w 568"/>
              <a:gd name="connsiteY0" fmla="*/ 223 h 227"/>
              <a:gd name="connsiteX1" fmla="*/ 281 w 568"/>
              <a:gd name="connsiteY1" fmla="*/ 14 h 227"/>
              <a:gd name="connsiteX2" fmla="*/ 365 w 568"/>
              <a:gd name="connsiteY2" fmla="*/ 187 h 227"/>
              <a:gd name="connsiteX3" fmla="*/ 388 w 568"/>
              <a:gd name="connsiteY3" fmla="*/ 213 h 227"/>
              <a:gd name="connsiteX4" fmla="*/ 568 w 568"/>
              <a:gd name="connsiteY4" fmla="*/ 227 h 227"/>
              <a:gd name="connsiteX0" fmla="*/ 0 w 568"/>
              <a:gd name="connsiteY0" fmla="*/ 211 h 215"/>
              <a:gd name="connsiteX1" fmla="*/ 281 w 568"/>
              <a:gd name="connsiteY1" fmla="*/ 2 h 215"/>
              <a:gd name="connsiteX2" fmla="*/ 388 w 568"/>
              <a:gd name="connsiteY2" fmla="*/ 201 h 215"/>
              <a:gd name="connsiteX3" fmla="*/ 568 w 568"/>
              <a:gd name="connsiteY3" fmla="*/ 215 h 215"/>
              <a:gd name="connsiteX0" fmla="*/ 0 w 568"/>
              <a:gd name="connsiteY0" fmla="*/ 211 h 215"/>
              <a:gd name="connsiteX1" fmla="*/ 281 w 568"/>
              <a:gd name="connsiteY1" fmla="*/ 2 h 215"/>
              <a:gd name="connsiteX2" fmla="*/ 388 w 568"/>
              <a:gd name="connsiteY2" fmla="*/ 201 h 215"/>
              <a:gd name="connsiteX3" fmla="*/ 568 w 568"/>
              <a:gd name="connsiteY3" fmla="*/ 215 h 215"/>
              <a:gd name="connsiteX0" fmla="*/ 0 w 568"/>
              <a:gd name="connsiteY0" fmla="*/ 211 h 233"/>
              <a:gd name="connsiteX1" fmla="*/ 281 w 568"/>
              <a:gd name="connsiteY1" fmla="*/ 2 h 233"/>
              <a:gd name="connsiteX2" fmla="*/ 388 w 568"/>
              <a:gd name="connsiteY2" fmla="*/ 201 h 233"/>
              <a:gd name="connsiteX3" fmla="*/ 568 w 568"/>
              <a:gd name="connsiteY3" fmla="*/ 215 h 233"/>
              <a:gd name="connsiteX0" fmla="*/ 0 w 568"/>
              <a:gd name="connsiteY0" fmla="*/ 211 h 233"/>
              <a:gd name="connsiteX1" fmla="*/ 281 w 568"/>
              <a:gd name="connsiteY1" fmla="*/ 2 h 233"/>
              <a:gd name="connsiteX2" fmla="*/ 388 w 568"/>
              <a:gd name="connsiteY2" fmla="*/ 201 h 233"/>
              <a:gd name="connsiteX3" fmla="*/ 568 w 568"/>
              <a:gd name="connsiteY3" fmla="*/ 215 h 233"/>
              <a:gd name="connsiteX0" fmla="*/ 0 w 568"/>
              <a:gd name="connsiteY0" fmla="*/ 209 h 213"/>
              <a:gd name="connsiteX1" fmla="*/ 281 w 568"/>
              <a:gd name="connsiteY1" fmla="*/ 0 h 213"/>
              <a:gd name="connsiteX2" fmla="*/ 568 w 568"/>
              <a:gd name="connsiteY2" fmla="*/ 213 h 213"/>
              <a:gd name="connsiteX0" fmla="*/ 0 w 568"/>
              <a:gd name="connsiteY0" fmla="*/ 209 h 257"/>
              <a:gd name="connsiteX1" fmla="*/ 281 w 568"/>
              <a:gd name="connsiteY1" fmla="*/ 0 h 257"/>
              <a:gd name="connsiteX2" fmla="*/ 568 w 568"/>
              <a:gd name="connsiteY2" fmla="*/ 213 h 257"/>
              <a:gd name="connsiteX0" fmla="*/ 0 w 568"/>
              <a:gd name="connsiteY0" fmla="*/ 209 h 257"/>
              <a:gd name="connsiteX1" fmla="*/ 281 w 568"/>
              <a:gd name="connsiteY1" fmla="*/ 0 h 257"/>
              <a:gd name="connsiteX2" fmla="*/ 568 w 568"/>
              <a:gd name="connsiteY2" fmla="*/ 213 h 257"/>
              <a:gd name="connsiteX0" fmla="*/ 0 w 568"/>
              <a:gd name="connsiteY0" fmla="*/ 209 h 257"/>
              <a:gd name="connsiteX1" fmla="*/ 281 w 568"/>
              <a:gd name="connsiteY1" fmla="*/ 0 h 257"/>
              <a:gd name="connsiteX2" fmla="*/ 568 w 568"/>
              <a:gd name="connsiteY2" fmla="*/ 213 h 257"/>
              <a:gd name="connsiteX0" fmla="*/ 0 w 568"/>
              <a:gd name="connsiteY0" fmla="*/ 209 h 257"/>
              <a:gd name="connsiteX1" fmla="*/ 281 w 568"/>
              <a:gd name="connsiteY1" fmla="*/ 0 h 257"/>
              <a:gd name="connsiteX2" fmla="*/ 568 w 568"/>
              <a:gd name="connsiteY2" fmla="*/ 213 h 257"/>
              <a:gd name="connsiteX0" fmla="*/ 0 w 568"/>
              <a:gd name="connsiteY0" fmla="*/ 291 h 313"/>
              <a:gd name="connsiteX1" fmla="*/ 281 w 568"/>
              <a:gd name="connsiteY1" fmla="*/ 82 h 313"/>
              <a:gd name="connsiteX2" fmla="*/ 283 w 568"/>
              <a:gd name="connsiteY2" fmla="*/ 35 h 313"/>
              <a:gd name="connsiteX3" fmla="*/ 568 w 568"/>
              <a:gd name="connsiteY3" fmla="*/ 295 h 313"/>
              <a:gd name="connsiteX0" fmla="*/ 0 w 568"/>
              <a:gd name="connsiteY0" fmla="*/ 291 h 313"/>
              <a:gd name="connsiteX1" fmla="*/ 281 w 568"/>
              <a:gd name="connsiteY1" fmla="*/ 82 h 313"/>
              <a:gd name="connsiteX2" fmla="*/ 283 w 568"/>
              <a:gd name="connsiteY2" fmla="*/ 35 h 313"/>
              <a:gd name="connsiteX3" fmla="*/ 568 w 568"/>
              <a:gd name="connsiteY3" fmla="*/ 295 h 313"/>
              <a:gd name="connsiteX0" fmla="*/ 0 w 568"/>
              <a:gd name="connsiteY0" fmla="*/ 257 h 261"/>
              <a:gd name="connsiteX1" fmla="*/ 283 w 568"/>
              <a:gd name="connsiteY1" fmla="*/ 1 h 261"/>
              <a:gd name="connsiteX2" fmla="*/ 568 w 568"/>
              <a:gd name="connsiteY2" fmla="*/ 261 h 261"/>
              <a:gd name="connsiteX0" fmla="*/ 0 w 568"/>
              <a:gd name="connsiteY0" fmla="*/ 256 h 260"/>
              <a:gd name="connsiteX1" fmla="*/ 283 w 568"/>
              <a:gd name="connsiteY1" fmla="*/ 0 h 260"/>
              <a:gd name="connsiteX2" fmla="*/ 568 w 568"/>
              <a:gd name="connsiteY2" fmla="*/ 260 h 260"/>
              <a:gd name="connsiteX0" fmla="*/ 0 w 568"/>
              <a:gd name="connsiteY0" fmla="*/ 256 h 294"/>
              <a:gd name="connsiteX1" fmla="*/ 283 w 568"/>
              <a:gd name="connsiteY1" fmla="*/ 0 h 294"/>
              <a:gd name="connsiteX2" fmla="*/ 568 w 568"/>
              <a:gd name="connsiteY2" fmla="*/ 260 h 294"/>
              <a:gd name="connsiteX0" fmla="*/ 0 w 568"/>
              <a:gd name="connsiteY0" fmla="*/ 0 h 4"/>
              <a:gd name="connsiteX1" fmla="*/ 568 w 568"/>
              <a:gd name="connsiteY1" fmla="*/ 4 h 4"/>
              <a:gd name="connsiteX0" fmla="*/ 0 w 568"/>
              <a:gd name="connsiteY0" fmla="*/ 2 h 6"/>
              <a:gd name="connsiteX1" fmla="*/ 334 w 568"/>
              <a:gd name="connsiteY1" fmla="*/ 0 h 6"/>
              <a:gd name="connsiteX2" fmla="*/ 568 w 568"/>
              <a:gd name="connsiteY2" fmla="*/ 6 h 6"/>
              <a:gd name="connsiteX0" fmla="*/ 0 w 568"/>
              <a:gd name="connsiteY0" fmla="*/ 267 h 271"/>
              <a:gd name="connsiteX1" fmla="*/ 334 w 568"/>
              <a:gd name="connsiteY1" fmla="*/ 265 h 271"/>
              <a:gd name="connsiteX2" fmla="*/ 275 w 568"/>
              <a:gd name="connsiteY2" fmla="*/ 1 h 271"/>
              <a:gd name="connsiteX3" fmla="*/ 568 w 568"/>
              <a:gd name="connsiteY3" fmla="*/ 271 h 271"/>
              <a:gd name="connsiteX0" fmla="*/ 0 w 568"/>
              <a:gd name="connsiteY0" fmla="*/ 266 h 270"/>
              <a:gd name="connsiteX1" fmla="*/ 275 w 568"/>
              <a:gd name="connsiteY1" fmla="*/ 0 h 270"/>
              <a:gd name="connsiteX2" fmla="*/ 568 w 568"/>
              <a:gd name="connsiteY2" fmla="*/ 270 h 270"/>
              <a:gd name="connsiteX0" fmla="*/ 0 w 568"/>
              <a:gd name="connsiteY0" fmla="*/ 267 h 271"/>
              <a:gd name="connsiteX1" fmla="*/ 275 w 568"/>
              <a:gd name="connsiteY1" fmla="*/ 1 h 271"/>
              <a:gd name="connsiteX2" fmla="*/ 568 w 568"/>
              <a:gd name="connsiteY2" fmla="*/ 271 h 271"/>
              <a:gd name="connsiteX0" fmla="*/ 0 w 568"/>
              <a:gd name="connsiteY0" fmla="*/ 267 h 280"/>
              <a:gd name="connsiteX1" fmla="*/ 275 w 568"/>
              <a:gd name="connsiteY1" fmla="*/ 1 h 280"/>
              <a:gd name="connsiteX2" fmla="*/ 568 w 568"/>
              <a:gd name="connsiteY2" fmla="*/ 271 h 280"/>
              <a:gd name="connsiteX0" fmla="*/ 0 w 568"/>
              <a:gd name="connsiteY0" fmla="*/ 267 h 280"/>
              <a:gd name="connsiteX1" fmla="*/ 275 w 568"/>
              <a:gd name="connsiteY1" fmla="*/ 1 h 280"/>
              <a:gd name="connsiteX2" fmla="*/ 568 w 568"/>
              <a:gd name="connsiteY2" fmla="*/ 271 h 280"/>
              <a:gd name="connsiteX0" fmla="*/ 0 w 568"/>
              <a:gd name="connsiteY0" fmla="*/ 279 h 292"/>
              <a:gd name="connsiteX1" fmla="*/ 275 w 568"/>
              <a:gd name="connsiteY1" fmla="*/ 13 h 292"/>
              <a:gd name="connsiteX2" fmla="*/ 406 w 568"/>
              <a:gd name="connsiteY2" fmla="*/ 201 h 292"/>
              <a:gd name="connsiteX3" fmla="*/ 568 w 568"/>
              <a:gd name="connsiteY3" fmla="*/ 283 h 292"/>
            </a:gdLst>
            <a:ahLst/>
            <a:cxnLst>
              <a:cxn ang="0">
                <a:pos x="connsiteX0" y="connsiteY0"/>
              </a:cxn>
              <a:cxn ang="0">
                <a:pos x="connsiteX1" y="connsiteY1"/>
              </a:cxn>
              <a:cxn ang="0">
                <a:pos x="connsiteX2" y="connsiteY2"/>
              </a:cxn>
              <a:cxn ang="0">
                <a:pos x="connsiteX3" y="connsiteY3"/>
              </a:cxn>
            </a:cxnLst>
            <a:rect l="l" t="t" r="r" b="b"/>
            <a:pathLst>
              <a:path w="568" h="292">
                <a:moveTo>
                  <a:pt x="0" y="279"/>
                </a:moveTo>
                <a:cubicBezTo>
                  <a:pt x="208" y="292"/>
                  <a:pt x="180" y="12"/>
                  <a:pt x="275" y="13"/>
                </a:cubicBezTo>
                <a:cubicBezTo>
                  <a:pt x="343" y="0"/>
                  <a:pt x="357" y="156"/>
                  <a:pt x="406" y="201"/>
                </a:cubicBezTo>
                <a:cubicBezTo>
                  <a:pt x="455" y="246"/>
                  <a:pt x="541" y="269"/>
                  <a:pt x="568" y="283"/>
                </a:cubicBezTo>
              </a:path>
            </a:pathLst>
          </a:custGeom>
          <a:noFill/>
          <a:ln w="28575">
            <a:solidFill>
              <a:schemeClr val="accent6">
                <a:lumMod val="75000"/>
              </a:schemeClr>
            </a:solidFill>
            <a:prstDash val="sysDash"/>
            <a:round/>
            <a:headEnd/>
            <a:tailEnd/>
          </a:ln>
          <a:effectLst/>
        </p:spPr>
        <p:txBody>
          <a:bodyPr/>
          <a:lstStyle/>
          <a:p>
            <a:pPr eaLnBrk="1" hangingPunct="1">
              <a:defRPr/>
            </a:pPr>
            <a:endParaRPr lang="en-US"/>
          </a:p>
        </p:txBody>
      </p:sp>
      <p:grpSp>
        <p:nvGrpSpPr>
          <p:cNvPr id="48134" name="Group 37">
            <a:extLst>
              <a:ext uri="{FF2B5EF4-FFF2-40B4-BE49-F238E27FC236}">
                <a16:creationId xmlns:a16="http://schemas.microsoft.com/office/drawing/2014/main" id="{A391E73B-EA1A-4BE0-B9F6-B0DED25FFB9A}"/>
              </a:ext>
            </a:extLst>
          </p:cNvPr>
          <p:cNvGrpSpPr>
            <a:grpSpLocks/>
          </p:cNvGrpSpPr>
          <p:nvPr/>
        </p:nvGrpSpPr>
        <p:grpSpPr bwMode="auto">
          <a:xfrm>
            <a:off x="3457576" y="4541839"/>
            <a:ext cx="5770563" cy="111125"/>
            <a:chOff x="1943065" y="4524389"/>
            <a:chExt cx="5770254" cy="110334"/>
          </a:xfrm>
        </p:grpSpPr>
        <p:cxnSp>
          <p:nvCxnSpPr>
            <p:cNvPr id="37" name="Straight Connector 36">
              <a:extLst>
                <a:ext uri="{FF2B5EF4-FFF2-40B4-BE49-F238E27FC236}">
                  <a16:creationId xmlns:a16="http://schemas.microsoft.com/office/drawing/2014/main" id="{C1381C76-19A4-4053-8CD0-0717C012BCB2}"/>
                </a:ext>
              </a:extLst>
            </p:cNvPr>
            <p:cNvCxnSpPr/>
            <p:nvPr/>
          </p:nvCxnSpPr>
          <p:spPr>
            <a:xfrm rot="5400000">
              <a:off x="5102413" y="4579556"/>
              <a:ext cx="1103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D9262FA-A7E4-48C6-82E1-FAF61F9B9B26}"/>
                </a:ext>
              </a:extLst>
            </p:cNvPr>
            <p:cNvCxnSpPr/>
            <p:nvPr/>
          </p:nvCxnSpPr>
          <p:spPr>
            <a:xfrm rot="5400000">
              <a:off x="5758015" y="4579556"/>
              <a:ext cx="1103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7C84CBA-DAE5-4880-A723-2DE763D812CB}"/>
                </a:ext>
              </a:extLst>
            </p:cNvPr>
            <p:cNvCxnSpPr/>
            <p:nvPr/>
          </p:nvCxnSpPr>
          <p:spPr>
            <a:xfrm rot="5400000">
              <a:off x="3823751" y="4578763"/>
              <a:ext cx="110334"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BDBE0EC-6F25-4E14-BF8E-34BB284FD6BF}"/>
                </a:ext>
              </a:extLst>
            </p:cNvPr>
            <p:cNvCxnSpPr/>
            <p:nvPr/>
          </p:nvCxnSpPr>
          <p:spPr>
            <a:xfrm rot="5400000">
              <a:off x="4480147" y="4579556"/>
              <a:ext cx="1103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A1FC45D-7B4F-4C91-8B2D-F1FDDC61590E}"/>
                </a:ext>
              </a:extLst>
            </p:cNvPr>
            <p:cNvCxnSpPr/>
            <p:nvPr/>
          </p:nvCxnSpPr>
          <p:spPr>
            <a:xfrm rot="5400000">
              <a:off x="7657358" y="4578763"/>
              <a:ext cx="110334"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431140E-5573-4497-9961-3E498072729A}"/>
                </a:ext>
              </a:extLst>
            </p:cNvPr>
            <p:cNvCxnSpPr/>
            <p:nvPr/>
          </p:nvCxnSpPr>
          <p:spPr>
            <a:xfrm rot="5400000">
              <a:off x="6380282" y="4579556"/>
              <a:ext cx="1103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B16B997-C4E1-4AA9-A35F-F219B182093B}"/>
                </a:ext>
              </a:extLst>
            </p:cNvPr>
            <p:cNvCxnSpPr/>
            <p:nvPr/>
          </p:nvCxnSpPr>
          <p:spPr>
            <a:xfrm rot="5400000">
              <a:off x="7035885" y="4579556"/>
              <a:ext cx="1103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59CF101-EF5F-4ECB-8134-B5177B980290}"/>
                </a:ext>
              </a:extLst>
            </p:cNvPr>
            <p:cNvCxnSpPr/>
            <p:nvPr/>
          </p:nvCxnSpPr>
          <p:spPr>
            <a:xfrm rot="5400000">
              <a:off x="3167354" y="4579556"/>
              <a:ext cx="1103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7B77CE2-5016-4E43-A267-AAFA9750E1AC}"/>
                </a:ext>
              </a:extLst>
            </p:cNvPr>
            <p:cNvCxnSpPr/>
            <p:nvPr/>
          </p:nvCxnSpPr>
          <p:spPr>
            <a:xfrm rot="5400000">
              <a:off x="3822957" y="4579556"/>
              <a:ext cx="1103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F0D4837-44B2-472E-98E3-4307E464DFD5}"/>
                </a:ext>
              </a:extLst>
            </p:cNvPr>
            <p:cNvCxnSpPr/>
            <p:nvPr/>
          </p:nvCxnSpPr>
          <p:spPr>
            <a:xfrm rot="5400000">
              <a:off x="1888691" y="4578763"/>
              <a:ext cx="110334"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70DA608-4826-424F-97B2-29B6A5ABE938}"/>
                </a:ext>
              </a:extLst>
            </p:cNvPr>
            <p:cNvCxnSpPr/>
            <p:nvPr/>
          </p:nvCxnSpPr>
          <p:spPr>
            <a:xfrm rot="5400000">
              <a:off x="2544294" y="4578763"/>
              <a:ext cx="110334"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 name="Straight Connector 53">
            <a:extLst>
              <a:ext uri="{FF2B5EF4-FFF2-40B4-BE49-F238E27FC236}">
                <a16:creationId xmlns:a16="http://schemas.microsoft.com/office/drawing/2014/main" id="{F22D9F21-0549-4771-B11A-A608ED08CEE3}"/>
              </a:ext>
            </a:extLst>
          </p:cNvPr>
          <p:cNvCxnSpPr/>
          <p:nvPr/>
        </p:nvCxnSpPr>
        <p:spPr>
          <a:xfrm rot="10800000">
            <a:off x="2844801" y="3465514"/>
            <a:ext cx="111125"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A6B37AC-437A-4177-AE47-87C3404195FC}"/>
              </a:ext>
            </a:extLst>
          </p:cNvPr>
          <p:cNvCxnSpPr/>
          <p:nvPr/>
        </p:nvCxnSpPr>
        <p:spPr>
          <a:xfrm rot="10800000">
            <a:off x="2844801" y="4122738"/>
            <a:ext cx="111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D7B22C0-8E1F-43E5-8EA7-AAB33A457EA4}"/>
              </a:ext>
            </a:extLst>
          </p:cNvPr>
          <p:cNvCxnSpPr/>
          <p:nvPr/>
        </p:nvCxnSpPr>
        <p:spPr>
          <a:xfrm rot="10800000">
            <a:off x="2844801" y="2809875"/>
            <a:ext cx="111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2CA44C4-9B80-433A-A84D-037E4DCB2BDB}"/>
              </a:ext>
            </a:extLst>
          </p:cNvPr>
          <p:cNvCxnSpPr/>
          <p:nvPr/>
        </p:nvCxnSpPr>
        <p:spPr>
          <a:xfrm rot="10800000">
            <a:off x="2844801" y="3465513"/>
            <a:ext cx="111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51AAFC0-59EC-48C7-BE94-BC1547F6791D}"/>
              </a:ext>
            </a:extLst>
          </p:cNvPr>
          <p:cNvCxnSpPr/>
          <p:nvPr/>
        </p:nvCxnSpPr>
        <p:spPr>
          <a:xfrm rot="10800000">
            <a:off x="2844801" y="2187575"/>
            <a:ext cx="111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140" name="TextBox 50">
            <a:extLst>
              <a:ext uri="{FF2B5EF4-FFF2-40B4-BE49-F238E27FC236}">
                <a16:creationId xmlns:a16="http://schemas.microsoft.com/office/drawing/2014/main" id="{5A9357E4-8988-4B5F-970B-DB7FA6BF4B67}"/>
              </a:ext>
            </a:extLst>
          </p:cNvPr>
          <p:cNvSpPr txBox="1">
            <a:spLocks noChangeArrowheads="1"/>
          </p:cNvSpPr>
          <p:nvPr/>
        </p:nvSpPr>
        <p:spPr bwMode="auto">
          <a:xfrm>
            <a:off x="3394075" y="4727576"/>
            <a:ext cx="6572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hy-AM" altLang="en-US" sz="1400"/>
              <a:t>3   </a:t>
            </a:r>
            <a:r>
              <a:rPr lang="en-US" altLang="en-US" sz="1400"/>
              <a:t>   </a:t>
            </a:r>
            <a:r>
              <a:rPr lang="hy-AM" altLang="en-US" sz="1400"/>
              <a:t>3</a:t>
            </a:r>
            <a:r>
              <a:rPr lang="en-US" altLang="en-US" sz="1400"/>
              <a:t>.</a:t>
            </a:r>
            <a:r>
              <a:rPr lang="hy-AM" altLang="en-US" sz="1400"/>
              <a:t>2</a:t>
            </a:r>
            <a:r>
              <a:rPr lang="en-US" altLang="en-US" sz="1400"/>
              <a:t>       3.4        3.6          4          4.2        4.4        4.6        4.8          5</a:t>
            </a:r>
          </a:p>
        </p:txBody>
      </p:sp>
      <p:sp>
        <p:nvSpPr>
          <p:cNvPr id="48141" name="TextBox 52">
            <a:extLst>
              <a:ext uri="{FF2B5EF4-FFF2-40B4-BE49-F238E27FC236}">
                <a16:creationId xmlns:a16="http://schemas.microsoft.com/office/drawing/2014/main" id="{9BF1F1CD-1CBF-4248-A1AF-E782D00D0485}"/>
              </a:ext>
            </a:extLst>
          </p:cNvPr>
          <p:cNvSpPr txBox="1">
            <a:spLocks noChangeArrowheads="1"/>
          </p:cNvSpPr>
          <p:nvPr/>
        </p:nvSpPr>
        <p:spPr bwMode="auto">
          <a:xfrm>
            <a:off x="2152650" y="2260601"/>
            <a:ext cx="693738"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r" eaLnBrk="1" hangingPunct="1">
              <a:spcBef>
                <a:spcPct val="0"/>
              </a:spcBef>
              <a:buClrTx/>
              <a:buSzTx/>
              <a:buFontTx/>
              <a:buNone/>
            </a:pPr>
            <a:r>
              <a:rPr lang="en-US" altLang="en-US" sz="1400"/>
              <a:t>0.12</a:t>
            </a:r>
          </a:p>
          <a:p>
            <a:pPr algn="r" eaLnBrk="1" hangingPunct="1">
              <a:spcBef>
                <a:spcPct val="0"/>
              </a:spcBef>
              <a:buClrTx/>
              <a:buSzTx/>
              <a:buFontTx/>
              <a:buNone/>
            </a:pPr>
            <a:endParaRPr lang="en-US" altLang="en-US" sz="1400"/>
          </a:p>
          <a:p>
            <a:pPr algn="r" eaLnBrk="1" hangingPunct="1">
              <a:spcBef>
                <a:spcPct val="0"/>
              </a:spcBef>
              <a:buClrTx/>
              <a:buSzTx/>
              <a:buFontTx/>
              <a:buNone/>
            </a:pPr>
            <a:r>
              <a:rPr lang="en-US" altLang="en-US" sz="1400"/>
              <a:t>0.1</a:t>
            </a:r>
          </a:p>
          <a:p>
            <a:pPr algn="r" eaLnBrk="1" hangingPunct="1">
              <a:spcBef>
                <a:spcPct val="0"/>
              </a:spcBef>
              <a:buClrTx/>
              <a:buSzTx/>
              <a:buFontTx/>
              <a:buNone/>
            </a:pPr>
            <a:endParaRPr lang="en-US" altLang="en-US" sz="1400"/>
          </a:p>
          <a:p>
            <a:pPr algn="r" eaLnBrk="1" hangingPunct="1">
              <a:spcBef>
                <a:spcPct val="0"/>
              </a:spcBef>
              <a:buClrTx/>
              <a:buSzTx/>
              <a:buFontTx/>
              <a:buNone/>
            </a:pPr>
            <a:r>
              <a:rPr lang="en-US" altLang="en-US" sz="1400"/>
              <a:t>0.08</a:t>
            </a:r>
          </a:p>
          <a:p>
            <a:pPr algn="r" eaLnBrk="1" hangingPunct="1">
              <a:spcBef>
                <a:spcPct val="0"/>
              </a:spcBef>
              <a:buClrTx/>
              <a:buSzTx/>
              <a:buFontTx/>
              <a:buNone/>
            </a:pPr>
            <a:endParaRPr lang="en-US" altLang="en-US" sz="1400"/>
          </a:p>
          <a:p>
            <a:pPr algn="r" eaLnBrk="1" hangingPunct="1">
              <a:spcBef>
                <a:spcPct val="0"/>
              </a:spcBef>
              <a:buClrTx/>
              <a:buSzTx/>
              <a:buFontTx/>
              <a:buNone/>
            </a:pPr>
            <a:r>
              <a:rPr lang="en-US" altLang="en-US" sz="1400"/>
              <a:t>0.04</a:t>
            </a:r>
          </a:p>
          <a:p>
            <a:pPr algn="r" eaLnBrk="1" hangingPunct="1">
              <a:spcBef>
                <a:spcPct val="0"/>
              </a:spcBef>
              <a:buClrTx/>
              <a:buSzTx/>
              <a:buFontTx/>
              <a:buNone/>
            </a:pPr>
            <a:endParaRPr lang="en-US" altLang="en-US" sz="1400"/>
          </a:p>
          <a:p>
            <a:pPr algn="r" eaLnBrk="1" hangingPunct="1">
              <a:spcBef>
                <a:spcPct val="0"/>
              </a:spcBef>
              <a:buClrTx/>
              <a:buSzTx/>
              <a:buFontTx/>
              <a:buNone/>
            </a:pPr>
            <a:r>
              <a:rPr lang="en-US" altLang="en-US" sz="1400"/>
              <a:t>0.02</a:t>
            </a:r>
          </a:p>
          <a:p>
            <a:pPr algn="r" eaLnBrk="1" hangingPunct="1">
              <a:spcBef>
                <a:spcPct val="0"/>
              </a:spcBef>
              <a:buClrTx/>
              <a:buSzTx/>
              <a:buFontTx/>
              <a:buNone/>
            </a:pPr>
            <a:endParaRPr lang="en-US" altLang="en-US" sz="1400"/>
          </a:p>
          <a:p>
            <a:pPr algn="r" eaLnBrk="1" hangingPunct="1">
              <a:spcBef>
                <a:spcPct val="0"/>
              </a:spcBef>
              <a:buClrTx/>
              <a:buSzTx/>
              <a:buFontTx/>
              <a:buNone/>
            </a:pPr>
            <a:r>
              <a:rPr lang="en-US" altLang="en-US" sz="1400"/>
              <a:t>0</a:t>
            </a:r>
          </a:p>
        </p:txBody>
      </p:sp>
      <p:cxnSp>
        <p:nvCxnSpPr>
          <p:cNvPr id="67" name="Straight Arrow Connector 66">
            <a:extLst>
              <a:ext uri="{FF2B5EF4-FFF2-40B4-BE49-F238E27FC236}">
                <a16:creationId xmlns:a16="http://schemas.microsoft.com/office/drawing/2014/main" id="{14E676DD-7493-43B7-A504-9BA9310BB17A}"/>
              </a:ext>
            </a:extLst>
          </p:cNvPr>
          <p:cNvCxnSpPr/>
          <p:nvPr/>
        </p:nvCxnSpPr>
        <p:spPr>
          <a:xfrm>
            <a:off x="2846388" y="4670425"/>
            <a:ext cx="675481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465B8112-903B-45AA-93AC-9E32EC6F17E8}"/>
              </a:ext>
            </a:extLst>
          </p:cNvPr>
          <p:cNvCxnSpPr/>
          <p:nvPr/>
        </p:nvCxnSpPr>
        <p:spPr>
          <a:xfrm rot="5400000" flipH="1" flipV="1">
            <a:off x="1494632" y="3320257"/>
            <a:ext cx="270351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144" name="Straight Arrow Connector 68">
            <a:extLst>
              <a:ext uri="{FF2B5EF4-FFF2-40B4-BE49-F238E27FC236}">
                <a16:creationId xmlns:a16="http://schemas.microsoft.com/office/drawing/2014/main" id="{83932A4A-1AC1-4AE6-BA34-3FF85AE337E7}"/>
              </a:ext>
            </a:extLst>
          </p:cNvPr>
          <p:cNvCxnSpPr>
            <a:cxnSpLocks noChangeShapeType="1"/>
            <a:endCxn id="35" idx="2"/>
          </p:cNvCxnSpPr>
          <p:nvPr/>
        </p:nvCxnSpPr>
        <p:spPr bwMode="auto">
          <a:xfrm rot="5400000">
            <a:off x="7457282" y="2997994"/>
            <a:ext cx="1560512" cy="1085850"/>
          </a:xfrm>
          <a:prstGeom prst="straightConnector1">
            <a:avLst/>
          </a:prstGeom>
          <a:noFill/>
          <a:ln w="9525" algn="ctr">
            <a:solidFill>
              <a:schemeClr val="tx1"/>
            </a:solidFill>
            <a:round/>
            <a:headEnd/>
            <a:tailEnd type="triangle" w="med" len="med"/>
          </a:ln>
        </p:spPr>
      </p:cxnSp>
      <p:cxnSp>
        <p:nvCxnSpPr>
          <p:cNvPr id="48145" name="Straight Arrow Connector 69">
            <a:extLst>
              <a:ext uri="{FF2B5EF4-FFF2-40B4-BE49-F238E27FC236}">
                <a16:creationId xmlns:a16="http://schemas.microsoft.com/office/drawing/2014/main" id="{79EDF885-9669-4923-97ED-ABBC36C5FA5D}"/>
              </a:ext>
            </a:extLst>
          </p:cNvPr>
          <p:cNvCxnSpPr>
            <a:cxnSpLocks noChangeShapeType="1"/>
            <a:endCxn id="48132" idx="1"/>
          </p:cNvCxnSpPr>
          <p:nvPr/>
        </p:nvCxnSpPr>
        <p:spPr bwMode="auto">
          <a:xfrm rot="16200000" flipH="1">
            <a:off x="4832350" y="1814513"/>
            <a:ext cx="571500" cy="1587500"/>
          </a:xfrm>
          <a:prstGeom prst="straightConnector1">
            <a:avLst/>
          </a:prstGeom>
          <a:noFill/>
          <a:ln w="9525" algn="ctr">
            <a:solidFill>
              <a:schemeClr val="tx1"/>
            </a:solidFill>
            <a:round/>
            <a:headEnd/>
            <a:tailEnd type="triangle" w="med" len="med"/>
          </a:ln>
        </p:spPr>
      </p:cxnSp>
      <p:sp>
        <p:nvSpPr>
          <p:cNvPr id="48146" name="TextBox 72">
            <a:extLst>
              <a:ext uri="{FF2B5EF4-FFF2-40B4-BE49-F238E27FC236}">
                <a16:creationId xmlns:a16="http://schemas.microsoft.com/office/drawing/2014/main" id="{C3F67B81-E354-4647-A994-ADAFBC7CDFFB}"/>
              </a:ext>
            </a:extLst>
          </p:cNvPr>
          <p:cNvSpPr txBox="1">
            <a:spLocks noChangeArrowheads="1"/>
          </p:cNvSpPr>
          <p:nvPr/>
        </p:nvSpPr>
        <p:spPr bwMode="auto">
          <a:xfrm>
            <a:off x="8578850" y="4926014"/>
            <a:ext cx="11191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t>Delay (ns)</a:t>
            </a:r>
          </a:p>
        </p:txBody>
      </p:sp>
      <p:sp>
        <p:nvSpPr>
          <p:cNvPr id="48147" name="TextBox 73">
            <a:extLst>
              <a:ext uri="{FF2B5EF4-FFF2-40B4-BE49-F238E27FC236}">
                <a16:creationId xmlns:a16="http://schemas.microsoft.com/office/drawing/2014/main" id="{48FE32EA-4281-4C63-AEB3-B2421C53ABE9}"/>
              </a:ext>
            </a:extLst>
          </p:cNvPr>
          <p:cNvSpPr txBox="1">
            <a:spLocks noChangeArrowheads="1"/>
          </p:cNvSpPr>
          <p:nvPr/>
        </p:nvSpPr>
        <p:spPr bwMode="auto">
          <a:xfrm rot="16200000">
            <a:off x="1626395" y="2497933"/>
            <a:ext cx="11398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t>Probability</a:t>
            </a:r>
          </a:p>
        </p:txBody>
      </p:sp>
      <p:sp>
        <p:nvSpPr>
          <p:cNvPr id="48148" name="Rectangle 1">
            <a:extLst>
              <a:ext uri="{FF2B5EF4-FFF2-40B4-BE49-F238E27FC236}">
                <a16:creationId xmlns:a16="http://schemas.microsoft.com/office/drawing/2014/main" id="{E81AA423-E7E9-4E1E-B508-07335BBAEF4E}"/>
              </a:ext>
            </a:extLst>
          </p:cNvPr>
          <p:cNvSpPr>
            <a:spLocks noChangeArrowheads="1"/>
          </p:cNvSpPr>
          <p:nvPr/>
        </p:nvSpPr>
        <p:spPr bwMode="auto">
          <a:xfrm>
            <a:off x="3392489" y="2071689"/>
            <a:ext cx="25685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SSTA unaware of Spatial correlations </a:t>
            </a:r>
          </a:p>
        </p:txBody>
      </p:sp>
      <p:sp>
        <p:nvSpPr>
          <p:cNvPr id="48149" name="Rectangle 2">
            <a:extLst>
              <a:ext uri="{FF2B5EF4-FFF2-40B4-BE49-F238E27FC236}">
                <a16:creationId xmlns:a16="http://schemas.microsoft.com/office/drawing/2014/main" id="{559AD459-06B3-4593-947D-FE34940531A1}"/>
              </a:ext>
            </a:extLst>
          </p:cNvPr>
          <p:cNvSpPr>
            <a:spLocks noChangeArrowheads="1"/>
          </p:cNvSpPr>
          <p:nvPr/>
        </p:nvSpPr>
        <p:spPr bwMode="auto">
          <a:xfrm>
            <a:off x="7042150" y="2530475"/>
            <a:ext cx="2998788"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Monte-Carlo considering Spatial correlations </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85AD29D-62C0-42CF-BA97-5E1EFA43468B}"/>
              </a:ext>
            </a:extLst>
          </p:cNvPr>
          <p:cNvSpPr>
            <a:spLocks noGrp="1"/>
          </p:cNvSpPr>
          <p:nvPr>
            <p:ph type="title"/>
          </p:nvPr>
        </p:nvSpPr>
        <p:spPr/>
        <p:txBody>
          <a:bodyPr/>
          <a:lstStyle/>
          <a:p>
            <a:r>
              <a:rPr lang="en-US" altLang="en-US"/>
              <a:t>Considering Spatial Correlations</a:t>
            </a:r>
            <a:endParaRPr lang="ru-RU" altLang="en-US"/>
          </a:p>
        </p:txBody>
      </p:sp>
      <p:graphicFrame>
        <p:nvGraphicFramePr>
          <p:cNvPr id="50179" name="Object 6">
            <a:extLst>
              <a:ext uri="{FF2B5EF4-FFF2-40B4-BE49-F238E27FC236}">
                <a16:creationId xmlns:a16="http://schemas.microsoft.com/office/drawing/2014/main" id="{2A6860C8-14F7-4B96-829D-3FEC1DE82943}"/>
              </a:ext>
            </a:extLst>
          </p:cNvPr>
          <p:cNvGraphicFramePr>
            <a:graphicFrameLocks noChangeAspect="1"/>
          </p:cNvGraphicFramePr>
          <p:nvPr/>
        </p:nvGraphicFramePr>
        <p:xfrm>
          <a:off x="2987675" y="3595688"/>
          <a:ext cx="6548438" cy="971550"/>
        </p:xfrm>
        <a:graphic>
          <a:graphicData uri="http://schemas.openxmlformats.org/presentationml/2006/ole">
            <mc:AlternateContent xmlns:mc="http://schemas.openxmlformats.org/markup-compatibility/2006">
              <mc:Choice xmlns:v="urn:schemas-microsoft-com:vml" Requires="v">
                <p:oleObj name="Equation" r:id="rId3" imgW="2311400" imgH="342900" progId="Equation.3">
                  <p:embed/>
                </p:oleObj>
              </mc:Choice>
              <mc:Fallback>
                <p:oleObj name="Equation" r:id="rId3" imgW="2311400" imgH="342900" progId="Equation.3">
                  <p:embed/>
                  <p:pic>
                    <p:nvPicPr>
                      <p:cNvPr id="50179" name="Object 6">
                        <a:extLst>
                          <a:ext uri="{FF2B5EF4-FFF2-40B4-BE49-F238E27FC236}">
                            <a16:creationId xmlns:a16="http://schemas.microsoft.com/office/drawing/2014/main" id="{2A6860C8-14F7-4B96-829D-3FEC1DE829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3595688"/>
                        <a:ext cx="6548438"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0" name="Object 7">
            <a:extLst>
              <a:ext uri="{FF2B5EF4-FFF2-40B4-BE49-F238E27FC236}">
                <a16:creationId xmlns:a16="http://schemas.microsoft.com/office/drawing/2014/main" id="{140070DF-2005-4CDB-8DBF-D3E534E651A3}"/>
              </a:ext>
            </a:extLst>
          </p:cNvPr>
          <p:cNvGraphicFramePr>
            <a:graphicFrameLocks noChangeAspect="1"/>
          </p:cNvGraphicFramePr>
          <p:nvPr/>
        </p:nvGraphicFramePr>
        <p:xfrm>
          <a:off x="2987675" y="2063750"/>
          <a:ext cx="5702300" cy="946150"/>
        </p:xfrm>
        <a:graphic>
          <a:graphicData uri="http://schemas.openxmlformats.org/presentationml/2006/ole">
            <mc:AlternateContent xmlns:mc="http://schemas.openxmlformats.org/markup-compatibility/2006">
              <mc:Choice xmlns:v="urn:schemas-microsoft-com:vml" Requires="v">
                <p:oleObj name="Equation" r:id="rId5" imgW="2145369" imgH="355446" progId="Equation.3">
                  <p:embed/>
                </p:oleObj>
              </mc:Choice>
              <mc:Fallback>
                <p:oleObj name="Equation" r:id="rId5" imgW="2145369" imgH="355446" progId="Equation.3">
                  <p:embed/>
                  <p:pic>
                    <p:nvPicPr>
                      <p:cNvPr id="50180" name="Object 7">
                        <a:extLst>
                          <a:ext uri="{FF2B5EF4-FFF2-40B4-BE49-F238E27FC236}">
                            <a16:creationId xmlns:a16="http://schemas.microsoft.com/office/drawing/2014/main" id="{140070DF-2005-4CDB-8DBF-D3E534E651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2063750"/>
                        <a:ext cx="57023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0A3EE045-F7E9-45A4-938A-ED9182EB9596}"/>
              </a:ext>
            </a:extLst>
          </p:cNvPr>
          <p:cNvSpPr>
            <a:spLocks noGrp="1"/>
          </p:cNvSpPr>
          <p:nvPr>
            <p:ph type="title"/>
          </p:nvPr>
        </p:nvSpPr>
        <p:spPr/>
        <p:txBody>
          <a:bodyPr/>
          <a:lstStyle/>
          <a:p>
            <a:r>
              <a:rPr lang="en-US" altLang="en-US"/>
              <a:t>Additional Data for SSTA</a:t>
            </a:r>
          </a:p>
        </p:txBody>
      </p:sp>
      <p:sp>
        <p:nvSpPr>
          <p:cNvPr id="34827" name="Text Box 11">
            <a:extLst>
              <a:ext uri="{FF2B5EF4-FFF2-40B4-BE49-F238E27FC236}">
                <a16:creationId xmlns:a16="http://schemas.microsoft.com/office/drawing/2014/main" id="{872598E8-FCA8-49B1-854B-58B8E3A13D26}"/>
              </a:ext>
            </a:extLst>
          </p:cNvPr>
          <p:cNvSpPr txBox="1">
            <a:spLocks noChangeArrowheads="1"/>
          </p:cNvSpPr>
          <p:nvPr/>
        </p:nvSpPr>
        <p:spPr bwMode="auto">
          <a:xfrm>
            <a:off x="5694364" y="3354389"/>
            <a:ext cx="1425575" cy="338137"/>
          </a:xfrm>
          <a:prstGeom prst="rect">
            <a:avLst/>
          </a:prstGeom>
          <a:solidFill>
            <a:schemeClr val="accent1">
              <a:lumMod val="20000"/>
              <a:lumOff val="80000"/>
            </a:schemeClr>
          </a:solidFill>
          <a:ln>
            <a:headEnd/>
            <a:tailEnd/>
          </a:ln>
          <a:effectLst/>
        </p:spPr>
        <p:style>
          <a:lnRef idx="1">
            <a:schemeClr val="accent1"/>
          </a:lnRef>
          <a:fillRef idx="2">
            <a:schemeClr val="accent1"/>
          </a:fillRef>
          <a:effectRef idx="1">
            <a:schemeClr val="accent1"/>
          </a:effectRef>
          <a:fontRef idx="minor">
            <a:schemeClr val="dk1"/>
          </a:fontRef>
        </p:style>
        <p:txBody>
          <a:bodyPr>
            <a:spAutoFit/>
          </a:bodyPr>
          <a:lstStyle/>
          <a:p>
            <a:pPr algn="ctr" eaLnBrk="1" hangingPunct="1">
              <a:spcBef>
                <a:spcPct val="50000"/>
              </a:spcBef>
              <a:defRPr/>
            </a:pPr>
            <a:r>
              <a:rPr lang="ru-RU" sz="1600" dirty="0"/>
              <a:t>SSTA</a:t>
            </a:r>
          </a:p>
        </p:txBody>
      </p:sp>
      <p:sp>
        <p:nvSpPr>
          <p:cNvPr id="34828" name="AutoShape 12">
            <a:extLst>
              <a:ext uri="{FF2B5EF4-FFF2-40B4-BE49-F238E27FC236}">
                <a16:creationId xmlns:a16="http://schemas.microsoft.com/office/drawing/2014/main" id="{52AE6F5D-7BCF-44BF-B4E7-C4688FBE07BF}"/>
              </a:ext>
            </a:extLst>
          </p:cNvPr>
          <p:cNvSpPr>
            <a:spLocks noChangeArrowheads="1"/>
          </p:cNvSpPr>
          <p:nvPr/>
        </p:nvSpPr>
        <p:spPr bwMode="auto">
          <a:xfrm rot="2727068">
            <a:off x="5491957" y="2715420"/>
            <a:ext cx="658813" cy="403225"/>
          </a:xfrm>
          <a:prstGeom prst="rightArrow">
            <a:avLst>
              <a:gd name="adj1" fmla="val 50000"/>
              <a:gd name="adj2" fmla="val 40846"/>
            </a:avLst>
          </a:prstGeom>
          <a:solidFill>
            <a:schemeClr val="accent1">
              <a:lumMod val="20000"/>
              <a:lumOff val="80000"/>
            </a:schemeClr>
          </a:solidFill>
          <a:ln>
            <a:solidFill>
              <a:schemeClr val="accent1"/>
            </a:solid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p>
            <a:pPr eaLnBrk="1" hangingPunct="1">
              <a:defRPr/>
            </a:pPr>
            <a:endParaRPr lang="en-US"/>
          </a:p>
        </p:txBody>
      </p:sp>
      <p:sp>
        <p:nvSpPr>
          <p:cNvPr id="34829" name="AutoShape 13">
            <a:extLst>
              <a:ext uri="{FF2B5EF4-FFF2-40B4-BE49-F238E27FC236}">
                <a16:creationId xmlns:a16="http://schemas.microsoft.com/office/drawing/2014/main" id="{ADC4990A-0C8E-4318-8230-53E5536BB953}"/>
              </a:ext>
            </a:extLst>
          </p:cNvPr>
          <p:cNvSpPr>
            <a:spLocks noChangeArrowheads="1"/>
          </p:cNvSpPr>
          <p:nvPr/>
        </p:nvSpPr>
        <p:spPr bwMode="auto">
          <a:xfrm rot="7963347">
            <a:off x="6642895" y="2704307"/>
            <a:ext cx="658812" cy="403225"/>
          </a:xfrm>
          <a:prstGeom prst="rightArrow">
            <a:avLst>
              <a:gd name="adj1" fmla="val 50000"/>
              <a:gd name="adj2" fmla="val 40846"/>
            </a:avLst>
          </a:prstGeom>
          <a:solidFill>
            <a:schemeClr val="accent1">
              <a:lumMod val="20000"/>
              <a:lumOff val="80000"/>
            </a:schemeClr>
          </a:solidFill>
          <a:ln>
            <a:solidFill>
              <a:schemeClr val="accent1"/>
            </a:solid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p>
            <a:pPr eaLnBrk="1" hangingPunct="1">
              <a:defRPr/>
            </a:pPr>
            <a:endParaRPr lang="en-US"/>
          </a:p>
        </p:txBody>
      </p:sp>
      <p:graphicFrame>
        <p:nvGraphicFramePr>
          <p:cNvPr id="52230" name="Object 14">
            <a:extLst>
              <a:ext uri="{FF2B5EF4-FFF2-40B4-BE49-F238E27FC236}">
                <a16:creationId xmlns:a16="http://schemas.microsoft.com/office/drawing/2014/main" id="{C18197B6-662D-4AA1-A017-ED5A4AA21689}"/>
              </a:ext>
            </a:extLst>
          </p:cNvPr>
          <p:cNvGraphicFramePr>
            <a:graphicFrameLocks noChangeAspect="1"/>
          </p:cNvGraphicFramePr>
          <p:nvPr/>
        </p:nvGraphicFramePr>
        <p:xfrm>
          <a:off x="2955925" y="4305301"/>
          <a:ext cx="6389688" cy="1381125"/>
        </p:xfrm>
        <a:graphic>
          <a:graphicData uri="http://schemas.openxmlformats.org/presentationml/2006/ole">
            <mc:AlternateContent xmlns:mc="http://schemas.openxmlformats.org/markup-compatibility/2006">
              <mc:Choice xmlns:v="urn:schemas-microsoft-com:vml" Requires="v">
                <p:oleObj name="Equation" r:id="rId3" imgW="2057400" imgH="444500" progId="Equation.3">
                  <p:embed/>
                </p:oleObj>
              </mc:Choice>
              <mc:Fallback>
                <p:oleObj name="Equation" r:id="rId3" imgW="2057400" imgH="444500" progId="Equation.3">
                  <p:embed/>
                  <p:pic>
                    <p:nvPicPr>
                      <p:cNvPr id="52230" name="Object 14">
                        <a:extLst>
                          <a:ext uri="{FF2B5EF4-FFF2-40B4-BE49-F238E27FC236}">
                            <a16:creationId xmlns:a16="http://schemas.microsoft.com/office/drawing/2014/main" id="{C18197B6-662D-4AA1-A017-ED5A4AA216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5925" y="4305301"/>
                        <a:ext cx="6389688" cy="1381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1" name="Rectangle 1">
            <a:extLst>
              <a:ext uri="{FF2B5EF4-FFF2-40B4-BE49-F238E27FC236}">
                <a16:creationId xmlns:a16="http://schemas.microsoft.com/office/drawing/2014/main" id="{CAA459C4-D1A6-4866-AE16-3AF035EF5B3C}"/>
              </a:ext>
            </a:extLst>
          </p:cNvPr>
          <p:cNvSpPr>
            <a:spLocks noChangeArrowheads="1"/>
          </p:cNvSpPr>
          <p:nvPr/>
        </p:nvSpPr>
        <p:spPr bwMode="auto">
          <a:xfrm>
            <a:off x="3503613" y="1776414"/>
            <a:ext cx="26289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ru-RU" altLang="en-US" sz="1800"/>
              <a:t>Library with Gaussian distributions if gate delays</a:t>
            </a:r>
          </a:p>
        </p:txBody>
      </p:sp>
      <p:sp>
        <p:nvSpPr>
          <p:cNvPr id="52232" name="Rectangle 2">
            <a:extLst>
              <a:ext uri="{FF2B5EF4-FFF2-40B4-BE49-F238E27FC236}">
                <a16:creationId xmlns:a16="http://schemas.microsoft.com/office/drawing/2014/main" id="{A7186412-8FA4-4F89-9057-924F9913E8FB}"/>
              </a:ext>
            </a:extLst>
          </p:cNvPr>
          <p:cNvSpPr>
            <a:spLocks noChangeArrowheads="1"/>
          </p:cNvSpPr>
          <p:nvPr/>
        </p:nvSpPr>
        <p:spPr bwMode="auto">
          <a:xfrm>
            <a:off x="6959600" y="2054225"/>
            <a:ext cx="1403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ru-RU" altLang="en-US" sz="1800"/>
              <a:t>Gate-Netlist</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B96D58D0-41E9-4101-838F-B5C548A7DE16}"/>
              </a:ext>
            </a:extLst>
          </p:cNvPr>
          <p:cNvSpPr>
            <a:spLocks noGrp="1"/>
          </p:cNvSpPr>
          <p:nvPr>
            <p:ph type="title"/>
          </p:nvPr>
        </p:nvSpPr>
        <p:spPr/>
        <p:txBody>
          <a:bodyPr/>
          <a:lstStyle/>
          <a:p>
            <a:r>
              <a:rPr lang="en-US" altLang="en-US"/>
              <a:t>SSTA Tool Inputs and Outputs</a:t>
            </a:r>
          </a:p>
        </p:txBody>
      </p:sp>
      <p:grpSp>
        <p:nvGrpSpPr>
          <p:cNvPr id="54275" name="Group 3">
            <a:extLst>
              <a:ext uri="{FF2B5EF4-FFF2-40B4-BE49-F238E27FC236}">
                <a16:creationId xmlns:a16="http://schemas.microsoft.com/office/drawing/2014/main" id="{E0310344-C699-44C7-B8EE-BF834739F522}"/>
              </a:ext>
            </a:extLst>
          </p:cNvPr>
          <p:cNvGrpSpPr>
            <a:grpSpLocks/>
          </p:cNvGrpSpPr>
          <p:nvPr/>
        </p:nvGrpSpPr>
        <p:grpSpPr bwMode="auto">
          <a:xfrm>
            <a:off x="2490789" y="1700214"/>
            <a:ext cx="6910387" cy="3913187"/>
            <a:chOff x="790575" y="1412875"/>
            <a:chExt cx="8035925" cy="4551363"/>
          </a:xfrm>
        </p:grpSpPr>
        <p:sp>
          <p:nvSpPr>
            <p:cNvPr id="54278" name="AutoShape 53">
              <a:extLst>
                <a:ext uri="{FF2B5EF4-FFF2-40B4-BE49-F238E27FC236}">
                  <a16:creationId xmlns:a16="http://schemas.microsoft.com/office/drawing/2014/main" id="{02028464-AFE1-4566-A600-1141E4692AFA}"/>
                </a:ext>
              </a:extLst>
            </p:cNvPr>
            <p:cNvSpPr>
              <a:spLocks noChangeArrowheads="1"/>
            </p:cNvSpPr>
            <p:nvPr/>
          </p:nvSpPr>
          <p:spPr bwMode="auto">
            <a:xfrm>
              <a:off x="1273174" y="4794219"/>
              <a:ext cx="893763" cy="384239"/>
            </a:xfrm>
            <a:prstGeom prst="flowChartMultidocument">
              <a:avLst/>
            </a:prstGeom>
            <a:solidFill>
              <a:srgbClr val="B2B2B2"/>
            </a:solidFill>
            <a:ln w="9525" algn="ctr">
              <a:solidFill>
                <a:schemeClr val="tx1"/>
              </a:solidFill>
              <a:miter lim="800000"/>
              <a:headEnd/>
              <a:tailEnd/>
            </a:ln>
          </p:spPr>
          <p:txBody>
            <a:bodyPr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lnSpc>
                  <a:spcPct val="140000"/>
                </a:lnSpc>
              </a:pPr>
              <a:endParaRPr lang="ru-RU" altLang="en-US"/>
            </a:p>
          </p:txBody>
        </p:sp>
        <p:sp>
          <p:nvSpPr>
            <p:cNvPr id="54279" name="AutoShape 43">
              <a:extLst>
                <a:ext uri="{FF2B5EF4-FFF2-40B4-BE49-F238E27FC236}">
                  <a16:creationId xmlns:a16="http://schemas.microsoft.com/office/drawing/2014/main" id="{C38577DD-FDBE-4547-996B-D2E3CF183EE5}"/>
                </a:ext>
              </a:extLst>
            </p:cNvPr>
            <p:cNvSpPr>
              <a:spLocks noChangeArrowheads="1"/>
            </p:cNvSpPr>
            <p:nvPr/>
          </p:nvSpPr>
          <p:spPr bwMode="auto">
            <a:xfrm>
              <a:off x="4192588" y="4148138"/>
              <a:ext cx="836612" cy="915987"/>
            </a:xfrm>
            <a:prstGeom prst="can">
              <a:avLst>
                <a:gd name="adj" fmla="val 27372"/>
              </a:avLst>
            </a:prstGeom>
            <a:solidFill>
              <a:srgbClr val="B2B2B2"/>
            </a:solidFill>
            <a:ln w="19050">
              <a:solidFill>
                <a:schemeClr val="tx1"/>
              </a:solidFill>
              <a:round/>
              <a:headEnd/>
              <a:tailEnd/>
            </a:ln>
          </p:spPr>
          <p:txBody>
            <a:bodyPr wrap="none" lIns="0" tIns="0" rIns="0" bIns="0" anchor="b"/>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a:endParaRPr lang="ru-RU" altLang="en-US" b="1">
                <a:solidFill>
                  <a:schemeClr val="accent1"/>
                </a:solidFill>
              </a:endParaRPr>
            </a:p>
          </p:txBody>
        </p:sp>
        <p:sp>
          <p:nvSpPr>
            <p:cNvPr id="54280" name="Rectangle 3">
              <a:extLst>
                <a:ext uri="{FF2B5EF4-FFF2-40B4-BE49-F238E27FC236}">
                  <a16:creationId xmlns:a16="http://schemas.microsoft.com/office/drawing/2014/main" id="{86FF5246-CEB1-4274-BA15-A15625DECCAE}"/>
                </a:ext>
              </a:extLst>
            </p:cNvPr>
            <p:cNvSpPr>
              <a:spLocks noChangeArrowheads="1"/>
            </p:cNvSpPr>
            <p:nvPr/>
          </p:nvSpPr>
          <p:spPr bwMode="auto">
            <a:xfrm>
              <a:off x="3089276" y="3379693"/>
              <a:ext cx="214819" cy="268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nvGrpSpPr>
            <p:cNvPr id="54281" name="Group 6">
              <a:extLst>
                <a:ext uri="{FF2B5EF4-FFF2-40B4-BE49-F238E27FC236}">
                  <a16:creationId xmlns:a16="http://schemas.microsoft.com/office/drawing/2014/main" id="{C9B0A7AD-03DF-4EE8-AC81-F05223FB062D}"/>
                </a:ext>
              </a:extLst>
            </p:cNvPr>
            <p:cNvGrpSpPr>
              <a:grpSpLocks/>
            </p:cNvGrpSpPr>
            <p:nvPr/>
          </p:nvGrpSpPr>
          <p:grpSpPr bwMode="auto">
            <a:xfrm>
              <a:off x="1249363" y="3324226"/>
              <a:ext cx="893762" cy="460375"/>
              <a:chOff x="1809" y="3093"/>
              <a:chExt cx="563" cy="290"/>
            </a:xfrm>
          </p:grpSpPr>
          <p:sp>
            <p:nvSpPr>
              <p:cNvPr id="54321" name="AutoShape 7">
                <a:extLst>
                  <a:ext uri="{FF2B5EF4-FFF2-40B4-BE49-F238E27FC236}">
                    <a16:creationId xmlns:a16="http://schemas.microsoft.com/office/drawing/2014/main" id="{D021E149-7DD7-4E5D-A323-CFB543DF02E1}"/>
                  </a:ext>
                </a:extLst>
              </p:cNvPr>
              <p:cNvSpPr>
                <a:spLocks noChangeArrowheads="1"/>
              </p:cNvSpPr>
              <p:nvPr/>
            </p:nvSpPr>
            <p:spPr bwMode="auto">
              <a:xfrm>
                <a:off x="1809" y="3093"/>
                <a:ext cx="563" cy="242"/>
              </a:xfrm>
              <a:prstGeom prst="flowChartMultidocument">
                <a:avLst/>
              </a:prstGeom>
              <a:solidFill>
                <a:srgbClr val="B2B2B2"/>
              </a:solidFill>
              <a:ln w="9525" algn="ctr">
                <a:solidFill>
                  <a:schemeClr val="tx1"/>
                </a:solidFill>
                <a:miter lim="800000"/>
                <a:headEnd/>
                <a:tailEnd/>
              </a:ln>
            </p:spPr>
            <p:txBody>
              <a:bodyPr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lnSpc>
                    <a:spcPct val="140000"/>
                  </a:lnSpc>
                </a:pPr>
                <a:endParaRPr lang="ru-RU" altLang="en-US"/>
              </a:p>
            </p:txBody>
          </p:sp>
          <p:sp>
            <p:nvSpPr>
              <p:cNvPr id="54322" name="Freeform 8">
                <a:extLst>
                  <a:ext uri="{FF2B5EF4-FFF2-40B4-BE49-F238E27FC236}">
                    <a16:creationId xmlns:a16="http://schemas.microsoft.com/office/drawing/2014/main" id="{0C9D77E5-9063-4770-9E36-48D9208D977A}"/>
                  </a:ext>
                </a:extLst>
              </p:cNvPr>
              <p:cNvSpPr>
                <a:spLocks/>
              </p:cNvSpPr>
              <p:nvPr/>
            </p:nvSpPr>
            <p:spPr bwMode="auto">
              <a:xfrm>
                <a:off x="1928" y="3118"/>
                <a:ext cx="343" cy="192"/>
              </a:xfrm>
              <a:custGeom>
                <a:avLst/>
                <a:gdLst>
                  <a:gd name="T0" fmla="*/ 0 w 1384"/>
                  <a:gd name="T1" fmla="*/ 0 h 693"/>
                  <a:gd name="T2" fmla="*/ 0 w 1384"/>
                  <a:gd name="T3" fmla="*/ 0 h 693"/>
                  <a:gd name="T4" fmla="*/ 0 w 1384"/>
                  <a:gd name="T5" fmla="*/ 0 h 693"/>
                  <a:gd name="T6" fmla="*/ 0 60000 65536"/>
                  <a:gd name="T7" fmla="*/ 0 60000 65536"/>
                  <a:gd name="T8" fmla="*/ 0 60000 65536"/>
                  <a:gd name="T9" fmla="*/ 0 w 1384"/>
                  <a:gd name="T10" fmla="*/ 0 h 693"/>
                  <a:gd name="T11" fmla="*/ 1384 w 1384"/>
                  <a:gd name="T12" fmla="*/ 693 h 693"/>
                </a:gdLst>
                <a:ahLst/>
                <a:cxnLst>
                  <a:cxn ang="T6">
                    <a:pos x="T0" y="T1"/>
                  </a:cxn>
                  <a:cxn ang="T7">
                    <a:pos x="T2" y="T3"/>
                  </a:cxn>
                  <a:cxn ang="T8">
                    <a:pos x="T4" y="T5"/>
                  </a:cxn>
                </a:cxnLst>
                <a:rect l="T9" t="T10" r="T11" b="T12"/>
                <a:pathLst>
                  <a:path w="1384" h="693">
                    <a:moveTo>
                      <a:pt x="0" y="692"/>
                    </a:moveTo>
                    <a:cubicBezTo>
                      <a:pt x="519" y="693"/>
                      <a:pt x="519" y="1"/>
                      <a:pt x="692" y="1"/>
                    </a:cubicBezTo>
                    <a:cubicBezTo>
                      <a:pt x="865" y="0"/>
                      <a:pt x="865" y="693"/>
                      <a:pt x="1384" y="692"/>
                    </a:cubicBezTo>
                  </a:path>
                </a:pathLst>
              </a:custGeom>
              <a:noFill/>
              <a:ln w="1905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323" name="Line 9">
                <a:extLst>
                  <a:ext uri="{FF2B5EF4-FFF2-40B4-BE49-F238E27FC236}">
                    <a16:creationId xmlns:a16="http://schemas.microsoft.com/office/drawing/2014/main" id="{5EFF20C6-76F6-4825-B1EA-A0633E87DFB6}"/>
                  </a:ext>
                </a:extLst>
              </p:cNvPr>
              <p:cNvSpPr>
                <a:spLocks noChangeShapeType="1"/>
              </p:cNvSpPr>
              <p:nvPr/>
            </p:nvSpPr>
            <p:spPr bwMode="auto">
              <a:xfrm>
                <a:off x="1928" y="3310"/>
                <a:ext cx="371"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4324" name="Line 10">
                <a:extLst>
                  <a:ext uri="{FF2B5EF4-FFF2-40B4-BE49-F238E27FC236}">
                    <a16:creationId xmlns:a16="http://schemas.microsoft.com/office/drawing/2014/main" id="{560BF47E-3770-46FA-8151-9458B47B86F4}"/>
                  </a:ext>
                </a:extLst>
              </p:cNvPr>
              <p:cNvSpPr>
                <a:spLocks noChangeShapeType="1"/>
              </p:cNvSpPr>
              <p:nvPr/>
            </p:nvSpPr>
            <p:spPr bwMode="auto">
              <a:xfrm flipV="1">
                <a:off x="1928" y="3103"/>
                <a:ext cx="0" cy="20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4325" name="Text Box 11">
                <a:extLst>
                  <a:ext uri="{FF2B5EF4-FFF2-40B4-BE49-F238E27FC236}">
                    <a16:creationId xmlns:a16="http://schemas.microsoft.com/office/drawing/2014/main" id="{1A42FE28-3E6E-4CDB-B738-90DF8FC6E3D0}"/>
                  </a:ext>
                </a:extLst>
              </p:cNvPr>
              <p:cNvSpPr txBox="1">
                <a:spLocks noChangeArrowheads="1"/>
              </p:cNvSpPr>
              <p:nvPr/>
            </p:nvSpPr>
            <p:spPr bwMode="auto">
              <a:xfrm rot="-5400000">
                <a:off x="1716" y="3218"/>
                <a:ext cx="277" cy="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nchorCtr="1"/>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600" b="1"/>
                  <a:t>probability</a:t>
                </a:r>
              </a:p>
            </p:txBody>
          </p:sp>
        </p:grpSp>
        <p:grpSp>
          <p:nvGrpSpPr>
            <p:cNvPr id="54282" name="Group 12">
              <a:extLst>
                <a:ext uri="{FF2B5EF4-FFF2-40B4-BE49-F238E27FC236}">
                  <a16:creationId xmlns:a16="http://schemas.microsoft.com/office/drawing/2014/main" id="{C4F6355B-0955-41EA-B9CB-BA3009AB889E}"/>
                </a:ext>
              </a:extLst>
            </p:cNvPr>
            <p:cNvGrpSpPr>
              <a:grpSpLocks/>
            </p:cNvGrpSpPr>
            <p:nvPr/>
          </p:nvGrpSpPr>
          <p:grpSpPr bwMode="auto">
            <a:xfrm>
              <a:off x="4292600" y="4351338"/>
              <a:ext cx="633413" cy="633412"/>
              <a:chOff x="2880" y="2596"/>
              <a:chExt cx="1161" cy="1161"/>
            </a:xfrm>
          </p:grpSpPr>
          <p:sp>
            <p:nvSpPr>
              <p:cNvPr id="54311" name="Line 13">
                <a:extLst>
                  <a:ext uri="{FF2B5EF4-FFF2-40B4-BE49-F238E27FC236}">
                    <a16:creationId xmlns:a16="http://schemas.microsoft.com/office/drawing/2014/main" id="{D85EB186-EDDC-4DE4-A8D4-1248EA186087}"/>
                  </a:ext>
                </a:extLst>
              </p:cNvPr>
              <p:cNvSpPr>
                <a:spLocks noChangeShapeType="1"/>
              </p:cNvSpPr>
              <p:nvPr/>
            </p:nvSpPr>
            <p:spPr bwMode="auto">
              <a:xfrm flipV="1">
                <a:off x="2989" y="2922"/>
                <a:ext cx="943" cy="50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54312" name="Line 14">
                <a:extLst>
                  <a:ext uri="{FF2B5EF4-FFF2-40B4-BE49-F238E27FC236}">
                    <a16:creationId xmlns:a16="http://schemas.microsoft.com/office/drawing/2014/main" id="{AC460DBA-3D0F-4667-A1A6-96990223A35C}"/>
                  </a:ext>
                </a:extLst>
              </p:cNvPr>
              <p:cNvSpPr>
                <a:spLocks noChangeShapeType="1"/>
              </p:cNvSpPr>
              <p:nvPr/>
            </p:nvSpPr>
            <p:spPr bwMode="auto">
              <a:xfrm flipV="1">
                <a:off x="3461" y="2596"/>
                <a:ext cx="0" cy="1161"/>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54313" name="Line 15">
                <a:extLst>
                  <a:ext uri="{FF2B5EF4-FFF2-40B4-BE49-F238E27FC236}">
                    <a16:creationId xmlns:a16="http://schemas.microsoft.com/office/drawing/2014/main" id="{A60EF132-D91C-4157-98E5-B8E4F645EDB6}"/>
                  </a:ext>
                </a:extLst>
              </p:cNvPr>
              <p:cNvSpPr>
                <a:spLocks noChangeShapeType="1"/>
              </p:cNvSpPr>
              <p:nvPr/>
            </p:nvSpPr>
            <p:spPr bwMode="auto">
              <a:xfrm rot="16200000" flipV="1">
                <a:off x="3461" y="2595"/>
                <a:ext cx="0" cy="1161"/>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54314" name="Oval 16">
                <a:extLst>
                  <a:ext uri="{FF2B5EF4-FFF2-40B4-BE49-F238E27FC236}">
                    <a16:creationId xmlns:a16="http://schemas.microsoft.com/office/drawing/2014/main" id="{02C9219B-A37D-43E9-B0B0-83FDEE8DF1B9}"/>
                  </a:ext>
                </a:extLst>
              </p:cNvPr>
              <p:cNvSpPr>
                <a:spLocks noChangeArrowheads="1"/>
              </p:cNvSpPr>
              <p:nvPr/>
            </p:nvSpPr>
            <p:spPr bwMode="auto">
              <a:xfrm>
                <a:off x="3388" y="3104"/>
                <a:ext cx="145" cy="145"/>
              </a:xfrm>
              <a:prstGeom prst="ellipse">
                <a:avLst/>
              </a:prstGeom>
              <a:solidFill>
                <a:schemeClr val="accent1"/>
              </a:solidFill>
              <a:ln w="9525" algn="ctr">
                <a:solidFill>
                  <a:schemeClr val="accent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15" name="Oval 17">
                <a:extLst>
                  <a:ext uri="{FF2B5EF4-FFF2-40B4-BE49-F238E27FC236}">
                    <a16:creationId xmlns:a16="http://schemas.microsoft.com/office/drawing/2014/main" id="{02D28525-86A1-4D3B-BC06-30CA038F1D7A}"/>
                  </a:ext>
                </a:extLst>
              </p:cNvPr>
              <p:cNvSpPr>
                <a:spLocks noChangeArrowheads="1"/>
              </p:cNvSpPr>
              <p:nvPr/>
            </p:nvSpPr>
            <p:spPr bwMode="auto">
              <a:xfrm>
                <a:off x="3388" y="2777"/>
                <a:ext cx="145" cy="145"/>
              </a:xfrm>
              <a:prstGeom prst="ellipse">
                <a:avLst/>
              </a:prstGeom>
              <a:solidFill>
                <a:schemeClr val="tx2"/>
              </a:solidFill>
              <a:ln w="9525" algn="ctr">
                <a:solidFill>
                  <a:schemeClr val="tx2"/>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16" name="Oval 18">
                <a:extLst>
                  <a:ext uri="{FF2B5EF4-FFF2-40B4-BE49-F238E27FC236}">
                    <a16:creationId xmlns:a16="http://schemas.microsoft.com/office/drawing/2014/main" id="{7C449655-0ABF-4B11-8FA6-50BBD7C7EDCB}"/>
                  </a:ext>
                </a:extLst>
              </p:cNvPr>
              <p:cNvSpPr>
                <a:spLocks noChangeArrowheads="1"/>
              </p:cNvSpPr>
              <p:nvPr/>
            </p:nvSpPr>
            <p:spPr bwMode="auto">
              <a:xfrm>
                <a:off x="3388" y="3430"/>
                <a:ext cx="145" cy="145"/>
              </a:xfrm>
              <a:prstGeom prst="ellipse">
                <a:avLst/>
              </a:prstGeom>
              <a:solidFill>
                <a:schemeClr val="tx2"/>
              </a:solidFill>
              <a:ln w="9525" algn="ctr">
                <a:solidFill>
                  <a:schemeClr val="tx2"/>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17" name="Oval 19">
                <a:extLst>
                  <a:ext uri="{FF2B5EF4-FFF2-40B4-BE49-F238E27FC236}">
                    <a16:creationId xmlns:a16="http://schemas.microsoft.com/office/drawing/2014/main" id="{3841FBE3-4CCB-4CC6-A7D9-916D64BB831F}"/>
                  </a:ext>
                </a:extLst>
              </p:cNvPr>
              <p:cNvSpPr>
                <a:spLocks noChangeArrowheads="1"/>
              </p:cNvSpPr>
              <p:nvPr/>
            </p:nvSpPr>
            <p:spPr bwMode="auto">
              <a:xfrm>
                <a:off x="3062" y="3103"/>
                <a:ext cx="145" cy="145"/>
              </a:xfrm>
              <a:prstGeom prst="ellipse">
                <a:avLst/>
              </a:prstGeom>
              <a:solidFill>
                <a:schemeClr val="tx2"/>
              </a:solidFill>
              <a:ln w="9525" algn="ctr">
                <a:solidFill>
                  <a:schemeClr val="tx2"/>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18" name="Oval 20">
                <a:extLst>
                  <a:ext uri="{FF2B5EF4-FFF2-40B4-BE49-F238E27FC236}">
                    <a16:creationId xmlns:a16="http://schemas.microsoft.com/office/drawing/2014/main" id="{A9FB56B3-69DB-44BA-9401-79AD3BA65297}"/>
                  </a:ext>
                </a:extLst>
              </p:cNvPr>
              <p:cNvSpPr>
                <a:spLocks noChangeArrowheads="1"/>
              </p:cNvSpPr>
              <p:nvPr/>
            </p:nvSpPr>
            <p:spPr bwMode="auto">
              <a:xfrm>
                <a:off x="3715" y="3104"/>
                <a:ext cx="145" cy="145"/>
              </a:xfrm>
              <a:prstGeom prst="ellipse">
                <a:avLst/>
              </a:prstGeom>
              <a:solidFill>
                <a:schemeClr val="tx2"/>
              </a:solidFill>
              <a:ln w="9525" algn="ctr">
                <a:solidFill>
                  <a:schemeClr val="tx2"/>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19" name="Oval 21">
                <a:extLst>
                  <a:ext uri="{FF2B5EF4-FFF2-40B4-BE49-F238E27FC236}">
                    <a16:creationId xmlns:a16="http://schemas.microsoft.com/office/drawing/2014/main" id="{0C777984-BF89-4C40-B93E-FAFF759E32BB}"/>
                  </a:ext>
                </a:extLst>
              </p:cNvPr>
              <p:cNvSpPr>
                <a:spLocks noChangeArrowheads="1"/>
              </p:cNvSpPr>
              <p:nvPr/>
            </p:nvSpPr>
            <p:spPr bwMode="auto">
              <a:xfrm>
                <a:off x="3642" y="2958"/>
                <a:ext cx="145" cy="145"/>
              </a:xfrm>
              <a:prstGeom prst="ellipse">
                <a:avLst/>
              </a:prstGeom>
              <a:solidFill>
                <a:schemeClr val="tx2"/>
              </a:solidFill>
              <a:ln w="9525" algn="ctr">
                <a:solidFill>
                  <a:schemeClr val="tx2"/>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320" name="Oval 22">
                <a:extLst>
                  <a:ext uri="{FF2B5EF4-FFF2-40B4-BE49-F238E27FC236}">
                    <a16:creationId xmlns:a16="http://schemas.microsoft.com/office/drawing/2014/main" id="{FBADBC74-C4A0-4E9B-B57B-18C6F36769FF}"/>
                  </a:ext>
                </a:extLst>
              </p:cNvPr>
              <p:cNvSpPr>
                <a:spLocks noChangeArrowheads="1"/>
              </p:cNvSpPr>
              <p:nvPr/>
            </p:nvSpPr>
            <p:spPr bwMode="auto">
              <a:xfrm>
                <a:off x="3134" y="3249"/>
                <a:ext cx="145" cy="145"/>
              </a:xfrm>
              <a:prstGeom prst="ellipse">
                <a:avLst/>
              </a:prstGeom>
              <a:solidFill>
                <a:schemeClr val="tx2"/>
              </a:solidFill>
              <a:ln w="9525" algn="ctr">
                <a:solidFill>
                  <a:schemeClr val="tx2"/>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pic>
          <p:nvPicPr>
            <p:cNvPr id="54283" name="Picture 23" descr="vx_screencap_2">
              <a:extLst>
                <a:ext uri="{FF2B5EF4-FFF2-40B4-BE49-F238E27FC236}">
                  <a16:creationId xmlns:a16="http://schemas.microsoft.com/office/drawing/2014/main" id="{4D8E34A9-C64B-40A2-9DD8-25CD2DA56B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6775" y="1987550"/>
              <a:ext cx="2879725" cy="21621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4284" name="Text Box 24">
              <a:extLst>
                <a:ext uri="{FF2B5EF4-FFF2-40B4-BE49-F238E27FC236}">
                  <a16:creationId xmlns:a16="http://schemas.microsoft.com/office/drawing/2014/main" id="{C56A4BB1-AD73-4236-9F99-71A00BFB4578}"/>
                </a:ext>
              </a:extLst>
            </p:cNvPr>
            <p:cNvSpPr txBox="1">
              <a:spLocks noChangeArrowheads="1"/>
            </p:cNvSpPr>
            <p:nvPr/>
          </p:nvSpPr>
          <p:spPr bwMode="auto">
            <a:xfrm>
              <a:off x="3942976" y="5056189"/>
              <a:ext cx="1448551" cy="53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Variation-aware</a:t>
              </a:r>
            </a:p>
            <a:p>
              <a:pPr algn="ctr">
                <a:spcBef>
                  <a:spcPct val="0"/>
                </a:spcBef>
                <a:buClrTx/>
                <a:buSzTx/>
                <a:buFontTx/>
                <a:buNone/>
              </a:pPr>
              <a:r>
                <a:rPr lang="en-US" altLang="en-US" sz="1200"/>
                <a:t>library</a:t>
              </a:r>
            </a:p>
          </p:txBody>
        </p:sp>
        <p:sp>
          <p:nvSpPr>
            <p:cNvPr id="15" name="Rectangle 25">
              <a:extLst>
                <a:ext uri="{FF2B5EF4-FFF2-40B4-BE49-F238E27FC236}">
                  <a16:creationId xmlns:a16="http://schemas.microsoft.com/office/drawing/2014/main" id="{AD3981D7-1F91-4890-B372-9022F8B8ACA8}"/>
                </a:ext>
              </a:extLst>
            </p:cNvPr>
            <p:cNvSpPr>
              <a:spLocks noChangeArrowheads="1"/>
            </p:cNvSpPr>
            <p:nvPr/>
          </p:nvSpPr>
          <p:spPr bwMode="auto">
            <a:xfrm>
              <a:off x="790575" y="1412875"/>
              <a:ext cx="1842374" cy="718247"/>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US" sz="1400" dirty="0">
                  <a:solidFill>
                    <a:schemeClr val="bg1"/>
                  </a:solidFill>
                </a:rPr>
                <a:t>Sensitivity-based</a:t>
              </a:r>
            </a:p>
            <a:p>
              <a:pPr algn="ctr">
                <a:defRPr/>
              </a:pPr>
              <a:r>
                <a:rPr lang="en-US" sz="1400" dirty="0">
                  <a:solidFill>
                    <a:schemeClr val="bg1"/>
                  </a:solidFill>
                </a:rPr>
                <a:t>Extraction</a:t>
              </a:r>
              <a:endParaRPr lang="en-US" sz="2000" dirty="0">
                <a:solidFill>
                  <a:schemeClr val="bg1"/>
                </a:solidFill>
              </a:endParaRPr>
            </a:p>
          </p:txBody>
        </p:sp>
        <p:sp>
          <p:nvSpPr>
            <p:cNvPr id="54286" name="Text Box 26">
              <a:extLst>
                <a:ext uri="{FF2B5EF4-FFF2-40B4-BE49-F238E27FC236}">
                  <a16:creationId xmlns:a16="http://schemas.microsoft.com/office/drawing/2014/main" id="{7195E95F-35C3-4CE1-81FA-0952A71D82BA}"/>
                </a:ext>
              </a:extLst>
            </p:cNvPr>
            <p:cNvSpPr txBox="1">
              <a:spLocks noChangeArrowheads="1"/>
            </p:cNvSpPr>
            <p:nvPr/>
          </p:nvSpPr>
          <p:spPr bwMode="auto">
            <a:xfrm>
              <a:off x="792248" y="3871913"/>
              <a:ext cx="1804817" cy="644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a:spcBef>
                  <a:spcPct val="0"/>
                </a:spcBef>
                <a:buClrTx/>
                <a:buSzTx/>
                <a:buFontTx/>
                <a:buNone/>
              </a:pPr>
              <a:r>
                <a:rPr lang="en-US" altLang="en-US" sz="1000"/>
                <a:t>Device and interconnect</a:t>
              </a:r>
            </a:p>
            <a:p>
              <a:pPr algn="ctr">
                <a:spcBef>
                  <a:spcPct val="0"/>
                </a:spcBef>
                <a:buClrTx/>
                <a:buSzTx/>
                <a:buFontTx/>
                <a:buNone/>
              </a:pPr>
              <a:r>
                <a:rPr lang="en-US" altLang="en-US" sz="1000"/>
                <a:t>Process Parameter</a:t>
              </a:r>
            </a:p>
            <a:p>
              <a:pPr algn="ctr">
                <a:spcBef>
                  <a:spcPct val="0"/>
                </a:spcBef>
                <a:buClrTx/>
                <a:buSzTx/>
                <a:buFontTx/>
                <a:buNone/>
              </a:pPr>
              <a:r>
                <a:rPr lang="en-US" altLang="en-US" sz="1000"/>
                <a:t>Variation Distributions</a:t>
              </a:r>
            </a:p>
          </p:txBody>
        </p:sp>
        <p:sp>
          <p:nvSpPr>
            <p:cNvPr id="54287" name="Text Box 28">
              <a:extLst>
                <a:ext uri="{FF2B5EF4-FFF2-40B4-BE49-F238E27FC236}">
                  <a16:creationId xmlns:a16="http://schemas.microsoft.com/office/drawing/2014/main" id="{ACC7DD24-879A-4297-8B81-4994BB1B7848}"/>
                </a:ext>
              </a:extLst>
            </p:cNvPr>
            <p:cNvSpPr txBox="1">
              <a:spLocks noChangeArrowheads="1"/>
            </p:cNvSpPr>
            <p:nvPr/>
          </p:nvSpPr>
          <p:spPr bwMode="auto">
            <a:xfrm>
              <a:off x="6294252" y="1658938"/>
              <a:ext cx="2038722" cy="39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a:spcBef>
                  <a:spcPct val="0"/>
                </a:spcBef>
                <a:buClrTx/>
                <a:buSzTx/>
                <a:buFontTx/>
                <a:buNone/>
              </a:pPr>
              <a:r>
                <a:rPr lang="en-US" altLang="en-US" sz="1600"/>
                <a:t>Variation Reports</a:t>
              </a:r>
            </a:p>
          </p:txBody>
        </p:sp>
        <p:sp>
          <p:nvSpPr>
            <p:cNvPr id="19" name="Rectangle 29">
              <a:extLst>
                <a:ext uri="{FF2B5EF4-FFF2-40B4-BE49-F238E27FC236}">
                  <a16:creationId xmlns:a16="http://schemas.microsoft.com/office/drawing/2014/main" id="{869EBF97-ED40-4A49-89D3-94A7DC7EEEA0}"/>
                </a:ext>
              </a:extLst>
            </p:cNvPr>
            <p:cNvSpPr>
              <a:spLocks noChangeArrowheads="1"/>
            </p:cNvSpPr>
            <p:nvPr/>
          </p:nvSpPr>
          <p:spPr bwMode="auto">
            <a:xfrm>
              <a:off x="3094465" y="2380386"/>
              <a:ext cx="2132206" cy="1344176"/>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US" sz="1400" dirty="0" err="1">
                  <a:solidFill>
                    <a:schemeClr val="bg1"/>
                  </a:solidFill>
                </a:rPr>
                <a:t>PrimeTime</a:t>
              </a:r>
              <a:r>
                <a:rPr lang="en-US" sz="1400" dirty="0">
                  <a:solidFill>
                    <a:schemeClr val="bg1"/>
                  </a:solidFill>
                </a:rPr>
                <a:t> VX</a:t>
              </a:r>
              <a:endParaRPr lang="en-US" sz="2000" dirty="0">
                <a:solidFill>
                  <a:schemeClr val="bg1"/>
                </a:solidFill>
              </a:endParaRPr>
            </a:p>
          </p:txBody>
        </p:sp>
        <p:cxnSp>
          <p:nvCxnSpPr>
            <p:cNvPr id="54289" name="AutoShape 30">
              <a:extLst>
                <a:ext uri="{FF2B5EF4-FFF2-40B4-BE49-F238E27FC236}">
                  <a16:creationId xmlns:a16="http://schemas.microsoft.com/office/drawing/2014/main" id="{BE17456C-EE38-4DE8-8C96-41DF0D447EA3}"/>
                </a:ext>
              </a:extLst>
            </p:cNvPr>
            <p:cNvCxnSpPr>
              <a:cxnSpLocks noChangeShapeType="1"/>
              <a:endCxn id="54295" idx="0"/>
            </p:cNvCxnSpPr>
            <p:nvPr/>
          </p:nvCxnSpPr>
          <p:spPr bwMode="auto">
            <a:xfrm>
              <a:off x="4710113" y="2024063"/>
              <a:ext cx="15335" cy="401543"/>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0" name="AutoShape 31">
              <a:extLst>
                <a:ext uri="{FF2B5EF4-FFF2-40B4-BE49-F238E27FC236}">
                  <a16:creationId xmlns:a16="http://schemas.microsoft.com/office/drawing/2014/main" id="{2C44CC99-5D50-4188-81EE-0C649D420C11}"/>
                </a:ext>
              </a:extLst>
            </p:cNvPr>
            <p:cNvCxnSpPr>
              <a:cxnSpLocks noChangeShapeType="1"/>
              <a:stCxn id="15" idx="3"/>
            </p:cNvCxnSpPr>
            <p:nvPr/>
          </p:nvCxnSpPr>
          <p:spPr bwMode="auto">
            <a:xfrm flipV="1">
              <a:off x="2632075" y="1770064"/>
              <a:ext cx="574675"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1" name="AutoShape 32">
              <a:extLst>
                <a:ext uri="{FF2B5EF4-FFF2-40B4-BE49-F238E27FC236}">
                  <a16:creationId xmlns:a16="http://schemas.microsoft.com/office/drawing/2014/main" id="{0C28C81E-4721-4C04-9419-5A645F002F5D}"/>
                </a:ext>
              </a:extLst>
            </p:cNvPr>
            <p:cNvCxnSpPr>
              <a:cxnSpLocks noChangeShapeType="1"/>
              <a:endCxn id="54296" idx="0"/>
            </p:cNvCxnSpPr>
            <p:nvPr/>
          </p:nvCxnSpPr>
          <p:spPr bwMode="auto">
            <a:xfrm>
              <a:off x="3673475" y="2033588"/>
              <a:ext cx="15335" cy="392017"/>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2" name="AutoShape 33">
              <a:extLst>
                <a:ext uri="{FF2B5EF4-FFF2-40B4-BE49-F238E27FC236}">
                  <a16:creationId xmlns:a16="http://schemas.microsoft.com/office/drawing/2014/main" id="{7FC4A406-DF26-4409-853D-FF1B0299A64F}"/>
                </a:ext>
              </a:extLst>
            </p:cNvPr>
            <p:cNvCxnSpPr>
              <a:cxnSpLocks noChangeShapeType="1"/>
              <a:stCxn id="54279" idx="1"/>
              <a:endCxn id="54298" idx="2"/>
            </p:cNvCxnSpPr>
            <p:nvPr/>
          </p:nvCxnSpPr>
          <p:spPr bwMode="auto">
            <a:xfrm flipV="1">
              <a:off x="4610894" y="3754532"/>
              <a:ext cx="14541" cy="393606"/>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3" name="AutoShape 35">
              <a:extLst>
                <a:ext uri="{FF2B5EF4-FFF2-40B4-BE49-F238E27FC236}">
                  <a16:creationId xmlns:a16="http://schemas.microsoft.com/office/drawing/2014/main" id="{38B13F33-6261-4FF0-BFDF-0590D1FD8594}"/>
                </a:ext>
              </a:extLst>
            </p:cNvPr>
            <p:cNvCxnSpPr>
              <a:cxnSpLocks noChangeShapeType="1"/>
              <a:stCxn id="54321" idx="3"/>
              <a:endCxn id="54280" idx="1"/>
            </p:cNvCxnSpPr>
            <p:nvPr/>
          </p:nvCxnSpPr>
          <p:spPr bwMode="auto">
            <a:xfrm flipV="1">
              <a:off x="2143126" y="3513932"/>
              <a:ext cx="946150" cy="2382"/>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4" name="AutoShape 37">
              <a:extLst>
                <a:ext uri="{FF2B5EF4-FFF2-40B4-BE49-F238E27FC236}">
                  <a16:creationId xmlns:a16="http://schemas.microsoft.com/office/drawing/2014/main" id="{FDA9ECF5-D973-453B-B206-0C33F4CBDAD0}"/>
                </a:ext>
              </a:extLst>
            </p:cNvPr>
            <p:cNvCxnSpPr>
              <a:cxnSpLocks noChangeShapeType="1"/>
              <a:endCxn id="15" idx="2"/>
            </p:cNvCxnSpPr>
            <p:nvPr/>
          </p:nvCxnSpPr>
          <p:spPr bwMode="auto">
            <a:xfrm flipH="1" flipV="1">
              <a:off x="1711325" y="2130425"/>
              <a:ext cx="9525" cy="173038"/>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295" name="Rectangle 38">
              <a:extLst>
                <a:ext uri="{FF2B5EF4-FFF2-40B4-BE49-F238E27FC236}">
                  <a16:creationId xmlns:a16="http://schemas.microsoft.com/office/drawing/2014/main" id="{B8C7C395-D27D-4E6E-BD22-5552D66C0D8F}"/>
                </a:ext>
              </a:extLst>
            </p:cNvPr>
            <p:cNvSpPr>
              <a:spLocks noChangeArrowheads="1"/>
            </p:cNvSpPr>
            <p:nvPr/>
          </p:nvSpPr>
          <p:spPr bwMode="auto">
            <a:xfrm>
              <a:off x="4618038" y="2425605"/>
              <a:ext cx="214819" cy="268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296" name="Rectangle 39">
              <a:extLst>
                <a:ext uri="{FF2B5EF4-FFF2-40B4-BE49-F238E27FC236}">
                  <a16:creationId xmlns:a16="http://schemas.microsoft.com/office/drawing/2014/main" id="{7FF08361-1B6E-4E4D-BD29-779A4D2FA1A2}"/>
                </a:ext>
              </a:extLst>
            </p:cNvPr>
            <p:cNvSpPr>
              <a:spLocks noChangeArrowheads="1"/>
            </p:cNvSpPr>
            <p:nvPr/>
          </p:nvSpPr>
          <p:spPr bwMode="auto">
            <a:xfrm>
              <a:off x="3581400" y="2425605"/>
              <a:ext cx="214819" cy="268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54297" name="Rectangle 41">
              <a:extLst>
                <a:ext uri="{FF2B5EF4-FFF2-40B4-BE49-F238E27FC236}">
                  <a16:creationId xmlns:a16="http://schemas.microsoft.com/office/drawing/2014/main" id="{6181AB80-0691-455C-8CE0-0A713B932568}"/>
                </a:ext>
              </a:extLst>
            </p:cNvPr>
            <p:cNvSpPr>
              <a:spLocks noChangeArrowheads="1"/>
            </p:cNvSpPr>
            <p:nvPr/>
          </p:nvSpPr>
          <p:spPr bwMode="auto">
            <a:xfrm>
              <a:off x="3146425" y="5670550"/>
              <a:ext cx="23622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a:endParaRPr lang="ru-RU" altLang="en-US" sz="1600" b="1" i="1"/>
            </a:p>
          </p:txBody>
        </p:sp>
        <p:sp>
          <p:nvSpPr>
            <p:cNvPr id="54298" name="Rectangle 42">
              <a:extLst>
                <a:ext uri="{FF2B5EF4-FFF2-40B4-BE49-F238E27FC236}">
                  <a16:creationId xmlns:a16="http://schemas.microsoft.com/office/drawing/2014/main" id="{5BED8664-5BC4-4AFF-BEA2-0518D390FC42}"/>
                </a:ext>
              </a:extLst>
            </p:cNvPr>
            <p:cNvSpPr>
              <a:spLocks noChangeArrowheads="1"/>
            </p:cNvSpPr>
            <p:nvPr/>
          </p:nvSpPr>
          <p:spPr bwMode="auto">
            <a:xfrm>
              <a:off x="4518025" y="3486055"/>
              <a:ext cx="214819" cy="268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nvGrpSpPr>
            <p:cNvPr id="54299" name="Group 45">
              <a:extLst>
                <a:ext uri="{FF2B5EF4-FFF2-40B4-BE49-F238E27FC236}">
                  <a16:creationId xmlns:a16="http://schemas.microsoft.com/office/drawing/2014/main" id="{EE9F1B3D-8583-4500-9B72-C5251232B373}"/>
                </a:ext>
              </a:extLst>
            </p:cNvPr>
            <p:cNvGrpSpPr>
              <a:grpSpLocks/>
            </p:cNvGrpSpPr>
            <p:nvPr/>
          </p:nvGrpSpPr>
          <p:grpSpPr bwMode="auto">
            <a:xfrm>
              <a:off x="1473201" y="4796649"/>
              <a:ext cx="310218" cy="377787"/>
              <a:chOff x="2481" y="1504"/>
              <a:chExt cx="426" cy="516"/>
            </a:xfrm>
          </p:grpSpPr>
          <p:sp>
            <p:nvSpPr>
              <p:cNvPr id="54304" name="Line 46">
                <a:extLst>
                  <a:ext uri="{FF2B5EF4-FFF2-40B4-BE49-F238E27FC236}">
                    <a16:creationId xmlns:a16="http://schemas.microsoft.com/office/drawing/2014/main" id="{89A5D45B-6A71-44BE-AE34-BBD5CFBF777E}"/>
                  </a:ext>
                </a:extLst>
              </p:cNvPr>
              <p:cNvSpPr>
                <a:spLocks noChangeShapeType="1"/>
              </p:cNvSpPr>
              <p:nvPr/>
            </p:nvSpPr>
            <p:spPr bwMode="auto">
              <a:xfrm>
                <a:off x="2807" y="1507"/>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54305" name="Line 47">
                <a:extLst>
                  <a:ext uri="{FF2B5EF4-FFF2-40B4-BE49-F238E27FC236}">
                    <a16:creationId xmlns:a16="http://schemas.microsoft.com/office/drawing/2014/main" id="{D77BAD7E-C0D3-46B1-A8E9-009E388BDE2C}"/>
                  </a:ext>
                </a:extLst>
              </p:cNvPr>
              <p:cNvSpPr>
                <a:spLocks noChangeShapeType="1"/>
              </p:cNvSpPr>
              <p:nvPr/>
            </p:nvSpPr>
            <p:spPr bwMode="auto">
              <a:xfrm>
                <a:off x="2807" y="1834"/>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54306" name="Line 48">
                <a:extLst>
                  <a:ext uri="{FF2B5EF4-FFF2-40B4-BE49-F238E27FC236}">
                    <a16:creationId xmlns:a16="http://schemas.microsoft.com/office/drawing/2014/main" id="{518AF78F-9945-40EC-98B7-C2638105A7D4}"/>
                  </a:ext>
                </a:extLst>
              </p:cNvPr>
              <p:cNvSpPr>
                <a:spLocks noChangeShapeType="1"/>
              </p:cNvSpPr>
              <p:nvPr/>
            </p:nvSpPr>
            <p:spPr bwMode="auto">
              <a:xfrm>
                <a:off x="2692" y="1652"/>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54307" name="Line 49">
                <a:extLst>
                  <a:ext uri="{FF2B5EF4-FFF2-40B4-BE49-F238E27FC236}">
                    <a16:creationId xmlns:a16="http://schemas.microsoft.com/office/drawing/2014/main" id="{F90F3D2D-E9CC-4DCF-80E4-8383D1ACD82F}"/>
                  </a:ext>
                </a:extLst>
              </p:cNvPr>
              <p:cNvSpPr>
                <a:spLocks noChangeShapeType="1"/>
              </p:cNvSpPr>
              <p:nvPr/>
            </p:nvSpPr>
            <p:spPr bwMode="auto">
              <a:xfrm flipH="1">
                <a:off x="2698" y="1833"/>
                <a:ext cx="1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54308" name="Line 50">
                <a:extLst>
                  <a:ext uri="{FF2B5EF4-FFF2-40B4-BE49-F238E27FC236}">
                    <a16:creationId xmlns:a16="http://schemas.microsoft.com/office/drawing/2014/main" id="{7BDB3A14-D95C-40BC-B7EF-01769B67F56E}"/>
                  </a:ext>
                </a:extLst>
              </p:cNvPr>
              <p:cNvSpPr>
                <a:spLocks noChangeShapeType="1"/>
              </p:cNvSpPr>
              <p:nvPr/>
            </p:nvSpPr>
            <p:spPr bwMode="auto">
              <a:xfrm flipH="1">
                <a:off x="2699" y="1688"/>
                <a:ext cx="1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54309" name="Line 51">
                <a:extLst>
                  <a:ext uri="{FF2B5EF4-FFF2-40B4-BE49-F238E27FC236}">
                    <a16:creationId xmlns:a16="http://schemas.microsoft.com/office/drawing/2014/main" id="{8A8A3711-AF31-4DFE-8FA6-4EA64866A8F9}"/>
                  </a:ext>
                </a:extLst>
              </p:cNvPr>
              <p:cNvSpPr>
                <a:spLocks noChangeShapeType="1"/>
              </p:cNvSpPr>
              <p:nvPr/>
            </p:nvSpPr>
            <p:spPr bwMode="auto">
              <a:xfrm flipH="1">
                <a:off x="2481" y="1761"/>
                <a:ext cx="1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54310" name="Oval 52">
                <a:extLst>
                  <a:ext uri="{FF2B5EF4-FFF2-40B4-BE49-F238E27FC236}">
                    <a16:creationId xmlns:a16="http://schemas.microsoft.com/office/drawing/2014/main" id="{C6BBFE75-0997-4CF0-BAF0-A887E0D6C290}"/>
                  </a:ext>
                </a:extLst>
              </p:cNvPr>
              <p:cNvSpPr>
                <a:spLocks noChangeArrowheads="1"/>
              </p:cNvSpPr>
              <p:nvPr/>
            </p:nvSpPr>
            <p:spPr bwMode="auto">
              <a:xfrm>
                <a:off x="2492" y="1504"/>
                <a:ext cx="415" cy="516"/>
              </a:xfrm>
              <a:prstGeom prst="ellipse">
                <a:avLst/>
              </a:prstGeom>
              <a:solidFill>
                <a:srgbClr val="FFFFFF"/>
              </a:solidFill>
              <a:ln w="9525" algn="ctr">
                <a:solidFill>
                  <a:schemeClr val="tx1"/>
                </a:solidFill>
                <a:round/>
                <a:headEnd/>
                <a:tailEnd/>
              </a:ln>
            </p:spPr>
            <p:txBody>
              <a:bodyPr wrap="none"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cxnSp>
          <p:nvCxnSpPr>
            <p:cNvPr id="54300" name="AutoShape 54">
              <a:extLst>
                <a:ext uri="{FF2B5EF4-FFF2-40B4-BE49-F238E27FC236}">
                  <a16:creationId xmlns:a16="http://schemas.microsoft.com/office/drawing/2014/main" id="{4CD67672-F1C4-4E36-87C6-4C737428B702}"/>
                </a:ext>
              </a:extLst>
            </p:cNvPr>
            <p:cNvCxnSpPr>
              <a:cxnSpLocks noChangeShapeType="1"/>
              <a:stCxn id="54278" idx="3"/>
            </p:cNvCxnSpPr>
            <p:nvPr/>
          </p:nvCxnSpPr>
          <p:spPr bwMode="auto">
            <a:xfrm flipV="1">
              <a:off x="2166938" y="4984750"/>
              <a:ext cx="1039813" cy="1589"/>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1" name="Text Box 55">
              <a:extLst>
                <a:ext uri="{FF2B5EF4-FFF2-40B4-BE49-F238E27FC236}">
                  <a16:creationId xmlns:a16="http://schemas.microsoft.com/office/drawing/2014/main" id="{4D695774-A2B3-48D4-B237-30AB330D41FC}"/>
                </a:ext>
              </a:extLst>
            </p:cNvPr>
            <p:cNvSpPr txBox="1">
              <a:spLocks noChangeArrowheads="1"/>
            </p:cNvSpPr>
            <p:nvPr/>
          </p:nvSpPr>
          <p:spPr bwMode="auto">
            <a:xfrm>
              <a:off x="792795" y="5330825"/>
              <a:ext cx="1840235" cy="286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a:spcBef>
                  <a:spcPct val="0"/>
                </a:spcBef>
                <a:buClrTx/>
                <a:buSzTx/>
                <a:buFontTx/>
                <a:buNone/>
              </a:pPr>
              <a:r>
                <a:rPr lang="en-US" altLang="en-US" sz="1000"/>
                <a:t>Statistical device Models</a:t>
              </a:r>
            </a:p>
          </p:txBody>
        </p:sp>
        <p:sp>
          <p:nvSpPr>
            <p:cNvPr id="34" name="Rectangle 56">
              <a:extLst>
                <a:ext uri="{FF2B5EF4-FFF2-40B4-BE49-F238E27FC236}">
                  <a16:creationId xmlns:a16="http://schemas.microsoft.com/office/drawing/2014/main" id="{51BBD3B8-6D3A-4A56-9573-58465D0708D3}"/>
                </a:ext>
              </a:extLst>
            </p:cNvPr>
            <p:cNvSpPr>
              <a:spLocks noChangeArrowheads="1"/>
            </p:cNvSpPr>
            <p:nvPr/>
          </p:nvSpPr>
          <p:spPr bwMode="auto">
            <a:xfrm rot="10800000">
              <a:off x="3325223" y="3971978"/>
              <a:ext cx="575973" cy="1491887"/>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vert="eaVert" wrap="none" anchor="ctr"/>
            <a:lstStyle/>
            <a:p>
              <a:pPr algn="ctr">
                <a:defRPr/>
              </a:pPr>
              <a:r>
                <a:rPr lang="en-US" sz="1200">
                  <a:solidFill>
                    <a:schemeClr val="bg1"/>
                  </a:solidFill>
                </a:rPr>
                <a:t>Characterization</a:t>
              </a:r>
            </a:p>
          </p:txBody>
        </p:sp>
        <p:sp>
          <p:nvSpPr>
            <p:cNvPr id="54303" name="Line 57">
              <a:extLst>
                <a:ext uri="{FF2B5EF4-FFF2-40B4-BE49-F238E27FC236}">
                  <a16:creationId xmlns:a16="http://schemas.microsoft.com/office/drawing/2014/main" id="{3A95D768-1F32-49D1-B494-76FBE6272AC9}"/>
                </a:ext>
              </a:extLst>
            </p:cNvPr>
            <p:cNvSpPr>
              <a:spLocks noChangeShapeType="1"/>
            </p:cNvSpPr>
            <p:nvPr/>
          </p:nvSpPr>
          <p:spPr bwMode="auto">
            <a:xfrm>
              <a:off x="5226050" y="3068638"/>
              <a:ext cx="5762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54276" name="Rectangle 57">
            <a:extLst>
              <a:ext uri="{FF2B5EF4-FFF2-40B4-BE49-F238E27FC236}">
                <a16:creationId xmlns:a16="http://schemas.microsoft.com/office/drawing/2014/main" id="{B6138C37-D429-41EC-93E7-59D7952859D5}"/>
              </a:ext>
            </a:extLst>
          </p:cNvPr>
          <p:cNvSpPr>
            <a:spLocks noChangeArrowheads="1"/>
          </p:cNvSpPr>
          <p:nvPr/>
        </p:nvSpPr>
        <p:spPr bwMode="auto">
          <a:xfrm>
            <a:off x="5545138" y="1817689"/>
            <a:ext cx="6842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a:r>
              <a:rPr lang="en-US" altLang="ko-KR" sz="1400">
                <a:ea typeface="굴림" panose="020B0600000101010101" pitchFamily="34" charset="-127"/>
              </a:rPr>
              <a:t>Netlist</a:t>
            </a:r>
          </a:p>
        </p:txBody>
      </p:sp>
      <p:sp>
        <p:nvSpPr>
          <p:cNvPr id="54277" name="Rectangle 58">
            <a:extLst>
              <a:ext uri="{FF2B5EF4-FFF2-40B4-BE49-F238E27FC236}">
                <a16:creationId xmlns:a16="http://schemas.microsoft.com/office/drawing/2014/main" id="{EEE2FD15-EA15-4241-9F49-7537D5B030C6}"/>
              </a:ext>
            </a:extLst>
          </p:cNvPr>
          <p:cNvSpPr>
            <a:spLocks noChangeArrowheads="1"/>
          </p:cNvSpPr>
          <p:nvPr/>
        </p:nvSpPr>
        <p:spPr bwMode="auto">
          <a:xfrm>
            <a:off x="4376738" y="1746251"/>
            <a:ext cx="1185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a:r>
              <a:rPr lang="en-US" altLang="ko-KR" sz="1400">
                <a:ea typeface="굴림" panose="020B0600000101010101" pitchFamily="34" charset="-127"/>
              </a:rPr>
              <a:t>SPEF w/ </a:t>
            </a:r>
            <a:br>
              <a:rPr lang="en-US" altLang="ko-KR" sz="1400">
                <a:ea typeface="굴림" panose="020B0600000101010101" pitchFamily="34" charset="-127"/>
              </a:rPr>
            </a:br>
            <a:r>
              <a:rPr lang="en-US" altLang="ko-KR" sz="1400">
                <a:ea typeface="굴림" panose="020B0600000101010101" pitchFamily="34" charset="-127"/>
              </a:rPr>
              <a:t>sensitivity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8135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2DC2BB-B596-4C3A-A9DC-0B51540F8820}">
  <ds:schemaRefs>
    <ds:schemaRef ds:uri="http://schemas.microsoft.com/office/2006/metadata/properties"/>
    <ds:schemaRef ds:uri="c4e338ac-e2c9-4a09-90bc-aa78cddd6f1f"/>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9d6f540b-f5ab-4529-997d-b1c359473666"/>
    <ds:schemaRef ds:uri="http://www.w3.org/XML/1998/namespace"/>
    <ds:schemaRef ds:uri="http://purl.org/dc/dcmitype/"/>
  </ds:schemaRefs>
</ds:datastoreItem>
</file>

<file path=customXml/itemProps2.xml><?xml version="1.0" encoding="utf-8"?>
<ds:datastoreItem xmlns:ds="http://schemas.openxmlformats.org/officeDocument/2006/customXml" ds:itemID="{911BE162-346D-48E0-9B29-CB08309D4C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e338ac-e2c9-4a09-90bc-aa78cddd6f1f"/>
    <ds:schemaRef ds:uri="9d6f540b-f5ab-4529-997d-b1c359473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B5A6964-B842-4343-98F0-22A6DEF094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3348</TotalTime>
  <Words>914</Words>
  <Application>Microsoft Office PowerPoint</Application>
  <PresentationFormat>Widescreen</PresentationFormat>
  <Paragraphs>290</Paragraphs>
  <Slides>27</Slides>
  <Notes>23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9" baseType="lpstr">
      <vt:lpstr>굴림</vt:lpstr>
      <vt:lpstr>.Lucida Grande UI Regular</vt:lpstr>
      <vt:lpstr>Arial</vt:lpstr>
      <vt:lpstr>Arial Unicode</vt:lpstr>
      <vt:lpstr>Calibri</vt:lpstr>
      <vt:lpstr>Cambria Math</vt:lpstr>
      <vt:lpstr>System Font Regular</vt:lpstr>
      <vt:lpstr>Times New Roman</vt:lpstr>
      <vt:lpstr>Verdana</vt:lpstr>
      <vt:lpstr>Wingdings</vt:lpstr>
      <vt:lpstr>2_Synopsys_2019</vt:lpstr>
      <vt:lpstr>Equation</vt:lpstr>
      <vt:lpstr>Static Timing Analysis</vt:lpstr>
      <vt:lpstr>PowerPoint Presentation</vt:lpstr>
      <vt:lpstr>Course Overview</vt:lpstr>
      <vt:lpstr>PowerPoint Presentation</vt:lpstr>
      <vt:lpstr>Variability </vt:lpstr>
      <vt:lpstr>Process Variation Sources and Types</vt:lpstr>
      <vt:lpstr>Modeling Variation</vt:lpstr>
      <vt:lpstr>Process Corners</vt:lpstr>
      <vt:lpstr>Conventional Corner-Based Analysis</vt:lpstr>
      <vt:lpstr>Variation-Aware Timing Analysis Flow</vt:lpstr>
      <vt:lpstr>Benefits of Variation-Aware Analysis</vt:lpstr>
      <vt:lpstr>Everything Statistical</vt:lpstr>
      <vt:lpstr>Statistical Timing Analysis</vt:lpstr>
      <vt:lpstr>Monte-Carlo Method</vt:lpstr>
      <vt:lpstr>Introduction to Statistical Static Timing Analysis </vt:lpstr>
      <vt:lpstr>Probability</vt:lpstr>
      <vt:lpstr>Distribution of Propagation</vt:lpstr>
      <vt:lpstr>Statistical ADD Operation</vt:lpstr>
      <vt:lpstr>Statistical MAX Operation</vt:lpstr>
      <vt:lpstr>Statistical MAX Operation (2)</vt:lpstr>
      <vt:lpstr>SSTA Approaches </vt:lpstr>
      <vt:lpstr>Spatial Correlations</vt:lpstr>
      <vt:lpstr>Spatial Correlations Should be Considered</vt:lpstr>
      <vt:lpstr>Considering Spatial Correlations</vt:lpstr>
      <vt:lpstr>Additional Data for SSTA</vt:lpstr>
      <vt:lpstr>SSTA Tool Inputs and Outputs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Nane Lazaryan</cp:lastModifiedBy>
  <cp:revision>330</cp:revision>
  <dcterms:created xsi:type="dcterms:W3CDTF">2020-07-20T16:18:49Z</dcterms:created>
  <dcterms:modified xsi:type="dcterms:W3CDTF">2025-07-31T12:33:35Z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