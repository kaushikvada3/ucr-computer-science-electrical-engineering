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29"/>
  </p:notesMasterIdLst>
  <p:handoutMasterIdLst>
    <p:handoutMasterId r:id="rId30"/>
  </p:handoutMasterIdLst>
  <p:sldIdLst>
    <p:sldId id="4743" r:id="rId5"/>
    <p:sldId id="4785" r:id="rId6"/>
    <p:sldId id="367" r:id="rId7"/>
    <p:sldId id="331" r:id="rId8"/>
    <p:sldId id="332" r:id="rId9"/>
    <p:sldId id="333" r:id="rId10"/>
    <p:sldId id="334" r:id="rId11"/>
    <p:sldId id="335" r:id="rId12"/>
    <p:sldId id="4789" r:id="rId13"/>
    <p:sldId id="339" r:id="rId14"/>
    <p:sldId id="4790" r:id="rId15"/>
    <p:sldId id="341" r:id="rId16"/>
    <p:sldId id="342" r:id="rId17"/>
    <p:sldId id="353" r:id="rId18"/>
    <p:sldId id="4791" r:id="rId19"/>
    <p:sldId id="352" r:id="rId20"/>
    <p:sldId id="355" r:id="rId21"/>
    <p:sldId id="361" r:id="rId22"/>
    <p:sldId id="358" r:id="rId23"/>
    <p:sldId id="359" r:id="rId24"/>
    <p:sldId id="351" r:id="rId25"/>
    <p:sldId id="356" r:id="rId26"/>
    <p:sldId id="357" r:id="rId27"/>
    <p:sldId id="4788" r:id="rId28"/>
  </p:sldIdLst>
  <p:sldSz cx="12192000" cy="6858000"/>
  <p:notesSz cx="7315200" cy="9601200"/>
  <p:custDataLst>
    <p:tags r:id="rId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67"/>
            <p14:sldId id="331"/>
            <p14:sldId id="332"/>
            <p14:sldId id="333"/>
            <p14:sldId id="334"/>
            <p14:sldId id="335"/>
            <p14:sldId id="4789"/>
            <p14:sldId id="339"/>
            <p14:sldId id="4790"/>
            <p14:sldId id="341"/>
            <p14:sldId id="342"/>
            <p14:sldId id="353"/>
            <p14:sldId id="4791"/>
            <p14:sldId id="352"/>
            <p14:sldId id="355"/>
            <p14:sldId id="361"/>
            <p14:sldId id="358"/>
            <p14:sldId id="359"/>
            <p14:sldId id="351"/>
            <p14:sldId id="356"/>
            <p14:sldId id="357"/>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D242D2-933E-422E-9BC1-59C355D91814}" v="2" dt="2025-07-31T12:27:49.4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varScale="1">
        <p:scale>
          <a:sx n="107" d="100"/>
          <a:sy n="107" d="100"/>
        </p:scale>
        <p:origin x="528" y="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81D242D2-933E-422E-9BC1-59C355D91814}"/>
    <pc:docChg chg="undo custSel modSld">
      <pc:chgData name="Nane Lazaryan" userId="edf0a458-438d-4fc2-9f33-24202edc9cc9" providerId="ADAL" clId="{81D242D2-933E-422E-9BC1-59C355D91814}" dt="2025-07-31T12:27:54.660" v="43" actId="1076"/>
      <pc:docMkLst>
        <pc:docMk/>
      </pc:docMkLst>
      <pc:sldChg chg="delSp modSp mod">
        <pc:chgData name="Nane Lazaryan" userId="edf0a458-438d-4fc2-9f33-24202edc9cc9" providerId="ADAL" clId="{81D242D2-933E-422E-9BC1-59C355D91814}" dt="2025-07-31T12:27:54.660" v="43" actId="1076"/>
        <pc:sldMkLst>
          <pc:docMk/>
          <pc:sldMk cId="0" sldId="358"/>
        </pc:sldMkLst>
        <pc:spChg chg="del mod">
          <ac:chgData name="Nane Lazaryan" userId="edf0a458-438d-4fc2-9f33-24202edc9cc9" providerId="ADAL" clId="{81D242D2-933E-422E-9BC1-59C355D91814}" dt="2025-07-31T12:27:49.481" v="42" actId="478"/>
          <ac:spMkLst>
            <pc:docMk/>
            <pc:sldMk cId="0" sldId="358"/>
            <ac:spMk id="24580" creationId="{06365D2C-AAEF-47EB-AECA-CE5FA0B62955}"/>
          </ac:spMkLst>
        </pc:spChg>
        <pc:graphicFrameChg chg="mod">
          <ac:chgData name="Nane Lazaryan" userId="edf0a458-438d-4fc2-9f33-24202edc9cc9" providerId="ADAL" clId="{81D242D2-933E-422E-9BC1-59C355D91814}" dt="2025-07-31T12:27:54.660" v="43" actId="1076"/>
          <ac:graphicFrameMkLst>
            <pc:docMk/>
            <pc:sldMk cId="0" sldId="358"/>
            <ac:graphicFrameMk id="8" creationId="{E0CA4A73-387A-4755-A0D2-0250C6AB2502}"/>
          </ac:graphicFrameMkLst>
        </pc:graphicFrameChg>
        <pc:graphicFrameChg chg="mod">
          <ac:chgData name="Nane Lazaryan" userId="edf0a458-438d-4fc2-9f33-24202edc9cc9" providerId="ADAL" clId="{81D242D2-933E-422E-9BC1-59C355D91814}" dt="2025-07-31T12:27:54.660" v="43" actId="1076"/>
          <ac:graphicFrameMkLst>
            <pc:docMk/>
            <pc:sldMk cId="0" sldId="358"/>
            <ac:graphicFrameMk id="24625" creationId="{1F39161B-DDAF-4902-9808-26450092CB0A}"/>
          </ac:graphicFrameMkLst>
        </pc:graphicFrameChg>
        <pc:graphicFrameChg chg="mod">
          <ac:chgData name="Nane Lazaryan" userId="edf0a458-438d-4fc2-9f33-24202edc9cc9" providerId="ADAL" clId="{81D242D2-933E-422E-9BC1-59C355D91814}" dt="2025-07-31T12:27:54.660" v="43" actId="1076"/>
          <ac:graphicFrameMkLst>
            <pc:docMk/>
            <pc:sldMk cId="0" sldId="358"/>
            <ac:graphicFrameMk id="24626" creationId="{2155183D-BCCE-42FF-8BCD-3CBD88A7CEF5}"/>
          </ac:graphicFrameMkLst>
        </pc:graphicFrameChg>
        <pc:graphicFrameChg chg="mod">
          <ac:chgData name="Nane Lazaryan" userId="edf0a458-438d-4fc2-9f33-24202edc9cc9" providerId="ADAL" clId="{81D242D2-933E-422E-9BC1-59C355D91814}" dt="2025-07-31T12:27:54.660" v="43" actId="1076"/>
          <ac:graphicFrameMkLst>
            <pc:docMk/>
            <pc:sldMk cId="0" sldId="358"/>
            <ac:graphicFrameMk id="24627" creationId="{9DD655BA-A33A-49FB-81DB-4E3E83AC7F7A}"/>
          </ac:graphicFrameMkLst>
        </pc:graphicFrameChg>
        <pc:graphicFrameChg chg="mod">
          <ac:chgData name="Nane Lazaryan" userId="edf0a458-438d-4fc2-9f33-24202edc9cc9" providerId="ADAL" clId="{81D242D2-933E-422E-9BC1-59C355D91814}" dt="2025-07-31T12:27:54.660" v="43" actId="1076"/>
          <ac:graphicFrameMkLst>
            <pc:docMk/>
            <pc:sldMk cId="0" sldId="358"/>
            <ac:graphicFrameMk id="24628" creationId="{C539B888-3F6D-40E8-A4F2-C067B49851FB}"/>
          </ac:graphicFrameMkLst>
        </pc:graphicFrameChg>
      </pc:sldChg>
      <pc:sldChg chg="modSp mod">
        <pc:chgData name="Nane Lazaryan" userId="edf0a458-438d-4fc2-9f33-24202edc9cc9" providerId="ADAL" clId="{81D242D2-933E-422E-9BC1-59C355D91814}" dt="2025-07-31T12:27:02.690" v="16" actId="1035"/>
        <pc:sldMkLst>
          <pc:docMk/>
          <pc:sldMk cId="2163007919" sldId="4789"/>
        </pc:sldMkLst>
        <pc:spChg chg="mod">
          <ac:chgData name="Nane Lazaryan" userId="edf0a458-438d-4fc2-9f33-24202edc9cc9" providerId="ADAL" clId="{81D242D2-933E-422E-9BC1-59C355D91814}" dt="2025-07-31T12:27:02.690" v="16" actId="1035"/>
          <ac:spMkLst>
            <pc:docMk/>
            <pc:sldMk cId="2163007919" sldId="4789"/>
            <ac:spMk id="3" creationId="{00000000-0000-0000-0000-000000000000}"/>
          </ac:spMkLst>
        </pc:spChg>
      </pc:sldChg>
      <pc:sldChg chg="modSp mod">
        <pc:chgData name="Nane Lazaryan" userId="edf0a458-438d-4fc2-9f33-24202edc9cc9" providerId="ADAL" clId="{81D242D2-933E-422E-9BC1-59C355D91814}" dt="2025-07-31T12:27:28.481" v="38" actId="1035"/>
        <pc:sldMkLst>
          <pc:docMk/>
          <pc:sldMk cId="2564691570" sldId="4791"/>
        </pc:sldMkLst>
        <pc:spChg chg="mod">
          <ac:chgData name="Nane Lazaryan" userId="edf0a458-438d-4fc2-9f33-24202edc9cc9" providerId="ADAL" clId="{81D242D2-933E-422E-9BC1-59C355D91814}" dt="2025-07-31T12:27:28.481" v="38" actId="1035"/>
          <ac:spMkLst>
            <pc:docMk/>
            <pc:sldMk cId="2564691570" sldId="4791"/>
            <ac:spMk id="63" creationId="{9E271D12-B818-A329-46AB-363DFB163259}"/>
          </ac:spMkLst>
        </pc:spChg>
      </pc:sldChg>
    </pc:docChg>
  </pc:docChgLst>
  <pc:docChgLst>
    <pc:chgData name="Nane Lazaryan" userId="edf0a458-438d-4fc2-9f33-24202edc9cc9" providerId="ADAL" clId="{9548EE63-F57D-4347-B11C-6199C1B14796}"/>
    <pc:docChg chg="modMainMaster modNotesMaster">
      <pc:chgData name="Nane Lazaryan" userId="edf0a458-438d-4fc2-9f33-24202edc9cc9" providerId="ADAL" clId="{9548EE63-F57D-4347-B11C-6199C1B14796}" dt="2025-05-23T10:13:54.940" v="0"/>
      <pc:docMkLst>
        <pc:docMk/>
      </pc:docMkLst>
      <pc:sldMasterChg chg="modSp">
        <pc:chgData name="Nane Lazaryan" userId="edf0a458-438d-4fc2-9f33-24202edc9cc9" providerId="ADAL" clId="{9548EE63-F57D-4347-B11C-6199C1B14796}" dt="2025-05-23T10:13:54.940" v="0"/>
        <pc:sldMasterMkLst>
          <pc:docMk/>
          <pc:sldMasterMk cId="1599936984" sldId="2147483728"/>
        </pc:sldMasterMkLst>
        <pc:spChg chg="mod">
          <ac:chgData name="Nane Lazaryan" userId="edf0a458-438d-4fc2-9f33-24202edc9cc9" providerId="ADAL" clId="{9548EE63-F57D-4347-B11C-6199C1B14796}" dt="2025-05-23T10:13:54.940" v="0"/>
          <ac:spMkLst>
            <pc:docMk/>
            <pc:sldMasterMk cId="1599936984" sldId="2147483728"/>
            <ac:spMk id="10" creationId="{0E3FE523-B587-4715-8B86-1BEC0FA2C87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7T07:33:40.703"/>
    </inkml:context>
    <inkml:brush xml:id="br0">
      <inkml:brushProperty name="width" value="0.05" units="cm"/>
      <inkml:brushProperty name="height" value="0.05" units="cm"/>
    </inkml:brush>
  </inkml:definitions>
  <inkml:trace contextRef="#ctx0" brushRef="#br0">0 2417 24575,'46'-16'0,"-3"10"0,0 3 0,84 5 0,-40 0 0,-73-2 0,11 0 0,1 0 0,35-7 0,-52 5 0,0 0 0,0 0 0,-1-1 0,1-1 0,-1 1 0,0-1 0,0-1 0,0 0 0,0 0 0,9-8 0,51-52 0,-40 37 0,59-45 0,-79 67 0,0-1 0,-1 0 0,0 0 0,0 0 0,0-1 0,-1 1 0,0-2 0,4-8 0,6-12 0,12-35 0,5-9 0,0 10 0,3 1 0,56-72 0,-63 93 0,-1 0 0,26-54 0,-37 64 0,55-77 0,-60 88 0,1 1 0,18-22 0,-1 2 0,-20 26 0,-1 0 0,2 1 0,0 0 0,0 1 0,1 1 0,0-1 0,1 2 0,0 0 0,0 0 0,1 2 0,21-10 0,-25 13 0,-1-1 0,1 0 0,11-9 0,15-9 0,-22 15 0,-1-1 0,0-1 0,-1 0 0,0-1 0,15-18 0,7-5 0,-16 16 0,23-21 0,74-55 0,-93 82 0,1 1 0,0 1 0,0 1 0,1 1 0,0 1 0,35-6 0,8-3 0,-4-2 0,103-22 0,-144 35 0,0-1 0,33-14 0,-36 12 0,1 1 0,0 1 0,32-5 0,-7 3 0,0-2 0,0-3 0,46-18 0,22-6 0,123-29 0,-26-2 0,53-25 0,-237 82 0,-1 0 0,-1-1 0,0-2 0,26-19 0,-43 28 0,0 1 0,1 0 0,-1 0 0,1 1 0,10-4 0,-9 5 0,-1-1 0,1-1 0,-1 0 0,12-7 0,-7 4 0,0 1 0,1 0 0,-1 1 0,2 0 0,-1 1 0,0 0 0,19-1 0,10-4 0,26-4 0,-41 8 0,-1 0 0,36-13 0,-44 13 0,-1 0 0,1 2 0,0 0 0,0 2 0,0 0 0,0 1 0,20 2 0,-15 0 0,0-2 0,0-1 0,44-6 0,-26 0-77,1 3 0,0 1-1,60 3 1,-53 1-979,-31-1-5770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4F96273C-1E48-4A50-A1E6-7D3381112B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04C8F2FC-A9E6-4CC9-84FE-938CB2974117}" type="slidenum">
              <a:rPr lang="en-US" altLang="en-US" sz="1200"/>
              <a:pPr/>
              <a:t>4</a:t>
            </a:fld>
            <a:endParaRPr lang="en-US" altLang="en-US" sz="1200"/>
          </a:p>
        </p:txBody>
      </p:sp>
      <p:sp>
        <p:nvSpPr>
          <p:cNvPr id="9219" name="Rectangle 2">
            <a:extLst>
              <a:ext uri="{FF2B5EF4-FFF2-40B4-BE49-F238E27FC236}">
                <a16:creationId xmlns:a16="http://schemas.microsoft.com/office/drawing/2014/main" id="{79BD726B-7955-480E-B047-0C55A3A7D53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EFE2A42-E551-4BEB-8EEF-17D9BA82C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EFEB558C-98B1-4939-810B-73B2E0113FF3}"/>
              </a:ext>
            </a:extLst>
          </p:cNvPr>
          <p:cNvSpPr>
            <a:spLocks noGrp="1" noRot="1" noChangeAspect="1" noTextEdit="1"/>
          </p:cNvSpPr>
          <p:nvPr>
            <p:ph type="sldImg"/>
          </p:nvPr>
        </p:nvSpPr>
        <p:spPr>
          <a:xfrm>
            <a:off x="381000" y="684213"/>
            <a:ext cx="6097588" cy="3430587"/>
          </a:xfrm>
          <a:ln/>
        </p:spPr>
      </p:sp>
      <p:sp>
        <p:nvSpPr>
          <p:cNvPr id="21507" name="Notes Placeholder 2">
            <a:extLst>
              <a:ext uri="{FF2B5EF4-FFF2-40B4-BE49-F238E27FC236}">
                <a16:creationId xmlns:a16="http://schemas.microsoft.com/office/drawing/2014/main" id="{4B026308-E6B7-4DF7-8363-16E8E164577D}"/>
              </a:ext>
            </a:extLst>
          </p:cNvPr>
          <p:cNvSpPr>
            <a:spLocks noGrp="1"/>
          </p:cNvSpPr>
          <p:nvPr>
            <p:ph type="body" idx="1"/>
          </p:nvPr>
        </p:nvSpPr>
        <p:spPr>
          <a:xfrm>
            <a:off x="954088" y="4327525"/>
            <a:ext cx="5013325" cy="41068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lstStyle/>
          <a:p>
            <a:endParaRPr lang="en-US" altLang="en-US">
              <a:latin typeface="Arial" panose="020B0604020202020204" pitchFamily="34" charset="0"/>
              <a:cs typeface="Arial" panose="020B0604020202020204" pitchFamily="34" charset="0"/>
            </a:endParaRPr>
          </a:p>
        </p:txBody>
      </p:sp>
      <p:sp>
        <p:nvSpPr>
          <p:cNvPr id="21508" name="Slide Number Placeholder 5">
            <a:extLst>
              <a:ext uri="{FF2B5EF4-FFF2-40B4-BE49-F238E27FC236}">
                <a16:creationId xmlns:a16="http://schemas.microsoft.com/office/drawing/2014/main" id="{5A7A8F39-29E7-4544-89B1-D61501642C4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EF1E93E4-D736-4865-99E1-08B769C0B1AB}" type="slidenum">
              <a:rPr lang="en-US" altLang="en-US"/>
              <a:pPr eaLnBrk="1" hangingPunct="1">
                <a:spcBef>
                  <a:spcPct val="0"/>
                </a:spcBef>
              </a:pPr>
              <a:t>16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bin"/><Relationship Id="rId1" Type="http://schemas.openxmlformats.org/officeDocument/2006/relationships/slideLayout" Target="../slideLayouts/slideLayout8.xml"/><Relationship Id="rId6" Type="http://schemas.openxmlformats.org/officeDocument/2006/relationships/oleObject" Target="../embeddings/oleObject3.bin"/><Relationship Id="rId5" Type="http://schemas.openxmlformats.org/officeDocument/2006/relationships/image" Target="../media/image25.wmf"/><Relationship Id="rId4" Type="http://schemas.openxmlformats.org/officeDocument/2006/relationships/oleObject" Target="../embeddings/oleObject2.bin"/><Relationship Id="rId9" Type="http://schemas.openxmlformats.org/officeDocument/2006/relationships/image" Target="../media/image27.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5.bin"/><Relationship Id="rId1" Type="http://schemas.openxmlformats.org/officeDocument/2006/relationships/slideLayout" Target="../slideLayouts/slideLayout8.xml"/><Relationship Id="rId6" Type="http://schemas.openxmlformats.org/officeDocument/2006/relationships/oleObject" Target="../embeddings/oleObject7.bin"/><Relationship Id="rId5" Type="http://schemas.openxmlformats.org/officeDocument/2006/relationships/image" Target="../media/image29.wmf"/><Relationship Id="rId4" Type="http://schemas.openxmlformats.org/officeDocument/2006/relationships/oleObject" Target="../embeddings/oleObject6.bin"/><Relationship Id="rId9" Type="http://schemas.openxmlformats.org/officeDocument/2006/relationships/image" Target="../media/image3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9F9E3A8-E17F-4F0E-AFD2-6A85BCA4B884}"/>
              </a:ext>
            </a:extLst>
          </p:cNvPr>
          <p:cNvSpPr>
            <a:spLocks noGrp="1"/>
          </p:cNvSpPr>
          <p:nvPr>
            <p:ph type="title"/>
          </p:nvPr>
        </p:nvSpPr>
        <p:spPr/>
        <p:txBody>
          <a:bodyPr/>
          <a:lstStyle/>
          <a:p>
            <a:r>
              <a:rPr lang="en-US" altLang="en-US"/>
              <a:t>Course Overview</a:t>
            </a:r>
          </a:p>
        </p:txBody>
      </p:sp>
      <p:sp>
        <p:nvSpPr>
          <p:cNvPr id="7171" name="Content Placeholder 2">
            <a:extLst>
              <a:ext uri="{FF2B5EF4-FFF2-40B4-BE49-F238E27FC236}">
                <a16:creationId xmlns:a16="http://schemas.microsoft.com/office/drawing/2014/main" id="{F3A57210-8532-4DAC-9AF2-83C8EBF4BAE1}"/>
              </a:ext>
            </a:extLst>
          </p:cNvPr>
          <p:cNvSpPr>
            <a:spLocks noGrp="1"/>
          </p:cNvSpPr>
          <p:nvPr>
            <p:ph type="body" sz="quarter" idx="10"/>
          </p:nvPr>
        </p:nvSpPr>
        <p:spPr/>
        <p:txBody>
          <a:bodyPr/>
          <a:lstStyle/>
          <a:p>
            <a:r>
              <a:rPr lang="en-US" altLang="en-US" sz="1600" dirty="0"/>
              <a:t>STA Concepts </a:t>
            </a:r>
          </a:p>
          <a:p>
            <a:pPr lvl="1"/>
            <a:r>
              <a:rPr lang="en-US" altLang="en-US" sz="1200" dirty="0"/>
              <a:t>1 lecture</a:t>
            </a:r>
          </a:p>
          <a:p>
            <a:r>
              <a:rPr lang="en-US" altLang="en-US" sz="1600" dirty="0">
                <a:solidFill>
                  <a:srgbClr val="0000FF"/>
                </a:solidFill>
              </a:rPr>
              <a:t>Delay Modeling</a:t>
            </a:r>
          </a:p>
          <a:p>
            <a:pPr lvl="1"/>
            <a:r>
              <a:rPr lang="en-US" altLang="en-US" sz="1200" dirty="0">
                <a:solidFill>
                  <a:srgbClr val="0000FF"/>
                </a:solidFill>
              </a:rPr>
              <a:t>1 lecture</a:t>
            </a:r>
          </a:p>
          <a:p>
            <a:r>
              <a:rPr lang="en-US" altLang="en-US" sz="1600" dirty="0"/>
              <a:t>Interconnect </a:t>
            </a:r>
            <a:r>
              <a:rPr lang="en-US" altLang="en-US" sz="1600" dirty="0" err="1"/>
              <a:t>Parasitics</a:t>
            </a:r>
            <a:endParaRPr lang="en-US" altLang="en-US" sz="1600" dirty="0"/>
          </a:p>
          <a:p>
            <a:pPr lvl="1"/>
            <a:r>
              <a:rPr lang="en-US" altLang="en-US" sz="1200" dirty="0"/>
              <a:t>1 lecture</a:t>
            </a:r>
          </a:p>
          <a:p>
            <a:r>
              <a:rPr lang="en-US" altLang="en-US" sz="1600" dirty="0"/>
              <a:t>Delay Calculation</a:t>
            </a:r>
          </a:p>
          <a:p>
            <a:pPr lvl="1"/>
            <a:r>
              <a:rPr lang="en-US" altLang="en-US" sz="1200" dirty="0"/>
              <a:t>1 lecture</a:t>
            </a:r>
          </a:p>
          <a:p>
            <a:r>
              <a:rPr lang="en-US" altLang="en-US" sz="1600" dirty="0"/>
              <a:t>Configuring the STA Environment</a:t>
            </a:r>
          </a:p>
          <a:p>
            <a:pPr lvl="1"/>
            <a:r>
              <a:rPr lang="en-US" altLang="en-US" sz="1200" dirty="0"/>
              <a:t>1 lecture</a:t>
            </a:r>
          </a:p>
          <a:p>
            <a:r>
              <a:rPr lang="en-US" altLang="en-US" sz="1600" dirty="0"/>
              <a:t>Timing Checks</a:t>
            </a:r>
          </a:p>
          <a:p>
            <a:pPr lvl="1"/>
            <a:r>
              <a:rPr lang="en-US" altLang="en-US" sz="1200" dirty="0"/>
              <a:t>1 lecture</a:t>
            </a:r>
          </a:p>
          <a:p>
            <a:r>
              <a:rPr lang="en-US" altLang="en-US" sz="1600" dirty="0"/>
              <a:t>Crosstalk and Noise</a:t>
            </a:r>
          </a:p>
          <a:p>
            <a:pPr lvl="1"/>
            <a:r>
              <a:rPr lang="en-US" altLang="en-US" sz="1200" dirty="0"/>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2">
            <a:extLst>
              <a:ext uri="{FF2B5EF4-FFF2-40B4-BE49-F238E27FC236}">
                <a16:creationId xmlns:a16="http://schemas.microsoft.com/office/drawing/2014/main" id="{E4024F9C-1A72-4935-AC51-778574DFE641}"/>
              </a:ext>
            </a:extLst>
          </p:cNvPr>
          <p:cNvSpPr>
            <a:spLocks noGrp="1"/>
          </p:cNvSpPr>
          <p:nvPr>
            <p:ph type="title"/>
          </p:nvPr>
        </p:nvSpPr>
        <p:spPr/>
        <p:txBody>
          <a:bodyPr>
            <a:normAutofit/>
          </a:bodyPr>
          <a:lstStyle/>
          <a:p>
            <a:r>
              <a:rPr lang="en-US" altLang="en-US" dirty="0"/>
              <a:t>2. Delay Modeling</a:t>
            </a:r>
            <a:br>
              <a:rPr lang="en-US" altLang="en-US" dirty="0"/>
            </a:br>
            <a:endParaRPr lang="en-US" altLang="en-US" dirty="0"/>
          </a:p>
        </p:txBody>
      </p:sp>
      <p:sp>
        <p:nvSpPr>
          <p:cNvPr id="3" name="Text Placeholder 2">
            <a:extLst>
              <a:ext uri="{FF2B5EF4-FFF2-40B4-BE49-F238E27FC236}">
                <a16:creationId xmlns:a16="http://schemas.microsoft.com/office/drawing/2014/main" id="{FD715BC9-3470-47ED-AE80-110B975DF0A9}"/>
              </a:ext>
            </a:extLst>
          </p:cNvPr>
          <p:cNvSpPr>
            <a:spLocks noGrp="1"/>
          </p:cNvSpPr>
          <p:nvPr>
            <p:ph type="body" sz="quarter" idx="10"/>
          </p:nvPr>
        </p:nvSpPr>
        <p:spPr/>
        <p:txBody>
          <a:bodyPr/>
          <a:lstStyle/>
          <a:p>
            <a:pPr marL="0" indent="0">
              <a:buNone/>
            </a:pP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9133FE19-7D80-4B02-BB87-0A8108CD3468}"/>
              </a:ext>
            </a:extLst>
          </p:cNvPr>
          <p:cNvSpPr>
            <a:spLocks noGrp="1"/>
          </p:cNvSpPr>
          <p:nvPr>
            <p:ph type="title"/>
          </p:nvPr>
        </p:nvSpPr>
        <p:spPr/>
        <p:txBody>
          <a:bodyPr/>
          <a:lstStyle/>
          <a:p>
            <a:r>
              <a:rPr lang="en-US" altLang="en-US"/>
              <a:t>Path Delay: Basic Approach</a:t>
            </a:r>
          </a:p>
        </p:txBody>
      </p:sp>
      <p:grpSp>
        <p:nvGrpSpPr>
          <p:cNvPr id="10243" name="Group 1">
            <a:extLst>
              <a:ext uri="{FF2B5EF4-FFF2-40B4-BE49-F238E27FC236}">
                <a16:creationId xmlns:a16="http://schemas.microsoft.com/office/drawing/2014/main" id="{898C2EC2-B940-48D3-B8F3-E30925676ECC}"/>
              </a:ext>
            </a:extLst>
          </p:cNvPr>
          <p:cNvGrpSpPr>
            <a:grpSpLocks/>
          </p:cNvGrpSpPr>
          <p:nvPr/>
        </p:nvGrpSpPr>
        <p:grpSpPr bwMode="auto">
          <a:xfrm>
            <a:off x="2446338" y="1781175"/>
            <a:ext cx="7203862" cy="3414924"/>
            <a:chOff x="919163" y="1781175"/>
            <a:chExt cx="6668139" cy="3012326"/>
          </a:xfrm>
        </p:grpSpPr>
        <p:sp>
          <p:nvSpPr>
            <p:cNvPr id="29" name="Line Callout 1 28">
              <a:extLst>
                <a:ext uri="{FF2B5EF4-FFF2-40B4-BE49-F238E27FC236}">
                  <a16:creationId xmlns:a16="http://schemas.microsoft.com/office/drawing/2014/main" id="{3FB19D95-48C0-41CE-904E-E28AD274AE08}"/>
                </a:ext>
              </a:extLst>
            </p:cNvPr>
            <p:cNvSpPr/>
            <p:nvPr/>
          </p:nvSpPr>
          <p:spPr bwMode="auto">
            <a:xfrm>
              <a:off x="5644894" y="2697000"/>
              <a:ext cx="1021263" cy="378093"/>
            </a:xfrm>
            <a:prstGeom prst="borderCallout1">
              <a:avLst>
                <a:gd name="adj1" fmla="val 97049"/>
                <a:gd name="adj2" fmla="val 48905"/>
                <a:gd name="adj3" fmla="val 179614"/>
                <a:gd name="adj4" fmla="val 4296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2400">
                <a:solidFill>
                  <a:schemeClr val="tx1"/>
                </a:solidFill>
              </a:endParaRPr>
            </a:p>
          </p:txBody>
        </p:sp>
        <p:sp>
          <p:nvSpPr>
            <p:cNvPr id="28" name="Line Callout 1 27">
              <a:extLst>
                <a:ext uri="{FF2B5EF4-FFF2-40B4-BE49-F238E27FC236}">
                  <a16:creationId xmlns:a16="http://schemas.microsoft.com/office/drawing/2014/main" id="{72DF9ECE-79F0-4EB1-9EEE-09C280A46C96}"/>
                </a:ext>
              </a:extLst>
            </p:cNvPr>
            <p:cNvSpPr/>
            <p:nvPr/>
          </p:nvSpPr>
          <p:spPr bwMode="auto">
            <a:xfrm>
              <a:off x="3724331" y="2493950"/>
              <a:ext cx="1021264" cy="379493"/>
            </a:xfrm>
            <a:prstGeom prst="borderCallout1">
              <a:avLst>
                <a:gd name="adj1" fmla="val 97049"/>
                <a:gd name="adj2" fmla="val 48905"/>
                <a:gd name="adj3" fmla="val 179614"/>
                <a:gd name="adj4" fmla="val 4296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2400">
                <a:solidFill>
                  <a:schemeClr val="tx1"/>
                </a:solidFill>
              </a:endParaRPr>
            </a:p>
          </p:txBody>
        </p:sp>
        <p:sp>
          <p:nvSpPr>
            <p:cNvPr id="5" name="Line Callout 1 4">
              <a:extLst>
                <a:ext uri="{FF2B5EF4-FFF2-40B4-BE49-F238E27FC236}">
                  <a16:creationId xmlns:a16="http://schemas.microsoft.com/office/drawing/2014/main" id="{5D06AE03-FC94-4460-8AE3-2DD729F1437D}"/>
                </a:ext>
              </a:extLst>
            </p:cNvPr>
            <p:cNvSpPr/>
            <p:nvPr/>
          </p:nvSpPr>
          <p:spPr bwMode="auto">
            <a:xfrm>
              <a:off x="1985979" y="1781175"/>
              <a:ext cx="1021263" cy="379494"/>
            </a:xfrm>
            <a:prstGeom prst="borderCallout1">
              <a:avLst>
                <a:gd name="adj1" fmla="val 97049"/>
                <a:gd name="adj2" fmla="val 48905"/>
                <a:gd name="adj3" fmla="val 179614"/>
                <a:gd name="adj4" fmla="val 4296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2400">
                <a:solidFill>
                  <a:schemeClr val="tx1"/>
                </a:solidFill>
              </a:endParaRPr>
            </a:p>
          </p:txBody>
        </p:sp>
        <p:cxnSp>
          <p:nvCxnSpPr>
            <p:cNvPr id="10247" name="Straight Connector 10">
              <a:extLst>
                <a:ext uri="{FF2B5EF4-FFF2-40B4-BE49-F238E27FC236}">
                  <a16:creationId xmlns:a16="http://schemas.microsoft.com/office/drawing/2014/main" id="{862F15EF-3638-4C57-93C0-DE3BF2A2688C}"/>
                </a:ext>
              </a:extLst>
            </p:cNvPr>
            <p:cNvCxnSpPr>
              <a:cxnSpLocks noChangeShapeType="1"/>
              <a:stCxn id="10267" idx="3"/>
              <a:endCxn id="10269" idx="2"/>
            </p:cNvCxnSpPr>
            <p:nvPr/>
          </p:nvCxnSpPr>
          <p:spPr bwMode="auto">
            <a:xfrm flipV="1">
              <a:off x="4559300" y="3406775"/>
              <a:ext cx="12366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8" name="Straight Connector 12">
              <a:extLst>
                <a:ext uri="{FF2B5EF4-FFF2-40B4-BE49-F238E27FC236}">
                  <a16:creationId xmlns:a16="http://schemas.microsoft.com/office/drawing/2014/main" id="{2EF806EF-EE09-48D0-87E1-6D041A666D7D}"/>
                </a:ext>
              </a:extLst>
            </p:cNvPr>
            <p:cNvCxnSpPr>
              <a:cxnSpLocks noChangeShapeType="1"/>
              <a:stCxn id="10270" idx="6"/>
            </p:cNvCxnSpPr>
            <p:nvPr/>
          </p:nvCxnSpPr>
          <p:spPr bwMode="auto">
            <a:xfrm>
              <a:off x="6269038" y="3406775"/>
              <a:ext cx="9556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9" name="Elbow Connector 17">
              <a:extLst>
                <a:ext uri="{FF2B5EF4-FFF2-40B4-BE49-F238E27FC236}">
                  <a16:creationId xmlns:a16="http://schemas.microsoft.com/office/drawing/2014/main" id="{9F2DB1C1-1983-4E30-8E3A-D6B774EE19F7}"/>
                </a:ext>
              </a:extLst>
            </p:cNvPr>
            <p:cNvCxnSpPr>
              <a:cxnSpLocks noChangeShapeType="1"/>
              <a:stCxn id="10266" idx="3"/>
            </p:cNvCxnSpPr>
            <p:nvPr/>
          </p:nvCxnSpPr>
          <p:spPr bwMode="auto">
            <a:xfrm>
              <a:off x="2713038" y="2725738"/>
              <a:ext cx="1262062" cy="512762"/>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50" name="Straight Connector 19">
              <a:extLst>
                <a:ext uri="{FF2B5EF4-FFF2-40B4-BE49-F238E27FC236}">
                  <a16:creationId xmlns:a16="http://schemas.microsoft.com/office/drawing/2014/main" id="{55C58F33-DF0F-4052-9C9B-7D0168A29E0D}"/>
                </a:ext>
              </a:extLst>
            </p:cNvPr>
            <p:cNvCxnSpPr>
              <a:cxnSpLocks noChangeShapeType="1"/>
            </p:cNvCxnSpPr>
            <p:nvPr/>
          </p:nvCxnSpPr>
          <p:spPr bwMode="auto">
            <a:xfrm rot="10800000" flipV="1">
              <a:off x="1308100" y="3576638"/>
              <a:ext cx="2667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51" name="Straight Connector 21">
              <a:extLst>
                <a:ext uri="{FF2B5EF4-FFF2-40B4-BE49-F238E27FC236}">
                  <a16:creationId xmlns:a16="http://schemas.microsoft.com/office/drawing/2014/main" id="{D926DBCA-1363-43C0-AF87-5E5F5DA63921}"/>
                </a:ext>
              </a:extLst>
            </p:cNvPr>
            <p:cNvCxnSpPr>
              <a:cxnSpLocks noChangeShapeType="1"/>
            </p:cNvCxnSpPr>
            <p:nvPr/>
          </p:nvCxnSpPr>
          <p:spPr bwMode="auto">
            <a:xfrm rot="10800000">
              <a:off x="1355725" y="2873375"/>
              <a:ext cx="77628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52" name="Straight Connector 22">
              <a:extLst>
                <a:ext uri="{FF2B5EF4-FFF2-40B4-BE49-F238E27FC236}">
                  <a16:creationId xmlns:a16="http://schemas.microsoft.com/office/drawing/2014/main" id="{B8E03826-ECA2-42C0-B46A-254EE1C60F6D}"/>
                </a:ext>
              </a:extLst>
            </p:cNvPr>
            <p:cNvCxnSpPr>
              <a:cxnSpLocks noChangeShapeType="1"/>
            </p:cNvCxnSpPr>
            <p:nvPr/>
          </p:nvCxnSpPr>
          <p:spPr bwMode="auto">
            <a:xfrm rot="10800000">
              <a:off x="1355725" y="2582863"/>
              <a:ext cx="77628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253" name="TextBox 23">
              <a:extLst>
                <a:ext uri="{FF2B5EF4-FFF2-40B4-BE49-F238E27FC236}">
                  <a16:creationId xmlns:a16="http://schemas.microsoft.com/office/drawing/2014/main" id="{B5ADB4E7-332E-4DA3-8C3D-47A6962F0C4F}"/>
                </a:ext>
              </a:extLst>
            </p:cNvPr>
            <p:cNvSpPr txBox="1">
              <a:spLocks noChangeArrowheads="1"/>
            </p:cNvSpPr>
            <p:nvPr/>
          </p:nvSpPr>
          <p:spPr bwMode="auto">
            <a:xfrm>
              <a:off x="931863" y="2606675"/>
              <a:ext cx="329700"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b</a:t>
              </a:r>
            </a:p>
          </p:txBody>
        </p:sp>
        <p:sp>
          <p:nvSpPr>
            <p:cNvPr id="10254" name="TextBox 24">
              <a:extLst>
                <a:ext uri="{FF2B5EF4-FFF2-40B4-BE49-F238E27FC236}">
                  <a16:creationId xmlns:a16="http://schemas.microsoft.com/office/drawing/2014/main" id="{7BB656C4-AB38-47AB-928E-461360482F72}"/>
                </a:ext>
              </a:extLst>
            </p:cNvPr>
            <p:cNvSpPr txBox="1">
              <a:spLocks noChangeArrowheads="1"/>
            </p:cNvSpPr>
            <p:nvPr/>
          </p:nvSpPr>
          <p:spPr bwMode="auto">
            <a:xfrm>
              <a:off x="919163" y="2266950"/>
              <a:ext cx="329700"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a</a:t>
              </a:r>
            </a:p>
          </p:txBody>
        </p:sp>
        <p:sp>
          <p:nvSpPr>
            <p:cNvPr id="10255" name="TextBox 25">
              <a:extLst>
                <a:ext uri="{FF2B5EF4-FFF2-40B4-BE49-F238E27FC236}">
                  <a16:creationId xmlns:a16="http://schemas.microsoft.com/office/drawing/2014/main" id="{AE7BE824-8E9B-48DB-B9BB-6B6678B3F4C9}"/>
                </a:ext>
              </a:extLst>
            </p:cNvPr>
            <p:cNvSpPr txBox="1">
              <a:spLocks noChangeArrowheads="1"/>
            </p:cNvSpPr>
            <p:nvPr/>
          </p:nvSpPr>
          <p:spPr bwMode="auto">
            <a:xfrm>
              <a:off x="928688" y="3286125"/>
              <a:ext cx="313377"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c</a:t>
              </a:r>
            </a:p>
          </p:txBody>
        </p:sp>
        <p:sp>
          <p:nvSpPr>
            <p:cNvPr id="10256" name="TextBox 26">
              <a:extLst>
                <a:ext uri="{FF2B5EF4-FFF2-40B4-BE49-F238E27FC236}">
                  <a16:creationId xmlns:a16="http://schemas.microsoft.com/office/drawing/2014/main" id="{467898AF-BE22-4D75-91AB-BDFD8FBF34A8}"/>
                </a:ext>
              </a:extLst>
            </p:cNvPr>
            <p:cNvSpPr txBox="1">
              <a:spLocks noChangeArrowheads="1"/>
            </p:cNvSpPr>
            <p:nvPr/>
          </p:nvSpPr>
          <p:spPr bwMode="auto">
            <a:xfrm>
              <a:off x="3006725" y="2217738"/>
              <a:ext cx="329700"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d</a:t>
              </a:r>
            </a:p>
          </p:txBody>
        </p:sp>
        <p:sp>
          <p:nvSpPr>
            <p:cNvPr id="10257" name="TextBox 27">
              <a:extLst>
                <a:ext uri="{FF2B5EF4-FFF2-40B4-BE49-F238E27FC236}">
                  <a16:creationId xmlns:a16="http://schemas.microsoft.com/office/drawing/2014/main" id="{50535B17-5FD1-4E6E-857D-3FD573EA26E3}"/>
                </a:ext>
              </a:extLst>
            </p:cNvPr>
            <p:cNvSpPr txBox="1">
              <a:spLocks noChangeArrowheads="1"/>
            </p:cNvSpPr>
            <p:nvPr/>
          </p:nvSpPr>
          <p:spPr bwMode="auto">
            <a:xfrm>
              <a:off x="4849813" y="2944813"/>
              <a:ext cx="329700"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e</a:t>
              </a:r>
            </a:p>
          </p:txBody>
        </p:sp>
        <p:sp>
          <p:nvSpPr>
            <p:cNvPr id="10258" name="TextBox 28">
              <a:extLst>
                <a:ext uri="{FF2B5EF4-FFF2-40B4-BE49-F238E27FC236}">
                  <a16:creationId xmlns:a16="http://schemas.microsoft.com/office/drawing/2014/main" id="{8C0C4715-161F-4B56-8929-FE2406F78F97}"/>
                </a:ext>
              </a:extLst>
            </p:cNvPr>
            <p:cNvSpPr txBox="1">
              <a:spLocks noChangeArrowheads="1"/>
            </p:cNvSpPr>
            <p:nvPr/>
          </p:nvSpPr>
          <p:spPr bwMode="auto">
            <a:xfrm>
              <a:off x="7273925" y="3187700"/>
              <a:ext cx="313377"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y</a:t>
              </a:r>
            </a:p>
          </p:txBody>
        </p:sp>
        <p:sp>
          <p:nvSpPr>
            <p:cNvPr id="10259" name="TextBox 29">
              <a:extLst>
                <a:ext uri="{FF2B5EF4-FFF2-40B4-BE49-F238E27FC236}">
                  <a16:creationId xmlns:a16="http://schemas.microsoft.com/office/drawing/2014/main" id="{51C7BCB2-A082-4D37-BBA8-1EE1402373C5}"/>
                </a:ext>
              </a:extLst>
            </p:cNvPr>
            <p:cNvSpPr txBox="1">
              <a:spLocks noChangeArrowheads="1"/>
            </p:cNvSpPr>
            <p:nvPr/>
          </p:nvSpPr>
          <p:spPr bwMode="auto">
            <a:xfrm>
              <a:off x="2090738" y="1800225"/>
              <a:ext cx="733292"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t=1n</a:t>
              </a:r>
            </a:p>
          </p:txBody>
        </p:sp>
        <p:sp>
          <p:nvSpPr>
            <p:cNvPr id="10260" name="TextBox 30">
              <a:extLst>
                <a:ext uri="{FF2B5EF4-FFF2-40B4-BE49-F238E27FC236}">
                  <a16:creationId xmlns:a16="http://schemas.microsoft.com/office/drawing/2014/main" id="{CD077F81-FF5A-4A69-9D76-177F06297CCB}"/>
                </a:ext>
              </a:extLst>
            </p:cNvPr>
            <p:cNvSpPr txBox="1">
              <a:spLocks noChangeArrowheads="1"/>
            </p:cNvSpPr>
            <p:nvPr/>
          </p:nvSpPr>
          <p:spPr bwMode="auto">
            <a:xfrm>
              <a:off x="3928575" y="2495149"/>
              <a:ext cx="733292"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t=2n</a:t>
              </a:r>
            </a:p>
          </p:txBody>
        </p:sp>
        <p:sp>
          <p:nvSpPr>
            <p:cNvPr id="10261" name="TextBox 31">
              <a:extLst>
                <a:ext uri="{FF2B5EF4-FFF2-40B4-BE49-F238E27FC236}">
                  <a16:creationId xmlns:a16="http://schemas.microsoft.com/office/drawing/2014/main" id="{245B8A1E-1186-4074-A251-AD2AE7042996}"/>
                </a:ext>
              </a:extLst>
            </p:cNvPr>
            <p:cNvSpPr txBox="1">
              <a:spLocks noChangeArrowheads="1"/>
            </p:cNvSpPr>
            <p:nvPr/>
          </p:nvSpPr>
          <p:spPr bwMode="auto">
            <a:xfrm>
              <a:off x="5637660" y="2638484"/>
              <a:ext cx="970698"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t=0.5n</a:t>
              </a:r>
            </a:p>
          </p:txBody>
        </p:sp>
        <p:sp>
          <p:nvSpPr>
            <p:cNvPr id="10262" name="TextBox 32">
              <a:extLst>
                <a:ext uri="{FF2B5EF4-FFF2-40B4-BE49-F238E27FC236}">
                  <a16:creationId xmlns:a16="http://schemas.microsoft.com/office/drawing/2014/main" id="{C6EAEAF6-2588-4136-A942-B9564CA73688}"/>
                </a:ext>
              </a:extLst>
            </p:cNvPr>
            <p:cNvSpPr txBox="1">
              <a:spLocks noChangeArrowheads="1"/>
            </p:cNvSpPr>
            <p:nvPr/>
          </p:nvSpPr>
          <p:spPr bwMode="auto">
            <a:xfrm>
              <a:off x="3783013" y="4386263"/>
              <a:ext cx="1423255" cy="40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t</a:t>
              </a:r>
              <a:r>
                <a:rPr lang="en-US" altLang="en-US" sz="2400" baseline="-25000"/>
                <a:t>delay</a:t>
              </a:r>
              <a:r>
                <a:rPr lang="en-US" altLang="en-US" sz="2400"/>
                <a:t>=3.5n</a:t>
              </a:r>
            </a:p>
          </p:txBody>
        </p:sp>
        <p:cxnSp>
          <p:nvCxnSpPr>
            <p:cNvPr id="30" name="Straight Connector 29">
              <a:extLst>
                <a:ext uri="{FF2B5EF4-FFF2-40B4-BE49-F238E27FC236}">
                  <a16:creationId xmlns:a16="http://schemas.microsoft.com/office/drawing/2014/main" id="{3C486740-6048-454A-B0A8-64843F92D16C}"/>
                </a:ext>
              </a:extLst>
            </p:cNvPr>
            <p:cNvCxnSpPr>
              <a:endCxn id="10266" idx="0"/>
            </p:cNvCxnSpPr>
            <p:nvPr/>
          </p:nvCxnSpPr>
          <p:spPr bwMode="auto">
            <a:xfrm rot="5400000">
              <a:off x="2155753" y="2247371"/>
              <a:ext cx="389296" cy="64656"/>
            </a:xfrm>
            <a:prstGeom prst="line">
              <a:avLst/>
            </a:prstGeom>
            <a:ln>
              <a:solidFill>
                <a:srgbClr val="0000FF"/>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1" name="Straight Connector 30">
              <a:extLst>
                <a:ext uri="{FF2B5EF4-FFF2-40B4-BE49-F238E27FC236}">
                  <a16:creationId xmlns:a16="http://schemas.microsoft.com/office/drawing/2014/main" id="{DB1DDD40-314F-4E55-AF9C-9AA828140D3C}"/>
                </a:ext>
              </a:extLst>
            </p:cNvPr>
            <p:cNvCxnSpPr/>
            <p:nvPr/>
          </p:nvCxnSpPr>
          <p:spPr bwMode="auto">
            <a:xfrm flipH="1">
              <a:off x="4138714" y="2873443"/>
              <a:ext cx="95514" cy="274467"/>
            </a:xfrm>
            <a:prstGeom prst="line">
              <a:avLst/>
            </a:prstGeom>
            <a:ln>
              <a:solidFill>
                <a:srgbClr val="0000FF"/>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3" name="Straight Connector 32">
              <a:extLst>
                <a:ext uri="{FF2B5EF4-FFF2-40B4-BE49-F238E27FC236}">
                  <a16:creationId xmlns:a16="http://schemas.microsoft.com/office/drawing/2014/main" id="{0415A9B1-6CDA-4C17-8A21-7C66594958BA}"/>
                </a:ext>
              </a:extLst>
            </p:cNvPr>
            <p:cNvCxnSpPr/>
            <p:nvPr/>
          </p:nvCxnSpPr>
          <p:spPr bwMode="auto">
            <a:xfrm flipH="1">
              <a:off x="5934374" y="3010677"/>
              <a:ext cx="126372" cy="291272"/>
            </a:xfrm>
            <a:prstGeom prst="line">
              <a:avLst/>
            </a:prstGeom>
            <a:ln>
              <a:solidFill>
                <a:srgbClr val="0000FF"/>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0266" name="Flowchart: Delay 4">
              <a:extLst>
                <a:ext uri="{FF2B5EF4-FFF2-40B4-BE49-F238E27FC236}">
                  <a16:creationId xmlns:a16="http://schemas.microsoft.com/office/drawing/2014/main" id="{55A3272A-4B02-4149-83C3-332E878603ED}"/>
                </a:ext>
              </a:extLst>
            </p:cNvPr>
            <p:cNvSpPr>
              <a:spLocks noChangeArrowheads="1"/>
            </p:cNvSpPr>
            <p:nvPr/>
          </p:nvSpPr>
          <p:spPr bwMode="auto">
            <a:xfrm>
              <a:off x="2132013" y="2459038"/>
              <a:ext cx="581025" cy="536575"/>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sp>
          <p:nvSpPr>
            <p:cNvPr id="10267" name="Flowchart: Delay 5">
              <a:extLst>
                <a:ext uri="{FF2B5EF4-FFF2-40B4-BE49-F238E27FC236}">
                  <a16:creationId xmlns:a16="http://schemas.microsoft.com/office/drawing/2014/main" id="{D74F212C-52D3-4FEF-A84B-529739403D4E}"/>
                </a:ext>
              </a:extLst>
            </p:cNvPr>
            <p:cNvSpPr>
              <a:spLocks noChangeArrowheads="1"/>
            </p:cNvSpPr>
            <p:nvPr/>
          </p:nvSpPr>
          <p:spPr bwMode="auto">
            <a:xfrm>
              <a:off x="3975100" y="3140075"/>
              <a:ext cx="584200" cy="53340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10268" name="Group 8">
              <a:extLst>
                <a:ext uri="{FF2B5EF4-FFF2-40B4-BE49-F238E27FC236}">
                  <a16:creationId xmlns:a16="http://schemas.microsoft.com/office/drawing/2014/main" id="{F343B12D-D4D8-4E63-BCA4-9BB240397D9F}"/>
                </a:ext>
              </a:extLst>
            </p:cNvPr>
            <p:cNvGrpSpPr>
              <a:grpSpLocks/>
            </p:cNvGrpSpPr>
            <p:nvPr/>
          </p:nvGrpSpPr>
          <p:grpSpPr bwMode="auto">
            <a:xfrm>
              <a:off x="5795963" y="3211513"/>
              <a:ext cx="473075" cy="388937"/>
              <a:chOff x="5282492" y="2872128"/>
              <a:chExt cx="374678" cy="307240"/>
            </a:xfrm>
          </p:grpSpPr>
          <p:sp>
            <p:nvSpPr>
              <p:cNvPr id="10269" name="Flowchart: Extract 6">
                <a:extLst>
                  <a:ext uri="{FF2B5EF4-FFF2-40B4-BE49-F238E27FC236}">
                    <a16:creationId xmlns:a16="http://schemas.microsoft.com/office/drawing/2014/main" id="{DA752EF2-033C-418F-85FA-BA8ADC34BBF0}"/>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sp>
            <p:nvSpPr>
              <p:cNvPr id="10270" name="Flowchart: Connector 7">
                <a:extLst>
                  <a:ext uri="{FF2B5EF4-FFF2-40B4-BE49-F238E27FC236}">
                    <a16:creationId xmlns:a16="http://schemas.microsoft.com/office/drawing/2014/main" id="{F43FEE6A-896C-4167-BB8B-23A356283471}"/>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45">
            <a:extLst>
              <a:ext uri="{FF2B5EF4-FFF2-40B4-BE49-F238E27FC236}">
                <a16:creationId xmlns:a16="http://schemas.microsoft.com/office/drawing/2014/main" id="{5BF998B9-D650-4394-8663-B8F43C849A78}"/>
              </a:ext>
            </a:extLst>
          </p:cNvPr>
          <p:cNvSpPr>
            <a:spLocks noChangeArrowheads="1"/>
          </p:cNvSpPr>
          <p:nvPr/>
        </p:nvSpPr>
        <p:spPr bwMode="auto">
          <a:xfrm>
            <a:off x="6802438" y="2360614"/>
            <a:ext cx="3179762" cy="2890837"/>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a:p>
        </p:txBody>
      </p:sp>
      <p:sp>
        <p:nvSpPr>
          <p:cNvPr id="11267" name="Title 1">
            <a:extLst>
              <a:ext uri="{FF2B5EF4-FFF2-40B4-BE49-F238E27FC236}">
                <a16:creationId xmlns:a16="http://schemas.microsoft.com/office/drawing/2014/main" id="{4276DE32-3DE1-46F3-8240-7AB12655C733}"/>
              </a:ext>
            </a:extLst>
          </p:cNvPr>
          <p:cNvSpPr>
            <a:spLocks noGrp="1"/>
          </p:cNvSpPr>
          <p:nvPr>
            <p:ph type="title"/>
          </p:nvPr>
        </p:nvSpPr>
        <p:spPr/>
        <p:txBody>
          <a:bodyPr/>
          <a:lstStyle/>
          <a:p>
            <a:r>
              <a:rPr lang="en-US" altLang="en-US"/>
              <a:t>Delay Dependencies </a:t>
            </a:r>
          </a:p>
        </p:txBody>
      </p:sp>
      <p:grpSp>
        <p:nvGrpSpPr>
          <p:cNvPr id="11268" name="Group 1">
            <a:extLst>
              <a:ext uri="{FF2B5EF4-FFF2-40B4-BE49-F238E27FC236}">
                <a16:creationId xmlns:a16="http://schemas.microsoft.com/office/drawing/2014/main" id="{0E755BE7-EE48-457E-A74F-7E45FB947EE6}"/>
              </a:ext>
            </a:extLst>
          </p:cNvPr>
          <p:cNvGrpSpPr>
            <a:grpSpLocks/>
          </p:cNvGrpSpPr>
          <p:nvPr/>
        </p:nvGrpSpPr>
        <p:grpSpPr bwMode="auto">
          <a:xfrm>
            <a:off x="2225676" y="1698626"/>
            <a:ext cx="3794125" cy="3330575"/>
            <a:chOff x="457200" y="1470025"/>
            <a:chExt cx="3794125" cy="3330575"/>
          </a:xfrm>
        </p:grpSpPr>
        <p:sp>
          <p:nvSpPr>
            <p:cNvPr id="72" name="Rectangle 71">
              <a:extLst>
                <a:ext uri="{FF2B5EF4-FFF2-40B4-BE49-F238E27FC236}">
                  <a16:creationId xmlns:a16="http://schemas.microsoft.com/office/drawing/2014/main" id="{F44BA317-EE4F-47DC-AD83-298EC422507E}"/>
                </a:ext>
              </a:extLst>
            </p:cNvPr>
            <p:cNvSpPr/>
            <p:nvPr/>
          </p:nvSpPr>
          <p:spPr bwMode="auto">
            <a:xfrm>
              <a:off x="833438" y="4359275"/>
              <a:ext cx="1138237" cy="441325"/>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sp>
          <p:nvSpPr>
            <p:cNvPr id="71" name="Rectangle 70">
              <a:extLst>
                <a:ext uri="{FF2B5EF4-FFF2-40B4-BE49-F238E27FC236}">
                  <a16:creationId xmlns:a16="http://schemas.microsoft.com/office/drawing/2014/main" id="{3B5F6A0F-1290-47DB-961B-D4B85746E00F}"/>
                </a:ext>
              </a:extLst>
            </p:cNvPr>
            <p:cNvSpPr/>
            <p:nvPr/>
          </p:nvSpPr>
          <p:spPr bwMode="auto">
            <a:xfrm>
              <a:off x="833438" y="3733800"/>
              <a:ext cx="1138237" cy="441325"/>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sp>
          <p:nvSpPr>
            <p:cNvPr id="11317" name="Freeform 11">
              <a:extLst>
                <a:ext uri="{FF2B5EF4-FFF2-40B4-BE49-F238E27FC236}">
                  <a16:creationId xmlns:a16="http://schemas.microsoft.com/office/drawing/2014/main" id="{D4FD8C86-F2AC-40E5-9F33-2BB905733F10}"/>
                </a:ext>
              </a:extLst>
            </p:cNvPr>
            <p:cNvSpPr>
              <a:spLocks/>
            </p:cNvSpPr>
            <p:nvPr/>
          </p:nvSpPr>
          <p:spPr bwMode="auto">
            <a:xfrm>
              <a:off x="457200" y="1752600"/>
              <a:ext cx="1157288" cy="563563"/>
            </a:xfrm>
            <a:custGeom>
              <a:avLst/>
              <a:gdLst>
                <a:gd name="T0" fmla="*/ 0 w 503245"/>
                <a:gd name="T1" fmla="*/ 2147483646 h 196669"/>
                <a:gd name="T2" fmla="*/ 2147483646 w 503245"/>
                <a:gd name="T3" fmla="*/ 2147483646 h 196669"/>
                <a:gd name="T4" fmla="*/ 2147483646 w 503245"/>
                <a:gd name="T5" fmla="*/ 2147483646 h 196669"/>
                <a:gd name="T6" fmla="*/ 2147483646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1318" name="TextBox 12">
              <a:extLst>
                <a:ext uri="{FF2B5EF4-FFF2-40B4-BE49-F238E27FC236}">
                  <a16:creationId xmlns:a16="http://schemas.microsoft.com/office/drawing/2014/main" id="{1E3C33EF-7558-43E9-A348-3776B8142632}"/>
                </a:ext>
              </a:extLst>
            </p:cNvPr>
            <p:cNvSpPr txBox="1">
              <a:spLocks noChangeArrowheads="1"/>
            </p:cNvSpPr>
            <p:nvPr/>
          </p:nvSpPr>
          <p:spPr bwMode="auto">
            <a:xfrm>
              <a:off x="577850" y="2584450"/>
              <a:ext cx="495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rise</a:t>
              </a:r>
              <a:endParaRPr lang="en-US" altLang="en-US" sz="1800"/>
            </a:p>
          </p:txBody>
        </p:sp>
        <p:sp>
          <p:nvSpPr>
            <p:cNvPr id="11319" name="TextBox 13">
              <a:extLst>
                <a:ext uri="{FF2B5EF4-FFF2-40B4-BE49-F238E27FC236}">
                  <a16:creationId xmlns:a16="http://schemas.microsoft.com/office/drawing/2014/main" id="{E52EFAD7-EC0A-4435-B152-5BAA80B1879A}"/>
                </a:ext>
              </a:extLst>
            </p:cNvPr>
            <p:cNvSpPr txBox="1">
              <a:spLocks noChangeArrowheads="1"/>
            </p:cNvSpPr>
            <p:nvPr/>
          </p:nvSpPr>
          <p:spPr bwMode="auto">
            <a:xfrm>
              <a:off x="3605213" y="2106613"/>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L</a:t>
              </a:r>
              <a:endParaRPr lang="en-US" altLang="en-US" sz="1800"/>
            </a:p>
          </p:txBody>
        </p:sp>
        <p:grpSp>
          <p:nvGrpSpPr>
            <p:cNvPr id="11320" name="Group 20">
              <a:extLst>
                <a:ext uri="{FF2B5EF4-FFF2-40B4-BE49-F238E27FC236}">
                  <a16:creationId xmlns:a16="http://schemas.microsoft.com/office/drawing/2014/main" id="{F4E32569-D31F-4F90-88BE-BBC2115F3C7B}"/>
                </a:ext>
              </a:extLst>
            </p:cNvPr>
            <p:cNvGrpSpPr>
              <a:grpSpLocks/>
            </p:cNvGrpSpPr>
            <p:nvPr/>
          </p:nvGrpSpPr>
          <p:grpSpPr bwMode="auto">
            <a:xfrm>
              <a:off x="1752600" y="1814513"/>
              <a:ext cx="2498725" cy="1157287"/>
              <a:chOff x="1806840" y="3236975"/>
              <a:chExt cx="1244988" cy="577689"/>
            </a:xfrm>
          </p:grpSpPr>
          <p:grpSp>
            <p:nvGrpSpPr>
              <p:cNvPr id="11328" name="Group 2">
                <a:extLst>
                  <a:ext uri="{FF2B5EF4-FFF2-40B4-BE49-F238E27FC236}">
                    <a16:creationId xmlns:a16="http://schemas.microsoft.com/office/drawing/2014/main" id="{CB8EE029-DF84-430F-9F4E-91DE8F34672C}"/>
                  </a:ext>
                </a:extLst>
              </p:cNvPr>
              <p:cNvGrpSpPr>
                <a:grpSpLocks/>
              </p:cNvGrpSpPr>
              <p:nvPr/>
            </p:nvGrpSpPr>
            <p:grpSpPr bwMode="auto">
              <a:xfrm>
                <a:off x="2267700" y="3236975"/>
                <a:ext cx="374678" cy="307240"/>
                <a:chOff x="5282492" y="2872128"/>
                <a:chExt cx="374678" cy="307240"/>
              </a:xfrm>
            </p:grpSpPr>
            <p:sp>
              <p:nvSpPr>
                <p:cNvPr id="11337" name="Flowchart: Extract 3">
                  <a:extLst>
                    <a:ext uri="{FF2B5EF4-FFF2-40B4-BE49-F238E27FC236}">
                      <a16:creationId xmlns:a16="http://schemas.microsoft.com/office/drawing/2014/main" id="{53BCD0CF-BCD4-42E3-A132-D167E1E44938}"/>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338" name="Flowchart: Connector 4">
                  <a:extLst>
                    <a:ext uri="{FF2B5EF4-FFF2-40B4-BE49-F238E27FC236}">
                      <a16:creationId xmlns:a16="http://schemas.microsoft.com/office/drawing/2014/main" id="{C232151A-15DA-46B7-85F2-AFAC81DF1716}"/>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grpSp>
            <p:nvGrpSpPr>
              <p:cNvPr id="11329" name="Group 5">
                <a:extLst>
                  <a:ext uri="{FF2B5EF4-FFF2-40B4-BE49-F238E27FC236}">
                    <a16:creationId xmlns:a16="http://schemas.microsoft.com/office/drawing/2014/main" id="{2B9C479B-DE7F-4CC3-A67B-C1F9AB3F4E08}"/>
                  </a:ext>
                </a:extLst>
              </p:cNvPr>
              <p:cNvGrpSpPr>
                <a:grpSpLocks/>
              </p:cNvGrpSpPr>
              <p:nvPr/>
            </p:nvGrpSpPr>
            <p:grpSpPr bwMode="auto">
              <a:xfrm>
                <a:off x="2859803" y="3392209"/>
                <a:ext cx="192025" cy="422455"/>
                <a:chOff x="4744668" y="3352190"/>
                <a:chExt cx="115215" cy="345645"/>
              </a:xfrm>
            </p:grpSpPr>
            <p:cxnSp>
              <p:nvCxnSpPr>
                <p:cNvPr id="11332" name="Straight Connector 6">
                  <a:extLst>
                    <a:ext uri="{FF2B5EF4-FFF2-40B4-BE49-F238E27FC236}">
                      <a16:creationId xmlns:a16="http://schemas.microsoft.com/office/drawing/2014/main" id="{3EC61371-2D3C-443B-825C-05996ECFCFA9}"/>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33" name="Straight Connector 7">
                  <a:extLst>
                    <a:ext uri="{FF2B5EF4-FFF2-40B4-BE49-F238E27FC236}">
                      <a16:creationId xmlns:a16="http://schemas.microsoft.com/office/drawing/2014/main" id="{95D54DA8-48F3-4979-86A6-FDF28975DEF7}"/>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34" name="Straight Connector 8">
                  <a:extLst>
                    <a:ext uri="{FF2B5EF4-FFF2-40B4-BE49-F238E27FC236}">
                      <a16:creationId xmlns:a16="http://schemas.microsoft.com/office/drawing/2014/main" id="{C196D07E-9330-49AB-B7AF-3DC4108CA5C4}"/>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35" name="Straight Connector 9">
                  <a:extLst>
                    <a:ext uri="{FF2B5EF4-FFF2-40B4-BE49-F238E27FC236}">
                      <a16:creationId xmlns:a16="http://schemas.microsoft.com/office/drawing/2014/main" id="{76719F26-0A41-4A82-BA44-6EA5E2CA1588}"/>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36" name="Straight Connector 10">
                  <a:extLst>
                    <a:ext uri="{FF2B5EF4-FFF2-40B4-BE49-F238E27FC236}">
                      <a16:creationId xmlns:a16="http://schemas.microsoft.com/office/drawing/2014/main" id="{52939AF1-3989-45C3-896B-6AF9D1EADF06}"/>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1330" name="Straight Connector 15">
                <a:extLst>
                  <a:ext uri="{FF2B5EF4-FFF2-40B4-BE49-F238E27FC236}">
                    <a16:creationId xmlns:a16="http://schemas.microsoft.com/office/drawing/2014/main" id="{B97EC178-A044-451D-95FE-4A26A90D5039}"/>
                  </a:ext>
                </a:extLst>
              </p:cNvPr>
              <p:cNvCxnSpPr>
                <a:cxnSpLocks noChangeShapeType="1"/>
                <a:endCxn id="11337" idx="2"/>
              </p:cNvCxnSpPr>
              <p:nvPr/>
            </p:nvCxnSpPr>
            <p:spPr bwMode="auto">
              <a:xfrm flipV="1">
                <a:off x="1806840" y="3390595"/>
                <a:ext cx="460861"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31" name="Straight Connector 17">
                <a:extLst>
                  <a:ext uri="{FF2B5EF4-FFF2-40B4-BE49-F238E27FC236}">
                    <a16:creationId xmlns:a16="http://schemas.microsoft.com/office/drawing/2014/main" id="{10D3E5F2-D01F-4888-AB90-18C196C12D44}"/>
                  </a:ext>
                </a:extLst>
              </p:cNvPr>
              <p:cNvCxnSpPr>
                <a:cxnSpLocks noChangeShapeType="1"/>
                <a:stCxn id="11338" idx="6"/>
              </p:cNvCxnSpPr>
              <p:nvPr/>
            </p:nvCxnSpPr>
            <p:spPr bwMode="auto">
              <a:xfrm>
                <a:off x="2642378" y="3390595"/>
                <a:ext cx="3166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1321" name="Straight Connector 22">
              <a:extLst>
                <a:ext uri="{FF2B5EF4-FFF2-40B4-BE49-F238E27FC236}">
                  <a16:creationId xmlns:a16="http://schemas.microsoft.com/office/drawing/2014/main" id="{4D18DD28-0048-4EE1-B160-075E2AFE6B45}"/>
                </a:ext>
              </a:extLst>
            </p:cNvPr>
            <p:cNvCxnSpPr>
              <a:cxnSpLocks noChangeShapeType="1"/>
              <a:stCxn id="11317" idx="1"/>
            </p:cNvCxnSpPr>
            <p:nvPr/>
          </p:nvCxnSpPr>
          <p:spPr bwMode="auto">
            <a:xfrm flipH="1">
              <a:off x="922338" y="2312988"/>
              <a:ext cx="0" cy="4651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22" name="Straight Connector 23">
              <a:extLst>
                <a:ext uri="{FF2B5EF4-FFF2-40B4-BE49-F238E27FC236}">
                  <a16:creationId xmlns:a16="http://schemas.microsoft.com/office/drawing/2014/main" id="{EFEFB40E-F2E3-45C2-B505-90BCF4D8F08C}"/>
                </a:ext>
              </a:extLst>
            </p:cNvPr>
            <p:cNvCxnSpPr>
              <a:cxnSpLocks noChangeShapeType="1"/>
              <a:stCxn id="11317" idx="2"/>
            </p:cNvCxnSpPr>
            <p:nvPr/>
          </p:nvCxnSpPr>
          <p:spPr bwMode="auto">
            <a:xfrm>
              <a:off x="1247775" y="1752600"/>
              <a:ext cx="0" cy="1019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23" name="Straight Arrow Connector 31">
              <a:extLst>
                <a:ext uri="{FF2B5EF4-FFF2-40B4-BE49-F238E27FC236}">
                  <a16:creationId xmlns:a16="http://schemas.microsoft.com/office/drawing/2014/main" id="{DCB0B852-871C-429A-B5A0-190791F14729}"/>
                </a:ext>
              </a:extLst>
            </p:cNvPr>
            <p:cNvCxnSpPr>
              <a:cxnSpLocks noChangeShapeType="1"/>
            </p:cNvCxnSpPr>
            <p:nvPr/>
          </p:nvCxnSpPr>
          <p:spPr bwMode="auto">
            <a:xfrm>
              <a:off x="603250" y="2625725"/>
              <a:ext cx="309563"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24" name="Straight Arrow Connector 32">
              <a:extLst>
                <a:ext uri="{FF2B5EF4-FFF2-40B4-BE49-F238E27FC236}">
                  <a16:creationId xmlns:a16="http://schemas.microsoft.com/office/drawing/2014/main" id="{6FC87066-56C0-4D1C-8879-423529148E6C}"/>
                </a:ext>
              </a:extLst>
            </p:cNvPr>
            <p:cNvCxnSpPr>
              <a:cxnSpLocks noChangeShapeType="1"/>
            </p:cNvCxnSpPr>
            <p:nvPr/>
          </p:nvCxnSpPr>
          <p:spPr bwMode="auto">
            <a:xfrm>
              <a:off x="1247775" y="2625725"/>
              <a:ext cx="309563" cy="0"/>
            </a:xfrm>
            <a:prstGeom prst="straightConnector1">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11325" name="TextBox 33">
              <a:extLst>
                <a:ext uri="{FF2B5EF4-FFF2-40B4-BE49-F238E27FC236}">
                  <a16:creationId xmlns:a16="http://schemas.microsoft.com/office/drawing/2014/main" id="{99DC5C8C-488D-4FC6-831E-EA4DE9FB1127}"/>
                </a:ext>
              </a:extLst>
            </p:cNvPr>
            <p:cNvSpPr txBox="1">
              <a:spLocks noChangeArrowheads="1"/>
            </p:cNvSpPr>
            <p:nvPr/>
          </p:nvSpPr>
          <p:spPr bwMode="auto">
            <a:xfrm>
              <a:off x="2678113" y="1470025"/>
              <a:ext cx="333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d</a:t>
              </a:r>
              <a:endParaRPr lang="en-US" altLang="en-US" sz="1800"/>
            </a:p>
          </p:txBody>
        </p:sp>
        <p:sp>
          <p:nvSpPr>
            <p:cNvPr id="11326" name="TextBox 34">
              <a:extLst>
                <a:ext uri="{FF2B5EF4-FFF2-40B4-BE49-F238E27FC236}">
                  <a16:creationId xmlns:a16="http://schemas.microsoft.com/office/drawing/2014/main" id="{4806B027-7BF3-451A-B392-D9B0219DF342}"/>
                </a:ext>
              </a:extLst>
            </p:cNvPr>
            <p:cNvSpPr txBox="1">
              <a:spLocks noChangeArrowheads="1"/>
            </p:cNvSpPr>
            <p:nvPr/>
          </p:nvSpPr>
          <p:spPr bwMode="auto">
            <a:xfrm>
              <a:off x="990600" y="3727450"/>
              <a:ext cx="1663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d </a:t>
              </a:r>
              <a:r>
                <a:rPr lang="en-US" altLang="en-US" sz="1800"/>
                <a:t>~ C</a:t>
              </a:r>
              <a:r>
                <a:rPr lang="en-US" altLang="en-US" sz="1800" baseline="-25000"/>
                <a:t>L</a:t>
              </a:r>
              <a:endParaRPr lang="en-US" altLang="en-US" sz="1800"/>
            </a:p>
          </p:txBody>
        </p:sp>
        <p:sp>
          <p:nvSpPr>
            <p:cNvPr id="11327" name="TextBox 35">
              <a:extLst>
                <a:ext uri="{FF2B5EF4-FFF2-40B4-BE49-F238E27FC236}">
                  <a16:creationId xmlns:a16="http://schemas.microsoft.com/office/drawing/2014/main" id="{6DA206E5-0511-4F2D-8CF7-ACF60B0F84CB}"/>
                </a:ext>
              </a:extLst>
            </p:cNvPr>
            <p:cNvSpPr txBox="1">
              <a:spLocks noChangeArrowheads="1"/>
            </p:cNvSpPr>
            <p:nvPr/>
          </p:nvSpPr>
          <p:spPr bwMode="auto">
            <a:xfrm>
              <a:off x="990600" y="4343400"/>
              <a:ext cx="1781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d </a:t>
              </a:r>
              <a:r>
                <a:rPr lang="en-US" altLang="en-US" sz="1800"/>
                <a:t>~ t</a:t>
              </a:r>
              <a:r>
                <a:rPr lang="en-US" altLang="en-US" sz="1800" baseline="-25000"/>
                <a:t>rise</a:t>
              </a:r>
              <a:endParaRPr lang="en-US" altLang="en-US" sz="1800"/>
            </a:p>
          </p:txBody>
        </p:sp>
      </p:grpSp>
      <p:grpSp>
        <p:nvGrpSpPr>
          <p:cNvPr id="11269" name="Group 82">
            <a:extLst>
              <a:ext uri="{FF2B5EF4-FFF2-40B4-BE49-F238E27FC236}">
                <a16:creationId xmlns:a16="http://schemas.microsoft.com/office/drawing/2014/main" id="{87231925-B92A-4952-8B0B-77CC57B56A49}"/>
              </a:ext>
            </a:extLst>
          </p:cNvPr>
          <p:cNvGrpSpPr>
            <a:grpSpLocks/>
          </p:cNvGrpSpPr>
          <p:nvPr/>
        </p:nvGrpSpPr>
        <p:grpSpPr bwMode="auto">
          <a:xfrm>
            <a:off x="6878638" y="2376488"/>
            <a:ext cx="3071812" cy="2781300"/>
            <a:chOff x="5340350" y="1778000"/>
            <a:chExt cx="2864327" cy="2612330"/>
          </a:xfrm>
        </p:grpSpPr>
        <p:grpSp>
          <p:nvGrpSpPr>
            <p:cNvPr id="11271" name="Group 44">
              <a:extLst>
                <a:ext uri="{FF2B5EF4-FFF2-40B4-BE49-F238E27FC236}">
                  <a16:creationId xmlns:a16="http://schemas.microsoft.com/office/drawing/2014/main" id="{29CC3F4F-9A4D-4151-8E65-721740A74146}"/>
                </a:ext>
              </a:extLst>
            </p:cNvPr>
            <p:cNvGrpSpPr>
              <a:grpSpLocks/>
            </p:cNvGrpSpPr>
            <p:nvPr/>
          </p:nvGrpSpPr>
          <p:grpSpPr bwMode="auto">
            <a:xfrm>
              <a:off x="5646103" y="2071688"/>
              <a:ext cx="2222269" cy="2125664"/>
              <a:chOff x="5634749" y="2074591"/>
              <a:chExt cx="2039863" cy="2005110"/>
            </a:xfrm>
          </p:grpSpPr>
          <p:cxnSp>
            <p:nvCxnSpPr>
              <p:cNvPr id="11312" name="Straight Arrow Connector 37">
                <a:extLst>
                  <a:ext uri="{FF2B5EF4-FFF2-40B4-BE49-F238E27FC236}">
                    <a16:creationId xmlns:a16="http://schemas.microsoft.com/office/drawing/2014/main" id="{013798D8-008D-49FF-96A3-51A425D2420C}"/>
                  </a:ext>
                </a:extLst>
              </p:cNvPr>
              <p:cNvCxnSpPr>
                <a:cxnSpLocks noChangeShapeType="1"/>
              </p:cNvCxnSpPr>
              <p:nvPr/>
            </p:nvCxnSpPr>
            <p:spPr bwMode="auto">
              <a:xfrm rot="5400000" flipH="1" flipV="1">
                <a:off x="5812399" y="2678425"/>
                <a:ext cx="1207668"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13" name="Straight Arrow Connector 38">
                <a:extLst>
                  <a:ext uri="{FF2B5EF4-FFF2-40B4-BE49-F238E27FC236}">
                    <a16:creationId xmlns:a16="http://schemas.microsoft.com/office/drawing/2014/main" id="{D63B11E0-D590-4BA2-AC1F-571311E42CA5}"/>
                  </a:ext>
                </a:extLst>
              </p:cNvPr>
              <p:cNvCxnSpPr>
                <a:cxnSpLocks noChangeShapeType="1"/>
              </p:cNvCxnSpPr>
              <p:nvPr/>
            </p:nvCxnSpPr>
            <p:spPr bwMode="auto">
              <a:xfrm rot="5400000">
                <a:off x="5622932" y="3287190"/>
                <a:ext cx="804328" cy="78069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14" name="Straight Arrow Connector 41">
                <a:extLst>
                  <a:ext uri="{FF2B5EF4-FFF2-40B4-BE49-F238E27FC236}">
                    <a16:creationId xmlns:a16="http://schemas.microsoft.com/office/drawing/2014/main" id="{2B7CDDEF-F60A-43A2-98C2-C3A7A94F41F4}"/>
                  </a:ext>
                </a:extLst>
              </p:cNvPr>
              <p:cNvCxnSpPr>
                <a:cxnSpLocks noChangeShapeType="1"/>
              </p:cNvCxnSpPr>
              <p:nvPr/>
            </p:nvCxnSpPr>
            <p:spPr bwMode="auto">
              <a:xfrm>
                <a:off x="6415438" y="3279866"/>
                <a:ext cx="1259174"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1272" name="TextBox 47">
              <a:extLst>
                <a:ext uri="{FF2B5EF4-FFF2-40B4-BE49-F238E27FC236}">
                  <a16:creationId xmlns:a16="http://schemas.microsoft.com/office/drawing/2014/main" id="{5D5FE39F-48AC-4ACF-B657-293B62E72987}"/>
                </a:ext>
              </a:extLst>
            </p:cNvPr>
            <p:cNvSpPr txBox="1">
              <a:spLocks noChangeArrowheads="1"/>
            </p:cNvSpPr>
            <p:nvPr/>
          </p:nvSpPr>
          <p:spPr bwMode="auto">
            <a:xfrm>
              <a:off x="6376988" y="1778000"/>
              <a:ext cx="311212" cy="34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d</a:t>
              </a:r>
              <a:endParaRPr lang="en-US" altLang="en-US" sz="1800"/>
            </a:p>
          </p:txBody>
        </p:sp>
        <p:sp>
          <p:nvSpPr>
            <p:cNvPr id="11273" name="TextBox 48">
              <a:extLst>
                <a:ext uri="{FF2B5EF4-FFF2-40B4-BE49-F238E27FC236}">
                  <a16:creationId xmlns:a16="http://schemas.microsoft.com/office/drawing/2014/main" id="{02701843-1E13-4F26-BD2A-0755742B9067}"/>
                </a:ext>
              </a:extLst>
            </p:cNvPr>
            <p:cNvSpPr txBox="1">
              <a:spLocks noChangeArrowheads="1"/>
            </p:cNvSpPr>
            <p:nvPr/>
          </p:nvSpPr>
          <p:spPr bwMode="auto">
            <a:xfrm>
              <a:off x="7797800" y="3160713"/>
              <a:ext cx="406877" cy="34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L</a:t>
              </a:r>
              <a:endParaRPr lang="en-US" altLang="en-US" sz="1800"/>
            </a:p>
          </p:txBody>
        </p:sp>
        <p:sp>
          <p:nvSpPr>
            <p:cNvPr id="11274" name="TextBox 49">
              <a:extLst>
                <a:ext uri="{FF2B5EF4-FFF2-40B4-BE49-F238E27FC236}">
                  <a16:creationId xmlns:a16="http://schemas.microsoft.com/office/drawing/2014/main" id="{50A3A327-1C31-4632-A00C-7745A2B55107}"/>
                </a:ext>
              </a:extLst>
            </p:cNvPr>
            <p:cNvSpPr txBox="1">
              <a:spLocks noChangeArrowheads="1"/>
            </p:cNvSpPr>
            <p:nvPr/>
          </p:nvSpPr>
          <p:spPr bwMode="auto">
            <a:xfrm>
              <a:off x="5340350" y="4043363"/>
              <a:ext cx="462183" cy="34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rise</a:t>
              </a:r>
              <a:endParaRPr lang="en-US" altLang="en-US" sz="1800"/>
            </a:p>
          </p:txBody>
        </p:sp>
        <p:cxnSp>
          <p:nvCxnSpPr>
            <p:cNvPr id="11275" name="Straight Connector 54">
              <a:extLst>
                <a:ext uri="{FF2B5EF4-FFF2-40B4-BE49-F238E27FC236}">
                  <a16:creationId xmlns:a16="http://schemas.microsoft.com/office/drawing/2014/main" id="{9CD9E835-E494-4399-A095-D4B88CC65562}"/>
                </a:ext>
              </a:extLst>
            </p:cNvPr>
            <p:cNvCxnSpPr>
              <a:cxnSpLocks noChangeShapeType="1"/>
            </p:cNvCxnSpPr>
            <p:nvPr/>
          </p:nvCxnSpPr>
          <p:spPr bwMode="auto">
            <a:xfrm>
              <a:off x="5954713" y="3889375"/>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1276" name="Straight Connector 55">
              <a:extLst>
                <a:ext uri="{FF2B5EF4-FFF2-40B4-BE49-F238E27FC236}">
                  <a16:creationId xmlns:a16="http://schemas.microsoft.com/office/drawing/2014/main" id="{72F4F415-E6F2-4F82-99D0-69F4BD4FCD1D}"/>
                </a:ext>
              </a:extLst>
            </p:cNvPr>
            <p:cNvCxnSpPr>
              <a:cxnSpLocks noChangeShapeType="1"/>
            </p:cNvCxnSpPr>
            <p:nvPr/>
          </p:nvCxnSpPr>
          <p:spPr bwMode="auto">
            <a:xfrm>
              <a:off x="6261100" y="3582988"/>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1277" name="Straight Connector 56">
              <a:extLst>
                <a:ext uri="{FF2B5EF4-FFF2-40B4-BE49-F238E27FC236}">
                  <a16:creationId xmlns:a16="http://schemas.microsoft.com/office/drawing/2014/main" id="{78672AFF-2E1E-4F66-85AF-C15170CB8922}"/>
                </a:ext>
              </a:extLst>
            </p:cNvPr>
            <p:cNvCxnSpPr>
              <a:cxnSpLocks noChangeShapeType="1"/>
            </p:cNvCxnSpPr>
            <p:nvPr/>
          </p:nvCxnSpPr>
          <p:spPr bwMode="auto">
            <a:xfrm rot="5400000">
              <a:off x="6300788" y="3352800"/>
              <a:ext cx="536575" cy="536575"/>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1278" name="Straight Connector 58">
              <a:extLst>
                <a:ext uri="{FF2B5EF4-FFF2-40B4-BE49-F238E27FC236}">
                  <a16:creationId xmlns:a16="http://schemas.microsoft.com/office/drawing/2014/main" id="{2C5F768F-34B9-4D13-8180-46524F06751E}"/>
                </a:ext>
              </a:extLst>
            </p:cNvPr>
            <p:cNvCxnSpPr>
              <a:cxnSpLocks noChangeShapeType="1"/>
            </p:cNvCxnSpPr>
            <p:nvPr/>
          </p:nvCxnSpPr>
          <p:spPr bwMode="auto">
            <a:xfrm rot="5400000">
              <a:off x="6766719" y="3352006"/>
              <a:ext cx="536575" cy="538163"/>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11279" name="Flowchart: Connector 59">
              <a:extLst>
                <a:ext uri="{FF2B5EF4-FFF2-40B4-BE49-F238E27FC236}">
                  <a16:creationId xmlns:a16="http://schemas.microsoft.com/office/drawing/2014/main" id="{8A2D4A01-D1E5-4120-AEA7-C8D130E41755}"/>
                </a:ext>
              </a:extLst>
            </p:cNvPr>
            <p:cNvSpPr>
              <a:spLocks noChangeArrowheads="1"/>
            </p:cNvSpPr>
            <p:nvPr/>
          </p:nvSpPr>
          <p:spPr bwMode="auto">
            <a:xfrm>
              <a:off x="6591300" y="3560763"/>
              <a:ext cx="44450"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0" name="Flowchart: Connector 60">
              <a:extLst>
                <a:ext uri="{FF2B5EF4-FFF2-40B4-BE49-F238E27FC236}">
                  <a16:creationId xmlns:a16="http://schemas.microsoft.com/office/drawing/2014/main" id="{585646A6-54C8-4E63-82FF-409B0B78ED8A}"/>
                </a:ext>
              </a:extLst>
            </p:cNvPr>
            <p:cNvSpPr>
              <a:spLocks noChangeArrowheads="1"/>
            </p:cNvSpPr>
            <p:nvPr/>
          </p:nvSpPr>
          <p:spPr bwMode="auto">
            <a:xfrm>
              <a:off x="7048500" y="356076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1" name="Flowchart: Connector 61">
              <a:extLst>
                <a:ext uri="{FF2B5EF4-FFF2-40B4-BE49-F238E27FC236}">
                  <a16:creationId xmlns:a16="http://schemas.microsoft.com/office/drawing/2014/main" id="{94662B1C-8B78-485C-8E7A-42D128B4CB56}"/>
                </a:ext>
              </a:extLst>
            </p:cNvPr>
            <p:cNvSpPr>
              <a:spLocks noChangeArrowheads="1"/>
            </p:cNvSpPr>
            <p:nvPr/>
          </p:nvSpPr>
          <p:spPr bwMode="auto">
            <a:xfrm>
              <a:off x="6753225" y="3868738"/>
              <a:ext cx="46038" cy="44450"/>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2" name="Flowchart: Connector 62">
              <a:extLst>
                <a:ext uri="{FF2B5EF4-FFF2-40B4-BE49-F238E27FC236}">
                  <a16:creationId xmlns:a16="http://schemas.microsoft.com/office/drawing/2014/main" id="{11FD0E34-5A40-44A8-81E4-F1A552BAF5B9}"/>
                </a:ext>
              </a:extLst>
            </p:cNvPr>
            <p:cNvSpPr>
              <a:spLocks noChangeArrowheads="1"/>
            </p:cNvSpPr>
            <p:nvPr/>
          </p:nvSpPr>
          <p:spPr bwMode="auto">
            <a:xfrm>
              <a:off x="6272213" y="386397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3" name="Flowchart: Connector 63">
              <a:extLst>
                <a:ext uri="{FF2B5EF4-FFF2-40B4-BE49-F238E27FC236}">
                  <a16:creationId xmlns:a16="http://schemas.microsoft.com/office/drawing/2014/main" id="{6A73833E-FE34-41B7-A390-FA18000F8E84}"/>
                </a:ext>
              </a:extLst>
            </p:cNvPr>
            <p:cNvSpPr>
              <a:spLocks noChangeArrowheads="1"/>
            </p:cNvSpPr>
            <p:nvPr/>
          </p:nvSpPr>
          <p:spPr bwMode="auto">
            <a:xfrm>
              <a:off x="5935663" y="3865563"/>
              <a:ext cx="46037"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4" name="Flowchart: Connector 64">
              <a:extLst>
                <a:ext uri="{FF2B5EF4-FFF2-40B4-BE49-F238E27FC236}">
                  <a16:creationId xmlns:a16="http://schemas.microsoft.com/office/drawing/2014/main" id="{8737608C-77BC-472D-9546-8BA6E3B495DA}"/>
                </a:ext>
              </a:extLst>
            </p:cNvPr>
            <p:cNvSpPr>
              <a:spLocks noChangeArrowheads="1"/>
            </p:cNvSpPr>
            <p:nvPr/>
          </p:nvSpPr>
          <p:spPr bwMode="auto">
            <a:xfrm>
              <a:off x="6240463" y="3565525"/>
              <a:ext cx="46037"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5" name="Flowchart: Connector 65">
              <a:extLst>
                <a:ext uri="{FF2B5EF4-FFF2-40B4-BE49-F238E27FC236}">
                  <a16:creationId xmlns:a16="http://schemas.microsoft.com/office/drawing/2014/main" id="{2253A6B6-6994-499B-9BEF-975180F033FD}"/>
                </a:ext>
              </a:extLst>
            </p:cNvPr>
            <p:cNvSpPr>
              <a:spLocks noChangeArrowheads="1"/>
            </p:cNvSpPr>
            <p:nvPr/>
          </p:nvSpPr>
          <p:spPr bwMode="auto">
            <a:xfrm>
              <a:off x="6823075" y="3327400"/>
              <a:ext cx="46038"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86" name="Flowchart: Connector 66">
              <a:extLst>
                <a:ext uri="{FF2B5EF4-FFF2-40B4-BE49-F238E27FC236}">
                  <a16:creationId xmlns:a16="http://schemas.microsoft.com/office/drawing/2014/main" id="{C86D7762-ADB7-4936-BD8B-D144E2615C3A}"/>
                </a:ext>
              </a:extLst>
            </p:cNvPr>
            <p:cNvSpPr>
              <a:spLocks noChangeArrowheads="1"/>
            </p:cNvSpPr>
            <p:nvPr/>
          </p:nvSpPr>
          <p:spPr bwMode="auto">
            <a:xfrm>
              <a:off x="7277100" y="332581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1287" name="Straight Connector 70">
              <a:extLst>
                <a:ext uri="{FF2B5EF4-FFF2-40B4-BE49-F238E27FC236}">
                  <a16:creationId xmlns:a16="http://schemas.microsoft.com/office/drawing/2014/main" id="{27D28644-5922-4A41-B572-4A234C4F0B0C}"/>
                </a:ext>
              </a:extLst>
            </p:cNvPr>
            <p:cNvCxnSpPr>
              <a:cxnSpLocks noChangeShapeType="1"/>
            </p:cNvCxnSpPr>
            <p:nvPr/>
          </p:nvCxnSpPr>
          <p:spPr bwMode="auto">
            <a:xfrm rot="5400000" flipH="1">
              <a:off x="5809456" y="3404394"/>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88" name="Straight Connector 71">
              <a:extLst>
                <a:ext uri="{FF2B5EF4-FFF2-40B4-BE49-F238E27FC236}">
                  <a16:creationId xmlns:a16="http://schemas.microsoft.com/office/drawing/2014/main" id="{A8C34206-65FB-44C5-8095-6D8DC4561B57}"/>
                </a:ext>
              </a:extLst>
            </p:cNvPr>
            <p:cNvCxnSpPr>
              <a:cxnSpLocks noChangeShapeType="1"/>
            </p:cNvCxnSpPr>
            <p:nvPr/>
          </p:nvCxnSpPr>
          <p:spPr bwMode="auto">
            <a:xfrm rot="16200000" flipV="1">
              <a:off x="6125727" y="3235353"/>
              <a:ext cx="130169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89" name="Straight Connector 72">
              <a:extLst>
                <a:ext uri="{FF2B5EF4-FFF2-40B4-BE49-F238E27FC236}">
                  <a16:creationId xmlns:a16="http://schemas.microsoft.com/office/drawing/2014/main" id="{FF174F19-9399-45F2-B629-9A0AD079E588}"/>
                </a:ext>
              </a:extLst>
            </p:cNvPr>
            <p:cNvCxnSpPr>
              <a:cxnSpLocks noChangeShapeType="1"/>
            </p:cNvCxnSpPr>
            <p:nvPr/>
          </p:nvCxnSpPr>
          <p:spPr bwMode="auto">
            <a:xfrm rot="16200000" flipV="1">
              <a:off x="6259873" y="3238861"/>
              <a:ext cx="693375" cy="123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90" name="Straight Connector 73">
              <a:extLst>
                <a:ext uri="{FF2B5EF4-FFF2-40B4-BE49-F238E27FC236}">
                  <a16:creationId xmlns:a16="http://schemas.microsoft.com/office/drawing/2014/main" id="{35373229-75E4-4758-AADC-A68BD11BC447}"/>
                </a:ext>
              </a:extLst>
            </p:cNvPr>
            <p:cNvCxnSpPr>
              <a:cxnSpLocks noChangeShapeType="1"/>
            </p:cNvCxnSpPr>
            <p:nvPr/>
          </p:nvCxnSpPr>
          <p:spPr bwMode="auto">
            <a:xfrm rot="5400000" flipH="1">
              <a:off x="6584156" y="3096419"/>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11291" name="Group 94">
              <a:extLst>
                <a:ext uri="{FF2B5EF4-FFF2-40B4-BE49-F238E27FC236}">
                  <a16:creationId xmlns:a16="http://schemas.microsoft.com/office/drawing/2014/main" id="{E7CBD145-9A6F-41C6-9602-2CCEEF31524D}"/>
                </a:ext>
              </a:extLst>
            </p:cNvPr>
            <p:cNvGrpSpPr>
              <a:grpSpLocks/>
            </p:cNvGrpSpPr>
            <p:nvPr/>
          </p:nvGrpSpPr>
          <p:grpSpPr bwMode="auto">
            <a:xfrm>
              <a:off x="6296031" y="2554908"/>
              <a:ext cx="773112" cy="369267"/>
              <a:chOff x="5117093" y="2554259"/>
              <a:chExt cx="569832" cy="369917"/>
            </a:xfrm>
          </p:grpSpPr>
          <p:cxnSp>
            <p:nvCxnSpPr>
              <p:cNvPr id="11308" name="Straight Connector 68">
                <a:extLst>
                  <a:ext uri="{FF2B5EF4-FFF2-40B4-BE49-F238E27FC236}">
                    <a16:creationId xmlns:a16="http://schemas.microsoft.com/office/drawing/2014/main" id="{5793C66C-9C28-4619-82A6-48B4D31C8152}"/>
                  </a:ext>
                </a:extLst>
              </p:cNvPr>
              <p:cNvCxnSpPr>
                <a:cxnSpLocks noChangeShapeType="1"/>
                <a:endCxn id="11294" idx="0"/>
              </p:cNvCxnSpPr>
              <p:nvPr/>
            </p:nvCxnSpPr>
            <p:spPr bwMode="auto">
              <a:xfrm flipV="1">
                <a:off x="5117093" y="2554259"/>
                <a:ext cx="354879" cy="36515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9" name="Straight Connector 77">
                <a:extLst>
                  <a:ext uri="{FF2B5EF4-FFF2-40B4-BE49-F238E27FC236}">
                    <a16:creationId xmlns:a16="http://schemas.microsoft.com/office/drawing/2014/main" id="{02D2C5EC-2513-47A5-8EC9-E21EE7C0BB2C}"/>
                  </a:ext>
                </a:extLst>
              </p:cNvPr>
              <p:cNvCxnSpPr>
                <a:cxnSpLocks noChangeShapeType="1"/>
                <a:stCxn id="11294" idx="6"/>
              </p:cNvCxnSpPr>
              <p:nvPr/>
            </p:nvCxnSpPr>
            <p:spPr bwMode="auto">
              <a:xfrm>
                <a:off x="5488354" y="2577319"/>
                <a:ext cx="195065" cy="3729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10" name="Straight Connector 82">
                <a:extLst>
                  <a:ext uri="{FF2B5EF4-FFF2-40B4-BE49-F238E27FC236}">
                    <a16:creationId xmlns:a16="http://schemas.microsoft.com/office/drawing/2014/main" id="{58B4405D-5EA5-40D9-835D-19A47F1EE239}"/>
                  </a:ext>
                </a:extLst>
              </p:cNvPr>
              <p:cNvCxnSpPr>
                <a:cxnSpLocks noChangeShapeType="1"/>
                <a:endCxn id="11293" idx="6"/>
              </p:cNvCxnSpPr>
              <p:nvPr/>
            </p:nvCxnSpPr>
            <p:spPr bwMode="auto">
              <a:xfrm rot="10800000" flipV="1">
                <a:off x="5360050" y="2616993"/>
                <a:ext cx="326875" cy="2795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11" name="Straight Connector 84">
                <a:extLst>
                  <a:ext uri="{FF2B5EF4-FFF2-40B4-BE49-F238E27FC236}">
                    <a16:creationId xmlns:a16="http://schemas.microsoft.com/office/drawing/2014/main" id="{9AE5DEF6-6153-4363-BCC9-BDB61AEAD3A9}"/>
                  </a:ext>
                </a:extLst>
              </p:cNvPr>
              <p:cNvCxnSpPr>
                <a:cxnSpLocks noChangeShapeType="1"/>
              </p:cNvCxnSpPr>
              <p:nvPr/>
            </p:nvCxnSpPr>
            <p:spPr bwMode="auto">
              <a:xfrm flipV="1">
                <a:off x="5117095" y="2897505"/>
                <a:ext cx="226668" cy="2667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1292" name="Flowchart: Connector 62">
              <a:extLst>
                <a:ext uri="{FF2B5EF4-FFF2-40B4-BE49-F238E27FC236}">
                  <a16:creationId xmlns:a16="http://schemas.microsoft.com/office/drawing/2014/main" id="{7C566F02-B212-4F8D-B14E-D229B34FB359}"/>
                </a:ext>
              </a:extLst>
            </p:cNvPr>
            <p:cNvSpPr>
              <a:spLocks noChangeArrowheads="1"/>
            </p:cNvSpPr>
            <p:nvPr/>
          </p:nvSpPr>
          <p:spPr bwMode="auto">
            <a:xfrm>
              <a:off x="6271345" y="290085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93" name="Flowchart: Connector 62">
              <a:extLst>
                <a:ext uri="{FF2B5EF4-FFF2-40B4-BE49-F238E27FC236}">
                  <a16:creationId xmlns:a16="http://schemas.microsoft.com/office/drawing/2014/main" id="{FA4A6D0F-3581-421D-9780-E05BE9BCCED2}"/>
                </a:ext>
              </a:extLst>
            </p:cNvPr>
            <p:cNvSpPr>
              <a:spLocks noChangeArrowheads="1"/>
            </p:cNvSpPr>
            <p:nvPr/>
          </p:nvSpPr>
          <p:spPr bwMode="auto">
            <a:xfrm>
              <a:off x="6581215" y="2873561"/>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94" name="Flowchart: Connector 62">
              <a:extLst>
                <a:ext uri="{FF2B5EF4-FFF2-40B4-BE49-F238E27FC236}">
                  <a16:creationId xmlns:a16="http://schemas.microsoft.com/office/drawing/2014/main" id="{E6106DAF-47BC-4BBC-B6A4-498DEA558FE7}"/>
                </a:ext>
              </a:extLst>
            </p:cNvPr>
            <p:cNvSpPr>
              <a:spLocks noChangeArrowheads="1"/>
            </p:cNvSpPr>
            <p:nvPr/>
          </p:nvSpPr>
          <p:spPr bwMode="auto">
            <a:xfrm>
              <a:off x="6755290" y="2554908"/>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295" name="Flowchart: Connector 62">
              <a:extLst>
                <a:ext uri="{FF2B5EF4-FFF2-40B4-BE49-F238E27FC236}">
                  <a16:creationId xmlns:a16="http://schemas.microsoft.com/office/drawing/2014/main" id="{21F10189-5967-4A68-9869-C8BA643D9B16}"/>
                </a:ext>
              </a:extLst>
            </p:cNvPr>
            <p:cNvSpPr>
              <a:spLocks noChangeArrowheads="1"/>
            </p:cNvSpPr>
            <p:nvPr/>
          </p:nvSpPr>
          <p:spPr bwMode="auto">
            <a:xfrm>
              <a:off x="7039445" y="259996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1296" name="Straight Connector 57">
              <a:extLst>
                <a:ext uri="{FF2B5EF4-FFF2-40B4-BE49-F238E27FC236}">
                  <a16:creationId xmlns:a16="http://schemas.microsoft.com/office/drawing/2014/main" id="{A1CD6981-2CB5-48FC-9096-662B1D8A5FEB}"/>
                </a:ext>
              </a:extLst>
            </p:cNvPr>
            <p:cNvCxnSpPr>
              <a:cxnSpLocks noChangeShapeType="1"/>
            </p:cNvCxnSpPr>
            <p:nvPr/>
          </p:nvCxnSpPr>
          <p:spPr bwMode="auto">
            <a:xfrm rot="5400000">
              <a:off x="6369015" y="2834883"/>
              <a:ext cx="117110" cy="4242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97" name="Straight Connector 58">
              <a:extLst>
                <a:ext uri="{FF2B5EF4-FFF2-40B4-BE49-F238E27FC236}">
                  <a16:creationId xmlns:a16="http://schemas.microsoft.com/office/drawing/2014/main" id="{0608B68F-438E-485D-9A97-7DA2656B03B7}"/>
                </a:ext>
              </a:extLst>
            </p:cNvPr>
            <p:cNvCxnSpPr>
              <a:cxnSpLocks noChangeShapeType="1"/>
            </p:cNvCxnSpPr>
            <p:nvPr/>
          </p:nvCxnSpPr>
          <p:spPr bwMode="auto">
            <a:xfrm rot="5400000">
              <a:off x="6402286" y="2811003"/>
              <a:ext cx="155208" cy="5684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98" name="Straight Connector 60">
              <a:extLst>
                <a:ext uri="{FF2B5EF4-FFF2-40B4-BE49-F238E27FC236}">
                  <a16:creationId xmlns:a16="http://schemas.microsoft.com/office/drawing/2014/main" id="{181F557F-3022-4856-A620-8C44E7D5F58C}"/>
                </a:ext>
              </a:extLst>
            </p:cNvPr>
            <p:cNvCxnSpPr>
              <a:cxnSpLocks noChangeShapeType="1"/>
            </p:cNvCxnSpPr>
            <p:nvPr/>
          </p:nvCxnSpPr>
          <p:spPr bwMode="auto">
            <a:xfrm rot="5400000">
              <a:off x="6436966" y="2779009"/>
              <a:ext cx="193309" cy="636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299" name="Straight Connector 61">
              <a:extLst>
                <a:ext uri="{FF2B5EF4-FFF2-40B4-BE49-F238E27FC236}">
                  <a16:creationId xmlns:a16="http://schemas.microsoft.com/office/drawing/2014/main" id="{09D1D10D-B33B-4E4E-AB6D-11AF6F464DAE}"/>
                </a:ext>
              </a:extLst>
            </p:cNvPr>
            <p:cNvCxnSpPr>
              <a:cxnSpLocks noChangeShapeType="1"/>
            </p:cNvCxnSpPr>
            <p:nvPr/>
          </p:nvCxnSpPr>
          <p:spPr bwMode="auto">
            <a:xfrm rot="5400000">
              <a:off x="6472988" y="2748358"/>
              <a:ext cx="231412" cy="773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0" name="Straight Connector 64">
              <a:extLst>
                <a:ext uri="{FF2B5EF4-FFF2-40B4-BE49-F238E27FC236}">
                  <a16:creationId xmlns:a16="http://schemas.microsoft.com/office/drawing/2014/main" id="{9DBCE5D5-F89F-4265-B2B8-552F1D1E2D9B}"/>
                </a:ext>
              </a:extLst>
            </p:cNvPr>
            <p:cNvCxnSpPr>
              <a:cxnSpLocks noChangeShapeType="1"/>
            </p:cNvCxnSpPr>
            <p:nvPr/>
          </p:nvCxnSpPr>
          <p:spPr bwMode="auto">
            <a:xfrm rot="5400000">
              <a:off x="6512215" y="2706746"/>
              <a:ext cx="279158" cy="98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1" name="Straight Connector 65">
              <a:extLst>
                <a:ext uri="{FF2B5EF4-FFF2-40B4-BE49-F238E27FC236}">
                  <a16:creationId xmlns:a16="http://schemas.microsoft.com/office/drawing/2014/main" id="{3FDD132F-D8AB-40BC-8378-D3FF5EBC363E}"/>
                </a:ext>
              </a:extLst>
            </p:cNvPr>
            <p:cNvCxnSpPr>
              <a:cxnSpLocks noChangeShapeType="1"/>
            </p:cNvCxnSpPr>
            <p:nvPr/>
          </p:nvCxnSpPr>
          <p:spPr bwMode="auto">
            <a:xfrm rot="5400000">
              <a:off x="6559547" y="2668156"/>
              <a:ext cx="306753" cy="10441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2" name="Straight Connector 66">
              <a:extLst>
                <a:ext uri="{FF2B5EF4-FFF2-40B4-BE49-F238E27FC236}">
                  <a16:creationId xmlns:a16="http://schemas.microsoft.com/office/drawing/2014/main" id="{3C0F2E41-8536-43B7-99C4-C11B1977C196}"/>
                </a:ext>
              </a:extLst>
            </p:cNvPr>
            <p:cNvCxnSpPr>
              <a:cxnSpLocks noChangeShapeType="1"/>
            </p:cNvCxnSpPr>
            <p:nvPr/>
          </p:nvCxnSpPr>
          <p:spPr bwMode="auto">
            <a:xfrm rot="5400000">
              <a:off x="6640511" y="2661012"/>
              <a:ext cx="254360" cy="8536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3" name="Straight Connector 67">
              <a:extLst>
                <a:ext uri="{FF2B5EF4-FFF2-40B4-BE49-F238E27FC236}">
                  <a16:creationId xmlns:a16="http://schemas.microsoft.com/office/drawing/2014/main" id="{CA9F9949-DD76-4895-ABB7-A8972241CE0D}"/>
                </a:ext>
              </a:extLst>
            </p:cNvPr>
            <p:cNvCxnSpPr>
              <a:cxnSpLocks noChangeShapeType="1"/>
            </p:cNvCxnSpPr>
            <p:nvPr/>
          </p:nvCxnSpPr>
          <p:spPr bwMode="auto">
            <a:xfrm rot="5400000">
              <a:off x="6723852" y="2651485"/>
              <a:ext cx="204361" cy="7346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4" name="Straight Connector 68">
              <a:extLst>
                <a:ext uri="{FF2B5EF4-FFF2-40B4-BE49-F238E27FC236}">
                  <a16:creationId xmlns:a16="http://schemas.microsoft.com/office/drawing/2014/main" id="{CB18B8A1-CCA2-4262-99C3-A0077D7605E5}"/>
                </a:ext>
              </a:extLst>
            </p:cNvPr>
            <p:cNvCxnSpPr>
              <a:cxnSpLocks noChangeShapeType="1"/>
            </p:cNvCxnSpPr>
            <p:nvPr/>
          </p:nvCxnSpPr>
          <p:spPr bwMode="auto">
            <a:xfrm rot="5400000">
              <a:off x="6808387" y="2643152"/>
              <a:ext cx="154353" cy="5441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5" name="Straight Connector 69">
              <a:extLst>
                <a:ext uri="{FF2B5EF4-FFF2-40B4-BE49-F238E27FC236}">
                  <a16:creationId xmlns:a16="http://schemas.microsoft.com/office/drawing/2014/main" id="{724DD4EC-C9AA-4A94-AC25-C6608B2CDABC}"/>
                </a:ext>
              </a:extLst>
            </p:cNvPr>
            <p:cNvCxnSpPr>
              <a:cxnSpLocks noChangeShapeType="1"/>
            </p:cNvCxnSpPr>
            <p:nvPr/>
          </p:nvCxnSpPr>
          <p:spPr bwMode="auto">
            <a:xfrm rot="5400000">
              <a:off x="6885780" y="2632437"/>
              <a:ext cx="109104" cy="401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6" name="Straight Connector 70">
              <a:extLst>
                <a:ext uri="{FF2B5EF4-FFF2-40B4-BE49-F238E27FC236}">
                  <a16:creationId xmlns:a16="http://schemas.microsoft.com/office/drawing/2014/main" id="{D0D2DC40-FC5A-4F41-908A-D6E8A2528E3C}"/>
                </a:ext>
              </a:extLst>
            </p:cNvPr>
            <p:cNvCxnSpPr>
              <a:cxnSpLocks noChangeShapeType="1"/>
            </p:cNvCxnSpPr>
            <p:nvPr/>
          </p:nvCxnSpPr>
          <p:spPr bwMode="auto">
            <a:xfrm rot="5400000">
              <a:off x="6336828" y="2874195"/>
              <a:ext cx="61311" cy="19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307" name="Straight Connector 79">
              <a:extLst>
                <a:ext uri="{FF2B5EF4-FFF2-40B4-BE49-F238E27FC236}">
                  <a16:creationId xmlns:a16="http://schemas.microsoft.com/office/drawing/2014/main" id="{49B99C7A-1E35-4947-81B1-C4F9CA7E832F}"/>
                </a:ext>
              </a:extLst>
            </p:cNvPr>
            <p:cNvCxnSpPr>
              <a:cxnSpLocks noChangeShapeType="1"/>
            </p:cNvCxnSpPr>
            <p:nvPr/>
          </p:nvCxnSpPr>
          <p:spPr bwMode="auto">
            <a:xfrm rot="5400000">
              <a:off x="6957216" y="2627674"/>
              <a:ext cx="68627" cy="282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74" name="TextBox 12">
            <a:extLst>
              <a:ext uri="{FF2B5EF4-FFF2-40B4-BE49-F238E27FC236}">
                <a16:creationId xmlns:a16="http://schemas.microsoft.com/office/drawing/2014/main" id="{89306024-F3BF-4F98-9D2A-534F2AF8AB19}"/>
              </a:ext>
            </a:extLst>
          </p:cNvPr>
          <p:cNvSpPr txBox="1">
            <a:spLocks noChangeArrowheads="1"/>
          </p:cNvSpPr>
          <p:nvPr/>
        </p:nvSpPr>
        <p:spPr bwMode="auto">
          <a:xfrm>
            <a:off x="6610351" y="1444626"/>
            <a:ext cx="3656013" cy="64611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dirty="0" err="1">
                <a:solidFill>
                  <a:schemeClr val="bg1"/>
                </a:solidFill>
              </a:rPr>
              <a:t>t</a:t>
            </a:r>
            <a:r>
              <a:rPr lang="en-US" baseline="-25000" dirty="0" err="1">
                <a:solidFill>
                  <a:schemeClr val="bg1"/>
                </a:solidFill>
              </a:rPr>
              <a:t>rise</a:t>
            </a:r>
            <a:r>
              <a:rPr lang="en-US" dirty="0">
                <a:solidFill>
                  <a:schemeClr val="bg1"/>
                </a:solidFill>
              </a:rPr>
              <a:t> 		10ps – 120ps</a:t>
            </a:r>
          </a:p>
          <a:p>
            <a:pPr eaLnBrk="1" hangingPunct="1">
              <a:defRPr/>
            </a:pPr>
            <a:r>
              <a:rPr lang="en-US" dirty="0" err="1">
                <a:solidFill>
                  <a:schemeClr val="bg1"/>
                </a:solidFill>
              </a:rPr>
              <a:t>C</a:t>
            </a:r>
            <a:r>
              <a:rPr lang="en-US" baseline="-25000" dirty="0" err="1">
                <a:solidFill>
                  <a:schemeClr val="bg1"/>
                </a:solidFill>
              </a:rPr>
              <a:t>load</a:t>
            </a:r>
            <a:r>
              <a:rPr lang="en-US" baseline="-25000" dirty="0">
                <a:solidFill>
                  <a:schemeClr val="bg1"/>
                </a:solidFill>
              </a:rPr>
              <a:t>		</a:t>
            </a:r>
            <a:r>
              <a:rPr lang="en-US" dirty="0">
                <a:solidFill>
                  <a:schemeClr val="bg1"/>
                </a:solidFill>
              </a:rPr>
              <a:t>10fF – 50 </a:t>
            </a:r>
            <a:r>
              <a:rPr lang="en-US" dirty="0" err="1">
                <a:solidFill>
                  <a:schemeClr val="bg1"/>
                </a:solidFill>
              </a:rPr>
              <a:t>fF</a:t>
            </a:r>
            <a:endParaRPr lang="en-US" baseline="-25000" dirty="0">
              <a:solidFill>
                <a:schemeClr val="bg1"/>
              </a:solidFill>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61E24FF-642E-4D41-886B-314A3F778833}"/>
              </a:ext>
            </a:extLst>
          </p:cNvPr>
          <p:cNvSpPr>
            <a:spLocks noGrp="1"/>
          </p:cNvSpPr>
          <p:nvPr>
            <p:ph type="title"/>
          </p:nvPr>
        </p:nvSpPr>
        <p:spPr/>
        <p:txBody>
          <a:bodyPr/>
          <a:lstStyle/>
          <a:p>
            <a:r>
              <a:rPr lang="en-US" altLang="en-US"/>
              <a:t>Path Delay Calculation</a:t>
            </a:r>
          </a:p>
        </p:txBody>
      </p:sp>
      <p:grpSp>
        <p:nvGrpSpPr>
          <p:cNvPr id="12291" name="Group 1">
            <a:extLst>
              <a:ext uri="{FF2B5EF4-FFF2-40B4-BE49-F238E27FC236}">
                <a16:creationId xmlns:a16="http://schemas.microsoft.com/office/drawing/2014/main" id="{45806322-7CB2-470A-B6C9-5DF3ECA20F03}"/>
              </a:ext>
            </a:extLst>
          </p:cNvPr>
          <p:cNvGrpSpPr>
            <a:grpSpLocks/>
          </p:cNvGrpSpPr>
          <p:nvPr/>
        </p:nvGrpSpPr>
        <p:grpSpPr bwMode="auto">
          <a:xfrm>
            <a:off x="2000250" y="1408114"/>
            <a:ext cx="7296150" cy="4225925"/>
            <a:chOff x="476205" y="1408112"/>
            <a:chExt cx="7296195" cy="4225370"/>
          </a:xfrm>
        </p:grpSpPr>
        <p:sp>
          <p:nvSpPr>
            <p:cNvPr id="84" name="Line Callout 1 83">
              <a:extLst>
                <a:ext uri="{FF2B5EF4-FFF2-40B4-BE49-F238E27FC236}">
                  <a16:creationId xmlns:a16="http://schemas.microsoft.com/office/drawing/2014/main" id="{18BB35FA-33CA-46D1-B1A0-D8E9BB4590A8}"/>
                </a:ext>
              </a:extLst>
            </p:cNvPr>
            <p:cNvSpPr/>
            <p:nvPr/>
          </p:nvSpPr>
          <p:spPr bwMode="auto">
            <a:xfrm>
              <a:off x="3349598" y="4158888"/>
              <a:ext cx="1649423" cy="379363"/>
            </a:xfrm>
            <a:prstGeom prst="borderCallout1">
              <a:avLst>
                <a:gd name="adj1" fmla="val -8096"/>
                <a:gd name="adj2" fmla="val 51761"/>
                <a:gd name="adj3" fmla="val -61225"/>
                <a:gd name="adj4" fmla="val 61330"/>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sp>
          <p:nvSpPr>
            <p:cNvPr id="83" name="Line Callout 1 82">
              <a:extLst>
                <a:ext uri="{FF2B5EF4-FFF2-40B4-BE49-F238E27FC236}">
                  <a16:creationId xmlns:a16="http://schemas.microsoft.com/office/drawing/2014/main" id="{F6AB9C01-B9AC-42FB-B364-981FC039A15E}"/>
                </a:ext>
              </a:extLst>
            </p:cNvPr>
            <p:cNvSpPr/>
            <p:nvPr/>
          </p:nvSpPr>
          <p:spPr bwMode="auto">
            <a:xfrm>
              <a:off x="5526074" y="2327153"/>
              <a:ext cx="1306520" cy="377775"/>
            </a:xfrm>
            <a:prstGeom prst="borderCallout1">
              <a:avLst>
                <a:gd name="adj1" fmla="val 97049"/>
                <a:gd name="adj2" fmla="val 48905"/>
                <a:gd name="adj3" fmla="val 311861"/>
                <a:gd name="adj4" fmla="val 5035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sp>
          <p:nvSpPr>
            <p:cNvPr id="85" name="Line Callout 1 84">
              <a:extLst>
                <a:ext uri="{FF2B5EF4-FFF2-40B4-BE49-F238E27FC236}">
                  <a16:creationId xmlns:a16="http://schemas.microsoft.com/office/drawing/2014/main" id="{7DC6E0BE-3730-4043-9D39-ADB96E965090}"/>
                </a:ext>
              </a:extLst>
            </p:cNvPr>
            <p:cNvSpPr/>
            <p:nvPr/>
          </p:nvSpPr>
          <p:spPr bwMode="auto">
            <a:xfrm>
              <a:off x="1901789" y="2093822"/>
              <a:ext cx="1330333" cy="377775"/>
            </a:xfrm>
            <a:prstGeom prst="borderCallout1">
              <a:avLst>
                <a:gd name="adj1" fmla="val 97049"/>
                <a:gd name="adj2" fmla="val 48905"/>
                <a:gd name="adj3" fmla="val 87988"/>
                <a:gd name="adj4" fmla="val 63217"/>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sp>
          <p:nvSpPr>
            <p:cNvPr id="12295" name="Flowchart: Delay 2">
              <a:extLst>
                <a:ext uri="{FF2B5EF4-FFF2-40B4-BE49-F238E27FC236}">
                  <a16:creationId xmlns:a16="http://schemas.microsoft.com/office/drawing/2014/main" id="{B4B9C80F-3592-4F23-845A-CBEC40FDAD1E}"/>
                </a:ext>
              </a:extLst>
            </p:cNvPr>
            <p:cNvSpPr>
              <a:spLocks noChangeArrowheads="1"/>
            </p:cNvSpPr>
            <p:nvPr/>
          </p:nvSpPr>
          <p:spPr bwMode="auto">
            <a:xfrm>
              <a:off x="2378030" y="2735262"/>
              <a:ext cx="576263" cy="528638"/>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2296" name="Flowchart: Delay 3">
              <a:extLst>
                <a:ext uri="{FF2B5EF4-FFF2-40B4-BE49-F238E27FC236}">
                  <a16:creationId xmlns:a16="http://schemas.microsoft.com/office/drawing/2014/main" id="{06EBB0A0-0080-4569-A639-A583BF85EC3D}"/>
                </a:ext>
              </a:extLst>
            </p:cNvPr>
            <p:cNvSpPr>
              <a:spLocks noChangeArrowheads="1"/>
            </p:cNvSpPr>
            <p:nvPr/>
          </p:nvSpPr>
          <p:spPr bwMode="auto">
            <a:xfrm>
              <a:off x="4203655" y="3408362"/>
              <a:ext cx="577850" cy="528638"/>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12297" name="Group 4">
              <a:extLst>
                <a:ext uri="{FF2B5EF4-FFF2-40B4-BE49-F238E27FC236}">
                  <a16:creationId xmlns:a16="http://schemas.microsoft.com/office/drawing/2014/main" id="{CA4AC782-0C3D-46C5-9EFF-49831C84452C}"/>
                </a:ext>
              </a:extLst>
            </p:cNvPr>
            <p:cNvGrpSpPr>
              <a:grpSpLocks/>
            </p:cNvGrpSpPr>
            <p:nvPr/>
          </p:nvGrpSpPr>
          <p:grpSpPr bwMode="auto">
            <a:xfrm>
              <a:off x="6007055" y="3479800"/>
              <a:ext cx="469900" cy="384175"/>
              <a:chOff x="5282492" y="2872128"/>
              <a:chExt cx="374678" cy="307240"/>
            </a:xfrm>
          </p:grpSpPr>
          <p:sp>
            <p:nvSpPr>
              <p:cNvPr id="12351" name="Flowchart: Extract 5">
                <a:extLst>
                  <a:ext uri="{FF2B5EF4-FFF2-40B4-BE49-F238E27FC236}">
                    <a16:creationId xmlns:a16="http://schemas.microsoft.com/office/drawing/2014/main" id="{99EE41B9-74B4-4E02-8B8A-349E1F7E1C62}"/>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2352" name="Flowchart: Connector 6">
                <a:extLst>
                  <a:ext uri="{FF2B5EF4-FFF2-40B4-BE49-F238E27FC236}">
                    <a16:creationId xmlns:a16="http://schemas.microsoft.com/office/drawing/2014/main" id="{057FFB34-AA98-44D0-BD8C-D7A245BCF74B}"/>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cxnSp>
          <p:nvCxnSpPr>
            <p:cNvPr id="12298" name="Straight Connector 7">
              <a:extLst>
                <a:ext uri="{FF2B5EF4-FFF2-40B4-BE49-F238E27FC236}">
                  <a16:creationId xmlns:a16="http://schemas.microsoft.com/office/drawing/2014/main" id="{23D57E1C-E483-476A-AACE-04A30250DC87}"/>
                </a:ext>
              </a:extLst>
            </p:cNvPr>
            <p:cNvCxnSpPr>
              <a:cxnSpLocks noChangeShapeType="1"/>
              <a:stCxn id="12296" idx="3"/>
            </p:cNvCxnSpPr>
            <p:nvPr/>
          </p:nvCxnSpPr>
          <p:spPr bwMode="auto">
            <a:xfrm flipV="1">
              <a:off x="4781505" y="3671887"/>
              <a:ext cx="12255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299" name="Straight Connector 8">
              <a:extLst>
                <a:ext uri="{FF2B5EF4-FFF2-40B4-BE49-F238E27FC236}">
                  <a16:creationId xmlns:a16="http://schemas.microsoft.com/office/drawing/2014/main" id="{E9273DEE-2ADF-4E81-B675-B814720A8ED2}"/>
                </a:ext>
              </a:extLst>
            </p:cNvPr>
            <p:cNvCxnSpPr>
              <a:cxnSpLocks noChangeShapeType="1"/>
            </p:cNvCxnSpPr>
            <p:nvPr/>
          </p:nvCxnSpPr>
          <p:spPr bwMode="auto">
            <a:xfrm>
              <a:off x="6476955" y="3671887"/>
              <a:ext cx="9477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00" name="Elbow Connector 9">
              <a:extLst>
                <a:ext uri="{FF2B5EF4-FFF2-40B4-BE49-F238E27FC236}">
                  <a16:creationId xmlns:a16="http://schemas.microsoft.com/office/drawing/2014/main" id="{849BA886-BEE2-4BA5-9B87-29CC0F80F628}"/>
                </a:ext>
              </a:extLst>
            </p:cNvPr>
            <p:cNvCxnSpPr>
              <a:cxnSpLocks noChangeShapeType="1"/>
              <a:stCxn id="12295" idx="3"/>
            </p:cNvCxnSpPr>
            <p:nvPr/>
          </p:nvCxnSpPr>
          <p:spPr bwMode="auto">
            <a:xfrm>
              <a:off x="2954293" y="2998787"/>
              <a:ext cx="1249362" cy="504825"/>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01" name="Straight Connector 10">
              <a:extLst>
                <a:ext uri="{FF2B5EF4-FFF2-40B4-BE49-F238E27FC236}">
                  <a16:creationId xmlns:a16="http://schemas.microsoft.com/office/drawing/2014/main" id="{58EAF00A-204F-479A-971B-5ED3A54ECA4C}"/>
                </a:ext>
              </a:extLst>
            </p:cNvPr>
            <p:cNvCxnSpPr>
              <a:cxnSpLocks noChangeShapeType="1"/>
            </p:cNvCxnSpPr>
            <p:nvPr/>
          </p:nvCxnSpPr>
          <p:spPr bwMode="auto">
            <a:xfrm rot="10800000" flipV="1">
              <a:off x="1560468" y="3840162"/>
              <a:ext cx="26431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02" name="Straight Connector 11">
              <a:extLst>
                <a:ext uri="{FF2B5EF4-FFF2-40B4-BE49-F238E27FC236}">
                  <a16:creationId xmlns:a16="http://schemas.microsoft.com/office/drawing/2014/main" id="{EC9642AD-9155-4818-B82B-8BE001FC9B78}"/>
                </a:ext>
              </a:extLst>
            </p:cNvPr>
            <p:cNvCxnSpPr>
              <a:cxnSpLocks noChangeShapeType="1"/>
            </p:cNvCxnSpPr>
            <p:nvPr/>
          </p:nvCxnSpPr>
          <p:spPr bwMode="auto">
            <a:xfrm rot="10800000">
              <a:off x="1608093" y="3143250"/>
              <a:ext cx="7699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03" name="Straight Connector 12">
              <a:extLst>
                <a:ext uri="{FF2B5EF4-FFF2-40B4-BE49-F238E27FC236}">
                  <a16:creationId xmlns:a16="http://schemas.microsoft.com/office/drawing/2014/main" id="{82E320FA-27A9-42DD-A99B-1B8AE0518D92}"/>
                </a:ext>
              </a:extLst>
            </p:cNvPr>
            <p:cNvCxnSpPr>
              <a:cxnSpLocks noChangeShapeType="1"/>
            </p:cNvCxnSpPr>
            <p:nvPr/>
          </p:nvCxnSpPr>
          <p:spPr bwMode="auto">
            <a:xfrm rot="10800000">
              <a:off x="1608093" y="2854325"/>
              <a:ext cx="7699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304" name="TextBox 13">
              <a:extLst>
                <a:ext uri="{FF2B5EF4-FFF2-40B4-BE49-F238E27FC236}">
                  <a16:creationId xmlns:a16="http://schemas.microsoft.com/office/drawing/2014/main" id="{A761B8D9-1609-4A52-B665-F84455D7C7A9}"/>
                </a:ext>
              </a:extLst>
            </p:cNvPr>
            <p:cNvSpPr txBox="1">
              <a:spLocks noChangeArrowheads="1"/>
            </p:cNvSpPr>
            <p:nvPr/>
          </p:nvSpPr>
          <p:spPr bwMode="auto">
            <a:xfrm>
              <a:off x="1187405" y="2879725"/>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b</a:t>
              </a:r>
            </a:p>
          </p:txBody>
        </p:sp>
        <p:sp>
          <p:nvSpPr>
            <p:cNvPr id="12305" name="TextBox 14">
              <a:extLst>
                <a:ext uri="{FF2B5EF4-FFF2-40B4-BE49-F238E27FC236}">
                  <a16:creationId xmlns:a16="http://schemas.microsoft.com/office/drawing/2014/main" id="{1E344D9C-E71E-4FB4-8FAB-3DC098A210BA}"/>
                </a:ext>
              </a:extLst>
            </p:cNvPr>
            <p:cNvSpPr txBox="1">
              <a:spLocks noChangeArrowheads="1"/>
            </p:cNvSpPr>
            <p:nvPr/>
          </p:nvSpPr>
          <p:spPr bwMode="auto">
            <a:xfrm>
              <a:off x="1174705" y="2541587"/>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a</a:t>
              </a:r>
            </a:p>
          </p:txBody>
        </p:sp>
        <p:sp>
          <p:nvSpPr>
            <p:cNvPr id="12306" name="TextBox 15">
              <a:extLst>
                <a:ext uri="{FF2B5EF4-FFF2-40B4-BE49-F238E27FC236}">
                  <a16:creationId xmlns:a16="http://schemas.microsoft.com/office/drawing/2014/main" id="{47E174A3-309A-4BD3-B45D-BBBD8C7B7BA0}"/>
                </a:ext>
              </a:extLst>
            </p:cNvPr>
            <p:cNvSpPr txBox="1">
              <a:spLocks noChangeArrowheads="1"/>
            </p:cNvSpPr>
            <p:nvPr/>
          </p:nvSpPr>
          <p:spPr bwMode="auto">
            <a:xfrm>
              <a:off x="1184230" y="3551237"/>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p>
          </p:txBody>
        </p:sp>
        <p:sp>
          <p:nvSpPr>
            <p:cNvPr id="12307" name="TextBox 16">
              <a:extLst>
                <a:ext uri="{FF2B5EF4-FFF2-40B4-BE49-F238E27FC236}">
                  <a16:creationId xmlns:a16="http://schemas.microsoft.com/office/drawing/2014/main" id="{600F09A8-B98B-4D8E-A213-CD81D486A8D6}"/>
                </a:ext>
              </a:extLst>
            </p:cNvPr>
            <p:cNvSpPr txBox="1">
              <a:spLocks noChangeArrowheads="1"/>
            </p:cNvSpPr>
            <p:nvPr/>
          </p:nvSpPr>
          <p:spPr bwMode="auto">
            <a:xfrm>
              <a:off x="3243218" y="2640012"/>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d</a:t>
              </a:r>
            </a:p>
          </p:txBody>
        </p:sp>
        <p:sp>
          <p:nvSpPr>
            <p:cNvPr id="12308" name="TextBox 17">
              <a:extLst>
                <a:ext uri="{FF2B5EF4-FFF2-40B4-BE49-F238E27FC236}">
                  <a16:creationId xmlns:a16="http://schemas.microsoft.com/office/drawing/2014/main" id="{77A4A540-8CF4-4BE7-8EEE-20C587C209BD}"/>
                </a:ext>
              </a:extLst>
            </p:cNvPr>
            <p:cNvSpPr txBox="1">
              <a:spLocks noChangeArrowheads="1"/>
            </p:cNvSpPr>
            <p:nvPr/>
          </p:nvSpPr>
          <p:spPr bwMode="auto">
            <a:xfrm>
              <a:off x="4689430" y="3411537"/>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e</a:t>
              </a:r>
            </a:p>
          </p:txBody>
        </p:sp>
        <p:sp>
          <p:nvSpPr>
            <p:cNvPr id="12309" name="TextBox 18">
              <a:extLst>
                <a:ext uri="{FF2B5EF4-FFF2-40B4-BE49-F238E27FC236}">
                  <a16:creationId xmlns:a16="http://schemas.microsoft.com/office/drawing/2014/main" id="{E04189BD-AC5E-4233-8986-0E51F7F6EFA6}"/>
                </a:ext>
              </a:extLst>
            </p:cNvPr>
            <p:cNvSpPr txBox="1">
              <a:spLocks noChangeArrowheads="1"/>
            </p:cNvSpPr>
            <p:nvPr/>
          </p:nvSpPr>
          <p:spPr bwMode="auto">
            <a:xfrm>
              <a:off x="7472318" y="3455987"/>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y</a:t>
              </a:r>
            </a:p>
          </p:txBody>
        </p:sp>
        <p:sp>
          <p:nvSpPr>
            <p:cNvPr id="12310" name="TextBox 19">
              <a:extLst>
                <a:ext uri="{FF2B5EF4-FFF2-40B4-BE49-F238E27FC236}">
                  <a16:creationId xmlns:a16="http://schemas.microsoft.com/office/drawing/2014/main" id="{46266A44-0D39-40B5-9344-2997CF94F94B}"/>
                </a:ext>
              </a:extLst>
            </p:cNvPr>
            <p:cNvSpPr txBox="1">
              <a:spLocks noChangeArrowheads="1"/>
            </p:cNvSpPr>
            <p:nvPr/>
          </p:nvSpPr>
          <p:spPr bwMode="auto">
            <a:xfrm>
              <a:off x="2176619" y="2069068"/>
              <a:ext cx="10999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1</a:t>
              </a:r>
              <a:r>
                <a:rPr lang="en-US" altLang="en-US" sz="1800"/>
                <a:t>=f(t</a:t>
              </a:r>
              <a:r>
                <a:rPr lang="en-US" altLang="en-US" sz="1800" baseline="-25000"/>
                <a:t>2</a:t>
              </a:r>
              <a:r>
                <a:rPr lang="en-US" altLang="en-US" sz="1800"/>
                <a:t>,c</a:t>
              </a:r>
              <a:r>
                <a:rPr lang="en-US" altLang="en-US" sz="1800" baseline="-25000"/>
                <a:t>1</a:t>
              </a:r>
              <a:r>
                <a:rPr lang="en-US" altLang="en-US" sz="1800"/>
                <a:t>)</a:t>
              </a:r>
            </a:p>
          </p:txBody>
        </p:sp>
        <p:cxnSp>
          <p:nvCxnSpPr>
            <p:cNvPr id="6163" name="Elbow Connector 24">
              <a:extLst>
                <a:ext uri="{FF2B5EF4-FFF2-40B4-BE49-F238E27FC236}">
                  <a16:creationId xmlns:a16="http://schemas.microsoft.com/office/drawing/2014/main" id="{5A2E8CFE-C3AD-4C46-8277-CE82BF1B2DD9}"/>
                </a:ext>
              </a:extLst>
            </p:cNvPr>
            <p:cNvCxnSpPr>
              <a:cxnSpLocks noChangeShapeType="1"/>
            </p:cNvCxnSpPr>
            <p:nvPr/>
          </p:nvCxnSpPr>
          <p:spPr bwMode="auto">
            <a:xfrm flipV="1">
              <a:off x="909596" y="3309687"/>
              <a:ext cx="576266" cy="288887"/>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6164" name="Elbow Connector 28">
              <a:extLst>
                <a:ext uri="{FF2B5EF4-FFF2-40B4-BE49-F238E27FC236}">
                  <a16:creationId xmlns:a16="http://schemas.microsoft.com/office/drawing/2014/main" id="{0406C2DA-E170-41F0-9DDD-6EA4EF8E94E9}"/>
                </a:ext>
              </a:extLst>
            </p:cNvPr>
            <p:cNvCxnSpPr>
              <a:cxnSpLocks noChangeShapeType="1"/>
            </p:cNvCxnSpPr>
            <p:nvPr/>
          </p:nvCxnSpPr>
          <p:spPr bwMode="auto">
            <a:xfrm flipV="1">
              <a:off x="909596" y="2877944"/>
              <a:ext cx="576266" cy="288887"/>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6165" name="Elbow Connector 29">
              <a:extLst>
                <a:ext uri="{FF2B5EF4-FFF2-40B4-BE49-F238E27FC236}">
                  <a16:creationId xmlns:a16="http://schemas.microsoft.com/office/drawing/2014/main" id="{DA077540-AA22-4CCF-AC05-D7E84F6BDE00}"/>
                </a:ext>
              </a:extLst>
            </p:cNvPr>
            <p:cNvCxnSpPr>
              <a:cxnSpLocks noChangeShapeType="1"/>
            </p:cNvCxnSpPr>
            <p:nvPr/>
          </p:nvCxnSpPr>
          <p:spPr bwMode="auto">
            <a:xfrm flipV="1">
              <a:off x="909596" y="3935080"/>
              <a:ext cx="576266" cy="288887"/>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sp>
          <p:nvSpPr>
            <p:cNvPr id="6166" name="Freeform 30">
              <a:extLst>
                <a:ext uri="{FF2B5EF4-FFF2-40B4-BE49-F238E27FC236}">
                  <a16:creationId xmlns:a16="http://schemas.microsoft.com/office/drawing/2014/main" id="{42D7D8B6-B3E3-4A52-963E-701D921419E1}"/>
                </a:ext>
              </a:extLst>
            </p:cNvPr>
            <p:cNvSpPr>
              <a:spLocks/>
            </p:cNvSpPr>
            <p:nvPr/>
          </p:nvSpPr>
          <p:spPr bwMode="auto">
            <a:xfrm>
              <a:off x="3501999" y="2703342"/>
              <a:ext cx="460378" cy="180951"/>
            </a:xfrm>
            <a:custGeom>
              <a:avLst/>
              <a:gdLst>
                <a:gd name="T0" fmla="*/ 0 w 503245"/>
                <a:gd name="T1" fmla="*/ 197031 h 196669"/>
                <a:gd name="T2" fmla="*/ 203404 w 503245"/>
                <a:gd name="T3" fmla="*/ 196188 h 196669"/>
                <a:gd name="T4" fmla="*/ 342784 w 503245"/>
                <a:gd name="T5" fmla="*/ 374 h 196669"/>
                <a:gd name="T6" fmla="*/ 503229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2315" name="TextBox 31">
              <a:extLst>
                <a:ext uri="{FF2B5EF4-FFF2-40B4-BE49-F238E27FC236}">
                  <a16:creationId xmlns:a16="http://schemas.microsoft.com/office/drawing/2014/main" id="{0FD423A2-7A67-4658-BA70-4BC571D80353}"/>
                </a:ext>
              </a:extLst>
            </p:cNvPr>
            <p:cNvSpPr txBox="1">
              <a:spLocks noChangeArrowheads="1"/>
            </p:cNvSpPr>
            <p:nvPr/>
          </p:nvSpPr>
          <p:spPr bwMode="auto">
            <a:xfrm>
              <a:off x="3671843" y="2787650"/>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2d</a:t>
              </a:r>
              <a:endParaRPr lang="en-US" altLang="en-US" sz="1800"/>
            </a:p>
          </p:txBody>
        </p:sp>
        <p:sp>
          <p:nvSpPr>
            <p:cNvPr id="6168" name="Freeform 32">
              <a:extLst>
                <a:ext uri="{FF2B5EF4-FFF2-40B4-BE49-F238E27FC236}">
                  <a16:creationId xmlns:a16="http://schemas.microsoft.com/office/drawing/2014/main" id="{1FA62532-5214-41B9-B926-D0E99036E40E}"/>
                </a:ext>
              </a:extLst>
            </p:cNvPr>
            <p:cNvSpPr>
              <a:spLocks/>
            </p:cNvSpPr>
            <p:nvPr/>
          </p:nvSpPr>
          <p:spPr bwMode="auto">
            <a:xfrm>
              <a:off x="5378435" y="3463654"/>
              <a:ext cx="414341" cy="161904"/>
            </a:xfrm>
            <a:custGeom>
              <a:avLst/>
              <a:gdLst>
                <a:gd name="T0" fmla="*/ 0 w 503245"/>
                <a:gd name="T1" fmla="*/ 197031 h 196669"/>
                <a:gd name="T2" fmla="*/ 203404 w 503245"/>
                <a:gd name="T3" fmla="*/ 196188 h 196669"/>
                <a:gd name="T4" fmla="*/ 342784 w 503245"/>
                <a:gd name="T5" fmla="*/ 374 h 196669"/>
                <a:gd name="T6" fmla="*/ 503231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2317" name="TextBox 33">
              <a:extLst>
                <a:ext uri="{FF2B5EF4-FFF2-40B4-BE49-F238E27FC236}">
                  <a16:creationId xmlns:a16="http://schemas.microsoft.com/office/drawing/2014/main" id="{68E7C481-E5C5-4E1F-BB04-1BAFE32D8166}"/>
                </a:ext>
              </a:extLst>
            </p:cNvPr>
            <p:cNvSpPr txBox="1">
              <a:spLocks noChangeArrowheads="1"/>
            </p:cNvSpPr>
            <p:nvPr/>
          </p:nvSpPr>
          <p:spPr bwMode="auto">
            <a:xfrm>
              <a:off x="5330780" y="3160712"/>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2e</a:t>
              </a:r>
              <a:endParaRPr lang="en-US" altLang="en-US" sz="1800"/>
            </a:p>
          </p:txBody>
        </p:sp>
        <p:sp>
          <p:nvSpPr>
            <p:cNvPr id="6170" name="Freeform 34">
              <a:extLst>
                <a:ext uri="{FF2B5EF4-FFF2-40B4-BE49-F238E27FC236}">
                  <a16:creationId xmlns:a16="http://schemas.microsoft.com/office/drawing/2014/main" id="{1926C4B3-F2BC-494B-A6A8-1775131F0501}"/>
                </a:ext>
              </a:extLst>
            </p:cNvPr>
            <p:cNvSpPr>
              <a:spLocks/>
            </p:cNvSpPr>
            <p:nvPr/>
          </p:nvSpPr>
          <p:spPr bwMode="auto">
            <a:xfrm flipV="1">
              <a:off x="6462705" y="3100165"/>
              <a:ext cx="630241" cy="246030"/>
            </a:xfrm>
            <a:custGeom>
              <a:avLst/>
              <a:gdLst>
                <a:gd name="T0" fmla="*/ 0 w 503245"/>
                <a:gd name="T1" fmla="*/ 197031 h 196669"/>
                <a:gd name="T2" fmla="*/ 203404 w 503245"/>
                <a:gd name="T3" fmla="*/ 196188 h 196669"/>
                <a:gd name="T4" fmla="*/ 342784 w 503245"/>
                <a:gd name="T5" fmla="*/ 374 h 196669"/>
                <a:gd name="T6" fmla="*/ 503229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2319" name="TextBox 35">
              <a:extLst>
                <a:ext uri="{FF2B5EF4-FFF2-40B4-BE49-F238E27FC236}">
                  <a16:creationId xmlns:a16="http://schemas.microsoft.com/office/drawing/2014/main" id="{91630BA1-F380-4280-8799-147279B063B1}"/>
                </a:ext>
              </a:extLst>
            </p:cNvPr>
            <p:cNvSpPr txBox="1">
              <a:spLocks noChangeArrowheads="1"/>
            </p:cNvSpPr>
            <p:nvPr/>
          </p:nvSpPr>
          <p:spPr bwMode="auto">
            <a:xfrm>
              <a:off x="6848430" y="2909887"/>
              <a:ext cx="3690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fy</a:t>
              </a:r>
              <a:endParaRPr lang="en-US" altLang="en-US" sz="1800"/>
            </a:p>
          </p:txBody>
        </p:sp>
        <p:sp>
          <p:nvSpPr>
            <p:cNvPr id="12320" name="TextBox 36">
              <a:extLst>
                <a:ext uri="{FF2B5EF4-FFF2-40B4-BE49-F238E27FC236}">
                  <a16:creationId xmlns:a16="http://schemas.microsoft.com/office/drawing/2014/main" id="{9538C2E7-0270-4316-AF0E-EB341E7952B4}"/>
                </a:ext>
              </a:extLst>
            </p:cNvPr>
            <p:cNvSpPr txBox="1">
              <a:spLocks noChangeArrowheads="1"/>
            </p:cNvSpPr>
            <p:nvPr/>
          </p:nvSpPr>
          <p:spPr bwMode="auto">
            <a:xfrm>
              <a:off x="5646693" y="2332037"/>
              <a:ext cx="1184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3</a:t>
              </a:r>
              <a:r>
                <a:rPr lang="en-US" altLang="en-US" sz="1800"/>
                <a:t>=f(t</a:t>
              </a:r>
              <a:r>
                <a:rPr lang="en-US" altLang="en-US" sz="1800" baseline="-25000"/>
                <a:t>2e</a:t>
              </a:r>
              <a:r>
                <a:rPr lang="en-US" altLang="en-US" sz="1800"/>
                <a:t>,c</a:t>
              </a:r>
              <a:r>
                <a:rPr lang="en-US" altLang="en-US" sz="1800" baseline="-25000"/>
                <a:t>3</a:t>
              </a:r>
              <a:r>
                <a:rPr lang="en-US" altLang="en-US" sz="1800"/>
                <a:t>)</a:t>
              </a:r>
            </a:p>
          </p:txBody>
        </p:sp>
        <p:sp>
          <p:nvSpPr>
            <p:cNvPr id="12321" name="TextBox 37">
              <a:extLst>
                <a:ext uri="{FF2B5EF4-FFF2-40B4-BE49-F238E27FC236}">
                  <a16:creationId xmlns:a16="http://schemas.microsoft.com/office/drawing/2014/main" id="{C1F07FD6-6B9B-4C35-9BFD-BE2F2D44E678}"/>
                </a:ext>
              </a:extLst>
            </p:cNvPr>
            <p:cNvSpPr txBox="1">
              <a:spLocks noChangeArrowheads="1"/>
            </p:cNvSpPr>
            <p:nvPr/>
          </p:nvSpPr>
          <p:spPr bwMode="auto">
            <a:xfrm>
              <a:off x="3349580" y="4151312"/>
              <a:ext cx="1475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2</a:t>
              </a:r>
              <a:r>
                <a:rPr lang="en-US" altLang="en-US" sz="1800"/>
                <a:t>=f(t</a:t>
              </a:r>
              <a:r>
                <a:rPr lang="en-US" altLang="en-US" sz="1800" baseline="-25000"/>
                <a:t>2d</a:t>
              </a:r>
              <a:r>
                <a:rPr lang="en-US" altLang="en-US" sz="1800"/>
                <a:t>,t</a:t>
              </a:r>
              <a:r>
                <a:rPr lang="en-US" altLang="en-US" sz="1800" baseline="-25000"/>
                <a:t>2c</a:t>
              </a:r>
              <a:r>
                <a:rPr lang="en-US" altLang="en-US" sz="1800"/>
                <a:t>,c</a:t>
              </a:r>
              <a:r>
                <a:rPr lang="en-US" altLang="en-US" sz="1800" baseline="-25000"/>
                <a:t>2</a:t>
              </a:r>
              <a:r>
                <a:rPr lang="en-US" altLang="en-US" sz="1800"/>
                <a:t>)</a:t>
              </a:r>
            </a:p>
          </p:txBody>
        </p:sp>
        <p:grpSp>
          <p:nvGrpSpPr>
            <p:cNvPr id="12322" name="Group 45">
              <a:extLst>
                <a:ext uri="{FF2B5EF4-FFF2-40B4-BE49-F238E27FC236}">
                  <a16:creationId xmlns:a16="http://schemas.microsoft.com/office/drawing/2014/main" id="{C992D30D-CE91-47D2-934E-527775529FFE}"/>
                </a:ext>
              </a:extLst>
            </p:cNvPr>
            <p:cNvGrpSpPr>
              <a:grpSpLocks/>
            </p:cNvGrpSpPr>
            <p:nvPr/>
          </p:nvGrpSpPr>
          <p:grpSpPr bwMode="auto">
            <a:xfrm>
              <a:off x="5310143" y="3678237"/>
              <a:ext cx="215900" cy="528638"/>
              <a:chOff x="4744668" y="3352190"/>
              <a:chExt cx="115215" cy="345645"/>
            </a:xfrm>
          </p:grpSpPr>
          <p:cxnSp>
            <p:nvCxnSpPr>
              <p:cNvPr id="12346" name="Straight Connector 39">
                <a:extLst>
                  <a:ext uri="{FF2B5EF4-FFF2-40B4-BE49-F238E27FC236}">
                    <a16:creationId xmlns:a16="http://schemas.microsoft.com/office/drawing/2014/main" id="{8105E679-EBB3-47A8-BD0D-6A5854D49C68}"/>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7" name="Straight Connector 41">
                <a:extLst>
                  <a:ext uri="{FF2B5EF4-FFF2-40B4-BE49-F238E27FC236}">
                    <a16:creationId xmlns:a16="http://schemas.microsoft.com/office/drawing/2014/main" id="{6D8237ED-F7AD-4553-AF6F-2CDB83660FC0}"/>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8" name="Straight Connector 42">
                <a:extLst>
                  <a:ext uri="{FF2B5EF4-FFF2-40B4-BE49-F238E27FC236}">
                    <a16:creationId xmlns:a16="http://schemas.microsoft.com/office/drawing/2014/main" id="{2DD78508-A21E-4DAC-A3C7-0BDCBB9385DC}"/>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9" name="Straight Connector 43">
                <a:extLst>
                  <a:ext uri="{FF2B5EF4-FFF2-40B4-BE49-F238E27FC236}">
                    <a16:creationId xmlns:a16="http://schemas.microsoft.com/office/drawing/2014/main" id="{A72BA895-09A1-4E94-8736-45880997441E}"/>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50" name="Straight Connector 44">
                <a:extLst>
                  <a:ext uri="{FF2B5EF4-FFF2-40B4-BE49-F238E27FC236}">
                    <a16:creationId xmlns:a16="http://schemas.microsoft.com/office/drawing/2014/main" id="{37D6C31F-AA01-4DBA-B720-0AB604B46578}"/>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2323" name="Group 46">
              <a:extLst>
                <a:ext uri="{FF2B5EF4-FFF2-40B4-BE49-F238E27FC236}">
                  <a16:creationId xmlns:a16="http://schemas.microsoft.com/office/drawing/2014/main" id="{DA4FE9B1-1685-4449-8EDD-50A3537D725C}"/>
                </a:ext>
              </a:extLst>
            </p:cNvPr>
            <p:cNvGrpSpPr>
              <a:grpSpLocks/>
            </p:cNvGrpSpPr>
            <p:nvPr/>
          </p:nvGrpSpPr>
          <p:grpSpPr bwMode="auto">
            <a:xfrm>
              <a:off x="6753180" y="3678237"/>
              <a:ext cx="238125" cy="528638"/>
              <a:chOff x="4744668" y="3352190"/>
              <a:chExt cx="115215" cy="345645"/>
            </a:xfrm>
          </p:grpSpPr>
          <p:cxnSp>
            <p:nvCxnSpPr>
              <p:cNvPr id="12341" name="Straight Connector 47">
                <a:extLst>
                  <a:ext uri="{FF2B5EF4-FFF2-40B4-BE49-F238E27FC236}">
                    <a16:creationId xmlns:a16="http://schemas.microsoft.com/office/drawing/2014/main" id="{FA5DDA98-640D-47AF-8505-52D287E0C247}"/>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2" name="Straight Connector 48">
                <a:extLst>
                  <a:ext uri="{FF2B5EF4-FFF2-40B4-BE49-F238E27FC236}">
                    <a16:creationId xmlns:a16="http://schemas.microsoft.com/office/drawing/2014/main" id="{B82B1F84-71B7-4C1D-A165-DBEDE315D826}"/>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3" name="Straight Connector 49">
                <a:extLst>
                  <a:ext uri="{FF2B5EF4-FFF2-40B4-BE49-F238E27FC236}">
                    <a16:creationId xmlns:a16="http://schemas.microsoft.com/office/drawing/2014/main" id="{E6B0E4F3-6A8D-4535-9A78-3E9AE8F97FE0}"/>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4" name="Straight Connector 50">
                <a:extLst>
                  <a:ext uri="{FF2B5EF4-FFF2-40B4-BE49-F238E27FC236}">
                    <a16:creationId xmlns:a16="http://schemas.microsoft.com/office/drawing/2014/main" id="{3C5BE32E-4F19-41F4-8EE6-260894C3466E}"/>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5" name="Straight Connector 51">
                <a:extLst>
                  <a:ext uri="{FF2B5EF4-FFF2-40B4-BE49-F238E27FC236}">
                    <a16:creationId xmlns:a16="http://schemas.microsoft.com/office/drawing/2014/main" id="{409C81F3-DCD2-48F4-A8A1-07AEBD8FCE84}"/>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2324" name="Group 52">
              <a:extLst>
                <a:ext uri="{FF2B5EF4-FFF2-40B4-BE49-F238E27FC236}">
                  <a16:creationId xmlns:a16="http://schemas.microsoft.com/office/drawing/2014/main" id="{1455E396-88EA-4CE7-8741-C05465B3A590}"/>
                </a:ext>
              </a:extLst>
            </p:cNvPr>
            <p:cNvGrpSpPr>
              <a:grpSpLocks/>
            </p:cNvGrpSpPr>
            <p:nvPr/>
          </p:nvGrpSpPr>
          <p:grpSpPr bwMode="auto">
            <a:xfrm>
              <a:off x="3003505" y="3005137"/>
              <a:ext cx="239713" cy="576263"/>
              <a:chOff x="4744668" y="3352190"/>
              <a:chExt cx="115215" cy="345645"/>
            </a:xfrm>
          </p:grpSpPr>
          <p:cxnSp>
            <p:nvCxnSpPr>
              <p:cNvPr id="12336" name="Straight Connector 53">
                <a:extLst>
                  <a:ext uri="{FF2B5EF4-FFF2-40B4-BE49-F238E27FC236}">
                    <a16:creationId xmlns:a16="http://schemas.microsoft.com/office/drawing/2014/main" id="{811CBB47-B322-456D-937E-6EB094BB1FFF}"/>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37" name="Straight Connector 54">
                <a:extLst>
                  <a:ext uri="{FF2B5EF4-FFF2-40B4-BE49-F238E27FC236}">
                    <a16:creationId xmlns:a16="http://schemas.microsoft.com/office/drawing/2014/main" id="{2F4CB256-53BA-4983-B836-443B83B7ED4E}"/>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38" name="Straight Connector 55">
                <a:extLst>
                  <a:ext uri="{FF2B5EF4-FFF2-40B4-BE49-F238E27FC236}">
                    <a16:creationId xmlns:a16="http://schemas.microsoft.com/office/drawing/2014/main" id="{677FA168-0B63-4120-8EF3-DC1F9665823B}"/>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39" name="Straight Connector 56">
                <a:extLst>
                  <a:ext uri="{FF2B5EF4-FFF2-40B4-BE49-F238E27FC236}">
                    <a16:creationId xmlns:a16="http://schemas.microsoft.com/office/drawing/2014/main" id="{D98E17D7-C31C-439F-A4CF-80FD6F716329}"/>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340" name="Straight Connector 57">
                <a:extLst>
                  <a:ext uri="{FF2B5EF4-FFF2-40B4-BE49-F238E27FC236}">
                    <a16:creationId xmlns:a16="http://schemas.microsoft.com/office/drawing/2014/main" id="{E0576DB4-832F-49C0-88C6-27181A3B8472}"/>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2325" name="TextBox 58">
              <a:extLst>
                <a:ext uri="{FF2B5EF4-FFF2-40B4-BE49-F238E27FC236}">
                  <a16:creationId xmlns:a16="http://schemas.microsoft.com/office/drawing/2014/main" id="{2FE8E8A8-4644-4EB8-B53C-30226D21AE09}"/>
                </a:ext>
              </a:extLst>
            </p:cNvPr>
            <p:cNvSpPr txBox="1">
              <a:spLocks noChangeArrowheads="1"/>
            </p:cNvSpPr>
            <p:nvPr/>
          </p:nvSpPr>
          <p:spPr bwMode="auto">
            <a:xfrm>
              <a:off x="3146380" y="3035300"/>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1</a:t>
              </a:r>
              <a:endParaRPr lang="en-US" altLang="en-US" sz="1800"/>
            </a:p>
          </p:txBody>
        </p:sp>
        <p:sp>
          <p:nvSpPr>
            <p:cNvPr id="12326" name="TextBox 59">
              <a:extLst>
                <a:ext uri="{FF2B5EF4-FFF2-40B4-BE49-F238E27FC236}">
                  <a16:creationId xmlns:a16="http://schemas.microsoft.com/office/drawing/2014/main" id="{1042A4B0-20F6-4176-BD4C-DB2901E8DD96}"/>
                </a:ext>
              </a:extLst>
            </p:cNvPr>
            <p:cNvSpPr txBox="1">
              <a:spLocks noChangeArrowheads="1"/>
            </p:cNvSpPr>
            <p:nvPr/>
          </p:nvSpPr>
          <p:spPr bwMode="auto">
            <a:xfrm>
              <a:off x="5459368" y="3695700"/>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2</a:t>
              </a:r>
              <a:endParaRPr lang="en-US" altLang="en-US" sz="1800"/>
            </a:p>
          </p:txBody>
        </p:sp>
        <p:sp>
          <p:nvSpPr>
            <p:cNvPr id="12327" name="TextBox 60">
              <a:extLst>
                <a:ext uri="{FF2B5EF4-FFF2-40B4-BE49-F238E27FC236}">
                  <a16:creationId xmlns:a16="http://schemas.microsoft.com/office/drawing/2014/main" id="{939DD65F-0781-4611-90B6-5D5600AC1BD8}"/>
                </a:ext>
              </a:extLst>
            </p:cNvPr>
            <p:cNvSpPr txBox="1">
              <a:spLocks noChangeArrowheads="1"/>
            </p:cNvSpPr>
            <p:nvPr/>
          </p:nvSpPr>
          <p:spPr bwMode="auto">
            <a:xfrm>
              <a:off x="6943680" y="3678237"/>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3</a:t>
              </a:r>
              <a:endParaRPr lang="en-US" altLang="en-US" sz="1800"/>
            </a:p>
          </p:txBody>
        </p:sp>
        <p:sp>
          <p:nvSpPr>
            <p:cNvPr id="12328" name="TextBox 63">
              <a:extLst>
                <a:ext uri="{FF2B5EF4-FFF2-40B4-BE49-F238E27FC236}">
                  <a16:creationId xmlns:a16="http://schemas.microsoft.com/office/drawing/2014/main" id="{CE7B7F0D-2713-4832-B18F-771C2CFECBBC}"/>
                </a:ext>
              </a:extLst>
            </p:cNvPr>
            <p:cNvSpPr txBox="1">
              <a:spLocks noChangeArrowheads="1"/>
            </p:cNvSpPr>
            <p:nvPr/>
          </p:nvSpPr>
          <p:spPr bwMode="auto">
            <a:xfrm>
              <a:off x="2617743" y="5264150"/>
              <a:ext cx="27254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total</a:t>
              </a:r>
              <a:r>
                <a:rPr lang="en-US" altLang="en-US" sz="1800"/>
                <a:t>= f(t</a:t>
              </a:r>
              <a:r>
                <a:rPr lang="en-US" altLang="en-US" sz="1800" baseline="-25000"/>
                <a:t>2a</a:t>
              </a:r>
              <a:r>
                <a:rPr lang="en-US" altLang="en-US" sz="1800"/>
                <a:t>,t</a:t>
              </a:r>
              <a:r>
                <a:rPr lang="en-US" altLang="en-US" sz="1800" baseline="-25000"/>
                <a:t>2b</a:t>
              </a:r>
              <a:r>
                <a:rPr lang="en-US" altLang="en-US" sz="1800"/>
                <a:t>,t</a:t>
              </a:r>
              <a:r>
                <a:rPr lang="en-US" altLang="en-US" sz="1800" baseline="-25000"/>
                <a:t>2c</a:t>
              </a:r>
              <a:r>
                <a:rPr lang="en-US" altLang="en-US" sz="1800"/>
                <a:t>,C</a:t>
              </a:r>
              <a:r>
                <a:rPr lang="en-US" altLang="en-US" sz="1800" baseline="-25000"/>
                <a:t>1</a:t>
              </a:r>
              <a:r>
                <a:rPr lang="en-US" altLang="en-US" sz="1800"/>
                <a:t>,C</a:t>
              </a:r>
              <a:r>
                <a:rPr lang="en-US" altLang="en-US" sz="1800" baseline="-25000"/>
                <a:t>2</a:t>
              </a:r>
              <a:r>
                <a:rPr lang="en-US" altLang="en-US" sz="1800"/>
                <a:t>,C</a:t>
              </a:r>
              <a:r>
                <a:rPr lang="en-US" altLang="en-US" sz="1800" baseline="-25000"/>
                <a:t>3</a:t>
              </a:r>
              <a:r>
                <a:rPr lang="en-US" altLang="en-US" sz="1800"/>
                <a:t>)</a:t>
              </a:r>
            </a:p>
          </p:txBody>
        </p:sp>
        <p:sp>
          <p:nvSpPr>
            <p:cNvPr id="12329" name="Rectangle 64">
              <a:extLst>
                <a:ext uri="{FF2B5EF4-FFF2-40B4-BE49-F238E27FC236}">
                  <a16:creationId xmlns:a16="http://schemas.microsoft.com/office/drawing/2014/main" id="{E360A1F8-3DF7-4AD6-8808-A242F2BC03DC}"/>
                </a:ext>
              </a:extLst>
            </p:cNvPr>
            <p:cNvSpPr>
              <a:spLocks noChangeArrowheads="1"/>
            </p:cNvSpPr>
            <p:nvPr/>
          </p:nvSpPr>
          <p:spPr bwMode="auto">
            <a:xfrm>
              <a:off x="527005" y="2686050"/>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t</a:t>
              </a:r>
              <a:r>
                <a:rPr lang="en-US" altLang="en-US" sz="1800" baseline="-25000"/>
                <a:t>2a</a:t>
              </a:r>
              <a:endParaRPr lang="en-US" altLang="en-US" sz="1800"/>
            </a:p>
          </p:txBody>
        </p:sp>
        <p:sp>
          <p:nvSpPr>
            <p:cNvPr id="12330" name="Rectangle 65">
              <a:extLst>
                <a:ext uri="{FF2B5EF4-FFF2-40B4-BE49-F238E27FC236}">
                  <a16:creationId xmlns:a16="http://schemas.microsoft.com/office/drawing/2014/main" id="{87554FB3-F233-4370-AE3E-A0F764855F42}"/>
                </a:ext>
              </a:extLst>
            </p:cNvPr>
            <p:cNvSpPr>
              <a:spLocks noChangeArrowheads="1"/>
            </p:cNvSpPr>
            <p:nvPr/>
          </p:nvSpPr>
          <p:spPr bwMode="auto">
            <a:xfrm>
              <a:off x="527005" y="3167062"/>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t</a:t>
              </a:r>
              <a:r>
                <a:rPr lang="en-US" altLang="en-US" sz="1800" baseline="-25000"/>
                <a:t>2b</a:t>
              </a:r>
              <a:endParaRPr lang="en-US" altLang="en-US" sz="1800"/>
            </a:p>
          </p:txBody>
        </p:sp>
        <p:sp>
          <p:nvSpPr>
            <p:cNvPr id="12331" name="Rectangle 66">
              <a:extLst>
                <a:ext uri="{FF2B5EF4-FFF2-40B4-BE49-F238E27FC236}">
                  <a16:creationId xmlns:a16="http://schemas.microsoft.com/office/drawing/2014/main" id="{20B20394-1ED6-496D-8600-636B269E3639}"/>
                </a:ext>
              </a:extLst>
            </p:cNvPr>
            <p:cNvSpPr>
              <a:spLocks noChangeArrowheads="1"/>
            </p:cNvSpPr>
            <p:nvPr/>
          </p:nvSpPr>
          <p:spPr bwMode="auto">
            <a:xfrm>
              <a:off x="476205" y="379095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t</a:t>
              </a:r>
              <a:r>
                <a:rPr lang="en-US" altLang="en-US" sz="1800" baseline="-25000"/>
                <a:t>2c</a:t>
              </a:r>
              <a:endParaRPr lang="en-US" altLang="en-US" sz="1800"/>
            </a:p>
          </p:txBody>
        </p:sp>
        <p:sp>
          <p:nvSpPr>
            <p:cNvPr id="61" name="Rectangle 60">
              <a:extLst>
                <a:ext uri="{FF2B5EF4-FFF2-40B4-BE49-F238E27FC236}">
                  <a16:creationId xmlns:a16="http://schemas.microsoft.com/office/drawing/2014/main" id="{DC4C84D4-654F-4746-BB10-4463E1313F6F}"/>
                </a:ext>
              </a:extLst>
            </p:cNvPr>
            <p:cNvSpPr/>
            <p:nvPr/>
          </p:nvSpPr>
          <p:spPr bwMode="auto">
            <a:xfrm>
              <a:off x="612731" y="1408112"/>
              <a:ext cx="2068526" cy="441267"/>
            </a:xfrm>
            <a:prstGeom prst="rect">
              <a:avLst/>
            </a:prstGeom>
            <a:solidFill>
              <a:schemeClr val="accent1"/>
            </a:solidFill>
            <a:ln>
              <a:solidFill>
                <a:schemeClr val="tx1"/>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anchor="ctr"/>
            <a:lstStyle/>
            <a:p>
              <a:pPr eaLnBrk="1" hangingPunct="1">
                <a:defRPr/>
              </a:pPr>
              <a:r>
                <a:rPr lang="en-US" dirty="0">
                  <a:solidFill>
                    <a:schemeClr val="bg1"/>
                  </a:solidFill>
                </a:rPr>
                <a:t>Specific PVT</a:t>
              </a:r>
            </a:p>
          </p:txBody>
        </p:sp>
        <p:cxnSp>
          <p:nvCxnSpPr>
            <p:cNvPr id="63" name="Straight Connector 62">
              <a:extLst>
                <a:ext uri="{FF2B5EF4-FFF2-40B4-BE49-F238E27FC236}">
                  <a16:creationId xmlns:a16="http://schemas.microsoft.com/office/drawing/2014/main" id="{485FC856-AEAD-4A9B-BC75-7CEFE6AEC66C}"/>
                </a:ext>
              </a:extLst>
            </p:cNvPr>
            <p:cNvCxnSpPr/>
            <p:nvPr/>
          </p:nvCxnSpPr>
          <p:spPr bwMode="auto">
            <a:xfrm flipH="1">
              <a:off x="2532031" y="2387470"/>
              <a:ext cx="149226" cy="346030"/>
            </a:xfrm>
            <a:prstGeom prst="line">
              <a:avLst/>
            </a:prstGeom>
            <a:ln>
              <a:solidFill>
                <a:schemeClr val="accent1"/>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65" name="Straight Connector 64">
              <a:extLst>
                <a:ext uri="{FF2B5EF4-FFF2-40B4-BE49-F238E27FC236}">
                  <a16:creationId xmlns:a16="http://schemas.microsoft.com/office/drawing/2014/main" id="{ABD5912F-7B86-47BB-BE96-CB834D01E6FD}"/>
                </a:ext>
              </a:extLst>
            </p:cNvPr>
            <p:cNvCxnSpPr>
              <a:endCxn id="12351" idx="1"/>
            </p:cNvCxnSpPr>
            <p:nvPr/>
          </p:nvCxnSpPr>
          <p:spPr bwMode="auto">
            <a:xfrm flipH="1">
              <a:off x="6175365" y="2735088"/>
              <a:ext cx="63500" cy="841265"/>
            </a:xfrm>
            <a:prstGeom prst="line">
              <a:avLst/>
            </a:prstGeom>
            <a:ln>
              <a:solidFill>
                <a:schemeClr val="accent1"/>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cxnSp>
          <p:nvCxnSpPr>
            <p:cNvPr id="67" name="Straight Connector 66">
              <a:extLst>
                <a:ext uri="{FF2B5EF4-FFF2-40B4-BE49-F238E27FC236}">
                  <a16:creationId xmlns:a16="http://schemas.microsoft.com/office/drawing/2014/main" id="{3941CD39-AE32-4678-8C84-89F7DF2BF0BD}"/>
                </a:ext>
              </a:extLst>
            </p:cNvPr>
            <p:cNvCxnSpPr/>
            <p:nvPr/>
          </p:nvCxnSpPr>
          <p:spPr bwMode="auto">
            <a:xfrm flipV="1">
              <a:off x="4173516" y="3944604"/>
              <a:ext cx="288927" cy="188887"/>
            </a:xfrm>
            <a:prstGeom prst="line">
              <a:avLst/>
            </a:prstGeom>
            <a:ln>
              <a:solidFill>
                <a:schemeClr val="accent1"/>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8BF08BB9-E06A-429B-B961-BDF7249C2AF7}"/>
              </a:ext>
            </a:extLst>
          </p:cNvPr>
          <p:cNvSpPr>
            <a:spLocks noGrp="1"/>
          </p:cNvSpPr>
          <p:nvPr>
            <p:ph type="title"/>
          </p:nvPr>
        </p:nvSpPr>
        <p:spPr/>
        <p:txBody>
          <a:bodyPr/>
          <a:lstStyle/>
          <a:p>
            <a:r>
              <a:rPr lang="en-US" altLang="en-US"/>
              <a:t>Operating Conditions </a:t>
            </a:r>
          </a:p>
        </p:txBody>
      </p:sp>
      <p:sp>
        <p:nvSpPr>
          <p:cNvPr id="8207" name="TextBox 12">
            <a:extLst>
              <a:ext uri="{FF2B5EF4-FFF2-40B4-BE49-F238E27FC236}">
                <a16:creationId xmlns:a16="http://schemas.microsoft.com/office/drawing/2014/main" id="{701059C6-65D0-4D85-BBD9-84DB7C5F92DD}"/>
              </a:ext>
            </a:extLst>
          </p:cNvPr>
          <p:cNvSpPr txBox="1">
            <a:spLocks noChangeArrowheads="1"/>
          </p:cNvSpPr>
          <p:nvPr/>
        </p:nvSpPr>
        <p:spPr bwMode="auto">
          <a:xfrm>
            <a:off x="6324601" y="1184275"/>
            <a:ext cx="3654425" cy="922338"/>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dirty="0">
                <a:solidFill>
                  <a:schemeClr val="bg1"/>
                </a:solidFill>
              </a:rPr>
              <a:t>Process: 	TT, FF, SS, etc.</a:t>
            </a:r>
          </a:p>
          <a:p>
            <a:pPr eaLnBrk="1" hangingPunct="1">
              <a:defRPr/>
            </a:pPr>
            <a:r>
              <a:rPr lang="en-US" dirty="0">
                <a:solidFill>
                  <a:schemeClr val="bg1"/>
                </a:solidFill>
              </a:rPr>
              <a:t>Voltage: 		</a:t>
            </a:r>
            <a:r>
              <a:rPr lang="en-US" dirty="0">
                <a:solidFill>
                  <a:schemeClr val="bg1"/>
                </a:solidFill>
                <a:latin typeface="Arial Unicode MS" pitchFamily="34" charset="-128"/>
                <a:ea typeface="Arial Unicode MS" pitchFamily="34" charset="-128"/>
                <a:cs typeface="Arial Unicode MS" pitchFamily="34" charset="-128"/>
              </a:rPr>
              <a:t>∓10%</a:t>
            </a:r>
          </a:p>
          <a:p>
            <a:pPr eaLnBrk="1" hangingPunct="1">
              <a:defRPr/>
            </a:pPr>
            <a:r>
              <a:rPr lang="en-US" dirty="0">
                <a:solidFill>
                  <a:schemeClr val="bg1"/>
                </a:solidFill>
                <a:latin typeface="Arial Unicode MS" pitchFamily="34" charset="-128"/>
                <a:ea typeface="Arial Unicode MS" pitchFamily="34" charset="-128"/>
                <a:cs typeface="Arial Unicode MS" pitchFamily="34" charset="-128"/>
              </a:rPr>
              <a:t>Temperature:	-40 -125</a:t>
            </a:r>
            <a:r>
              <a:rPr lang="en-US" baseline="30000" dirty="0">
                <a:solidFill>
                  <a:schemeClr val="bg1"/>
                </a:solidFill>
                <a:latin typeface="Arial Unicode MS" pitchFamily="34" charset="-128"/>
                <a:ea typeface="Arial Unicode MS" pitchFamily="34" charset="-128"/>
                <a:cs typeface="Arial Unicode MS" pitchFamily="34" charset="-128"/>
              </a:rPr>
              <a:t>0</a:t>
            </a:r>
            <a:r>
              <a:rPr lang="en-US" dirty="0">
                <a:solidFill>
                  <a:schemeClr val="bg1"/>
                </a:solidFill>
                <a:latin typeface="Arial Unicode MS" pitchFamily="34" charset="-128"/>
                <a:ea typeface="Arial Unicode MS" pitchFamily="34" charset="-128"/>
                <a:cs typeface="Arial Unicode MS" pitchFamily="34" charset="-128"/>
              </a:rPr>
              <a:t>C</a:t>
            </a:r>
            <a:endParaRPr lang="en-US" dirty="0">
              <a:solidFill>
                <a:schemeClr val="bg1"/>
              </a:solidFill>
            </a:endParaRPr>
          </a:p>
        </p:txBody>
      </p:sp>
      <p:grpSp>
        <p:nvGrpSpPr>
          <p:cNvPr id="13316" name="Group 4">
            <a:extLst>
              <a:ext uri="{FF2B5EF4-FFF2-40B4-BE49-F238E27FC236}">
                <a16:creationId xmlns:a16="http://schemas.microsoft.com/office/drawing/2014/main" id="{EE15CCE8-6EAD-41B5-AC82-C7F2D4713599}"/>
              </a:ext>
            </a:extLst>
          </p:cNvPr>
          <p:cNvGrpSpPr>
            <a:grpSpLocks/>
          </p:cNvGrpSpPr>
          <p:nvPr/>
        </p:nvGrpSpPr>
        <p:grpSpPr bwMode="auto">
          <a:xfrm>
            <a:off x="6580189" y="2289176"/>
            <a:ext cx="2446337" cy="1749425"/>
            <a:chOff x="5715000" y="1954995"/>
            <a:chExt cx="2446443" cy="1749008"/>
          </a:xfrm>
        </p:grpSpPr>
        <p:sp>
          <p:nvSpPr>
            <p:cNvPr id="8209" name="Rectangle 45">
              <a:extLst>
                <a:ext uri="{FF2B5EF4-FFF2-40B4-BE49-F238E27FC236}">
                  <a16:creationId xmlns:a16="http://schemas.microsoft.com/office/drawing/2014/main" id="{4692CAC2-8228-4751-86B7-6A148C11020E}"/>
                </a:ext>
              </a:extLst>
            </p:cNvPr>
            <p:cNvSpPr>
              <a:spLocks noChangeArrowheads="1"/>
            </p:cNvSpPr>
            <p:nvPr/>
          </p:nvSpPr>
          <p:spPr bwMode="auto">
            <a:xfrm>
              <a:off x="5715000" y="1954995"/>
              <a:ext cx="2446443" cy="1749008"/>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a:p>
          </p:txBody>
        </p:sp>
        <p:grpSp>
          <p:nvGrpSpPr>
            <p:cNvPr id="13385" name="Group 47">
              <a:extLst>
                <a:ext uri="{FF2B5EF4-FFF2-40B4-BE49-F238E27FC236}">
                  <a16:creationId xmlns:a16="http://schemas.microsoft.com/office/drawing/2014/main" id="{E75975EE-8A8D-453D-8904-44FC53182A18}"/>
                </a:ext>
              </a:extLst>
            </p:cNvPr>
            <p:cNvGrpSpPr>
              <a:grpSpLocks/>
            </p:cNvGrpSpPr>
            <p:nvPr/>
          </p:nvGrpSpPr>
          <p:grpSpPr bwMode="auto">
            <a:xfrm>
              <a:off x="6340162" y="1994744"/>
              <a:ext cx="1777917" cy="1620724"/>
              <a:chOff x="5646103" y="2071688"/>
              <a:chExt cx="2222269" cy="2125664"/>
            </a:xfrm>
          </p:grpSpPr>
          <p:grpSp>
            <p:nvGrpSpPr>
              <p:cNvPr id="13387" name="Group 44">
                <a:extLst>
                  <a:ext uri="{FF2B5EF4-FFF2-40B4-BE49-F238E27FC236}">
                    <a16:creationId xmlns:a16="http://schemas.microsoft.com/office/drawing/2014/main" id="{7A491C21-140D-404C-B990-306D0DA1EC84}"/>
                  </a:ext>
                </a:extLst>
              </p:cNvPr>
              <p:cNvGrpSpPr>
                <a:grpSpLocks/>
              </p:cNvGrpSpPr>
              <p:nvPr/>
            </p:nvGrpSpPr>
            <p:grpSpPr bwMode="auto">
              <a:xfrm>
                <a:off x="5646103" y="2071688"/>
                <a:ext cx="2222269" cy="2125664"/>
                <a:chOff x="5634749" y="2074591"/>
                <a:chExt cx="2039863" cy="2005110"/>
              </a:xfrm>
            </p:grpSpPr>
            <p:cxnSp>
              <p:nvCxnSpPr>
                <p:cNvPr id="13425" name="Straight Arrow Connector 37">
                  <a:extLst>
                    <a:ext uri="{FF2B5EF4-FFF2-40B4-BE49-F238E27FC236}">
                      <a16:creationId xmlns:a16="http://schemas.microsoft.com/office/drawing/2014/main" id="{EF7CF365-1C09-4CAA-986D-EF36C725EC5B}"/>
                    </a:ext>
                  </a:extLst>
                </p:cNvPr>
                <p:cNvCxnSpPr>
                  <a:cxnSpLocks noChangeShapeType="1"/>
                </p:cNvCxnSpPr>
                <p:nvPr/>
              </p:nvCxnSpPr>
              <p:spPr bwMode="auto">
                <a:xfrm rot="5400000" flipH="1" flipV="1">
                  <a:off x="5812399" y="2678426"/>
                  <a:ext cx="1207669"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426" name="Straight Arrow Connector 38">
                  <a:extLst>
                    <a:ext uri="{FF2B5EF4-FFF2-40B4-BE49-F238E27FC236}">
                      <a16:creationId xmlns:a16="http://schemas.microsoft.com/office/drawing/2014/main" id="{93DBDC21-5265-49E1-ADF0-62DFE9AE2BD5}"/>
                    </a:ext>
                  </a:extLst>
                </p:cNvPr>
                <p:cNvCxnSpPr>
                  <a:cxnSpLocks noChangeShapeType="1"/>
                </p:cNvCxnSpPr>
                <p:nvPr/>
              </p:nvCxnSpPr>
              <p:spPr bwMode="auto">
                <a:xfrm rot="5400000">
                  <a:off x="5622932" y="3287190"/>
                  <a:ext cx="804328" cy="78069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427" name="Straight Arrow Connector 41">
                  <a:extLst>
                    <a:ext uri="{FF2B5EF4-FFF2-40B4-BE49-F238E27FC236}">
                      <a16:creationId xmlns:a16="http://schemas.microsoft.com/office/drawing/2014/main" id="{44EEC87D-990A-42EB-A221-EBC80B07A36C}"/>
                    </a:ext>
                  </a:extLst>
                </p:cNvPr>
                <p:cNvCxnSpPr>
                  <a:cxnSpLocks noChangeShapeType="1"/>
                </p:cNvCxnSpPr>
                <p:nvPr/>
              </p:nvCxnSpPr>
              <p:spPr bwMode="auto">
                <a:xfrm>
                  <a:off x="6415438" y="3279866"/>
                  <a:ext cx="1259174"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cxnSp>
            <p:nvCxnSpPr>
              <p:cNvPr id="13388" name="Straight Connector 54">
                <a:extLst>
                  <a:ext uri="{FF2B5EF4-FFF2-40B4-BE49-F238E27FC236}">
                    <a16:creationId xmlns:a16="http://schemas.microsoft.com/office/drawing/2014/main" id="{B58421E4-5630-4DC9-BBDD-FB62CCD6619B}"/>
                  </a:ext>
                </a:extLst>
              </p:cNvPr>
              <p:cNvCxnSpPr>
                <a:cxnSpLocks noChangeShapeType="1"/>
              </p:cNvCxnSpPr>
              <p:nvPr/>
            </p:nvCxnSpPr>
            <p:spPr bwMode="auto">
              <a:xfrm>
                <a:off x="5954713" y="3889375"/>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89" name="Straight Connector 55">
                <a:extLst>
                  <a:ext uri="{FF2B5EF4-FFF2-40B4-BE49-F238E27FC236}">
                    <a16:creationId xmlns:a16="http://schemas.microsoft.com/office/drawing/2014/main" id="{6A93C36C-A991-4628-893E-8C93836DCD8B}"/>
                  </a:ext>
                </a:extLst>
              </p:cNvPr>
              <p:cNvCxnSpPr>
                <a:cxnSpLocks noChangeShapeType="1"/>
              </p:cNvCxnSpPr>
              <p:nvPr/>
            </p:nvCxnSpPr>
            <p:spPr bwMode="auto">
              <a:xfrm>
                <a:off x="6261100" y="3582988"/>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90" name="Straight Connector 56">
                <a:extLst>
                  <a:ext uri="{FF2B5EF4-FFF2-40B4-BE49-F238E27FC236}">
                    <a16:creationId xmlns:a16="http://schemas.microsoft.com/office/drawing/2014/main" id="{9B16EA7F-DFB0-4488-A92E-AF6CC49E27EE}"/>
                  </a:ext>
                </a:extLst>
              </p:cNvPr>
              <p:cNvCxnSpPr>
                <a:cxnSpLocks noChangeShapeType="1"/>
              </p:cNvCxnSpPr>
              <p:nvPr/>
            </p:nvCxnSpPr>
            <p:spPr bwMode="auto">
              <a:xfrm rot="5400000">
                <a:off x="6300788" y="3352800"/>
                <a:ext cx="536575" cy="536575"/>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91" name="Straight Connector 58">
                <a:extLst>
                  <a:ext uri="{FF2B5EF4-FFF2-40B4-BE49-F238E27FC236}">
                    <a16:creationId xmlns:a16="http://schemas.microsoft.com/office/drawing/2014/main" id="{ECA7B894-F61C-4048-8186-47847C175BCB}"/>
                  </a:ext>
                </a:extLst>
              </p:cNvPr>
              <p:cNvCxnSpPr>
                <a:cxnSpLocks noChangeShapeType="1"/>
              </p:cNvCxnSpPr>
              <p:nvPr/>
            </p:nvCxnSpPr>
            <p:spPr bwMode="auto">
              <a:xfrm rot="5400000">
                <a:off x="6766719" y="3352006"/>
                <a:ext cx="536575" cy="538163"/>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13392" name="Flowchart: Connector 59">
                <a:extLst>
                  <a:ext uri="{FF2B5EF4-FFF2-40B4-BE49-F238E27FC236}">
                    <a16:creationId xmlns:a16="http://schemas.microsoft.com/office/drawing/2014/main" id="{37DFEA0B-53E8-4A3F-9649-436916F60954}"/>
                  </a:ext>
                </a:extLst>
              </p:cNvPr>
              <p:cNvSpPr>
                <a:spLocks noChangeArrowheads="1"/>
              </p:cNvSpPr>
              <p:nvPr/>
            </p:nvSpPr>
            <p:spPr bwMode="auto">
              <a:xfrm>
                <a:off x="6591300" y="3560763"/>
                <a:ext cx="44450"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3" name="Flowchart: Connector 60">
                <a:extLst>
                  <a:ext uri="{FF2B5EF4-FFF2-40B4-BE49-F238E27FC236}">
                    <a16:creationId xmlns:a16="http://schemas.microsoft.com/office/drawing/2014/main" id="{3C0EF011-91D5-400E-BEFB-FBE329772C9B}"/>
                  </a:ext>
                </a:extLst>
              </p:cNvPr>
              <p:cNvSpPr>
                <a:spLocks noChangeArrowheads="1"/>
              </p:cNvSpPr>
              <p:nvPr/>
            </p:nvSpPr>
            <p:spPr bwMode="auto">
              <a:xfrm>
                <a:off x="7048500" y="356076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4" name="Flowchart: Connector 61">
                <a:extLst>
                  <a:ext uri="{FF2B5EF4-FFF2-40B4-BE49-F238E27FC236}">
                    <a16:creationId xmlns:a16="http://schemas.microsoft.com/office/drawing/2014/main" id="{94EB8E91-F68F-4714-86BD-A43512925D86}"/>
                  </a:ext>
                </a:extLst>
              </p:cNvPr>
              <p:cNvSpPr>
                <a:spLocks noChangeArrowheads="1"/>
              </p:cNvSpPr>
              <p:nvPr/>
            </p:nvSpPr>
            <p:spPr bwMode="auto">
              <a:xfrm>
                <a:off x="6753225" y="3868738"/>
                <a:ext cx="46038" cy="44450"/>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5" name="Flowchart: Connector 62">
                <a:extLst>
                  <a:ext uri="{FF2B5EF4-FFF2-40B4-BE49-F238E27FC236}">
                    <a16:creationId xmlns:a16="http://schemas.microsoft.com/office/drawing/2014/main" id="{53EB49D6-11E4-4E2A-9A95-7485760B1C4D}"/>
                  </a:ext>
                </a:extLst>
              </p:cNvPr>
              <p:cNvSpPr>
                <a:spLocks noChangeArrowheads="1"/>
              </p:cNvSpPr>
              <p:nvPr/>
            </p:nvSpPr>
            <p:spPr bwMode="auto">
              <a:xfrm>
                <a:off x="6272213" y="386397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6" name="Flowchart: Connector 63">
                <a:extLst>
                  <a:ext uri="{FF2B5EF4-FFF2-40B4-BE49-F238E27FC236}">
                    <a16:creationId xmlns:a16="http://schemas.microsoft.com/office/drawing/2014/main" id="{50D377C8-992B-43A4-92AC-E3F47E57B5A4}"/>
                  </a:ext>
                </a:extLst>
              </p:cNvPr>
              <p:cNvSpPr>
                <a:spLocks noChangeArrowheads="1"/>
              </p:cNvSpPr>
              <p:nvPr/>
            </p:nvSpPr>
            <p:spPr bwMode="auto">
              <a:xfrm>
                <a:off x="5935663" y="3865563"/>
                <a:ext cx="46037"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7" name="Flowchart: Connector 64">
                <a:extLst>
                  <a:ext uri="{FF2B5EF4-FFF2-40B4-BE49-F238E27FC236}">
                    <a16:creationId xmlns:a16="http://schemas.microsoft.com/office/drawing/2014/main" id="{7A127650-5ADE-4931-B4BF-5CA368508782}"/>
                  </a:ext>
                </a:extLst>
              </p:cNvPr>
              <p:cNvSpPr>
                <a:spLocks noChangeArrowheads="1"/>
              </p:cNvSpPr>
              <p:nvPr/>
            </p:nvSpPr>
            <p:spPr bwMode="auto">
              <a:xfrm>
                <a:off x="6240463" y="3565525"/>
                <a:ext cx="46037"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8" name="Flowchart: Connector 65">
                <a:extLst>
                  <a:ext uri="{FF2B5EF4-FFF2-40B4-BE49-F238E27FC236}">
                    <a16:creationId xmlns:a16="http://schemas.microsoft.com/office/drawing/2014/main" id="{022F7AFA-AD5D-48A7-89FA-597FEB6B1A17}"/>
                  </a:ext>
                </a:extLst>
              </p:cNvPr>
              <p:cNvSpPr>
                <a:spLocks noChangeArrowheads="1"/>
              </p:cNvSpPr>
              <p:nvPr/>
            </p:nvSpPr>
            <p:spPr bwMode="auto">
              <a:xfrm>
                <a:off x="6823075" y="3327400"/>
                <a:ext cx="46038"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99" name="Flowchart: Connector 66">
                <a:extLst>
                  <a:ext uri="{FF2B5EF4-FFF2-40B4-BE49-F238E27FC236}">
                    <a16:creationId xmlns:a16="http://schemas.microsoft.com/office/drawing/2014/main" id="{8BA43436-D935-4240-A34B-7AFEF19708B2}"/>
                  </a:ext>
                </a:extLst>
              </p:cNvPr>
              <p:cNvSpPr>
                <a:spLocks noChangeArrowheads="1"/>
              </p:cNvSpPr>
              <p:nvPr/>
            </p:nvSpPr>
            <p:spPr bwMode="auto">
              <a:xfrm>
                <a:off x="7277100" y="332581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400" name="Straight Connector 70">
                <a:extLst>
                  <a:ext uri="{FF2B5EF4-FFF2-40B4-BE49-F238E27FC236}">
                    <a16:creationId xmlns:a16="http://schemas.microsoft.com/office/drawing/2014/main" id="{0C819851-5FA2-477C-AEE6-FF89D16E3F31}"/>
                  </a:ext>
                </a:extLst>
              </p:cNvPr>
              <p:cNvCxnSpPr>
                <a:cxnSpLocks noChangeShapeType="1"/>
              </p:cNvCxnSpPr>
              <p:nvPr/>
            </p:nvCxnSpPr>
            <p:spPr bwMode="auto">
              <a:xfrm rot="5400000" flipH="1">
                <a:off x="5809456" y="3404394"/>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01" name="Straight Connector 71">
                <a:extLst>
                  <a:ext uri="{FF2B5EF4-FFF2-40B4-BE49-F238E27FC236}">
                    <a16:creationId xmlns:a16="http://schemas.microsoft.com/office/drawing/2014/main" id="{EEB3E447-AE19-4E28-A921-D2F8890843D5}"/>
                  </a:ext>
                </a:extLst>
              </p:cNvPr>
              <p:cNvCxnSpPr>
                <a:cxnSpLocks noChangeShapeType="1"/>
              </p:cNvCxnSpPr>
              <p:nvPr/>
            </p:nvCxnSpPr>
            <p:spPr bwMode="auto">
              <a:xfrm rot="5400000" flipH="1">
                <a:off x="6276975" y="3382963"/>
                <a:ext cx="10064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02" name="Straight Connector 72">
                <a:extLst>
                  <a:ext uri="{FF2B5EF4-FFF2-40B4-BE49-F238E27FC236}">
                    <a16:creationId xmlns:a16="http://schemas.microsoft.com/office/drawing/2014/main" id="{A84858E5-890F-4AE6-837D-191230C64F48}"/>
                  </a:ext>
                </a:extLst>
              </p:cNvPr>
              <p:cNvCxnSpPr>
                <a:cxnSpLocks noChangeShapeType="1"/>
              </p:cNvCxnSpPr>
              <p:nvPr/>
            </p:nvCxnSpPr>
            <p:spPr bwMode="auto">
              <a:xfrm rot="16200000" flipV="1">
                <a:off x="6087268" y="3066257"/>
                <a:ext cx="10398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03" name="Straight Connector 73">
                <a:extLst>
                  <a:ext uri="{FF2B5EF4-FFF2-40B4-BE49-F238E27FC236}">
                    <a16:creationId xmlns:a16="http://schemas.microsoft.com/office/drawing/2014/main" id="{979F7F87-7AA7-4534-963E-7EC8058500DD}"/>
                  </a:ext>
                </a:extLst>
              </p:cNvPr>
              <p:cNvCxnSpPr>
                <a:cxnSpLocks noChangeShapeType="1"/>
              </p:cNvCxnSpPr>
              <p:nvPr/>
            </p:nvCxnSpPr>
            <p:spPr bwMode="auto">
              <a:xfrm rot="5400000" flipH="1">
                <a:off x="6584156" y="3096419"/>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13404" name="Group 94">
                <a:extLst>
                  <a:ext uri="{FF2B5EF4-FFF2-40B4-BE49-F238E27FC236}">
                    <a16:creationId xmlns:a16="http://schemas.microsoft.com/office/drawing/2014/main" id="{B61E17A1-8B0B-4CB2-8876-7186C9AACB1A}"/>
                  </a:ext>
                </a:extLst>
              </p:cNvPr>
              <p:cNvGrpSpPr>
                <a:grpSpLocks/>
              </p:cNvGrpSpPr>
              <p:nvPr/>
            </p:nvGrpSpPr>
            <p:grpSpPr bwMode="auto">
              <a:xfrm>
                <a:off x="6296035" y="2546348"/>
                <a:ext cx="773114" cy="377825"/>
                <a:chOff x="5117091" y="2545685"/>
                <a:chExt cx="569833" cy="378490"/>
              </a:xfrm>
            </p:grpSpPr>
            <p:cxnSp>
              <p:nvCxnSpPr>
                <p:cNvPr id="13421" name="Straight Connector 68">
                  <a:extLst>
                    <a:ext uri="{FF2B5EF4-FFF2-40B4-BE49-F238E27FC236}">
                      <a16:creationId xmlns:a16="http://schemas.microsoft.com/office/drawing/2014/main" id="{54093F5D-62D7-4E27-AAE7-4DA15E1F8DF7}"/>
                    </a:ext>
                  </a:extLst>
                </p:cNvPr>
                <p:cNvCxnSpPr>
                  <a:cxnSpLocks noChangeShapeType="1"/>
                </p:cNvCxnSpPr>
                <p:nvPr/>
              </p:nvCxnSpPr>
              <p:spPr bwMode="auto">
                <a:xfrm rot="5400000" flipH="1" flipV="1">
                  <a:off x="5044890" y="2617892"/>
                  <a:ext cx="373724" cy="22931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22" name="Straight Connector 77">
                  <a:extLst>
                    <a:ext uri="{FF2B5EF4-FFF2-40B4-BE49-F238E27FC236}">
                      <a16:creationId xmlns:a16="http://schemas.microsoft.com/office/drawing/2014/main" id="{3764D25D-DCED-4C4D-A65C-9B95F2CCF53E}"/>
                    </a:ext>
                  </a:extLst>
                </p:cNvPr>
                <p:cNvCxnSpPr>
                  <a:cxnSpLocks noChangeShapeType="1"/>
                </p:cNvCxnSpPr>
                <p:nvPr/>
              </p:nvCxnSpPr>
              <p:spPr bwMode="auto">
                <a:xfrm>
                  <a:off x="5346407" y="2545685"/>
                  <a:ext cx="337011" cy="689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23" name="Straight Connector 82">
                  <a:extLst>
                    <a:ext uri="{FF2B5EF4-FFF2-40B4-BE49-F238E27FC236}">
                      <a16:creationId xmlns:a16="http://schemas.microsoft.com/office/drawing/2014/main" id="{DA48BC01-3D7A-4976-85E3-840B40EF0E40}"/>
                    </a:ext>
                  </a:extLst>
                </p:cNvPr>
                <p:cNvCxnSpPr>
                  <a:cxnSpLocks noChangeShapeType="1"/>
                </p:cNvCxnSpPr>
                <p:nvPr/>
              </p:nvCxnSpPr>
              <p:spPr bwMode="auto">
                <a:xfrm rot="10800000" flipV="1">
                  <a:off x="5467759" y="2616993"/>
                  <a:ext cx="219165" cy="26908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24" name="Straight Connector 84">
                  <a:extLst>
                    <a:ext uri="{FF2B5EF4-FFF2-40B4-BE49-F238E27FC236}">
                      <a16:creationId xmlns:a16="http://schemas.microsoft.com/office/drawing/2014/main" id="{FF493C5D-D2B4-40EC-AD74-92AA5603FEF0}"/>
                    </a:ext>
                  </a:extLst>
                </p:cNvPr>
                <p:cNvCxnSpPr>
                  <a:cxnSpLocks noChangeShapeType="1"/>
                </p:cNvCxnSpPr>
                <p:nvPr/>
              </p:nvCxnSpPr>
              <p:spPr bwMode="auto">
                <a:xfrm flipV="1">
                  <a:off x="5117091" y="2883694"/>
                  <a:ext cx="359433" cy="4048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3405" name="Flowchart: Connector 62">
                <a:extLst>
                  <a:ext uri="{FF2B5EF4-FFF2-40B4-BE49-F238E27FC236}">
                    <a16:creationId xmlns:a16="http://schemas.microsoft.com/office/drawing/2014/main" id="{3124AD56-098B-414C-9A8C-B689FA3E8AF1}"/>
                  </a:ext>
                </a:extLst>
              </p:cNvPr>
              <p:cNvSpPr>
                <a:spLocks noChangeArrowheads="1"/>
              </p:cNvSpPr>
              <p:nvPr/>
            </p:nvSpPr>
            <p:spPr bwMode="auto">
              <a:xfrm>
                <a:off x="6271345" y="290085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06" name="Flowchart: Connector 62">
                <a:extLst>
                  <a:ext uri="{FF2B5EF4-FFF2-40B4-BE49-F238E27FC236}">
                    <a16:creationId xmlns:a16="http://schemas.microsoft.com/office/drawing/2014/main" id="{94582844-3DEA-4045-A723-3EE17220C21C}"/>
                  </a:ext>
                </a:extLst>
              </p:cNvPr>
              <p:cNvSpPr>
                <a:spLocks noChangeArrowheads="1"/>
              </p:cNvSpPr>
              <p:nvPr/>
            </p:nvSpPr>
            <p:spPr bwMode="auto">
              <a:xfrm>
                <a:off x="6761085" y="285927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07" name="Flowchart: Connector 62">
                <a:extLst>
                  <a:ext uri="{FF2B5EF4-FFF2-40B4-BE49-F238E27FC236}">
                    <a16:creationId xmlns:a16="http://schemas.microsoft.com/office/drawing/2014/main" id="{5733069F-A5A5-4B5A-AA9A-FABFFCED7AEC}"/>
                  </a:ext>
                </a:extLst>
              </p:cNvPr>
              <p:cNvSpPr>
                <a:spLocks noChangeArrowheads="1"/>
              </p:cNvSpPr>
              <p:nvPr/>
            </p:nvSpPr>
            <p:spPr bwMode="auto">
              <a:xfrm>
                <a:off x="6588110" y="2526330"/>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08" name="Flowchart: Connector 62">
                <a:extLst>
                  <a:ext uri="{FF2B5EF4-FFF2-40B4-BE49-F238E27FC236}">
                    <a16:creationId xmlns:a16="http://schemas.microsoft.com/office/drawing/2014/main" id="{B273BD3B-80FE-4949-9C15-318214CAFAA3}"/>
                  </a:ext>
                </a:extLst>
              </p:cNvPr>
              <p:cNvSpPr>
                <a:spLocks noChangeArrowheads="1"/>
              </p:cNvSpPr>
              <p:nvPr/>
            </p:nvSpPr>
            <p:spPr bwMode="auto">
              <a:xfrm>
                <a:off x="7039445" y="259996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409" name="Straight Connector 73">
                <a:extLst>
                  <a:ext uri="{FF2B5EF4-FFF2-40B4-BE49-F238E27FC236}">
                    <a16:creationId xmlns:a16="http://schemas.microsoft.com/office/drawing/2014/main" id="{F5DA4195-13D7-4DF6-A636-045F5DA9106E}"/>
                  </a:ext>
                </a:extLst>
              </p:cNvPr>
              <p:cNvCxnSpPr>
                <a:cxnSpLocks noChangeShapeType="1"/>
              </p:cNvCxnSpPr>
              <p:nvPr/>
            </p:nvCxnSpPr>
            <p:spPr bwMode="auto">
              <a:xfrm rot="5400000">
                <a:off x="6338060" y="2767602"/>
                <a:ext cx="215345" cy="787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0" name="Straight Connector 74">
                <a:extLst>
                  <a:ext uri="{FF2B5EF4-FFF2-40B4-BE49-F238E27FC236}">
                    <a16:creationId xmlns:a16="http://schemas.microsoft.com/office/drawing/2014/main" id="{81EC7286-CE04-4A48-830F-AE71497C5C9B}"/>
                  </a:ext>
                </a:extLst>
              </p:cNvPr>
              <p:cNvCxnSpPr>
                <a:cxnSpLocks noChangeShapeType="1"/>
              </p:cNvCxnSpPr>
              <p:nvPr/>
            </p:nvCxnSpPr>
            <p:spPr bwMode="auto">
              <a:xfrm rot="5400000">
                <a:off x="6343793" y="2694145"/>
                <a:ext cx="330558" cy="11521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1" name="Straight Connector 75">
                <a:extLst>
                  <a:ext uri="{FF2B5EF4-FFF2-40B4-BE49-F238E27FC236}">
                    <a16:creationId xmlns:a16="http://schemas.microsoft.com/office/drawing/2014/main" id="{AE8F40F5-9741-4E33-A164-F92E4501D8C5}"/>
                  </a:ext>
                </a:extLst>
              </p:cNvPr>
              <p:cNvCxnSpPr>
                <a:cxnSpLocks noChangeShapeType="1"/>
              </p:cNvCxnSpPr>
              <p:nvPr/>
            </p:nvCxnSpPr>
            <p:spPr bwMode="auto">
              <a:xfrm rot="5400000">
                <a:off x="6394103" y="2684619"/>
                <a:ext cx="330558" cy="11521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2" name="Straight Connector 76">
                <a:extLst>
                  <a:ext uri="{FF2B5EF4-FFF2-40B4-BE49-F238E27FC236}">
                    <a16:creationId xmlns:a16="http://schemas.microsoft.com/office/drawing/2014/main" id="{B5989958-65BF-4E97-BF63-10080ADB3FB8}"/>
                  </a:ext>
                </a:extLst>
              </p:cNvPr>
              <p:cNvCxnSpPr>
                <a:cxnSpLocks noChangeShapeType="1"/>
              </p:cNvCxnSpPr>
              <p:nvPr/>
            </p:nvCxnSpPr>
            <p:spPr bwMode="auto">
              <a:xfrm rot="5400000">
                <a:off x="6439689" y="2670171"/>
                <a:ext cx="342898" cy="1222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3" name="Straight Connector 77">
                <a:extLst>
                  <a:ext uri="{FF2B5EF4-FFF2-40B4-BE49-F238E27FC236}">
                    <a16:creationId xmlns:a16="http://schemas.microsoft.com/office/drawing/2014/main" id="{D740026D-D4AD-459D-9812-1DCCFCB6864D}"/>
                  </a:ext>
                </a:extLst>
              </p:cNvPr>
              <p:cNvCxnSpPr>
                <a:cxnSpLocks noChangeShapeType="1"/>
              </p:cNvCxnSpPr>
              <p:nvPr/>
            </p:nvCxnSpPr>
            <p:spPr bwMode="auto">
              <a:xfrm rot="5400000">
                <a:off x="6494722" y="2672838"/>
                <a:ext cx="330558" cy="11521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4" name="Straight Connector 78">
                <a:extLst>
                  <a:ext uri="{FF2B5EF4-FFF2-40B4-BE49-F238E27FC236}">
                    <a16:creationId xmlns:a16="http://schemas.microsoft.com/office/drawing/2014/main" id="{1D3220C8-CCFC-4F11-B72E-0A743032FFF1}"/>
                  </a:ext>
                </a:extLst>
              </p:cNvPr>
              <p:cNvCxnSpPr>
                <a:cxnSpLocks noChangeShapeType="1"/>
              </p:cNvCxnSpPr>
              <p:nvPr/>
            </p:nvCxnSpPr>
            <p:spPr bwMode="auto">
              <a:xfrm rot="5400000">
                <a:off x="6545894" y="2671727"/>
                <a:ext cx="323976" cy="11449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5" name="Straight Connector 79">
                <a:extLst>
                  <a:ext uri="{FF2B5EF4-FFF2-40B4-BE49-F238E27FC236}">
                    <a16:creationId xmlns:a16="http://schemas.microsoft.com/office/drawing/2014/main" id="{D16665DB-8005-4807-8D55-09BF7B02C274}"/>
                  </a:ext>
                </a:extLst>
              </p:cNvPr>
              <p:cNvCxnSpPr>
                <a:cxnSpLocks noChangeShapeType="1"/>
              </p:cNvCxnSpPr>
              <p:nvPr/>
            </p:nvCxnSpPr>
            <p:spPr bwMode="auto">
              <a:xfrm rot="5400000">
                <a:off x="6598435" y="2681404"/>
                <a:ext cx="316828" cy="10705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6" name="Straight Connector 80">
                <a:extLst>
                  <a:ext uri="{FF2B5EF4-FFF2-40B4-BE49-F238E27FC236}">
                    <a16:creationId xmlns:a16="http://schemas.microsoft.com/office/drawing/2014/main" id="{BEA0C1BE-584D-4DA2-80FC-DB147EF4D766}"/>
                  </a:ext>
                </a:extLst>
              </p:cNvPr>
              <p:cNvCxnSpPr>
                <a:cxnSpLocks noChangeShapeType="1"/>
              </p:cNvCxnSpPr>
              <p:nvPr/>
            </p:nvCxnSpPr>
            <p:spPr bwMode="auto">
              <a:xfrm rot="5400000">
                <a:off x="6655890" y="2681709"/>
                <a:ext cx="302545" cy="11120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7" name="Straight Connector 81">
                <a:extLst>
                  <a:ext uri="{FF2B5EF4-FFF2-40B4-BE49-F238E27FC236}">
                    <a16:creationId xmlns:a16="http://schemas.microsoft.com/office/drawing/2014/main" id="{428D4676-1720-4D6D-BBE2-49665CB1E751}"/>
                  </a:ext>
                </a:extLst>
              </p:cNvPr>
              <p:cNvCxnSpPr>
                <a:cxnSpLocks noChangeShapeType="1"/>
              </p:cNvCxnSpPr>
              <p:nvPr/>
            </p:nvCxnSpPr>
            <p:spPr bwMode="auto">
              <a:xfrm rot="5400000">
                <a:off x="6750254" y="2670993"/>
                <a:ext cx="240325" cy="8470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8" name="Straight Connector 82">
                <a:extLst>
                  <a:ext uri="{FF2B5EF4-FFF2-40B4-BE49-F238E27FC236}">
                    <a16:creationId xmlns:a16="http://schemas.microsoft.com/office/drawing/2014/main" id="{EC960BA0-83C8-442C-B6AA-C07CD308B58A}"/>
                  </a:ext>
                </a:extLst>
              </p:cNvPr>
              <p:cNvCxnSpPr>
                <a:cxnSpLocks noChangeShapeType="1"/>
              </p:cNvCxnSpPr>
              <p:nvPr/>
            </p:nvCxnSpPr>
            <p:spPr bwMode="auto">
              <a:xfrm rot="5400000">
                <a:off x="6841333" y="2655098"/>
                <a:ext cx="176212" cy="6191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9" name="Straight Connector 83">
                <a:extLst>
                  <a:ext uri="{FF2B5EF4-FFF2-40B4-BE49-F238E27FC236}">
                    <a16:creationId xmlns:a16="http://schemas.microsoft.com/office/drawing/2014/main" id="{6C564F4D-4FDD-4235-8962-340D36466B26}"/>
                  </a:ext>
                </a:extLst>
              </p:cNvPr>
              <p:cNvCxnSpPr>
                <a:cxnSpLocks noChangeShapeType="1"/>
              </p:cNvCxnSpPr>
              <p:nvPr/>
            </p:nvCxnSpPr>
            <p:spPr bwMode="auto">
              <a:xfrm rot="5400000">
                <a:off x="6316138" y="2825225"/>
                <a:ext cx="130966" cy="4788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20" name="Straight Connector 84">
                <a:extLst>
                  <a:ext uri="{FF2B5EF4-FFF2-40B4-BE49-F238E27FC236}">
                    <a16:creationId xmlns:a16="http://schemas.microsoft.com/office/drawing/2014/main" id="{539F8133-3BCE-4BC7-BEDA-EE007146F0FE}"/>
                  </a:ext>
                </a:extLst>
              </p:cNvPr>
              <p:cNvCxnSpPr>
                <a:cxnSpLocks noChangeShapeType="1"/>
              </p:cNvCxnSpPr>
              <p:nvPr/>
            </p:nvCxnSpPr>
            <p:spPr bwMode="auto">
              <a:xfrm rot="5400000">
                <a:off x="6935256" y="2639612"/>
                <a:ext cx="102523" cy="3824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3386" name="TextBox 34">
              <a:extLst>
                <a:ext uri="{FF2B5EF4-FFF2-40B4-BE49-F238E27FC236}">
                  <a16:creationId xmlns:a16="http://schemas.microsoft.com/office/drawing/2014/main" id="{CFE60492-6379-446E-8DC8-39678499175F}"/>
                </a:ext>
              </a:extLst>
            </p:cNvPr>
            <p:cNvSpPr txBox="1">
              <a:spLocks noChangeArrowheads="1"/>
            </p:cNvSpPr>
            <p:nvPr/>
          </p:nvSpPr>
          <p:spPr bwMode="auto">
            <a:xfrm>
              <a:off x="5758364" y="2086893"/>
              <a:ext cx="714714" cy="92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P:SS</a:t>
              </a:r>
            </a:p>
            <a:p>
              <a:pPr eaLnBrk="1" hangingPunct="1">
                <a:spcBef>
                  <a:spcPct val="0"/>
                </a:spcBef>
                <a:buClrTx/>
                <a:buSzTx/>
                <a:buFontTx/>
                <a:buNone/>
              </a:pPr>
              <a:r>
                <a:rPr lang="en-US" altLang="en-US" sz="1800"/>
                <a:t>V:0.9</a:t>
              </a:r>
            </a:p>
            <a:p>
              <a:pPr eaLnBrk="1" hangingPunct="1">
                <a:spcBef>
                  <a:spcPct val="0"/>
                </a:spcBef>
                <a:buClrTx/>
                <a:buSzTx/>
                <a:buFontTx/>
                <a:buNone/>
              </a:pPr>
              <a:r>
                <a:rPr lang="en-US" altLang="en-US" sz="1800"/>
                <a:t>T:-40</a:t>
              </a:r>
            </a:p>
          </p:txBody>
        </p:sp>
      </p:grpSp>
      <p:grpSp>
        <p:nvGrpSpPr>
          <p:cNvPr id="13317" name="Group 3">
            <a:extLst>
              <a:ext uri="{FF2B5EF4-FFF2-40B4-BE49-F238E27FC236}">
                <a16:creationId xmlns:a16="http://schemas.microsoft.com/office/drawing/2014/main" id="{D2871101-A5DB-40E7-9577-3272D236E46D}"/>
              </a:ext>
            </a:extLst>
          </p:cNvPr>
          <p:cNvGrpSpPr>
            <a:grpSpLocks/>
          </p:cNvGrpSpPr>
          <p:nvPr/>
        </p:nvGrpSpPr>
        <p:grpSpPr bwMode="auto">
          <a:xfrm>
            <a:off x="7342189" y="3965576"/>
            <a:ext cx="2446337" cy="1749425"/>
            <a:chOff x="6087957" y="3965992"/>
            <a:chExt cx="2446443" cy="1749008"/>
          </a:xfrm>
        </p:grpSpPr>
        <p:sp>
          <p:nvSpPr>
            <p:cNvPr id="8210" name="Rectangle 46">
              <a:extLst>
                <a:ext uri="{FF2B5EF4-FFF2-40B4-BE49-F238E27FC236}">
                  <a16:creationId xmlns:a16="http://schemas.microsoft.com/office/drawing/2014/main" id="{8BB9EA29-5139-42AF-984B-A3503A69B839}"/>
                </a:ext>
              </a:extLst>
            </p:cNvPr>
            <p:cNvSpPr>
              <a:spLocks noChangeArrowheads="1"/>
            </p:cNvSpPr>
            <p:nvPr/>
          </p:nvSpPr>
          <p:spPr bwMode="auto">
            <a:xfrm>
              <a:off x="6087957" y="3965992"/>
              <a:ext cx="2446443" cy="1749008"/>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a:p>
          </p:txBody>
        </p:sp>
        <p:grpSp>
          <p:nvGrpSpPr>
            <p:cNvPr id="13341" name="Group 92">
              <a:extLst>
                <a:ext uri="{FF2B5EF4-FFF2-40B4-BE49-F238E27FC236}">
                  <a16:creationId xmlns:a16="http://schemas.microsoft.com/office/drawing/2014/main" id="{966C66BC-1558-46E3-A264-A8B9EF7FF2EA}"/>
                </a:ext>
              </a:extLst>
            </p:cNvPr>
            <p:cNvGrpSpPr>
              <a:grpSpLocks/>
            </p:cNvGrpSpPr>
            <p:nvPr/>
          </p:nvGrpSpPr>
          <p:grpSpPr bwMode="auto">
            <a:xfrm>
              <a:off x="6655301" y="4052720"/>
              <a:ext cx="1777917" cy="1622530"/>
              <a:chOff x="5646103" y="2071689"/>
              <a:chExt cx="2222269" cy="2125663"/>
            </a:xfrm>
          </p:grpSpPr>
          <p:grpSp>
            <p:nvGrpSpPr>
              <p:cNvPr id="13343" name="Group 44">
                <a:extLst>
                  <a:ext uri="{FF2B5EF4-FFF2-40B4-BE49-F238E27FC236}">
                    <a16:creationId xmlns:a16="http://schemas.microsoft.com/office/drawing/2014/main" id="{6A81D50C-EF30-4A43-B587-CB94471667CE}"/>
                  </a:ext>
                </a:extLst>
              </p:cNvPr>
              <p:cNvGrpSpPr>
                <a:grpSpLocks/>
              </p:cNvGrpSpPr>
              <p:nvPr/>
            </p:nvGrpSpPr>
            <p:grpSpPr bwMode="auto">
              <a:xfrm>
                <a:off x="5646103" y="2071689"/>
                <a:ext cx="2222269" cy="2125663"/>
                <a:chOff x="5634749" y="2074592"/>
                <a:chExt cx="2039863" cy="2005109"/>
              </a:xfrm>
            </p:grpSpPr>
            <p:cxnSp>
              <p:nvCxnSpPr>
                <p:cNvPr id="13381" name="Straight Arrow Connector 37">
                  <a:extLst>
                    <a:ext uri="{FF2B5EF4-FFF2-40B4-BE49-F238E27FC236}">
                      <a16:creationId xmlns:a16="http://schemas.microsoft.com/office/drawing/2014/main" id="{D86B8320-FDB5-4BC1-9E85-E2792053A5FB}"/>
                    </a:ext>
                  </a:extLst>
                </p:cNvPr>
                <p:cNvCxnSpPr>
                  <a:cxnSpLocks noChangeShapeType="1"/>
                </p:cNvCxnSpPr>
                <p:nvPr/>
              </p:nvCxnSpPr>
              <p:spPr bwMode="auto">
                <a:xfrm rot="5400000" flipH="1" flipV="1">
                  <a:off x="5811605" y="2677632"/>
                  <a:ext cx="1207668"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82" name="Straight Arrow Connector 38">
                  <a:extLst>
                    <a:ext uri="{FF2B5EF4-FFF2-40B4-BE49-F238E27FC236}">
                      <a16:creationId xmlns:a16="http://schemas.microsoft.com/office/drawing/2014/main" id="{A633A0CD-71F8-419B-9220-D174E5182C36}"/>
                    </a:ext>
                  </a:extLst>
                </p:cNvPr>
                <p:cNvCxnSpPr>
                  <a:cxnSpLocks noChangeShapeType="1"/>
                </p:cNvCxnSpPr>
                <p:nvPr/>
              </p:nvCxnSpPr>
              <p:spPr bwMode="auto">
                <a:xfrm rot="5400000">
                  <a:off x="5622932" y="3287190"/>
                  <a:ext cx="804328" cy="78069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83" name="Straight Arrow Connector 41">
                  <a:extLst>
                    <a:ext uri="{FF2B5EF4-FFF2-40B4-BE49-F238E27FC236}">
                      <a16:creationId xmlns:a16="http://schemas.microsoft.com/office/drawing/2014/main" id="{316F9965-1159-4CF8-AAB0-5B6BC7C5C9A1}"/>
                    </a:ext>
                  </a:extLst>
                </p:cNvPr>
                <p:cNvCxnSpPr>
                  <a:cxnSpLocks noChangeShapeType="1"/>
                </p:cNvCxnSpPr>
                <p:nvPr/>
              </p:nvCxnSpPr>
              <p:spPr bwMode="auto">
                <a:xfrm>
                  <a:off x="6415438" y="3279866"/>
                  <a:ext cx="1259174"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cxnSp>
            <p:nvCxnSpPr>
              <p:cNvPr id="13344" name="Straight Connector 54">
                <a:extLst>
                  <a:ext uri="{FF2B5EF4-FFF2-40B4-BE49-F238E27FC236}">
                    <a16:creationId xmlns:a16="http://schemas.microsoft.com/office/drawing/2014/main" id="{17FB03D8-9C1E-44F3-BDE1-507F74B958E7}"/>
                  </a:ext>
                </a:extLst>
              </p:cNvPr>
              <p:cNvCxnSpPr>
                <a:cxnSpLocks noChangeShapeType="1"/>
              </p:cNvCxnSpPr>
              <p:nvPr/>
            </p:nvCxnSpPr>
            <p:spPr bwMode="auto">
              <a:xfrm>
                <a:off x="5954713" y="3889375"/>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45" name="Straight Connector 55">
                <a:extLst>
                  <a:ext uri="{FF2B5EF4-FFF2-40B4-BE49-F238E27FC236}">
                    <a16:creationId xmlns:a16="http://schemas.microsoft.com/office/drawing/2014/main" id="{48570E31-43A3-4706-BB24-3A0EF4686A81}"/>
                  </a:ext>
                </a:extLst>
              </p:cNvPr>
              <p:cNvCxnSpPr>
                <a:cxnSpLocks noChangeShapeType="1"/>
              </p:cNvCxnSpPr>
              <p:nvPr/>
            </p:nvCxnSpPr>
            <p:spPr bwMode="auto">
              <a:xfrm>
                <a:off x="6261100" y="3582988"/>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46" name="Straight Connector 56">
                <a:extLst>
                  <a:ext uri="{FF2B5EF4-FFF2-40B4-BE49-F238E27FC236}">
                    <a16:creationId xmlns:a16="http://schemas.microsoft.com/office/drawing/2014/main" id="{D02A26F6-54FF-49B7-B57B-6848D095EB2A}"/>
                  </a:ext>
                </a:extLst>
              </p:cNvPr>
              <p:cNvCxnSpPr>
                <a:cxnSpLocks noChangeShapeType="1"/>
              </p:cNvCxnSpPr>
              <p:nvPr/>
            </p:nvCxnSpPr>
            <p:spPr bwMode="auto">
              <a:xfrm rot="5400000">
                <a:off x="6300788" y="3352800"/>
                <a:ext cx="536575" cy="536575"/>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347" name="Straight Connector 58">
                <a:extLst>
                  <a:ext uri="{FF2B5EF4-FFF2-40B4-BE49-F238E27FC236}">
                    <a16:creationId xmlns:a16="http://schemas.microsoft.com/office/drawing/2014/main" id="{0A029CAA-5B48-4B10-AF21-35DA8EE783DC}"/>
                  </a:ext>
                </a:extLst>
              </p:cNvPr>
              <p:cNvCxnSpPr>
                <a:cxnSpLocks noChangeShapeType="1"/>
              </p:cNvCxnSpPr>
              <p:nvPr/>
            </p:nvCxnSpPr>
            <p:spPr bwMode="auto">
              <a:xfrm rot="5400000">
                <a:off x="6766719" y="3352006"/>
                <a:ext cx="536575" cy="538163"/>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13348" name="Flowchart: Connector 59">
                <a:extLst>
                  <a:ext uri="{FF2B5EF4-FFF2-40B4-BE49-F238E27FC236}">
                    <a16:creationId xmlns:a16="http://schemas.microsoft.com/office/drawing/2014/main" id="{D11215B2-BA86-41E1-8132-33CA4EE91279}"/>
                  </a:ext>
                </a:extLst>
              </p:cNvPr>
              <p:cNvSpPr>
                <a:spLocks noChangeArrowheads="1"/>
              </p:cNvSpPr>
              <p:nvPr/>
            </p:nvSpPr>
            <p:spPr bwMode="auto">
              <a:xfrm>
                <a:off x="6591300" y="3560763"/>
                <a:ext cx="44450"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9" name="Flowchart: Connector 60">
                <a:extLst>
                  <a:ext uri="{FF2B5EF4-FFF2-40B4-BE49-F238E27FC236}">
                    <a16:creationId xmlns:a16="http://schemas.microsoft.com/office/drawing/2014/main" id="{83988CAB-1CC5-4A0B-A146-B6CF0A7B3AE2}"/>
                  </a:ext>
                </a:extLst>
              </p:cNvPr>
              <p:cNvSpPr>
                <a:spLocks noChangeArrowheads="1"/>
              </p:cNvSpPr>
              <p:nvPr/>
            </p:nvSpPr>
            <p:spPr bwMode="auto">
              <a:xfrm>
                <a:off x="7048500" y="356076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0" name="Flowchart: Connector 61">
                <a:extLst>
                  <a:ext uri="{FF2B5EF4-FFF2-40B4-BE49-F238E27FC236}">
                    <a16:creationId xmlns:a16="http://schemas.microsoft.com/office/drawing/2014/main" id="{6F032738-C73E-4A20-B9CE-608A0A2E01D6}"/>
                  </a:ext>
                </a:extLst>
              </p:cNvPr>
              <p:cNvSpPr>
                <a:spLocks noChangeArrowheads="1"/>
              </p:cNvSpPr>
              <p:nvPr/>
            </p:nvSpPr>
            <p:spPr bwMode="auto">
              <a:xfrm>
                <a:off x="6753225" y="3868738"/>
                <a:ext cx="46038" cy="44450"/>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1" name="Flowchart: Connector 62">
                <a:extLst>
                  <a:ext uri="{FF2B5EF4-FFF2-40B4-BE49-F238E27FC236}">
                    <a16:creationId xmlns:a16="http://schemas.microsoft.com/office/drawing/2014/main" id="{40A66CCD-551A-4DAC-8310-0DBB1080F85E}"/>
                  </a:ext>
                </a:extLst>
              </p:cNvPr>
              <p:cNvSpPr>
                <a:spLocks noChangeArrowheads="1"/>
              </p:cNvSpPr>
              <p:nvPr/>
            </p:nvSpPr>
            <p:spPr bwMode="auto">
              <a:xfrm>
                <a:off x="6272213" y="386397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2" name="Flowchart: Connector 63">
                <a:extLst>
                  <a:ext uri="{FF2B5EF4-FFF2-40B4-BE49-F238E27FC236}">
                    <a16:creationId xmlns:a16="http://schemas.microsoft.com/office/drawing/2014/main" id="{B2E6486E-A4E5-4B5C-81C8-C7C4587993AF}"/>
                  </a:ext>
                </a:extLst>
              </p:cNvPr>
              <p:cNvSpPr>
                <a:spLocks noChangeArrowheads="1"/>
              </p:cNvSpPr>
              <p:nvPr/>
            </p:nvSpPr>
            <p:spPr bwMode="auto">
              <a:xfrm>
                <a:off x="5935663" y="3865563"/>
                <a:ext cx="46037"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3" name="Flowchart: Connector 64">
                <a:extLst>
                  <a:ext uri="{FF2B5EF4-FFF2-40B4-BE49-F238E27FC236}">
                    <a16:creationId xmlns:a16="http://schemas.microsoft.com/office/drawing/2014/main" id="{16115F42-EB9B-4886-9564-0E5BE81CEE20}"/>
                  </a:ext>
                </a:extLst>
              </p:cNvPr>
              <p:cNvSpPr>
                <a:spLocks noChangeArrowheads="1"/>
              </p:cNvSpPr>
              <p:nvPr/>
            </p:nvSpPr>
            <p:spPr bwMode="auto">
              <a:xfrm>
                <a:off x="6240463" y="3565525"/>
                <a:ext cx="46037"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4" name="Flowchart: Connector 65">
                <a:extLst>
                  <a:ext uri="{FF2B5EF4-FFF2-40B4-BE49-F238E27FC236}">
                    <a16:creationId xmlns:a16="http://schemas.microsoft.com/office/drawing/2014/main" id="{42273DC7-544E-4FF7-90D2-2737ADFBA6C4}"/>
                  </a:ext>
                </a:extLst>
              </p:cNvPr>
              <p:cNvSpPr>
                <a:spLocks noChangeArrowheads="1"/>
              </p:cNvSpPr>
              <p:nvPr/>
            </p:nvSpPr>
            <p:spPr bwMode="auto">
              <a:xfrm>
                <a:off x="6823075" y="3327400"/>
                <a:ext cx="46038"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55" name="Flowchart: Connector 66">
                <a:extLst>
                  <a:ext uri="{FF2B5EF4-FFF2-40B4-BE49-F238E27FC236}">
                    <a16:creationId xmlns:a16="http://schemas.microsoft.com/office/drawing/2014/main" id="{C97F1E45-9739-4E50-9D4A-DEC88E031F48}"/>
                  </a:ext>
                </a:extLst>
              </p:cNvPr>
              <p:cNvSpPr>
                <a:spLocks noChangeArrowheads="1"/>
              </p:cNvSpPr>
              <p:nvPr/>
            </p:nvSpPr>
            <p:spPr bwMode="auto">
              <a:xfrm>
                <a:off x="7277100" y="332581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56" name="Straight Connector 70">
                <a:extLst>
                  <a:ext uri="{FF2B5EF4-FFF2-40B4-BE49-F238E27FC236}">
                    <a16:creationId xmlns:a16="http://schemas.microsoft.com/office/drawing/2014/main" id="{EA701319-7EE9-4ECC-A620-9FDCDF7D8562}"/>
                  </a:ext>
                </a:extLst>
              </p:cNvPr>
              <p:cNvCxnSpPr>
                <a:cxnSpLocks noChangeShapeType="1"/>
              </p:cNvCxnSpPr>
              <p:nvPr/>
            </p:nvCxnSpPr>
            <p:spPr bwMode="auto">
              <a:xfrm rot="5400000" flipH="1">
                <a:off x="5809456" y="3404394"/>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57" name="Straight Connector 71">
                <a:extLst>
                  <a:ext uri="{FF2B5EF4-FFF2-40B4-BE49-F238E27FC236}">
                    <a16:creationId xmlns:a16="http://schemas.microsoft.com/office/drawing/2014/main" id="{D8883F25-7E0A-4B3F-BAAA-FDB58B0D16CF}"/>
                  </a:ext>
                </a:extLst>
              </p:cNvPr>
              <p:cNvCxnSpPr>
                <a:cxnSpLocks noChangeShapeType="1"/>
              </p:cNvCxnSpPr>
              <p:nvPr/>
            </p:nvCxnSpPr>
            <p:spPr bwMode="auto">
              <a:xfrm rot="16200000" flipV="1">
                <a:off x="6380853" y="3485555"/>
                <a:ext cx="8012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58" name="Straight Connector 72">
                <a:extLst>
                  <a:ext uri="{FF2B5EF4-FFF2-40B4-BE49-F238E27FC236}">
                    <a16:creationId xmlns:a16="http://schemas.microsoft.com/office/drawing/2014/main" id="{732DB325-6086-4F4B-BECF-F805714024BE}"/>
                  </a:ext>
                </a:extLst>
              </p:cNvPr>
              <p:cNvCxnSpPr>
                <a:cxnSpLocks noChangeShapeType="1"/>
              </p:cNvCxnSpPr>
              <p:nvPr/>
            </p:nvCxnSpPr>
            <p:spPr bwMode="auto">
              <a:xfrm rot="16200000" flipV="1">
                <a:off x="6087268" y="3066257"/>
                <a:ext cx="10398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59" name="Straight Connector 73">
                <a:extLst>
                  <a:ext uri="{FF2B5EF4-FFF2-40B4-BE49-F238E27FC236}">
                    <a16:creationId xmlns:a16="http://schemas.microsoft.com/office/drawing/2014/main" id="{7F95DCAF-6771-49B5-A441-0528AED27620}"/>
                  </a:ext>
                </a:extLst>
              </p:cNvPr>
              <p:cNvCxnSpPr>
                <a:cxnSpLocks noChangeShapeType="1"/>
              </p:cNvCxnSpPr>
              <p:nvPr/>
            </p:nvCxnSpPr>
            <p:spPr bwMode="auto">
              <a:xfrm rot="5400000" flipH="1">
                <a:off x="6584156" y="3096419"/>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13360" name="Group 94">
                <a:extLst>
                  <a:ext uri="{FF2B5EF4-FFF2-40B4-BE49-F238E27FC236}">
                    <a16:creationId xmlns:a16="http://schemas.microsoft.com/office/drawing/2014/main" id="{EAE1C4B2-3EC2-44CD-8AF5-17F8EFABF154}"/>
                  </a:ext>
                </a:extLst>
              </p:cNvPr>
              <p:cNvGrpSpPr>
                <a:grpSpLocks/>
              </p:cNvGrpSpPr>
              <p:nvPr/>
            </p:nvGrpSpPr>
            <p:grpSpPr bwMode="auto">
              <a:xfrm>
                <a:off x="6296029" y="2546346"/>
                <a:ext cx="773121" cy="538575"/>
                <a:chOff x="5117093" y="2545685"/>
                <a:chExt cx="569839" cy="539523"/>
              </a:xfrm>
            </p:grpSpPr>
            <p:cxnSp>
              <p:nvCxnSpPr>
                <p:cNvPr id="13377" name="Straight Connector 68">
                  <a:extLst>
                    <a:ext uri="{FF2B5EF4-FFF2-40B4-BE49-F238E27FC236}">
                      <a16:creationId xmlns:a16="http://schemas.microsoft.com/office/drawing/2014/main" id="{35C363F4-B955-4C15-B10C-8B44B6A18D6A}"/>
                    </a:ext>
                  </a:extLst>
                </p:cNvPr>
                <p:cNvCxnSpPr>
                  <a:cxnSpLocks noChangeShapeType="1"/>
                </p:cNvCxnSpPr>
                <p:nvPr/>
              </p:nvCxnSpPr>
              <p:spPr bwMode="auto">
                <a:xfrm rot="5400000" flipH="1" flipV="1">
                  <a:off x="5044890" y="2617892"/>
                  <a:ext cx="373724" cy="22931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8" name="Straight Connector 77">
                  <a:extLst>
                    <a:ext uri="{FF2B5EF4-FFF2-40B4-BE49-F238E27FC236}">
                      <a16:creationId xmlns:a16="http://schemas.microsoft.com/office/drawing/2014/main" id="{43E84EB8-B3D4-4BB1-872A-32D9E5D0FEF3}"/>
                    </a:ext>
                  </a:extLst>
                </p:cNvPr>
                <p:cNvCxnSpPr>
                  <a:cxnSpLocks noChangeShapeType="1"/>
                </p:cNvCxnSpPr>
                <p:nvPr/>
              </p:nvCxnSpPr>
              <p:spPr bwMode="auto">
                <a:xfrm>
                  <a:off x="5346407" y="2545685"/>
                  <a:ext cx="337011" cy="689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9" name="Straight Connector 82">
                  <a:extLst>
                    <a:ext uri="{FF2B5EF4-FFF2-40B4-BE49-F238E27FC236}">
                      <a16:creationId xmlns:a16="http://schemas.microsoft.com/office/drawing/2014/main" id="{A1245B21-3448-4EC2-91EA-B96501433093}"/>
                    </a:ext>
                  </a:extLst>
                </p:cNvPr>
                <p:cNvCxnSpPr>
                  <a:cxnSpLocks noChangeShapeType="1"/>
                </p:cNvCxnSpPr>
                <p:nvPr/>
              </p:nvCxnSpPr>
              <p:spPr bwMode="auto">
                <a:xfrm rot="5400000">
                  <a:off x="5348477" y="2746754"/>
                  <a:ext cx="468215" cy="20869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80" name="Straight Connector 84">
                  <a:extLst>
                    <a:ext uri="{FF2B5EF4-FFF2-40B4-BE49-F238E27FC236}">
                      <a16:creationId xmlns:a16="http://schemas.microsoft.com/office/drawing/2014/main" id="{BD8D8F31-D6BE-4090-A5B2-571349670469}"/>
                    </a:ext>
                  </a:extLst>
                </p:cNvPr>
                <p:cNvCxnSpPr>
                  <a:cxnSpLocks noChangeShapeType="1"/>
                </p:cNvCxnSpPr>
                <p:nvPr/>
              </p:nvCxnSpPr>
              <p:spPr bwMode="auto">
                <a:xfrm>
                  <a:off x="5117095" y="2924174"/>
                  <a:ext cx="357815" cy="15628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3361" name="Flowchart: Connector 62">
                <a:extLst>
                  <a:ext uri="{FF2B5EF4-FFF2-40B4-BE49-F238E27FC236}">
                    <a16:creationId xmlns:a16="http://schemas.microsoft.com/office/drawing/2014/main" id="{AA6240D2-A192-4C79-9C87-285F8807A70D}"/>
                  </a:ext>
                </a:extLst>
              </p:cNvPr>
              <p:cNvSpPr>
                <a:spLocks noChangeArrowheads="1"/>
              </p:cNvSpPr>
              <p:nvPr/>
            </p:nvSpPr>
            <p:spPr bwMode="auto">
              <a:xfrm>
                <a:off x="6271345" y="290085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62" name="Flowchart: Connector 62">
                <a:extLst>
                  <a:ext uri="{FF2B5EF4-FFF2-40B4-BE49-F238E27FC236}">
                    <a16:creationId xmlns:a16="http://schemas.microsoft.com/office/drawing/2014/main" id="{4E8B98A0-D173-4551-9440-7D749D10083C}"/>
                  </a:ext>
                </a:extLst>
              </p:cNvPr>
              <p:cNvSpPr>
                <a:spLocks noChangeArrowheads="1"/>
              </p:cNvSpPr>
              <p:nvPr/>
            </p:nvSpPr>
            <p:spPr bwMode="auto">
              <a:xfrm>
                <a:off x="6761085" y="3057078"/>
                <a:ext cx="44449"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63" name="Flowchart: Connector 62">
                <a:extLst>
                  <a:ext uri="{FF2B5EF4-FFF2-40B4-BE49-F238E27FC236}">
                    <a16:creationId xmlns:a16="http://schemas.microsoft.com/office/drawing/2014/main" id="{EC9065EC-D183-4B6F-B3F7-BBA728307B33}"/>
                  </a:ext>
                </a:extLst>
              </p:cNvPr>
              <p:cNvSpPr>
                <a:spLocks noChangeArrowheads="1"/>
              </p:cNvSpPr>
              <p:nvPr/>
            </p:nvSpPr>
            <p:spPr bwMode="auto">
              <a:xfrm>
                <a:off x="6588110" y="2526330"/>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64" name="Flowchart: Connector 62">
                <a:extLst>
                  <a:ext uri="{FF2B5EF4-FFF2-40B4-BE49-F238E27FC236}">
                    <a16:creationId xmlns:a16="http://schemas.microsoft.com/office/drawing/2014/main" id="{1DEE7643-37AC-421E-870B-EAAF337519A2}"/>
                  </a:ext>
                </a:extLst>
              </p:cNvPr>
              <p:cNvSpPr>
                <a:spLocks noChangeArrowheads="1"/>
              </p:cNvSpPr>
              <p:nvPr/>
            </p:nvSpPr>
            <p:spPr bwMode="auto">
              <a:xfrm>
                <a:off x="7039445" y="259996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65" name="Straight Connector 115">
                <a:extLst>
                  <a:ext uri="{FF2B5EF4-FFF2-40B4-BE49-F238E27FC236}">
                    <a16:creationId xmlns:a16="http://schemas.microsoft.com/office/drawing/2014/main" id="{F1AE8A51-E254-48C7-9386-33B9C239072A}"/>
                  </a:ext>
                </a:extLst>
              </p:cNvPr>
              <p:cNvCxnSpPr>
                <a:cxnSpLocks noChangeShapeType="1"/>
              </p:cNvCxnSpPr>
              <p:nvPr/>
            </p:nvCxnSpPr>
            <p:spPr bwMode="auto">
              <a:xfrm rot="5400000">
                <a:off x="6309187" y="2781090"/>
                <a:ext cx="257708" cy="941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66" name="Straight Connector 116">
                <a:extLst>
                  <a:ext uri="{FF2B5EF4-FFF2-40B4-BE49-F238E27FC236}">
                    <a16:creationId xmlns:a16="http://schemas.microsoft.com/office/drawing/2014/main" id="{77879C77-C73B-4B5B-978C-8EA9118DEE90}"/>
                  </a:ext>
                </a:extLst>
              </p:cNvPr>
              <p:cNvCxnSpPr>
                <a:cxnSpLocks noChangeShapeType="1"/>
              </p:cNvCxnSpPr>
              <p:nvPr/>
            </p:nvCxnSpPr>
            <p:spPr bwMode="auto">
              <a:xfrm rot="5400000">
                <a:off x="6306769" y="2711308"/>
                <a:ext cx="384747" cy="13507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67" name="Straight Connector 117">
                <a:extLst>
                  <a:ext uri="{FF2B5EF4-FFF2-40B4-BE49-F238E27FC236}">
                    <a16:creationId xmlns:a16="http://schemas.microsoft.com/office/drawing/2014/main" id="{8455F5F9-167D-4321-A45B-50A8766FDA58}"/>
                  </a:ext>
                </a:extLst>
              </p:cNvPr>
              <p:cNvCxnSpPr>
                <a:cxnSpLocks noChangeShapeType="1"/>
              </p:cNvCxnSpPr>
              <p:nvPr/>
            </p:nvCxnSpPr>
            <p:spPr bwMode="auto">
              <a:xfrm rot="5400000">
                <a:off x="6342148" y="2707037"/>
                <a:ext cx="404932" cy="14475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68" name="Straight Connector 118">
                <a:extLst>
                  <a:ext uri="{FF2B5EF4-FFF2-40B4-BE49-F238E27FC236}">
                    <a16:creationId xmlns:a16="http://schemas.microsoft.com/office/drawing/2014/main" id="{EB26E229-DD4E-49FE-982D-32C4E22938D5}"/>
                  </a:ext>
                </a:extLst>
              </p:cNvPr>
              <p:cNvCxnSpPr>
                <a:cxnSpLocks noChangeShapeType="1"/>
              </p:cNvCxnSpPr>
              <p:nvPr/>
            </p:nvCxnSpPr>
            <p:spPr bwMode="auto">
              <a:xfrm rot="5400000">
                <a:off x="6376135" y="2699967"/>
                <a:ext cx="436249" cy="15600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69" name="Straight Connector 119">
                <a:extLst>
                  <a:ext uri="{FF2B5EF4-FFF2-40B4-BE49-F238E27FC236}">
                    <a16:creationId xmlns:a16="http://schemas.microsoft.com/office/drawing/2014/main" id="{5C22574D-13DB-464E-AF1C-7F497544A1EA}"/>
                  </a:ext>
                </a:extLst>
              </p:cNvPr>
              <p:cNvCxnSpPr>
                <a:cxnSpLocks noChangeShapeType="1"/>
              </p:cNvCxnSpPr>
              <p:nvPr/>
            </p:nvCxnSpPr>
            <p:spPr bwMode="auto">
              <a:xfrm rot="5400000">
                <a:off x="6418151" y="2707289"/>
                <a:ext cx="441583" cy="1573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0" name="Straight Connector 120">
                <a:extLst>
                  <a:ext uri="{FF2B5EF4-FFF2-40B4-BE49-F238E27FC236}">
                    <a16:creationId xmlns:a16="http://schemas.microsoft.com/office/drawing/2014/main" id="{BD29A479-BA12-4352-8440-E53865D05E34}"/>
                  </a:ext>
                </a:extLst>
              </p:cNvPr>
              <p:cNvCxnSpPr>
                <a:cxnSpLocks noChangeShapeType="1"/>
              </p:cNvCxnSpPr>
              <p:nvPr/>
            </p:nvCxnSpPr>
            <p:spPr bwMode="auto">
              <a:xfrm rot="5400000">
                <a:off x="6452481" y="2715414"/>
                <a:ext cx="461078" cy="16422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1" name="Straight Connector 121">
                <a:extLst>
                  <a:ext uri="{FF2B5EF4-FFF2-40B4-BE49-F238E27FC236}">
                    <a16:creationId xmlns:a16="http://schemas.microsoft.com/office/drawing/2014/main" id="{42B69D72-1369-4F99-B1AD-FA2AD8B2C331}"/>
                  </a:ext>
                </a:extLst>
              </p:cNvPr>
              <p:cNvCxnSpPr>
                <a:cxnSpLocks noChangeShapeType="1"/>
              </p:cNvCxnSpPr>
              <p:nvPr/>
            </p:nvCxnSpPr>
            <p:spPr bwMode="auto">
              <a:xfrm rot="5400000">
                <a:off x="6496543" y="2724896"/>
                <a:ext cx="462215" cy="16545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2" name="Straight Connector 122">
                <a:extLst>
                  <a:ext uri="{FF2B5EF4-FFF2-40B4-BE49-F238E27FC236}">
                    <a16:creationId xmlns:a16="http://schemas.microsoft.com/office/drawing/2014/main" id="{0E78EA4C-68FE-46CF-B26E-F7180B0F1FEB}"/>
                  </a:ext>
                </a:extLst>
              </p:cNvPr>
              <p:cNvCxnSpPr>
                <a:cxnSpLocks noChangeShapeType="1"/>
              </p:cNvCxnSpPr>
              <p:nvPr/>
            </p:nvCxnSpPr>
            <p:spPr bwMode="auto">
              <a:xfrm rot="5400000">
                <a:off x="6542237" y="2739519"/>
                <a:ext cx="474008" cy="16704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3" name="Straight Connector 123">
                <a:extLst>
                  <a:ext uri="{FF2B5EF4-FFF2-40B4-BE49-F238E27FC236}">
                    <a16:creationId xmlns:a16="http://schemas.microsoft.com/office/drawing/2014/main" id="{517D8E4E-731B-44B1-BE52-0F1D170D614E}"/>
                  </a:ext>
                </a:extLst>
              </p:cNvPr>
              <p:cNvCxnSpPr>
                <a:cxnSpLocks noChangeShapeType="1"/>
              </p:cNvCxnSpPr>
              <p:nvPr/>
            </p:nvCxnSpPr>
            <p:spPr bwMode="auto">
              <a:xfrm rot="5400000">
                <a:off x="6589104" y="2750588"/>
                <a:ext cx="481070" cy="16626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4" name="Straight Connector 124">
                <a:extLst>
                  <a:ext uri="{FF2B5EF4-FFF2-40B4-BE49-F238E27FC236}">
                    <a16:creationId xmlns:a16="http://schemas.microsoft.com/office/drawing/2014/main" id="{215FC1FA-49DD-4549-BE26-419C766EF10C}"/>
                  </a:ext>
                </a:extLst>
              </p:cNvPr>
              <p:cNvCxnSpPr>
                <a:cxnSpLocks noChangeShapeType="1"/>
              </p:cNvCxnSpPr>
              <p:nvPr/>
            </p:nvCxnSpPr>
            <p:spPr bwMode="auto">
              <a:xfrm rot="5400000">
                <a:off x="6658373" y="2740257"/>
                <a:ext cx="444332" cy="15971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5" name="Straight Connector 125">
                <a:extLst>
                  <a:ext uri="{FF2B5EF4-FFF2-40B4-BE49-F238E27FC236}">
                    <a16:creationId xmlns:a16="http://schemas.microsoft.com/office/drawing/2014/main" id="{EB92FCB5-5163-4C48-97E1-30DC527794A7}"/>
                  </a:ext>
                </a:extLst>
              </p:cNvPr>
              <p:cNvCxnSpPr>
                <a:cxnSpLocks noChangeShapeType="1"/>
              </p:cNvCxnSpPr>
              <p:nvPr/>
            </p:nvCxnSpPr>
            <p:spPr bwMode="auto">
              <a:xfrm rot="5400000">
                <a:off x="6296620" y="2837403"/>
                <a:ext cx="162666" cy="552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76" name="Straight Connector 126">
                <a:extLst>
                  <a:ext uri="{FF2B5EF4-FFF2-40B4-BE49-F238E27FC236}">
                    <a16:creationId xmlns:a16="http://schemas.microsoft.com/office/drawing/2014/main" id="{D6378127-6659-4E20-A3C8-231479DF0560}"/>
                  </a:ext>
                </a:extLst>
              </p:cNvPr>
              <p:cNvCxnSpPr>
                <a:cxnSpLocks noChangeShapeType="1"/>
              </p:cNvCxnSpPr>
              <p:nvPr/>
            </p:nvCxnSpPr>
            <p:spPr bwMode="auto">
              <a:xfrm rot="5400000">
                <a:off x="6833921" y="2689361"/>
                <a:ext cx="253608" cy="8983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3342" name="TextBox 34">
              <a:extLst>
                <a:ext uri="{FF2B5EF4-FFF2-40B4-BE49-F238E27FC236}">
                  <a16:creationId xmlns:a16="http://schemas.microsoft.com/office/drawing/2014/main" id="{ED470D64-366F-42BF-B20A-35433387BBAE}"/>
                </a:ext>
              </a:extLst>
            </p:cNvPr>
            <p:cNvSpPr txBox="1">
              <a:spLocks noChangeArrowheads="1"/>
            </p:cNvSpPr>
            <p:nvPr/>
          </p:nvSpPr>
          <p:spPr bwMode="auto">
            <a:xfrm>
              <a:off x="6131321" y="4009356"/>
              <a:ext cx="749020" cy="92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P:TT</a:t>
              </a:r>
            </a:p>
            <a:p>
              <a:pPr eaLnBrk="1" hangingPunct="1">
                <a:spcBef>
                  <a:spcPct val="0"/>
                </a:spcBef>
                <a:buClrTx/>
                <a:buSzTx/>
                <a:buFontTx/>
                <a:buNone/>
              </a:pPr>
              <a:r>
                <a:rPr lang="en-US" altLang="en-US" sz="1800"/>
                <a:t>V:1.2</a:t>
              </a:r>
            </a:p>
            <a:p>
              <a:pPr eaLnBrk="1" hangingPunct="1">
                <a:spcBef>
                  <a:spcPct val="0"/>
                </a:spcBef>
                <a:buClrTx/>
                <a:buSzTx/>
                <a:buFontTx/>
                <a:buNone/>
              </a:pPr>
              <a:r>
                <a:rPr lang="en-US" altLang="en-US" sz="1800"/>
                <a:t>T:125</a:t>
              </a:r>
            </a:p>
          </p:txBody>
        </p:sp>
      </p:grpSp>
      <p:grpSp>
        <p:nvGrpSpPr>
          <p:cNvPr id="13318" name="Group 1">
            <a:extLst>
              <a:ext uri="{FF2B5EF4-FFF2-40B4-BE49-F238E27FC236}">
                <a16:creationId xmlns:a16="http://schemas.microsoft.com/office/drawing/2014/main" id="{E9E8833C-2E05-4557-B293-5A3B57F54607}"/>
              </a:ext>
            </a:extLst>
          </p:cNvPr>
          <p:cNvGrpSpPr>
            <a:grpSpLocks/>
          </p:cNvGrpSpPr>
          <p:nvPr/>
        </p:nvGrpSpPr>
        <p:grpSpPr bwMode="auto">
          <a:xfrm>
            <a:off x="2149476" y="1836738"/>
            <a:ext cx="3794125" cy="2735262"/>
            <a:chOff x="457200" y="1470025"/>
            <a:chExt cx="3794125" cy="2735263"/>
          </a:xfrm>
        </p:grpSpPr>
        <p:sp>
          <p:nvSpPr>
            <p:cNvPr id="8208" name="TextBox 34">
              <a:extLst>
                <a:ext uri="{FF2B5EF4-FFF2-40B4-BE49-F238E27FC236}">
                  <a16:creationId xmlns:a16="http://schemas.microsoft.com/office/drawing/2014/main" id="{FF528FC7-7443-46F2-BE9C-02D97811D6C0}"/>
                </a:ext>
              </a:extLst>
            </p:cNvPr>
            <p:cNvSpPr txBox="1">
              <a:spLocks noChangeArrowheads="1"/>
            </p:cNvSpPr>
            <p:nvPr/>
          </p:nvSpPr>
          <p:spPr bwMode="auto">
            <a:xfrm>
              <a:off x="627063" y="3281363"/>
              <a:ext cx="3455987" cy="923925"/>
            </a:xfrm>
            <a:prstGeom prst="rect">
              <a:avLst/>
            </a:prstGeom>
            <a:ln>
              <a:no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dirty="0"/>
                <a:t>t</a:t>
              </a:r>
              <a:r>
                <a:rPr lang="en-US" baseline="-25000" dirty="0"/>
                <a:t>d </a:t>
              </a:r>
              <a:r>
                <a:rPr lang="en-US" dirty="0"/>
                <a:t>~ Process Variations</a:t>
              </a:r>
            </a:p>
            <a:p>
              <a:pPr eaLnBrk="1" hangingPunct="1">
                <a:defRPr/>
              </a:pPr>
              <a:r>
                <a:rPr lang="en-US" dirty="0"/>
                <a:t>t</a:t>
              </a:r>
              <a:r>
                <a:rPr lang="en-US" baseline="-25000" dirty="0"/>
                <a:t>d </a:t>
              </a:r>
              <a:r>
                <a:rPr lang="en-US" dirty="0"/>
                <a:t>~ Voltage </a:t>
              </a:r>
            </a:p>
            <a:p>
              <a:pPr eaLnBrk="1" hangingPunct="1">
                <a:defRPr/>
              </a:pPr>
              <a:r>
                <a:rPr lang="en-US" dirty="0"/>
                <a:t>t</a:t>
              </a:r>
              <a:r>
                <a:rPr lang="en-US" baseline="-25000" dirty="0"/>
                <a:t>d </a:t>
              </a:r>
              <a:r>
                <a:rPr lang="en-US" dirty="0"/>
                <a:t>~ Temperature</a:t>
              </a:r>
            </a:p>
          </p:txBody>
        </p:sp>
        <p:sp>
          <p:nvSpPr>
            <p:cNvPr id="13320" name="Freeform 11">
              <a:extLst>
                <a:ext uri="{FF2B5EF4-FFF2-40B4-BE49-F238E27FC236}">
                  <a16:creationId xmlns:a16="http://schemas.microsoft.com/office/drawing/2014/main" id="{DC134ADC-CF53-410A-ABA8-A1FB8A028264}"/>
                </a:ext>
              </a:extLst>
            </p:cNvPr>
            <p:cNvSpPr>
              <a:spLocks/>
            </p:cNvSpPr>
            <p:nvPr/>
          </p:nvSpPr>
          <p:spPr bwMode="auto">
            <a:xfrm>
              <a:off x="457200" y="1752600"/>
              <a:ext cx="1157288" cy="563563"/>
            </a:xfrm>
            <a:custGeom>
              <a:avLst/>
              <a:gdLst>
                <a:gd name="T0" fmla="*/ 0 w 503245"/>
                <a:gd name="T1" fmla="*/ 2147483646 h 196669"/>
                <a:gd name="T2" fmla="*/ 2147483646 w 503245"/>
                <a:gd name="T3" fmla="*/ 2147483646 h 196669"/>
                <a:gd name="T4" fmla="*/ 2147483646 w 503245"/>
                <a:gd name="T5" fmla="*/ 2147483646 h 196669"/>
                <a:gd name="T6" fmla="*/ 2147483646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3321" name="TextBox 12">
              <a:extLst>
                <a:ext uri="{FF2B5EF4-FFF2-40B4-BE49-F238E27FC236}">
                  <a16:creationId xmlns:a16="http://schemas.microsoft.com/office/drawing/2014/main" id="{156BEC45-982C-4A8B-B0AC-6E4DAC86C934}"/>
                </a:ext>
              </a:extLst>
            </p:cNvPr>
            <p:cNvSpPr txBox="1">
              <a:spLocks noChangeArrowheads="1"/>
            </p:cNvSpPr>
            <p:nvPr/>
          </p:nvSpPr>
          <p:spPr bwMode="auto">
            <a:xfrm>
              <a:off x="577850" y="2584450"/>
              <a:ext cx="495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rise</a:t>
              </a:r>
              <a:endParaRPr lang="en-US" altLang="en-US" sz="1800"/>
            </a:p>
          </p:txBody>
        </p:sp>
        <p:sp>
          <p:nvSpPr>
            <p:cNvPr id="13322" name="TextBox 13">
              <a:extLst>
                <a:ext uri="{FF2B5EF4-FFF2-40B4-BE49-F238E27FC236}">
                  <a16:creationId xmlns:a16="http://schemas.microsoft.com/office/drawing/2014/main" id="{7C18E8DD-F0FF-441A-AFB6-4601A7D3796A}"/>
                </a:ext>
              </a:extLst>
            </p:cNvPr>
            <p:cNvSpPr txBox="1">
              <a:spLocks noChangeArrowheads="1"/>
            </p:cNvSpPr>
            <p:nvPr/>
          </p:nvSpPr>
          <p:spPr bwMode="auto">
            <a:xfrm>
              <a:off x="3605213" y="2106613"/>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C</a:t>
              </a:r>
              <a:r>
                <a:rPr lang="en-US" altLang="en-US" sz="1800" baseline="-25000"/>
                <a:t>L</a:t>
              </a:r>
              <a:endParaRPr lang="en-US" altLang="en-US" sz="1800"/>
            </a:p>
          </p:txBody>
        </p:sp>
        <p:grpSp>
          <p:nvGrpSpPr>
            <p:cNvPr id="13323" name="Group 20">
              <a:extLst>
                <a:ext uri="{FF2B5EF4-FFF2-40B4-BE49-F238E27FC236}">
                  <a16:creationId xmlns:a16="http://schemas.microsoft.com/office/drawing/2014/main" id="{6D8D39C8-81F5-4CA6-AE8A-6CB7B1B0BBC3}"/>
                </a:ext>
              </a:extLst>
            </p:cNvPr>
            <p:cNvGrpSpPr>
              <a:grpSpLocks/>
            </p:cNvGrpSpPr>
            <p:nvPr/>
          </p:nvGrpSpPr>
          <p:grpSpPr bwMode="auto">
            <a:xfrm>
              <a:off x="1752600" y="1814513"/>
              <a:ext cx="2498725" cy="1157287"/>
              <a:chOff x="1806840" y="3236975"/>
              <a:chExt cx="1244988" cy="577689"/>
            </a:xfrm>
          </p:grpSpPr>
          <p:grpSp>
            <p:nvGrpSpPr>
              <p:cNvPr id="13329" name="Group 2">
                <a:extLst>
                  <a:ext uri="{FF2B5EF4-FFF2-40B4-BE49-F238E27FC236}">
                    <a16:creationId xmlns:a16="http://schemas.microsoft.com/office/drawing/2014/main" id="{9E7C7028-2D2E-4A85-9DA2-BA416AA42D37}"/>
                  </a:ext>
                </a:extLst>
              </p:cNvPr>
              <p:cNvGrpSpPr>
                <a:grpSpLocks/>
              </p:cNvGrpSpPr>
              <p:nvPr/>
            </p:nvGrpSpPr>
            <p:grpSpPr bwMode="auto">
              <a:xfrm>
                <a:off x="2267700" y="3236975"/>
                <a:ext cx="374678" cy="307240"/>
                <a:chOff x="5282492" y="2872128"/>
                <a:chExt cx="374678" cy="307240"/>
              </a:xfrm>
            </p:grpSpPr>
            <p:sp>
              <p:nvSpPr>
                <p:cNvPr id="13338" name="Flowchart: Extract 3">
                  <a:extLst>
                    <a:ext uri="{FF2B5EF4-FFF2-40B4-BE49-F238E27FC236}">
                      <a16:creationId xmlns:a16="http://schemas.microsoft.com/office/drawing/2014/main" id="{7A7CED4B-43DC-45EC-BB3F-9D7766788B7E}"/>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39" name="Flowchart: Connector 4">
                  <a:extLst>
                    <a:ext uri="{FF2B5EF4-FFF2-40B4-BE49-F238E27FC236}">
                      <a16:creationId xmlns:a16="http://schemas.microsoft.com/office/drawing/2014/main" id="{A13E649C-56BB-4F92-B145-AE66A98C2578}"/>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grpSp>
            <p:nvGrpSpPr>
              <p:cNvPr id="13330" name="Group 5">
                <a:extLst>
                  <a:ext uri="{FF2B5EF4-FFF2-40B4-BE49-F238E27FC236}">
                    <a16:creationId xmlns:a16="http://schemas.microsoft.com/office/drawing/2014/main" id="{7B44F76B-725D-42BC-9D8E-CC7FE9367AE4}"/>
                  </a:ext>
                </a:extLst>
              </p:cNvPr>
              <p:cNvGrpSpPr>
                <a:grpSpLocks/>
              </p:cNvGrpSpPr>
              <p:nvPr/>
            </p:nvGrpSpPr>
            <p:grpSpPr bwMode="auto">
              <a:xfrm>
                <a:off x="2859803" y="3392209"/>
                <a:ext cx="192025" cy="422455"/>
                <a:chOff x="4744668" y="3352190"/>
                <a:chExt cx="115215" cy="345645"/>
              </a:xfrm>
            </p:grpSpPr>
            <p:cxnSp>
              <p:nvCxnSpPr>
                <p:cNvPr id="13333" name="Straight Connector 6">
                  <a:extLst>
                    <a:ext uri="{FF2B5EF4-FFF2-40B4-BE49-F238E27FC236}">
                      <a16:creationId xmlns:a16="http://schemas.microsoft.com/office/drawing/2014/main" id="{C8B1AA9B-F43A-4976-BA87-291A0795D38F}"/>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4" name="Straight Connector 7">
                  <a:extLst>
                    <a:ext uri="{FF2B5EF4-FFF2-40B4-BE49-F238E27FC236}">
                      <a16:creationId xmlns:a16="http://schemas.microsoft.com/office/drawing/2014/main" id="{6A8EF3FF-D8FD-43BE-9DC9-2EF769AB8FF1}"/>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5" name="Straight Connector 8">
                  <a:extLst>
                    <a:ext uri="{FF2B5EF4-FFF2-40B4-BE49-F238E27FC236}">
                      <a16:creationId xmlns:a16="http://schemas.microsoft.com/office/drawing/2014/main" id="{93A1F8B5-1897-4754-B090-AD5AEDFC497E}"/>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6" name="Straight Connector 9">
                  <a:extLst>
                    <a:ext uri="{FF2B5EF4-FFF2-40B4-BE49-F238E27FC236}">
                      <a16:creationId xmlns:a16="http://schemas.microsoft.com/office/drawing/2014/main" id="{73B2A869-1DFE-4F95-9F37-79B5A965F7B4}"/>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7" name="Straight Connector 10">
                  <a:extLst>
                    <a:ext uri="{FF2B5EF4-FFF2-40B4-BE49-F238E27FC236}">
                      <a16:creationId xmlns:a16="http://schemas.microsoft.com/office/drawing/2014/main" id="{162B74EA-CAC4-4A1C-8929-1321F74EBBFA}"/>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3331" name="Straight Connector 15">
                <a:extLst>
                  <a:ext uri="{FF2B5EF4-FFF2-40B4-BE49-F238E27FC236}">
                    <a16:creationId xmlns:a16="http://schemas.microsoft.com/office/drawing/2014/main" id="{46883E45-0A3A-43F4-A34D-D0A654BFAFEE}"/>
                  </a:ext>
                </a:extLst>
              </p:cNvPr>
              <p:cNvCxnSpPr>
                <a:cxnSpLocks noChangeShapeType="1"/>
                <a:endCxn id="13338" idx="2"/>
              </p:cNvCxnSpPr>
              <p:nvPr/>
            </p:nvCxnSpPr>
            <p:spPr bwMode="auto">
              <a:xfrm flipV="1">
                <a:off x="1806840" y="3390595"/>
                <a:ext cx="460861"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2" name="Straight Connector 17">
                <a:extLst>
                  <a:ext uri="{FF2B5EF4-FFF2-40B4-BE49-F238E27FC236}">
                    <a16:creationId xmlns:a16="http://schemas.microsoft.com/office/drawing/2014/main" id="{C128561F-11B1-4A57-8D2C-673ECEDD42F9}"/>
                  </a:ext>
                </a:extLst>
              </p:cNvPr>
              <p:cNvCxnSpPr>
                <a:cxnSpLocks noChangeShapeType="1"/>
                <a:stCxn id="13339" idx="6"/>
              </p:cNvCxnSpPr>
              <p:nvPr/>
            </p:nvCxnSpPr>
            <p:spPr bwMode="auto">
              <a:xfrm>
                <a:off x="2642378" y="3390595"/>
                <a:ext cx="3166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3324" name="Straight Connector 22">
              <a:extLst>
                <a:ext uri="{FF2B5EF4-FFF2-40B4-BE49-F238E27FC236}">
                  <a16:creationId xmlns:a16="http://schemas.microsoft.com/office/drawing/2014/main" id="{E0931DFA-3087-4086-A759-FEA8A38A2C15}"/>
                </a:ext>
              </a:extLst>
            </p:cNvPr>
            <p:cNvCxnSpPr>
              <a:cxnSpLocks noChangeShapeType="1"/>
              <a:stCxn id="13320" idx="1"/>
            </p:cNvCxnSpPr>
            <p:nvPr/>
          </p:nvCxnSpPr>
          <p:spPr bwMode="auto">
            <a:xfrm flipH="1">
              <a:off x="922338" y="2312988"/>
              <a:ext cx="0" cy="4651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25" name="Straight Connector 23">
              <a:extLst>
                <a:ext uri="{FF2B5EF4-FFF2-40B4-BE49-F238E27FC236}">
                  <a16:creationId xmlns:a16="http://schemas.microsoft.com/office/drawing/2014/main" id="{BCEAF0BF-2149-4EB4-AA84-21AD43F80546}"/>
                </a:ext>
              </a:extLst>
            </p:cNvPr>
            <p:cNvCxnSpPr>
              <a:cxnSpLocks noChangeShapeType="1"/>
              <a:stCxn id="13320" idx="2"/>
            </p:cNvCxnSpPr>
            <p:nvPr/>
          </p:nvCxnSpPr>
          <p:spPr bwMode="auto">
            <a:xfrm>
              <a:off x="1247775" y="1752600"/>
              <a:ext cx="0" cy="1019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26" name="Straight Arrow Connector 31">
              <a:extLst>
                <a:ext uri="{FF2B5EF4-FFF2-40B4-BE49-F238E27FC236}">
                  <a16:creationId xmlns:a16="http://schemas.microsoft.com/office/drawing/2014/main" id="{4858AB56-02F1-4EDF-83FC-E8DD838ECE70}"/>
                </a:ext>
              </a:extLst>
            </p:cNvPr>
            <p:cNvCxnSpPr>
              <a:cxnSpLocks noChangeShapeType="1"/>
            </p:cNvCxnSpPr>
            <p:nvPr/>
          </p:nvCxnSpPr>
          <p:spPr bwMode="auto">
            <a:xfrm>
              <a:off x="603250" y="2625725"/>
              <a:ext cx="309563"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27" name="Straight Arrow Connector 32">
              <a:extLst>
                <a:ext uri="{FF2B5EF4-FFF2-40B4-BE49-F238E27FC236}">
                  <a16:creationId xmlns:a16="http://schemas.microsoft.com/office/drawing/2014/main" id="{B0D1B9D5-1CB2-41D2-8F38-3E1EDA0B8580}"/>
                </a:ext>
              </a:extLst>
            </p:cNvPr>
            <p:cNvCxnSpPr>
              <a:cxnSpLocks noChangeShapeType="1"/>
            </p:cNvCxnSpPr>
            <p:nvPr/>
          </p:nvCxnSpPr>
          <p:spPr bwMode="auto">
            <a:xfrm>
              <a:off x="1247775" y="2625725"/>
              <a:ext cx="309563" cy="0"/>
            </a:xfrm>
            <a:prstGeom prst="straightConnector1">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13328" name="TextBox 33">
              <a:extLst>
                <a:ext uri="{FF2B5EF4-FFF2-40B4-BE49-F238E27FC236}">
                  <a16:creationId xmlns:a16="http://schemas.microsoft.com/office/drawing/2014/main" id="{482C066D-E275-49A4-80F1-80CEEE1BD8AD}"/>
                </a:ext>
              </a:extLst>
            </p:cNvPr>
            <p:cNvSpPr txBox="1">
              <a:spLocks noChangeArrowheads="1"/>
            </p:cNvSpPr>
            <p:nvPr/>
          </p:nvSpPr>
          <p:spPr bwMode="auto">
            <a:xfrm>
              <a:off x="2678113" y="1470025"/>
              <a:ext cx="333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a:t>
              </a:r>
              <a:r>
                <a:rPr lang="en-US" altLang="en-US" sz="1800" baseline="-25000"/>
                <a:t>d</a:t>
              </a:r>
              <a:endParaRPr lang="en-US" altLang="en-US" sz="18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Delay Model </a:t>
            </a:r>
          </a:p>
        </p:txBody>
      </p:sp>
      <mc:AlternateContent xmlns:mc="http://schemas.openxmlformats.org/markup-compatibility/2006">
        <mc:Choice xmlns:a14="http://schemas.microsoft.com/office/drawing/2010/main" Requires="a14">
          <p:sp>
            <p:nvSpPr>
              <p:cNvPr id="3" name="Content Placeholder 2"/>
              <p:cNvSpPr>
                <a:spLocks noGrp="1"/>
              </p:cNvSpPr>
              <p:nvPr>
                <p:ph idx="4294967295"/>
              </p:nvPr>
            </p:nvSpPr>
            <p:spPr>
              <a:xfrm>
                <a:off x="568346" y="2098597"/>
                <a:ext cx="4152900" cy="3359150"/>
              </a:xfrm>
            </p:spPr>
            <p:txBody>
              <a:bodyPr/>
              <a:lstStyle/>
              <a:p>
                <a:r>
                  <a:rPr lang="en-US" sz="1800" dirty="0"/>
                  <a:t>Slope Delay (</a:t>
                </a:r>
                <a14:m>
                  <m:oMath xmlns:m="http://schemas.openxmlformats.org/officeDocument/2006/math">
                    <m:sSub>
                      <m:sSubPr>
                        <m:ctrlPr>
                          <a:rPr lang="en-US" sz="1800" i="1">
                            <a:latin typeface="Cambria Math" panose="02040503050406030204" pitchFamily="18" charset="0"/>
                          </a:rPr>
                        </m:ctrlPr>
                      </m:sSubPr>
                      <m:e>
                        <m:r>
                          <m:rPr>
                            <m:sty m:val="p"/>
                          </m:rPr>
                          <a:rPr lang="en-US" sz="1800">
                            <a:latin typeface="Cambria Math"/>
                          </a:rPr>
                          <m:t>T</m:t>
                        </m:r>
                      </m:e>
                      <m:sub>
                        <m:r>
                          <m:rPr>
                            <m:sty m:val="p"/>
                          </m:rPr>
                          <a:rPr lang="en-US" sz="1800">
                            <a:latin typeface="Cambria Math"/>
                          </a:rPr>
                          <m:t>slope</m:t>
                        </m:r>
                      </m:sub>
                    </m:sSub>
                  </m:oMath>
                </a14:m>
                <a:r>
                  <a:rPr lang="en-US" sz="1800" dirty="0"/>
                  <a:t>)</a:t>
                </a:r>
              </a:p>
              <a:p>
                <a:pPr lvl="1"/>
                <a:r>
                  <a:rPr lang="en-US" sz="1400" dirty="0"/>
                  <a:t>The transition time of the previous gate</a:t>
                </a:r>
              </a:p>
              <a:p>
                <a:r>
                  <a:rPr lang="en-US" sz="1800" dirty="0"/>
                  <a:t>Intrinsic Delay (</a:t>
                </a:r>
                <a14:m>
                  <m:oMath xmlns:m="http://schemas.openxmlformats.org/officeDocument/2006/math">
                    <m:sSub>
                      <m:sSubPr>
                        <m:ctrlPr>
                          <a:rPr lang="en-US" sz="1800" i="1">
                            <a:latin typeface="Cambria Math" panose="02040503050406030204" pitchFamily="18" charset="0"/>
                          </a:rPr>
                        </m:ctrlPr>
                      </m:sSubPr>
                      <m:e>
                        <m:r>
                          <m:rPr>
                            <m:sty m:val="p"/>
                          </m:rPr>
                          <a:rPr lang="en-US" sz="1800">
                            <a:latin typeface="Cambria Math"/>
                          </a:rPr>
                          <m:t>T</m:t>
                        </m:r>
                      </m:e>
                      <m:sub>
                        <m:r>
                          <m:rPr>
                            <m:sty m:val="p"/>
                          </m:rPr>
                          <a:rPr lang="en-US" sz="1800">
                            <a:latin typeface="Cambria Math"/>
                          </a:rPr>
                          <m:t>intrinsic</m:t>
                        </m:r>
                      </m:sub>
                    </m:sSub>
                  </m:oMath>
                </a14:m>
                <a:r>
                  <a:rPr lang="en-US" sz="1800" dirty="0"/>
                  <a:t>)</a:t>
                </a:r>
              </a:p>
              <a:p>
                <a:pPr lvl="1"/>
                <a:r>
                  <a:rPr lang="en-US" sz="1400" dirty="0"/>
                  <a:t>Delay of an element </a:t>
                </a:r>
              </a:p>
              <a:p>
                <a:r>
                  <a:rPr lang="en-US" sz="1800" dirty="0"/>
                  <a:t>Transition time (</a:t>
                </a:r>
                <a14:m>
                  <m:oMath xmlns:m="http://schemas.openxmlformats.org/officeDocument/2006/math">
                    <m:sSub>
                      <m:sSubPr>
                        <m:ctrlPr>
                          <a:rPr lang="en-US" sz="1800" i="1">
                            <a:latin typeface="Cambria Math" panose="02040503050406030204" pitchFamily="18" charset="0"/>
                          </a:rPr>
                        </m:ctrlPr>
                      </m:sSubPr>
                      <m:e>
                        <m:r>
                          <m:rPr>
                            <m:sty m:val="p"/>
                          </m:rPr>
                          <a:rPr lang="en-US" sz="1800">
                            <a:latin typeface="Cambria Math"/>
                          </a:rPr>
                          <m:t>T</m:t>
                        </m:r>
                      </m:e>
                      <m:sub>
                        <m:r>
                          <m:rPr>
                            <m:sty m:val="p"/>
                          </m:rPr>
                          <a:rPr lang="en-US" sz="1800">
                            <a:latin typeface="Cambria Math"/>
                          </a:rPr>
                          <m:t>transition</m:t>
                        </m:r>
                      </m:sub>
                    </m:sSub>
                  </m:oMath>
                </a14:m>
                <a:r>
                  <a:rPr lang="en-US" sz="1800" dirty="0"/>
                  <a:t>)</a:t>
                </a:r>
              </a:p>
              <a:p>
                <a:pPr lvl="1"/>
                <a:r>
                  <a:rPr lang="en-US" sz="1400" dirty="0"/>
                  <a:t>Delay introduced  by capacitive load on driving pin</a:t>
                </a:r>
              </a:p>
              <a:p>
                <a:pPr lvl="1"/>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r>
                          <m:rPr>
                            <m:sty m:val="p"/>
                          </m:rPr>
                          <a:rPr lang="en-US" sz="1400">
                            <a:latin typeface="Cambria Math"/>
                          </a:rPr>
                          <m:t>transition</m:t>
                        </m:r>
                      </m:sub>
                    </m:sSub>
                    <m:r>
                      <a:rPr lang="en-US" sz="1400">
                        <a:latin typeface="Cambria Math"/>
                      </a:rPr>
                      <m:t>=</m:t>
                    </m:r>
                    <m:sSub>
                      <m:sSubPr>
                        <m:ctrlPr>
                          <a:rPr lang="en-US" sz="1400" i="1">
                            <a:latin typeface="Cambria Math" panose="02040503050406030204" pitchFamily="18" charset="0"/>
                          </a:rPr>
                        </m:ctrlPr>
                      </m:sSubPr>
                      <m:e>
                        <m:r>
                          <m:rPr>
                            <m:sty m:val="p"/>
                          </m:rPr>
                          <a:rPr lang="en-US" sz="1400">
                            <a:latin typeface="Cambria Math"/>
                          </a:rPr>
                          <m:t>R</m:t>
                        </m:r>
                      </m:e>
                      <m:sub>
                        <m:r>
                          <m:rPr>
                            <m:sty m:val="p"/>
                          </m:rPr>
                          <a:rPr lang="en-US" sz="1400">
                            <a:latin typeface="Cambria Math"/>
                          </a:rPr>
                          <m:t>drive</m:t>
                        </m:r>
                      </m:sub>
                    </m:sSub>
                    <m:r>
                      <a:rPr lang="en-US" sz="1400">
                        <a:latin typeface="Cambria Math"/>
                      </a:rPr>
                      <m:t>∗</m:t>
                    </m:r>
                    <m:d>
                      <m:dPr>
                        <m:ctrlPr>
                          <a:rPr lang="en-US" sz="1400" i="1">
                            <a:latin typeface="Cambria Math" panose="02040503050406030204" pitchFamily="18" charset="0"/>
                          </a:rPr>
                        </m:ctrlPr>
                      </m:dPr>
                      <m:e>
                        <m:nary>
                          <m:naryPr>
                            <m:chr m:val="∑"/>
                            <m:supHide m:val="on"/>
                            <m:ctrlPr>
                              <a:rPr lang="en-US" sz="1400" i="1">
                                <a:latin typeface="Cambria Math" panose="02040503050406030204" pitchFamily="18" charset="0"/>
                              </a:rPr>
                            </m:ctrlPr>
                          </m:naryPr>
                          <m:sub>
                            <m:r>
                              <m:rPr>
                                <m:sty m:val="p"/>
                                <m:brk m:alnAt="7"/>
                              </m:rPr>
                              <a:rPr lang="en-US" sz="1400">
                                <a:latin typeface="Cambria Math"/>
                              </a:rPr>
                              <m:t>p</m:t>
                            </m:r>
                            <m:r>
                              <m:rPr>
                                <m:sty m:val="p"/>
                              </m:rPr>
                              <a:rPr lang="en-US" sz="1400">
                                <a:latin typeface="Cambria Math"/>
                              </a:rPr>
                              <m:t>ins</m:t>
                            </m:r>
                          </m:sub>
                          <m:sup/>
                          <m:e>
                            <m:sSub>
                              <m:sSubPr>
                                <m:ctrlPr>
                                  <a:rPr lang="en-US" sz="1400" i="1">
                                    <a:latin typeface="Cambria Math" panose="02040503050406030204" pitchFamily="18" charset="0"/>
                                  </a:rPr>
                                </m:ctrlPr>
                              </m:sSubPr>
                              <m:e>
                                <m:r>
                                  <m:rPr>
                                    <m:sty m:val="p"/>
                                  </m:rPr>
                                  <a:rPr lang="en-US" sz="1400">
                                    <a:latin typeface="Cambria Math"/>
                                  </a:rPr>
                                  <m:t>C</m:t>
                                </m:r>
                              </m:e>
                              <m:sub>
                                <m:r>
                                  <m:rPr>
                                    <m:sty m:val="p"/>
                                  </m:rPr>
                                  <a:rPr lang="en-US" sz="1400">
                                    <a:latin typeface="Cambria Math"/>
                                  </a:rPr>
                                  <m:t>pin</m:t>
                                </m:r>
                              </m:sub>
                            </m:sSub>
                            <m:r>
                              <a:rPr lang="en-US" sz="1400">
                                <a:latin typeface="Cambria Math"/>
                              </a:rPr>
                              <m:t>+</m:t>
                            </m:r>
                            <m:sSub>
                              <m:sSubPr>
                                <m:ctrlPr>
                                  <a:rPr lang="en-US" sz="1400" i="1">
                                    <a:latin typeface="Cambria Math" panose="02040503050406030204" pitchFamily="18" charset="0"/>
                                  </a:rPr>
                                </m:ctrlPr>
                              </m:sSubPr>
                              <m:e>
                                <m:r>
                                  <m:rPr>
                                    <m:sty m:val="p"/>
                                  </m:rPr>
                                  <a:rPr lang="en-US" sz="1400">
                                    <a:latin typeface="Cambria Math"/>
                                  </a:rPr>
                                  <m:t>C</m:t>
                                </m:r>
                              </m:e>
                              <m:sub>
                                <m:r>
                                  <m:rPr>
                                    <m:sty m:val="p"/>
                                  </m:rPr>
                                  <a:rPr lang="en-US" sz="1400">
                                    <a:latin typeface="Cambria Math"/>
                                  </a:rPr>
                                  <m:t>wire</m:t>
                                </m:r>
                              </m:sub>
                            </m:sSub>
                          </m:e>
                        </m:nary>
                      </m:e>
                    </m:d>
                  </m:oMath>
                </a14:m>
                <a:endParaRPr lang="en-US" sz="1400" dirty="0"/>
              </a:p>
              <a:p>
                <a:r>
                  <a:rPr lang="en-US" sz="1800" dirty="0"/>
                  <a:t>Connect Delay (</a:t>
                </a:r>
                <a14:m>
                  <m:oMath xmlns:m="http://schemas.openxmlformats.org/officeDocument/2006/math">
                    <m:sSub>
                      <m:sSubPr>
                        <m:ctrlPr>
                          <a:rPr lang="en-US" sz="1800" i="1">
                            <a:latin typeface="Cambria Math" panose="02040503050406030204" pitchFamily="18" charset="0"/>
                          </a:rPr>
                        </m:ctrlPr>
                      </m:sSubPr>
                      <m:e>
                        <m:r>
                          <m:rPr>
                            <m:sty m:val="p"/>
                          </m:rPr>
                          <a:rPr lang="en-US" sz="1800">
                            <a:latin typeface="Cambria Math"/>
                          </a:rPr>
                          <m:t>T</m:t>
                        </m:r>
                      </m:e>
                      <m:sub>
                        <m:r>
                          <m:rPr>
                            <m:sty m:val="p"/>
                          </m:rPr>
                          <a:rPr lang="en-US" sz="1800">
                            <a:latin typeface="Cambria Math"/>
                          </a:rPr>
                          <m:t>connect</m:t>
                        </m:r>
                      </m:sub>
                    </m:sSub>
                  </m:oMath>
                </a14:m>
                <a:r>
                  <a:rPr lang="en-US" sz="1800" dirty="0"/>
                  <a:t>)</a:t>
                </a:r>
              </a:p>
              <a:p>
                <a:pPr lvl="1"/>
                <a:r>
                  <a:rPr lang="en-US" sz="1400" dirty="0"/>
                  <a:t>Delay from transition of the driving pin</a:t>
                </a:r>
                <a:r>
                  <a:rPr lang="en-US" sz="1800" dirty="0"/>
                  <a:t>    </a:t>
                </a:r>
                <a:r>
                  <a:rPr lang="en-US" sz="1400" dirty="0"/>
                  <a:t>to endpoint changing after the</a:t>
                </a:r>
                <a:endParaRPr lang="en-US" sz="1800" dirty="0"/>
              </a:p>
            </p:txBody>
          </p:sp>
        </mc:Choice>
        <mc:Fallback>
          <p:sp>
            <p:nvSpPr>
              <p:cNvPr id="3" name="Content Placeholder 2"/>
              <p:cNvSpPr>
                <a:spLocks noGrp="1" noRot="1" noChangeAspect="1" noMove="1" noResize="1" noEditPoints="1" noAdjustHandles="1" noChangeArrowheads="1" noChangeShapeType="1" noTextEdit="1"/>
              </p:cNvSpPr>
              <p:nvPr>
                <p:ph idx="4294967295"/>
              </p:nvPr>
            </p:nvSpPr>
            <p:spPr>
              <a:xfrm>
                <a:off x="568346" y="2098597"/>
                <a:ext cx="4152900" cy="3359150"/>
              </a:xfrm>
              <a:blipFill>
                <a:blip r:embed="rId2"/>
                <a:stretch>
                  <a:fillRect l="-147" t="-907" b="-197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005261" y="1308475"/>
                <a:ext cx="6250465" cy="42377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344487" lvl="1"/>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a:rPr>
                            <m:t>T</m:t>
                          </m:r>
                        </m:e>
                        <m:sub>
                          <m:r>
                            <a:rPr lang="en-US" sz="2000" i="1">
                              <a:solidFill>
                                <a:schemeClr val="tx1"/>
                              </a:solidFill>
                              <a:latin typeface="Cambria Math"/>
                            </a:rPr>
                            <m:t>𝑡𝑜𝑡𝑎𝑙</m:t>
                          </m:r>
                        </m:sub>
                      </m:sSub>
                      <m:r>
                        <a:rPr lang="en-US" sz="2000">
                          <a:solidFill>
                            <a:schemeClr val="tx1"/>
                          </a:solidFill>
                          <a:latin typeface="Cambria Math"/>
                        </a:rPr>
                        <m: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a:rPr>
                            <m:t>T</m:t>
                          </m:r>
                        </m:e>
                        <m:sub>
                          <m:r>
                            <a:rPr lang="en-US" sz="2000" i="1">
                              <a:solidFill>
                                <a:schemeClr val="tx1"/>
                              </a:solidFill>
                              <a:latin typeface="Cambria Math"/>
                            </a:rPr>
                            <m:t>𝑠𝑙𝑜𝑝𝑒</m:t>
                          </m:r>
                        </m:sub>
                      </m:sSub>
                      <m:r>
                        <a:rPr lang="en-US" sz="2000">
                          <a:solidFill>
                            <a:schemeClr val="tx1"/>
                          </a:solidFill>
                          <a:latin typeface="Cambria Math"/>
                        </a:rPr>
                        <m: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a:rPr>
                            <m:t>T</m:t>
                          </m:r>
                        </m:e>
                        <m:sub>
                          <m:r>
                            <a:rPr lang="en-US" sz="2000" i="1">
                              <a:solidFill>
                                <a:schemeClr val="tx1"/>
                              </a:solidFill>
                              <a:latin typeface="Cambria Math"/>
                            </a:rPr>
                            <m:t>𝑖𝑛𝑡𝑟𝑖𝑛𝑠𝑖𝑐</m:t>
                          </m:r>
                        </m:sub>
                      </m:sSub>
                      <m:r>
                        <a:rPr lang="en-US" sz="2000">
                          <a:solidFill>
                            <a:schemeClr val="tx1"/>
                          </a:solidFill>
                          <a:latin typeface="Cambria Math"/>
                        </a:rPr>
                        <m: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a:rPr>
                            <m:t>T</m:t>
                          </m:r>
                        </m:e>
                        <m:sub>
                          <m:r>
                            <a:rPr lang="en-US" sz="2000" i="1">
                              <a:solidFill>
                                <a:schemeClr val="tx1"/>
                              </a:solidFill>
                              <a:latin typeface="Cambria Math"/>
                            </a:rPr>
                            <m:t>𝑡𝑟𝑎𝑛𝑠𝑖𝑡𝑖𝑜𝑛</m:t>
                          </m:r>
                        </m:sub>
                      </m:sSub>
                      <m:r>
                        <a:rPr lang="en-US" sz="2000">
                          <a:solidFill>
                            <a:schemeClr val="tx1"/>
                          </a:solidFill>
                          <a:latin typeface="Cambria Math"/>
                        </a:rPr>
                        <m: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a:rPr>
                            <m:t>T</m:t>
                          </m:r>
                        </m:e>
                        <m:sub>
                          <m:r>
                            <a:rPr lang="en-US" sz="2000" i="1">
                              <a:solidFill>
                                <a:schemeClr val="tx1"/>
                              </a:solidFill>
                              <a:latin typeface="Cambria Math"/>
                            </a:rPr>
                            <m:t>𝑐𝑜𝑛𝑛𝑒𝑐𝑡</m:t>
                          </m:r>
                        </m:sub>
                      </m:sSub>
                    </m:oMath>
                  </m:oMathPara>
                </a14:m>
                <a:endParaRPr lang="en-US" sz="2400"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005261" y="1308475"/>
                <a:ext cx="6250465" cy="423770"/>
              </a:xfrm>
              <a:prstGeom prst="rect">
                <a:avLst/>
              </a:prstGeom>
              <a:blipFill>
                <a:blip r:embed="rId3"/>
                <a:stretch>
                  <a:fillRect b="-8451"/>
                </a:stretch>
              </a:blipFill>
            </p:spPr>
            <p:txBody>
              <a:bodyPr/>
              <a:lstStyle/>
              <a:p>
                <a:r>
                  <a:rPr lang="en-US">
                    <a:noFill/>
                  </a:rPr>
                  <a:t> </a:t>
                </a:r>
              </a:p>
            </p:txBody>
          </p:sp>
        </mc:Fallback>
      </mc:AlternateContent>
      <p:grpSp>
        <p:nvGrpSpPr>
          <p:cNvPr id="10" name="Group 9"/>
          <p:cNvGrpSpPr/>
          <p:nvPr/>
        </p:nvGrpSpPr>
        <p:grpSpPr>
          <a:xfrm>
            <a:off x="6403279" y="2895601"/>
            <a:ext cx="3774232" cy="1888099"/>
            <a:chOff x="4879279" y="3166646"/>
            <a:chExt cx="3774232" cy="1617053"/>
          </a:xfrm>
        </p:grpSpPr>
        <p:sp>
          <p:nvSpPr>
            <p:cNvPr id="53" name="TextBox 52"/>
            <p:cNvSpPr txBox="1"/>
            <p:nvPr/>
          </p:nvSpPr>
          <p:spPr>
            <a:xfrm>
              <a:off x="6866053" y="4419600"/>
              <a:ext cx="985109" cy="263594"/>
            </a:xfrm>
            <a:prstGeom prst="rect">
              <a:avLst/>
            </a:prstGeom>
            <a:noFill/>
          </p:spPr>
          <p:txBody>
            <a:bodyPr wrap="square" rtlCol="0">
              <a:spAutoFit/>
            </a:bodyPr>
            <a:lstStyle/>
            <a:p>
              <a:r>
                <a:rPr lang="en-US" sz="1400" dirty="0" err="1">
                  <a:latin typeface="+mj-lt"/>
                </a:rPr>
                <a:t>T</a:t>
              </a:r>
              <a:r>
                <a:rPr lang="en-US" sz="1400" baseline="-25000" dirty="0" err="1">
                  <a:latin typeface="+mj-lt"/>
                </a:rPr>
                <a:t>transition</a:t>
              </a:r>
              <a:endParaRPr lang="en-US" sz="1400" baseline="-25000" dirty="0">
                <a:latin typeface="+mj-lt"/>
              </a:endParaRPr>
            </a:p>
          </p:txBody>
        </p:sp>
        <p:sp>
          <p:nvSpPr>
            <p:cNvPr id="5" name="TextBox 4"/>
            <p:cNvSpPr txBox="1"/>
            <p:nvPr/>
          </p:nvSpPr>
          <p:spPr>
            <a:xfrm>
              <a:off x="5415010" y="3560897"/>
              <a:ext cx="304892" cy="263594"/>
            </a:xfrm>
            <a:prstGeom prst="rect">
              <a:avLst/>
            </a:prstGeom>
            <a:noFill/>
          </p:spPr>
          <p:txBody>
            <a:bodyPr wrap="none" rtlCol="0">
              <a:spAutoFit/>
            </a:bodyPr>
            <a:lstStyle/>
            <a:p>
              <a:r>
                <a:rPr lang="en-US" sz="1400" dirty="0">
                  <a:latin typeface="+mj-lt"/>
                </a:rPr>
                <a:t>B</a:t>
              </a:r>
            </a:p>
          </p:txBody>
        </p:sp>
        <p:grpSp>
          <p:nvGrpSpPr>
            <p:cNvPr id="66" name="Group 65"/>
            <p:cNvGrpSpPr/>
            <p:nvPr/>
          </p:nvGrpSpPr>
          <p:grpSpPr>
            <a:xfrm>
              <a:off x="7092542" y="3391273"/>
              <a:ext cx="861104" cy="313910"/>
              <a:chOff x="7092541" y="3391273"/>
              <a:chExt cx="1137059" cy="313910"/>
            </a:xfrm>
          </p:grpSpPr>
          <p:cxnSp>
            <p:nvCxnSpPr>
              <p:cNvPr id="6" name="Straight Arrow Connector 5"/>
              <p:cNvCxnSpPr/>
              <p:nvPr/>
            </p:nvCxnSpPr>
            <p:spPr bwMode="auto">
              <a:xfrm>
                <a:off x="7092541" y="3535289"/>
                <a:ext cx="1137059" cy="0"/>
              </a:xfrm>
              <a:prstGeom prst="straightConnector1">
                <a:avLst/>
              </a:prstGeom>
              <a:solidFill>
                <a:schemeClr val="accent1"/>
              </a:solidFill>
              <a:ln w="9525" cap="flat" cmpd="sng" algn="ctr">
                <a:solidFill>
                  <a:srgbClr val="0000FF"/>
                </a:solidFill>
                <a:prstDash val="solid"/>
                <a:round/>
                <a:headEnd type="triangle" w="med" len="med"/>
                <a:tailEnd type="triangle" w="med" len="med"/>
              </a:ln>
              <a:effectLst/>
            </p:spPr>
          </p:cxnSp>
          <p:cxnSp>
            <p:nvCxnSpPr>
              <p:cNvPr id="7" name="Straight Connector 6"/>
              <p:cNvCxnSpPr/>
              <p:nvPr/>
            </p:nvCxnSpPr>
            <p:spPr bwMode="auto">
              <a:xfrm>
                <a:off x="7092541" y="3391273"/>
                <a:ext cx="0" cy="313910"/>
              </a:xfrm>
              <a:prstGeom prst="line">
                <a:avLst/>
              </a:prstGeom>
              <a:noFill/>
              <a:ln w="9525" algn="ctr">
                <a:solidFill>
                  <a:srgbClr val="0000FF"/>
                </a:solidFill>
                <a:prstDash val="dash"/>
                <a:round/>
                <a:headEnd/>
                <a:tailEnd/>
              </a:ln>
            </p:spPr>
          </p:cxnSp>
          <p:cxnSp>
            <p:nvCxnSpPr>
              <p:cNvPr id="8" name="Straight Connector 7"/>
              <p:cNvCxnSpPr/>
              <p:nvPr/>
            </p:nvCxnSpPr>
            <p:spPr bwMode="auto">
              <a:xfrm>
                <a:off x="8229600" y="3391273"/>
                <a:ext cx="0" cy="313910"/>
              </a:xfrm>
              <a:prstGeom prst="line">
                <a:avLst/>
              </a:prstGeom>
              <a:noFill/>
              <a:ln w="9525" algn="ctr">
                <a:solidFill>
                  <a:srgbClr val="0000FF"/>
                </a:solidFill>
                <a:prstDash val="dash"/>
                <a:round/>
                <a:headEnd/>
                <a:tailEnd/>
              </a:ln>
            </p:spPr>
          </p:cxnSp>
        </p:grpSp>
        <p:sp>
          <p:nvSpPr>
            <p:cNvPr id="9" name="Flowchart: Delay 53"/>
            <p:cNvSpPr/>
            <p:nvPr/>
          </p:nvSpPr>
          <p:spPr bwMode="auto">
            <a:xfrm>
              <a:off x="5088450" y="3687855"/>
              <a:ext cx="329898" cy="29497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baseline="-25000" dirty="0">
                <a:latin typeface="+mj-lt"/>
                <a:cs typeface="Arial" charset="0"/>
              </a:endParaRPr>
            </a:p>
          </p:txBody>
        </p:sp>
        <p:sp>
          <p:nvSpPr>
            <p:cNvPr id="11" name="Flowchart: Delay 53"/>
            <p:cNvSpPr/>
            <p:nvPr/>
          </p:nvSpPr>
          <p:spPr bwMode="auto">
            <a:xfrm>
              <a:off x="5095303" y="4471393"/>
              <a:ext cx="329898" cy="29497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baseline="-25000" dirty="0">
                <a:latin typeface="+mj-lt"/>
                <a:cs typeface="Arial" charset="0"/>
              </a:endParaRPr>
            </a:p>
          </p:txBody>
        </p:sp>
        <p:sp>
          <p:nvSpPr>
            <p:cNvPr id="13" name="Flowchart: Delay 53"/>
            <p:cNvSpPr/>
            <p:nvPr/>
          </p:nvSpPr>
          <p:spPr bwMode="auto">
            <a:xfrm>
              <a:off x="6535463" y="4082475"/>
              <a:ext cx="329898" cy="29497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baseline="-25000" dirty="0">
                <a:latin typeface="+mj-lt"/>
                <a:cs typeface="Arial" charset="0"/>
              </a:endParaRPr>
            </a:p>
          </p:txBody>
        </p:sp>
        <p:sp>
          <p:nvSpPr>
            <p:cNvPr id="15" name="Flowchart: Delay 53"/>
            <p:cNvSpPr/>
            <p:nvPr/>
          </p:nvSpPr>
          <p:spPr bwMode="auto">
            <a:xfrm>
              <a:off x="8046767" y="3705183"/>
              <a:ext cx="329898" cy="29497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baseline="-25000" dirty="0">
                <a:latin typeface="+mj-lt"/>
                <a:cs typeface="Arial" charset="0"/>
              </a:endParaRPr>
            </a:p>
          </p:txBody>
        </p:sp>
        <p:sp>
          <p:nvSpPr>
            <p:cNvPr id="17" name="Flowchart: Delay 53"/>
            <p:cNvSpPr/>
            <p:nvPr/>
          </p:nvSpPr>
          <p:spPr bwMode="auto">
            <a:xfrm>
              <a:off x="8053620" y="4488721"/>
              <a:ext cx="329898" cy="29497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baseline="-25000" dirty="0">
                <a:latin typeface="+mj-lt"/>
                <a:cs typeface="Arial" charset="0"/>
              </a:endParaRPr>
            </a:p>
          </p:txBody>
        </p:sp>
        <p:cxnSp>
          <p:nvCxnSpPr>
            <p:cNvPr id="19" name="Straight Connector 18"/>
            <p:cNvCxnSpPr/>
            <p:nvPr/>
          </p:nvCxnSpPr>
          <p:spPr bwMode="auto">
            <a:xfrm>
              <a:off x="5619611" y="4145400"/>
              <a:ext cx="90632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5624373" y="4310125"/>
              <a:ext cx="90525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flipV="1">
              <a:off x="5618634" y="3831049"/>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flipV="1">
              <a:off x="5629135" y="4308068"/>
              <a:ext cx="0" cy="30936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5502296" y="4618882"/>
              <a:ext cx="12683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5489772" y="3835344"/>
              <a:ext cx="12683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6941384" y="4229964"/>
              <a:ext cx="9097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7836876" y="3779776"/>
              <a:ext cx="21031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7841148" y="4696126"/>
              <a:ext cx="21031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a:off x="7851163" y="3900503"/>
              <a:ext cx="0" cy="6690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7851163" y="4569528"/>
              <a:ext cx="2049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7846401" y="3900091"/>
              <a:ext cx="20116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a:off x="4881661" y="3779776"/>
              <a:ext cx="21031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p:cNvCxnSpPr/>
            <p:nvPr/>
          </p:nvCxnSpPr>
          <p:spPr bwMode="auto">
            <a:xfrm>
              <a:off x="4879279" y="3895329"/>
              <a:ext cx="20764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p:cNvCxnSpPr/>
            <p:nvPr/>
          </p:nvCxnSpPr>
          <p:spPr bwMode="auto">
            <a:xfrm>
              <a:off x="4889553" y="4554446"/>
              <a:ext cx="21031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Straight Connector 33"/>
            <p:cNvCxnSpPr/>
            <p:nvPr/>
          </p:nvCxnSpPr>
          <p:spPr bwMode="auto">
            <a:xfrm>
              <a:off x="4887173" y="4669999"/>
              <a:ext cx="20764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8447646" y="3852672"/>
              <a:ext cx="18722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Straight Connector 35"/>
            <p:cNvCxnSpPr/>
            <p:nvPr/>
          </p:nvCxnSpPr>
          <p:spPr bwMode="auto">
            <a:xfrm>
              <a:off x="8466290" y="4636210"/>
              <a:ext cx="18722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7" name="TextBox 36"/>
            <p:cNvSpPr txBox="1"/>
            <p:nvPr/>
          </p:nvSpPr>
          <p:spPr>
            <a:xfrm>
              <a:off x="6333037" y="3967518"/>
              <a:ext cx="304892" cy="263594"/>
            </a:xfrm>
            <a:prstGeom prst="rect">
              <a:avLst/>
            </a:prstGeom>
            <a:noFill/>
          </p:spPr>
          <p:txBody>
            <a:bodyPr wrap="none" rtlCol="0">
              <a:spAutoFit/>
            </a:bodyPr>
            <a:lstStyle/>
            <a:p>
              <a:r>
                <a:rPr lang="en-US" sz="1400" dirty="0">
                  <a:latin typeface="+mj-lt"/>
                </a:rPr>
                <a:t>A</a:t>
              </a:r>
            </a:p>
          </p:txBody>
        </p:sp>
        <p:sp>
          <p:nvSpPr>
            <p:cNvPr id="38" name="TextBox 37"/>
            <p:cNvSpPr txBox="1"/>
            <p:nvPr/>
          </p:nvSpPr>
          <p:spPr>
            <a:xfrm>
              <a:off x="7578245" y="3837172"/>
              <a:ext cx="314510" cy="263594"/>
            </a:xfrm>
            <a:prstGeom prst="rect">
              <a:avLst/>
            </a:prstGeom>
            <a:noFill/>
          </p:spPr>
          <p:txBody>
            <a:bodyPr wrap="none" rtlCol="0">
              <a:spAutoFit/>
            </a:bodyPr>
            <a:lstStyle/>
            <a:p>
              <a:r>
                <a:rPr lang="en-US" sz="1400" dirty="0">
                  <a:latin typeface="+mj-lt"/>
                </a:rPr>
                <a:t>D</a:t>
              </a:r>
            </a:p>
          </p:txBody>
        </p:sp>
        <p:sp>
          <p:nvSpPr>
            <p:cNvPr id="39" name="TextBox 38"/>
            <p:cNvSpPr txBox="1"/>
            <p:nvPr/>
          </p:nvSpPr>
          <p:spPr>
            <a:xfrm>
              <a:off x="6878085" y="4045368"/>
              <a:ext cx="314510" cy="263594"/>
            </a:xfrm>
            <a:prstGeom prst="rect">
              <a:avLst/>
            </a:prstGeom>
            <a:noFill/>
          </p:spPr>
          <p:txBody>
            <a:bodyPr wrap="none" rtlCol="0">
              <a:spAutoFit/>
            </a:bodyPr>
            <a:lstStyle/>
            <a:p>
              <a:r>
                <a:rPr lang="en-US" sz="1400" dirty="0">
                  <a:latin typeface="+mj-lt"/>
                </a:rPr>
                <a:t>C</a:t>
              </a:r>
            </a:p>
          </p:txBody>
        </p:sp>
        <p:sp>
          <p:nvSpPr>
            <p:cNvPr id="40" name="Arc 39"/>
            <p:cNvSpPr/>
            <p:nvPr/>
          </p:nvSpPr>
          <p:spPr bwMode="auto">
            <a:xfrm>
              <a:off x="6221815" y="4159352"/>
              <a:ext cx="641864" cy="134106"/>
            </a:xfrm>
            <a:prstGeom prst="arc">
              <a:avLst>
                <a:gd name="adj1" fmla="val 16200000"/>
                <a:gd name="adj2" fmla="val 21449393"/>
              </a:avLst>
            </a:prstGeom>
            <a:noFill/>
            <a:ln w="9525" cap="flat" cmpd="sng" algn="ctr">
              <a:solidFill>
                <a:schemeClr val="tx1"/>
              </a:solidFill>
              <a:prstDash val="solid"/>
              <a:round/>
              <a:headEnd type="none" w="med" len="med"/>
              <a:tailEnd type="triangle" w="sm" len="sm"/>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mj-lt"/>
                <a:cs typeface="Arial" charset="0"/>
              </a:endParaRPr>
            </a:p>
          </p:txBody>
        </p:sp>
        <p:sp>
          <p:nvSpPr>
            <p:cNvPr id="41" name="Arc 40"/>
            <p:cNvSpPr/>
            <p:nvPr/>
          </p:nvSpPr>
          <p:spPr bwMode="auto">
            <a:xfrm>
              <a:off x="6226720" y="4207557"/>
              <a:ext cx="641864" cy="134106"/>
            </a:xfrm>
            <a:prstGeom prst="arc">
              <a:avLst>
                <a:gd name="adj1" fmla="val 15890525"/>
                <a:gd name="adj2" fmla="val 21403766"/>
              </a:avLst>
            </a:prstGeom>
            <a:noFill/>
            <a:ln w="9525" cap="flat" cmpd="sng" algn="ctr">
              <a:solidFill>
                <a:schemeClr val="tx1"/>
              </a:solidFill>
              <a:prstDash val="solid"/>
              <a:round/>
              <a:headEnd type="none" w="med" len="med"/>
              <a:tailEnd type="triangle" w="sm" len="sm"/>
            </a:ln>
            <a:effectLst/>
            <a:scene3d>
              <a:camera prst="orthographicFront">
                <a:rot lat="21299999" lon="10799999" rev="10799999"/>
              </a:camera>
              <a:lightRig rig="threePt" dir="t"/>
            </a:scene3d>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mj-lt"/>
                <a:cs typeface="Arial" charset="0"/>
              </a:endParaRPr>
            </a:p>
          </p:txBody>
        </p:sp>
        <p:grpSp>
          <p:nvGrpSpPr>
            <p:cNvPr id="65" name="Group 64"/>
            <p:cNvGrpSpPr/>
            <p:nvPr/>
          </p:nvGrpSpPr>
          <p:grpSpPr>
            <a:xfrm>
              <a:off x="6417063" y="3851151"/>
              <a:ext cx="550448" cy="187449"/>
              <a:chOff x="6420022" y="4447010"/>
              <a:chExt cx="550448" cy="187449"/>
            </a:xfrm>
          </p:grpSpPr>
          <p:cxnSp>
            <p:nvCxnSpPr>
              <p:cNvPr id="42" name="Straight Arrow Connector 41"/>
              <p:cNvCxnSpPr/>
              <p:nvPr/>
            </p:nvCxnSpPr>
            <p:spPr bwMode="auto">
              <a:xfrm>
                <a:off x="6420022" y="4543401"/>
                <a:ext cx="550448" cy="0"/>
              </a:xfrm>
              <a:prstGeom prst="straightConnector1">
                <a:avLst/>
              </a:prstGeom>
              <a:solidFill>
                <a:schemeClr val="accent1"/>
              </a:solidFill>
              <a:ln w="9525" cap="flat" cmpd="sng" algn="ctr">
                <a:solidFill>
                  <a:srgbClr val="0000FF"/>
                </a:solidFill>
                <a:prstDash val="solid"/>
                <a:round/>
                <a:headEnd type="triangle" w="med" len="med"/>
                <a:tailEnd type="triangle" w="med" len="med"/>
              </a:ln>
              <a:effectLst/>
            </p:spPr>
          </p:cxnSp>
          <p:cxnSp>
            <p:nvCxnSpPr>
              <p:cNvPr id="43" name="Straight Connector 42"/>
              <p:cNvCxnSpPr/>
              <p:nvPr/>
            </p:nvCxnSpPr>
            <p:spPr bwMode="auto">
              <a:xfrm>
                <a:off x="6420022" y="4447010"/>
                <a:ext cx="0" cy="180353"/>
              </a:xfrm>
              <a:prstGeom prst="line">
                <a:avLst/>
              </a:prstGeom>
              <a:noFill/>
              <a:ln w="9525" algn="ctr">
                <a:solidFill>
                  <a:srgbClr val="0000FF"/>
                </a:solidFill>
                <a:prstDash val="dash"/>
                <a:round/>
                <a:headEnd/>
                <a:tailEnd/>
              </a:ln>
            </p:spPr>
          </p:cxnSp>
          <p:cxnSp>
            <p:nvCxnSpPr>
              <p:cNvPr id="44" name="Straight Connector 43"/>
              <p:cNvCxnSpPr/>
              <p:nvPr/>
            </p:nvCxnSpPr>
            <p:spPr bwMode="auto">
              <a:xfrm>
                <a:off x="6967511" y="4454106"/>
                <a:ext cx="0" cy="180353"/>
              </a:xfrm>
              <a:prstGeom prst="line">
                <a:avLst/>
              </a:prstGeom>
              <a:noFill/>
              <a:ln w="9525" algn="ctr">
                <a:solidFill>
                  <a:srgbClr val="0000FF"/>
                </a:solidFill>
                <a:prstDash val="dash"/>
                <a:round/>
                <a:headEnd/>
                <a:tailEnd/>
              </a:ln>
            </p:spPr>
          </p:cxnSp>
        </p:grpSp>
        <p:sp>
          <p:nvSpPr>
            <p:cNvPr id="45" name="TextBox 44"/>
            <p:cNvSpPr txBox="1"/>
            <p:nvPr/>
          </p:nvSpPr>
          <p:spPr>
            <a:xfrm>
              <a:off x="7144717" y="3166646"/>
              <a:ext cx="856283" cy="263594"/>
            </a:xfrm>
            <a:prstGeom prst="rect">
              <a:avLst/>
            </a:prstGeom>
            <a:noFill/>
          </p:spPr>
          <p:txBody>
            <a:bodyPr wrap="square" rtlCol="0">
              <a:spAutoFit/>
            </a:bodyPr>
            <a:lstStyle/>
            <a:p>
              <a:r>
                <a:rPr lang="en-US" sz="1400" dirty="0" err="1">
                  <a:latin typeface="+mj-lt"/>
                </a:rPr>
                <a:t>T</a:t>
              </a:r>
              <a:r>
                <a:rPr lang="en-US" sz="1400" baseline="-25000" dirty="0" err="1">
                  <a:latin typeface="+mj-lt"/>
                </a:rPr>
                <a:t>connect</a:t>
              </a:r>
              <a:r>
                <a:rPr lang="en-US" sz="1400" baseline="-25000" dirty="0">
                  <a:latin typeface="+mj-lt"/>
                </a:rPr>
                <a:t> </a:t>
              </a:r>
            </a:p>
          </p:txBody>
        </p:sp>
        <p:sp>
          <p:nvSpPr>
            <p:cNvPr id="48" name="TextBox 47"/>
            <p:cNvSpPr txBox="1"/>
            <p:nvPr/>
          </p:nvSpPr>
          <p:spPr>
            <a:xfrm>
              <a:off x="5699339" y="3488794"/>
              <a:ext cx="706675" cy="263594"/>
            </a:xfrm>
            <a:prstGeom prst="rect">
              <a:avLst/>
            </a:prstGeom>
            <a:noFill/>
          </p:spPr>
          <p:txBody>
            <a:bodyPr wrap="square" rtlCol="0">
              <a:spAutoFit/>
            </a:bodyPr>
            <a:lstStyle/>
            <a:p>
              <a:r>
                <a:rPr lang="en-US" sz="1400" dirty="0" err="1">
                  <a:latin typeface="+mj-lt"/>
                </a:rPr>
                <a:t>T</a:t>
              </a:r>
              <a:r>
                <a:rPr lang="en-US" sz="1400" baseline="-25000" dirty="0" err="1">
                  <a:latin typeface="+mj-lt"/>
                </a:rPr>
                <a:t>slope</a:t>
              </a:r>
              <a:endParaRPr lang="en-US" sz="1400" baseline="-25000" dirty="0">
                <a:latin typeface="+mj-lt"/>
              </a:endParaRPr>
            </a:p>
          </p:txBody>
        </p:sp>
        <p:sp>
          <p:nvSpPr>
            <p:cNvPr id="51" name="TextBox 50"/>
            <p:cNvSpPr txBox="1"/>
            <p:nvPr/>
          </p:nvSpPr>
          <p:spPr>
            <a:xfrm>
              <a:off x="6301707" y="3505200"/>
              <a:ext cx="928007" cy="263594"/>
            </a:xfrm>
            <a:prstGeom prst="rect">
              <a:avLst/>
            </a:prstGeom>
            <a:noFill/>
          </p:spPr>
          <p:txBody>
            <a:bodyPr wrap="square" rtlCol="0">
              <a:spAutoFit/>
            </a:bodyPr>
            <a:lstStyle/>
            <a:p>
              <a:r>
                <a:rPr lang="en-US" sz="1400" dirty="0" err="1">
                  <a:latin typeface="+mj-lt"/>
                </a:rPr>
                <a:t>T</a:t>
              </a:r>
              <a:r>
                <a:rPr lang="en-US" sz="1400" baseline="-25000" dirty="0" err="1">
                  <a:latin typeface="+mj-lt"/>
                </a:rPr>
                <a:t>intrinsic</a:t>
              </a:r>
              <a:endParaRPr lang="en-US" sz="1400" baseline="-25000" dirty="0">
                <a:latin typeface="+mj-lt"/>
              </a:endParaRPr>
            </a:p>
          </p:txBody>
        </p:sp>
        <p:sp>
          <p:nvSpPr>
            <p:cNvPr id="55" name="Oval 54"/>
            <p:cNvSpPr/>
            <p:nvPr/>
          </p:nvSpPr>
          <p:spPr bwMode="auto">
            <a:xfrm>
              <a:off x="5418348" y="3797244"/>
              <a:ext cx="76200" cy="762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Arial" charset="0"/>
                <a:cs typeface="Arial" charset="0"/>
              </a:endParaRPr>
            </a:p>
          </p:txBody>
        </p:sp>
        <p:sp>
          <p:nvSpPr>
            <p:cNvPr id="56" name="Oval 55"/>
            <p:cNvSpPr/>
            <p:nvPr/>
          </p:nvSpPr>
          <p:spPr bwMode="auto">
            <a:xfrm>
              <a:off x="6863679" y="4191864"/>
              <a:ext cx="76200" cy="762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dirty="0">
                <a:latin typeface="Arial" charset="0"/>
                <a:cs typeface="Arial" charset="0"/>
              </a:endParaRPr>
            </a:p>
          </p:txBody>
        </p:sp>
        <p:sp>
          <p:nvSpPr>
            <p:cNvPr id="57" name="Oval 56"/>
            <p:cNvSpPr/>
            <p:nvPr/>
          </p:nvSpPr>
          <p:spPr bwMode="auto">
            <a:xfrm>
              <a:off x="5425535" y="4580782"/>
              <a:ext cx="76200" cy="762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dirty="0">
                <a:latin typeface="Arial" charset="0"/>
                <a:cs typeface="Arial" charset="0"/>
              </a:endParaRPr>
            </a:p>
          </p:txBody>
        </p:sp>
        <p:sp>
          <p:nvSpPr>
            <p:cNvPr id="58" name="Oval 57"/>
            <p:cNvSpPr/>
            <p:nvPr/>
          </p:nvSpPr>
          <p:spPr bwMode="auto">
            <a:xfrm>
              <a:off x="8376665" y="3814572"/>
              <a:ext cx="76200" cy="762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dirty="0">
                <a:latin typeface="Arial" charset="0"/>
                <a:cs typeface="Arial" charset="0"/>
              </a:endParaRPr>
            </a:p>
          </p:txBody>
        </p:sp>
        <p:sp>
          <p:nvSpPr>
            <p:cNvPr id="59" name="Oval 58"/>
            <p:cNvSpPr/>
            <p:nvPr/>
          </p:nvSpPr>
          <p:spPr bwMode="auto">
            <a:xfrm>
              <a:off x="8383518" y="4598110"/>
              <a:ext cx="76200" cy="762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dirty="0">
                <a:latin typeface="Arial" charset="0"/>
                <a:cs typeface="Arial" charset="0"/>
              </a:endParaRPr>
            </a:p>
          </p:txBody>
        </p:sp>
        <p:grpSp>
          <p:nvGrpSpPr>
            <p:cNvPr id="61" name="Group 60"/>
            <p:cNvGrpSpPr/>
            <p:nvPr/>
          </p:nvGrpSpPr>
          <p:grpSpPr>
            <a:xfrm>
              <a:off x="5792478" y="3888309"/>
              <a:ext cx="335280" cy="205986"/>
              <a:chOff x="526708" y="2419391"/>
              <a:chExt cx="746760" cy="458788"/>
            </a:xfrm>
          </p:grpSpPr>
          <p:cxnSp>
            <p:nvCxnSpPr>
              <p:cNvPr id="62" name="Straight Connector 61"/>
              <p:cNvCxnSpPr/>
              <p:nvPr/>
            </p:nvCxnSpPr>
            <p:spPr bwMode="auto">
              <a:xfrm>
                <a:off x="526708" y="2876591"/>
                <a:ext cx="228600" cy="1588"/>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bwMode="auto">
              <a:xfrm rot="5400000" flipH="1" flipV="1">
                <a:off x="633388" y="2533691"/>
                <a:ext cx="457200" cy="228600"/>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bwMode="auto">
              <a:xfrm>
                <a:off x="968668" y="2419391"/>
                <a:ext cx="304800" cy="1588"/>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grpSp>
        <p:grpSp>
          <p:nvGrpSpPr>
            <p:cNvPr id="67" name="Group 66"/>
            <p:cNvGrpSpPr/>
            <p:nvPr/>
          </p:nvGrpSpPr>
          <p:grpSpPr>
            <a:xfrm>
              <a:off x="6983227" y="4256763"/>
              <a:ext cx="335280" cy="205986"/>
              <a:chOff x="526708" y="2419391"/>
              <a:chExt cx="746760" cy="458788"/>
            </a:xfrm>
          </p:grpSpPr>
          <p:cxnSp>
            <p:nvCxnSpPr>
              <p:cNvPr id="68" name="Straight Connector 67"/>
              <p:cNvCxnSpPr/>
              <p:nvPr/>
            </p:nvCxnSpPr>
            <p:spPr bwMode="auto">
              <a:xfrm>
                <a:off x="526708" y="2876591"/>
                <a:ext cx="228600" cy="1588"/>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bwMode="auto">
              <a:xfrm rot="5400000" flipH="1" flipV="1">
                <a:off x="633388" y="2533691"/>
                <a:ext cx="457200" cy="228600"/>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bwMode="auto">
              <a:xfrm>
                <a:off x="968668" y="2419391"/>
                <a:ext cx="304800" cy="1588"/>
              </a:xfrm>
              <a:prstGeom prst="line">
                <a:avLst/>
              </a:prstGeom>
              <a:ln>
                <a:headEnd/>
                <a:tailEn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163007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39AEB56-BF72-4CA5-915D-96065DD9B9F9}"/>
              </a:ext>
            </a:extLst>
          </p:cNvPr>
          <p:cNvSpPr>
            <a:spLocks noGrp="1"/>
          </p:cNvSpPr>
          <p:nvPr>
            <p:ph type="title"/>
          </p:nvPr>
        </p:nvSpPr>
        <p:spPr/>
        <p:txBody>
          <a:bodyPr/>
          <a:lstStyle/>
          <a:p>
            <a:r>
              <a:rPr lang="en-US" altLang="en-US"/>
              <a:t>Delay Calculation (Linear) Example</a:t>
            </a:r>
          </a:p>
        </p:txBody>
      </p:sp>
      <p:sp>
        <p:nvSpPr>
          <p:cNvPr id="38" name="Rectangle 37">
            <a:extLst>
              <a:ext uri="{FF2B5EF4-FFF2-40B4-BE49-F238E27FC236}">
                <a16:creationId xmlns:a16="http://schemas.microsoft.com/office/drawing/2014/main" id="{C7669A1F-0D53-47C1-8789-0FE1BEAF25CA}"/>
              </a:ext>
            </a:extLst>
          </p:cNvPr>
          <p:cNvSpPr>
            <a:spLocks noRot="1" noChangeAspect="1" noMove="1" noResize="1" noEditPoints="1" noAdjustHandles="1" noChangeArrowheads="1" noChangeShapeType="1" noTextEdit="1"/>
          </p:cNvSpPr>
          <p:nvPr/>
        </p:nvSpPr>
        <p:spPr>
          <a:xfrm>
            <a:off x="2162358" y="3810000"/>
            <a:ext cx="3649622" cy="1639936"/>
          </a:xfrm>
          <a:prstGeom prst="rect">
            <a:avLst/>
          </a:prstGeom>
          <a:blipFill rotWithShape="0">
            <a:blip r:embed="rId2"/>
            <a:stretch>
              <a:fillRect/>
            </a:stretch>
          </a:blipFill>
        </p:spPr>
        <p:txBody>
          <a:bodyPr/>
          <a:lstStyle/>
          <a:p>
            <a:r>
              <a:rPr lang="en-US">
                <a:noFill/>
              </a:rPr>
              <a:t> </a:t>
            </a:r>
          </a:p>
        </p:txBody>
      </p:sp>
      <p:sp>
        <p:nvSpPr>
          <p:cNvPr id="40" name="TextBox 39">
            <a:extLst>
              <a:ext uri="{FF2B5EF4-FFF2-40B4-BE49-F238E27FC236}">
                <a16:creationId xmlns:a16="http://schemas.microsoft.com/office/drawing/2014/main" id="{93BE1DE4-7EBB-4290-B5B4-E71ABA68CDA5}"/>
              </a:ext>
            </a:extLst>
          </p:cNvPr>
          <p:cNvSpPr txBox="1">
            <a:spLocks noRot="1" noChangeAspect="1" noMove="1" noResize="1" noEditPoints="1" noAdjustHandles="1" noChangeArrowheads="1" noChangeShapeType="1" noTextEdit="1"/>
          </p:cNvSpPr>
          <p:nvPr/>
        </p:nvSpPr>
        <p:spPr>
          <a:xfrm>
            <a:off x="3962401" y="4191001"/>
            <a:ext cx="6620135" cy="542393"/>
          </a:xfrm>
          <a:prstGeom prst="rect">
            <a:avLst/>
          </a:prstGeom>
          <a:blipFill rotWithShape="0">
            <a:blip r:embed="rId3"/>
            <a:stretch>
              <a:fillRect/>
            </a:stretch>
          </a:blipFill>
        </p:spPr>
        <p:txBody>
          <a:bodyPr/>
          <a:lstStyle/>
          <a:p>
            <a:r>
              <a:rPr lang="en-US">
                <a:noFill/>
              </a:rPr>
              <a:t> </a:t>
            </a:r>
          </a:p>
        </p:txBody>
      </p:sp>
      <p:sp>
        <p:nvSpPr>
          <p:cNvPr id="15365" name="Isosceles Triangle 77">
            <a:extLst>
              <a:ext uri="{FF2B5EF4-FFF2-40B4-BE49-F238E27FC236}">
                <a16:creationId xmlns:a16="http://schemas.microsoft.com/office/drawing/2014/main" id="{7012CBDC-6492-486D-B32E-3406702CE575}"/>
              </a:ext>
            </a:extLst>
          </p:cNvPr>
          <p:cNvSpPr>
            <a:spLocks noChangeArrowheads="1"/>
          </p:cNvSpPr>
          <p:nvPr/>
        </p:nvSpPr>
        <p:spPr bwMode="auto">
          <a:xfrm rot="5400000">
            <a:off x="5020470" y="2072483"/>
            <a:ext cx="511175" cy="42703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5366" name="Flowchart: Delay 53">
            <a:extLst>
              <a:ext uri="{FF2B5EF4-FFF2-40B4-BE49-F238E27FC236}">
                <a16:creationId xmlns:a16="http://schemas.microsoft.com/office/drawing/2014/main" id="{829FA1ED-C67C-4776-A4A6-31995480D4DF}"/>
              </a:ext>
            </a:extLst>
          </p:cNvPr>
          <p:cNvSpPr>
            <a:spLocks noChangeArrowheads="1"/>
          </p:cNvSpPr>
          <p:nvPr/>
        </p:nvSpPr>
        <p:spPr bwMode="auto">
          <a:xfrm>
            <a:off x="6467476" y="1552576"/>
            <a:ext cx="328613" cy="295275"/>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aseline="-25000"/>
          </a:p>
        </p:txBody>
      </p:sp>
      <p:cxnSp>
        <p:nvCxnSpPr>
          <p:cNvPr id="15367" name="Straight Connector 19">
            <a:extLst>
              <a:ext uri="{FF2B5EF4-FFF2-40B4-BE49-F238E27FC236}">
                <a16:creationId xmlns:a16="http://schemas.microsoft.com/office/drawing/2014/main" id="{7F1E1433-FF07-4B0F-9FD8-96F714D3B09C}"/>
              </a:ext>
            </a:extLst>
          </p:cNvPr>
          <p:cNvCxnSpPr>
            <a:cxnSpLocks noChangeShapeType="1"/>
          </p:cNvCxnSpPr>
          <p:nvPr/>
        </p:nvCxnSpPr>
        <p:spPr bwMode="auto">
          <a:xfrm>
            <a:off x="6273801" y="1644650"/>
            <a:ext cx="187325" cy="0"/>
          </a:xfrm>
          <a:prstGeom prst="line">
            <a:avLst/>
          </a:prstGeom>
          <a:noFill/>
          <a:ln w="9525" algn="ctr">
            <a:solidFill>
              <a:schemeClr val="tx1"/>
            </a:solidFill>
            <a:round/>
            <a:headEnd/>
            <a:tailEnd/>
          </a:ln>
        </p:spPr>
      </p:cxnSp>
      <p:cxnSp>
        <p:nvCxnSpPr>
          <p:cNvPr id="15368" name="Straight Connector 20">
            <a:extLst>
              <a:ext uri="{FF2B5EF4-FFF2-40B4-BE49-F238E27FC236}">
                <a16:creationId xmlns:a16="http://schemas.microsoft.com/office/drawing/2014/main" id="{6D64E48A-EB16-46D4-B907-9CA0FDC47A74}"/>
              </a:ext>
            </a:extLst>
          </p:cNvPr>
          <p:cNvCxnSpPr>
            <a:cxnSpLocks noChangeShapeType="1"/>
          </p:cNvCxnSpPr>
          <p:nvPr/>
        </p:nvCxnSpPr>
        <p:spPr bwMode="auto">
          <a:xfrm>
            <a:off x="6148388" y="1763713"/>
            <a:ext cx="317500" cy="0"/>
          </a:xfrm>
          <a:prstGeom prst="line">
            <a:avLst/>
          </a:prstGeom>
          <a:noFill/>
          <a:ln w="9525" algn="ctr">
            <a:solidFill>
              <a:schemeClr val="tx1"/>
            </a:solidFill>
            <a:round/>
            <a:headEnd/>
            <a:tailEnd/>
          </a:ln>
        </p:spPr>
      </p:cxnSp>
      <p:sp>
        <p:nvSpPr>
          <p:cNvPr id="15369" name="Flowchart: Delay 53">
            <a:extLst>
              <a:ext uri="{FF2B5EF4-FFF2-40B4-BE49-F238E27FC236}">
                <a16:creationId xmlns:a16="http://schemas.microsoft.com/office/drawing/2014/main" id="{5C886F04-AC84-4721-8293-BB74E9269A22}"/>
              </a:ext>
            </a:extLst>
          </p:cNvPr>
          <p:cNvSpPr>
            <a:spLocks noChangeArrowheads="1"/>
          </p:cNvSpPr>
          <p:nvPr/>
        </p:nvSpPr>
        <p:spPr bwMode="auto">
          <a:xfrm>
            <a:off x="6453188" y="2193926"/>
            <a:ext cx="330200" cy="295275"/>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aseline="-25000"/>
          </a:p>
        </p:txBody>
      </p:sp>
      <p:cxnSp>
        <p:nvCxnSpPr>
          <p:cNvPr id="15370" name="Straight Connector 23">
            <a:extLst>
              <a:ext uri="{FF2B5EF4-FFF2-40B4-BE49-F238E27FC236}">
                <a16:creationId xmlns:a16="http://schemas.microsoft.com/office/drawing/2014/main" id="{3A965BEA-2F44-478A-89B3-5F69F8B431FE}"/>
              </a:ext>
            </a:extLst>
          </p:cNvPr>
          <p:cNvCxnSpPr>
            <a:cxnSpLocks noChangeShapeType="1"/>
          </p:cNvCxnSpPr>
          <p:nvPr/>
        </p:nvCxnSpPr>
        <p:spPr bwMode="auto">
          <a:xfrm>
            <a:off x="5811838" y="2286000"/>
            <a:ext cx="639762" cy="0"/>
          </a:xfrm>
          <a:prstGeom prst="line">
            <a:avLst/>
          </a:prstGeom>
          <a:noFill/>
          <a:ln w="9525" algn="ctr">
            <a:solidFill>
              <a:schemeClr val="tx1"/>
            </a:solidFill>
            <a:round/>
            <a:headEnd/>
            <a:tailEnd/>
          </a:ln>
        </p:spPr>
      </p:cxnSp>
      <p:sp>
        <p:nvSpPr>
          <p:cNvPr id="15371" name="Flowchart: Delay 53">
            <a:extLst>
              <a:ext uri="{FF2B5EF4-FFF2-40B4-BE49-F238E27FC236}">
                <a16:creationId xmlns:a16="http://schemas.microsoft.com/office/drawing/2014/main" id="{58929425-3F48-4A0C-A937-A71478C0C62D}"/>
              </a:ext>
            </a:extLst>
          </p:cNvPr>
          <p:cNvSpPr>
            <a:spLocks noChangeArrowheads="1"/>
          </p:cNvSpPr>
          <p:nvPr/>
        </p:nvSpPr>
        <p:spPr bwMode="auto">
          <a:xfrm>
            <a:off x="6484938" y="2770189"/>
            <a:ext cx="330200" cy="295275"/>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aseline="-25000"/>
          </a:p>
        </p:txBody>
      </p:sp>
      <p:cxnSp>
        <p:nvCxnSpPr>
          <p:cNvPr id="15372" name="Straight Connector 26">
            <a:extLst>
              <a:ext uri="{FF2B5EF4-FFF2-40B4-BE49-F238E27FC236}">
                <a16:creationId xmlns:a16="http://schemas.microsoft.com/office/drawing/2014/main" id="{EF5467D2-7944-4C2A-8EE5-0035269BEA61}"/>
              </a:ext>
            </a:extLst>
          </p:cNvPr>
          <p:cNvCxnSpPr>
            <a:cxnSpLocks noChangeShapeType="1"/>
          </p:cNvCxnSpPr>
          <p:nvPr/>
        </p:nvCxnSpPr>
        <p:spPr bwMode="auto">
          <a:xfrm>
            <a:off x="6148389" y="2860675"/>
            <a:ext cx="338137" cy="0"/>
          </a:xfrm>
          <a:prstGeom prst="line">
            <a:avLst/>
          </a:prstGeom>
          <a:noFill/>
          <a:ln w="9525" algn="ctr">
            <a:solidFill>
              <a:schemeClr val="tx1"/>
            </a:solidFill>
            <a:round/>
            <a:headEnd/>
            <a:tailEnd/>
          </a:ln>
        </p:spPr>
      </p:cxnSp>
      <p:cxnSp>
        <p:nvCxnSpPr>
          <p:cNvPr id="15373" name="Straight Connector 27">
            <a:extLst>
              <a:ext uri="{FF2B5EF4-FFF2-40B4-BE49-F238E27FC236}">
                <a16:creationId xmlns:a16="http://schemas.microsoft.com/office/drawing/2014/main" id="{45B1AD09-2D57-4FF3-9359-440BCD6D56EE}"/>
              </a:ext>
            </a:extLst>
          </p:cNvPr>
          <p:cNvCxnSpPr>
            <a:cxnSpLocks noChangeShapeType="1"/>
          </p:cNvCxnSpPr>
          <p:nvPr/>
        </p:nvCxnSpPr>
        <p:spPr bwMode="auto">
          <a:xfrm>
            <a:off x="6243638" y="2978150"/>
            <a:ext cx="239712" cy="0"/>
          </a:xfrm>
          <a:prstGeom prst="line">
            <a:avLst/>
          </a:prstGeom>
          <a:noFill/>
          <a:ln w="9525" algn="ctr">
            <a:solidFill>
              <a:schemeClr val="tx1"/>
            </a:solidFill>
            <a:round/>
            <a:headEnd/>
            <a:tailEnd/>
          </a:ln>
        </p:spPr>
      </p:cxnSp>
      <p:cxnSp>
        <p:nvCxnSpPr>
          <p:cNvPr id="15374" name="Straight Connector 28">
            <a:extLst>
              <a:ext uri="{FF2B5EF4-FFF2-40B4-BE49-F238E27FC236}">
                <a16:creationId xmlns:a16="http://schemas.microsoft.com/office/drawing/2014/main" id="{EB072D14-108A-4627-87CC-A4E4988DE054}"/>
              </a:ext>
            </a:extLst>
          </p:cNvPr>
          <p:cNvCxnSpPr>
            <a:cxnSpLocks noChangeShapeType="1"/>
          </p:cNvCxnSpPr>
          <p:nvPr/>
        </p:nvCxnSpPr>
        <p:spPr bwMode="auto">
          <a:xfrm>
            <a:off x="6151563" y="1760539"/>
            <a:ext cx="0" cy="1101725"/>
          </a:xfrm>
          <a:prstGeom prst="line">
            <a:avLst/>
          </a:prstGeom>
          <a:noFill/>
          <a:ln w="9525" algn="ctr">
            <a:solidFill>
              <a:schemeClr val="tx1"/>
            </a:solidFill>
            <a:round/>
            <a:headEnd/>
            <a:tailEnd/>
          </a:ln>
        </p:spPr>
      </p:cxnSp>
      <p:cxnSp>
        <p:nvCxnSpPr>
          <p:cNvPr id="15375" name="Straight Connector 29">
            <a:extLst>
              <a:ext uri="{FF2B5EF4-FFF2-40B4-BE49-F238E27FC236}">
                <a16:creationId xmlns:a16="http://schemas.microsoft.com/office/drawing/2014/main" id="{9B0B9C38-8DC2-48F0-ACB3-0A45B750DE26}"/>
              </a:ext>
            </a:extLst>
          </p:cNvPr>
          <p:cNvCxnSpPr>
            <a:cxnSpLocks noChangeShapeType="1"/>
          </p:cNvCxnSpPr>
          <p:nvPr/>
        </p:nvCxnSpPr>
        <p:spPr bwMode="auto">
          <a:xfrm flipH="1">
            <a:off x="5580064" y="2286000"/>
            <a:ext cx="231775" cy="0"/>
          </a:xfrm>
          <a:prstGeom prst="line">
            <a:avLst/>
          </a:prstGeom>
          <a:noFill/>
          <a:ln w="9525" algn="ctr">
            <a:solidFill>
              <a:schemeClr val="tx1"/>
            </a:solidFill>
            <a:round/>
            <a:headEnd/>
            <a:tailEnd/>
          </a:ln>
        </p:spPr>
      </p:cxnSp>
      <p:cxnSp>
        <p:nvCxnSpPr>
          <p:cNvPr id="15376" name="Straight Connector 30">
            <a:extLst>
              <a:ext uri="{FF2B5EF4-FFF2-40B4-BE49-F238E27FC236}">
                <a16:creationId xmlns:a16="http://schemas.microsoft.com/office/drawing/2014/main" id="{2986BFAC-70CB-43B4-93B7-305F545537B1}"/>
              </a:ext>
            </a:extLst>
          </p:cNvPr>
          <p:cNvCxnSpPr>
            <a:cxnSpLocks noChangeShapeType="1"/>
          </p:cNvCxnSpPr>
          <p:nvPr/>
        </p:nvCxnSpPr>
        <p:spPr bwMode="auto">
          <a:xfrm>
            <a:off x="6802439" y="1700213"/>
            <a:ext cx="187325" cy="0"/>
          </a:xfrm>
          <a:prstGeom prst="line">
            <a:avLst/>
          </a:prstGeom>
          <a:noFill/>
          <a:ln w="9525" algn="ctr">
            <a:solidFill>
              <a:schemeClr val="tx1"/>
            </a:solidFill>
            <a:round/>
            <a:headEnd/>
            <a:tailEnd/>
          </a:ln>
        </p:spPr>
      </p:cxnSp>
      <p:cxnSp>
        <p:nvCxnSpPr>
          <p:cNvPr id="15377" name="Straight Connector 31">
            <a:extLst>
              <a:ext uri="{FF2B5EF4-FFF2-40B4-BE49-F238E27FC236}">
                <a16:creationId xmlns:a16="http://schemas.microsoft.com/office/drawing/2014/main" id="{36568866-C626-4904-8E7F-71472DF0A5E3}"/>
              </a:ext>
            </a:extLst>
          </p:cNvPr>
          <p:cNvCxnSpPr>
            <a:cxnSpLocks noChangeShapeType="1"/>
          </p:cNvCxnSpPr>
          <p:nvPr/>
        </p:nvCxnSpPr>
        <p:spPr bwMode="auto">
          <a:xfrm>
            <a:off x="6778626" y="2341563"/>
            <a:ext cx="187325" cy="0"/>
          </a:xfrm>
          <a:prstGeom prst="line">
            <a:avLst/>
          </a:prstGeom>
          <a:noFill/>
          <a:ln w="9525" algn="ctr">
            <a:solidFill>
              <a:schemeClr val="tx1"/>
            </a:solidFill>
            <a:round/>
            <a:headEnd/>
            <a:tailEnd/>
          </a:ln>
        </p:spPr>
      </p:cxnSp>
      <p:cxnSp>
        <p:nvCxnSpPr>
          <p:cNvPr id="15378" name="Straight Connector 32">
            <a:extLst>
              <a:ext uri="{FF2B5EF4-FFF2-40B4-BE49-F238E27FC236}">
                <a16:creationId xmlns:a16="http://schemas.microsoft.com/office/drawing/2014/main" id="{07165420-3C80-4CF2-92AB-37CC3FA1230E}"/>
              </a:ext>
            </a:extLst>
          </p:cNvPr>
          <p:cNvCxnSpPr>
            <a:cxnSpLocks noChangeShapeType="1"/>
          </p:cNvCxnSpPr>
          <p:nvPr/>
        </p:nvCxnSpPr>
        <p:spPr bwMode="auto">
          <a:xfrm>
            <a:off x="6265864" y="2408238"/>
            <a:ext cx="187325" cy="0"/>
          </a:xfrm>
          <a:prstGeom prst="line">
            <a:avLst/>
          </a:prstGeom>
          <a:noFill/>
          <a:ln w="9525" algn="ctr">
            <a:solidFill>
              <a:schemeClr val="tx1"/>
            </a:solidFill>
            <a:round/>
            <a:headEnd/>
            <a:tailEnd/>
          </a:ln>
        </p:spPr>
      </p:cxnSp>
      <p:cxnSp>
        <p:nvCxnSpPr>
          <p:cNvPr id="15379" name="Straight Connector 33">
            <a:extLst>
              <a:ext uri="{FF2B5EF4-FFF2-40B4-BE49-F238E27FC236}">
                <a16:creationId xmlns:a16="http://schemas.microsoft.com/office/drawing/2014/main" id="{396E03D1-D2DF-47EF-B089-80D94EAD2B80}"/>
              </a:ext>
            </a:extLst>
          </p:cNvPr>
          <p:cNvCxnSpPr>
            <a:cxnSpLocks noChangeShapeType="1"/>
          </p:cNvCxnSpPr>
          <p:nvPr/>
        </p:nvCxnSpPr>
        <p:spPr bwMode="auto">
          <a:xfrm>
            <a:off x="6818314" y="2917825"/>
            <a:ext cx="187325" cy="0"/>
          </a:xfrm>
          <a:prstGeom prst="line">
            <a:avLst/>
          </a:prstGeom>
          <a:noFill/>
          <a:ln w="9525" algn="ctr">
            <a:solidFill>
              <a:schemeClr val="tx1"/>
            </a:solidFill>
            <a:round/>
            <a:headEnd/>
            <a:tailEnd/>
          </a:ln>
        </p:spPr>
      </p:cxnSp>
      <p:cxnSp>
        <p:nvCxnSpPr>
          <p:cNvPr id="15380" name="Straight Connector 34">
            <a:extLst>
              <a:ext uri="{FF2B5EF4-FFF2-40B4-BE49-F238E27FC236}">
                <a16:creationId xmlns:a16="http://schemas.microsoft.com/office/drawing/2014/main" id="{AF5EB6C0-946D-4B2A-9AD7-01695FE5EABA}"/>
              </a:ext>
            </a:extLst>
          </p:cNvPr>
          <p:cNvCxnSpPr>
            <a:cxnSpLocks noChangeShapeType="1"/>
          </p:cNvCxnSpPr>
          <p:nvPr/>
        </p:nvCxnSpPr>
        <p:spPr bwMode="auto">
          <a:xfrm>
            <a:off x="4732338" y="2286000"/>
            <a:ext cx="330200" cy="0"/>
          </a:xfrm>
          <a:prstGeom prst="line">
            <a:avLst/>
          </a:prstGeom>
          <a:noFill/>
          <a:ln w="9525" algn="ctr">
            <a:solidFill>
              <a:schemeClr val="tx1"/>
            </a:solidFill>
            <a:round/>
            <a:headEnd/>
            <a:tailEnd/>
          </a:ln>
        </p:spPr>
      </p:cxnSp>
      <p:cxnSp>
        <p:nvCxnSpPr>
          <p:cNvPr id="6" name="Straight Connector 5">
            <a:extLst>
              <a:ext uri="{FF2B5EF4-FFF2-40B4-BE49-F238E27FC236}">
                <a16:creationId xmlns:a16="http://schemas.microsoft.com/office/drawing/2014/main" id="{3D73C3CC-36B5-440E-86BA-C633CFA4ACD2}"/>
              </a:ext>
            </a:extLst>
          </p:cNvPr>
          <p:cNvCxnSpPr/>
          <p:nvPr/>
        </p:nvCxnSpPr>
        <p:spPr bwMode="auto">
          <a:xfrm>
            <a:off x="2579688" y="1784350"/>
            <a:ext cx="360362"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045B3CA-264C-4DE1-9261-F13EFAF5EB9E}"/>
              </a:ext>
            </a:extLst>
          </p:cNvPr>
          <p:cNvCxnSpPr/>
          <p:nvPr/>
        </p:nvCxnSpPr>
        <p:spPr bwMode="auto">
          <a:xfrm>
            <a:off x="3333750" y="2292350"/>
            <a:ext cx="395288"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42999A3-1322-4AC0-AF7D-B8A57DD9481A}"/>
              </a:ext>
            </a:extLst>
          </p:cNvPr>
          <p:cNvCxnSpPr/>
          <p:nvPr/>
        </p:nvCxnSpPr>
        <p:spPr bwMode="auto">
          <a:xfrm>
            <a:off x="2940050" y="1784351"/>
            <a:ext cx="395288" cy="511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84" name="Straight Connector 8">
            <a:extLst>
              <a:ext uri="{FF2B5EF4-FFF2-40B4-BE49-F238E27FC236}">
                <a16:creationId xmlns:a16="http://schemas.microsoft.com/office/drawing/2014/main" id="{013D5978-0C13-48A4-B62A-F05F9DCECC03}"/>
              </a:ext>
            </a:extLst>
          </p:cNvPr>
          <p:cNvCxnSpPr>
            <a:cxnSpLocks noChangeShapeType="1"/>
          </p:cNvCxnSpPr>
          <p:nvPr/>
        </p:nvCxnSpPr>
        <p:spPr bwMode="auto">
          <a:xfrm>
            <a:off x="2940050" y="1306514"/>
            <a:ext cx="0" cy="1512887"/>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5385" name="Straight Connector 9">
            <a:extLst>
              <a:ext uri="{FF2B5EF4-FFF2-40B4-BE49-F238E27FC236}">
                <a16:creationId xmlns:a16="http://schemas.microsoft.com/office/drawing/2014/main" id="{2A17BBD9-ED23-4651-A487-683ACDE3EC76}"/>
              </a:ext>
            </a:extLst>
          </p:cNvPr>
          <p:cNvCxnSpPr>
            <a:cxnSpLocks noChangeShapeType="1"/>
          </p:cNvCxnSpPr>
          <p:nvPr/>
        </p:nvCxnSpPr>
        <p:spPr bwMode="auto">
          <a:xfrm>
            <a:off x="3327400" y="1333500"/>
            <a:ext cx="0" cy="14859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5386" name="Straight Arrow Connector 10">
            <a:extLst>
              <a:ext uri="{FF2B5EF4-FFF2-40B4-BE49-F238E27FC236}">
                <a16:creationId xmlns:a16="http://schemas.microsoft.com/office/drawing/2014/main" id="{10166927-83F3-4E2B-AD10-FE1C00313BBC}"/>
              </a:ext>
            </a:extLst>
          </p:cNvPr>
          <p:cNvCxnSpPr>
            <a:cxnSpLocks noChangeShapeType="1"/>
          </p:cNvCxnSpPr>
          <p:nvPr/>
        </p:nvCxnSpPr>
        <p:spPr bwMode="auto">
          <a:xfrm>
            <a:off x="2525713" y="2681288"/>
            <a:ext cx="360362" cy="0"/>
          </a:xfrm>
          <a:prstGeom prst="straightConnector1">
            <a:avLst/>
          </a:prstGeom>
          <a:noFill/>
          <a:ln w="6350" algn="ctr">
            <a:solidFill>
              <a:srgbClr val="0000FF"/>
            </a:solidFill>
            <a:round/>
            <a:headEnd/>
            <a:tailEnd type="triangle" w="med" len="med"/>
          </a:ln>
        </p:spPr>
      </p:cxnSp>
      <p:cxnSp>
        <p:nvCxnSpPr>
          <p:cNvPr id="15387" name="Straight Arrow Connector 11">
            <a:extLst>
              <a:ext uri="{FF2B5EF4-FFF2-40B4-BE49-F238E27FC236}">
                <a16:creationId xmlns:a16="http://schemas.microsoft.com/office/drawing/2014/main" id="{2D8B992B-F971-4A07-9EA4-97D140076437}"/>
              </a:ext>
            </a:extLst>
          </p:cNvPr>
          <p:cNvCxnSpPr>
            <a:cxnSpLocks noChangeShapeType="1"/>
          </p:cNvCxnSpPr>
          <p:nvPr/>
        </p:nvCxnSpPr>
        <p:spPr bwMode="auto">
          <a:xfrm flipH="1">
            <a:off x="3378201" y="2701925"/>
            <a:ext cx="360363" cy="0"/>
          </a:xfrm>
          <a:prstGeom prst="straightConnector1">
            <a:avLst/>
          </a:prstGeom>
          <a:noFill/>
          <a:ln w="6350" algn="ctr">
            <a:solidFill>
              <a:srgbClr val="0000FF"/>
            </a:solidFill>
            <a:round/>
            <a:headEnd/>
            <a:tailEnd type="triangle" w="med" len="med"/>
          </a:ln>
        </p:spPr>
      </p:cxnSp>
      <p:cxnSp>
        <p:nvCxnSpPr>
          <p:cNvPr id="15388" name="Straight Arrow Connector 12">
            <a:extLst>
              <a:ext uri="{FF2B5EF4-FFF2-40B4-BE49-F238E27FC236}">
                <a16:creationId xmlns:a16="http://schemas.microsoft.com/office/drawing/2014/main" id="{987BECE3-A5BD-4123-B0A9-6C3BF7D0533C}"/>
              </a:ext>
            </a:extLst>
          </p:cNvPr>
          <p:cNvCxnSpPr>
            <a:cxnSpLocks noChangeShapeType="1"/>
          </p:cNvCxnSpPr>
          <p:nvPr/>
        </p:nvCxnSpPr>
        <p:spPr bwMode="auto">
          <a:xfrm>
            <a:off x="4279901" y="2281238"/>
            <a:ext cx="288925" cy="0"/>
          </a:xfrm>
          <a:prstGeom prst="straightConnector1">
            <a:avLst/>
          </a:prstGeom>
          <a:noFill/>
          <a:ln w="22225" algn="ctr">
            <a:solidFill>
              <a:schemeClr val="tx1"/>
            </a:solidFill>
            <a:round/>
            <a:headEnd/>
            <a:tailEnd type="triangle" w="lg" len="lg"/>
          </a:ln>
        </p:spPr>
      </p:cxnSp>
      <p:cxnSp>
        <p:nvCxnSpPr>
          <p:cNvPr id="15389" name="Straight Arrow Connector 13">
            <a:extLst>
              <a:ext uri="{FF2B5EF4-FFF2-40B4-BE49-F238E27FC236}">
                <a16:creationId xmlns:a16="http://schemas.microsoft.com/office/drawing/2014/main" id="{B092F81A-DCBE-4456-95D2-65B255656CCF}"/>
              </a:ext>
            </a:extLst>
          </p:cNvPr>
          <p:cNvCxnSpPr>
            <a:cxnSpLocks noChangeShapeType="1"/>
          </p:cNvCxnSpPr>
          <p:nvPr/>
        </p:nvCxnSpPr>
        <p:spPr bwMode="auto">
          <a:xfrm flipV="1">
            <a:off x="5489575" y="2408239"/>
            <a:ext cx="590550" cy="454025"/>
          </a:xfrm>
          <a:prstGeom prst="straightConnector1">
            <a:avLst/>
          </a:prstGeom>
          <a:noFill/>
          <a:ln w="19050" algn="ctr">
            <a:solidFill>
              <a:schemeClr val="tx1"/>
            </a:solidFill>
            <a:round/>
            <a:headEnd/>
            <a:tailEnd type="triangle" w="med" len="med"/>
          </a:ln>
        </p:spPr>
      </p:cxnSp>
      <p:sp>
        <p:nvSpPr>
          <p:cNvPr id="15390" name="TextBox 14">
            <a:extLst>
              <a:ext uri="{FF2B5EF4-FFF2-40B4-BE49-F238E27FC236}">
                <a16:creationId xmlns:a16="http://schemas.microsoft.com/office/drawing/2014/main" id="{75AEDEAC-316E-489F-A2CF-C3D770C33FA7}"/>
              </a:ext>
            </a:extLst>
          </p:cNvPr>
          <p:cNvSpPr txBox="1">
            <a:spLocks noChangeArrowheads="1"/>
          </p:cNvSpPr>
          <p:nvPr/>
        </p:nvSpPr>
        <p:spPr bwMode="auto">
          <a:xfrm>
            <a:off x="2868614" y="2836863"/>
            <a:ext cx="5302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1.2 ns</a:t>
            </a:r>
          </a:p>
        </p:txBody>
      </p:sp>
      <p:sp>
        <p:nvSpPr>
          <p:cNvPr id="16" name="TextBox 15">
            <a:extLst>
              <a:ext uri="{FF2B5EF4-FFF2-40B4-BE49-F238E27FC236}">
                <a16:creationId xmlns:a16="http://schemas.microsoft.com/office/drawing/2014/main" id="{B247701E-35C3-4DD3-B68B-FD17FB7FC930}"/>
              </a:ext>
            </a:extLst>
          </p:cNvPr>
          <p:cNvSpPr txBox="1"/>
          <p:nvPr/>
        </p:nvSpPr>
        <p:spPr>
          <a:xfrm>
            <a:off x="4733926" y="2917825"/>
            <a:ext cx="773113" cy="254000"/>
          </a:xfrm>
          <a:prstGeom prst="rect">
            <a:avLst/>
          </a:prstGeom>
          <a:noFill/>
        </p:spPr>
        <p:txBody>
          <a:bodyPr wrap="none">
            <a:spAutoFit/>
          </a:bodyPr>
          <a:lstStyle/>
          <a:p>
            <a:pPr algn="ctr" eaLnBrk="1" hangingPunct="1">
              <a:defRPr/>
            </a:pPr>
            <a:r>
              <a:rPr lang="en-US" sz="1050" dirty="0" err="1">
                <a:latin typeface="Arial" charset="0"/>
                <a:cs typeface="Arial" charset="0"/>
              </a:rPr>
              <a:t>C</a:t>
            </a:r>
            <a:r>
              <a:rPr lang="en-US" sz="1200" baseline="-25000" dirty="0" err="1">
                <a:latin typeface="Arial" charset="0"/>
                <a:cs typeface="Arial" charset="0"/>
              </a:rPr>
              <a:t>wire</a:t>
            </a:r>
            <a:r>
              <a:rPr lang="en-US" sz="1050" dirty="0">
                <a:latin typeface="Arial" charset="0"/>
                <a:cs typeface="Arial" charset="0"/>
              </a:rPr>
              <a:t>= 2.6</a:t>
            </a:r>
            <a:endParaRPr lang="en-US" sz="1050" baseline="-25000" dirty="0">
              <a:latin typeface="Arial" charset="0"/>
              <a:cs typeface="Arial" charset="0"/>
            </a:endParaRPr>
          </a:p>
        </p:txBody>
      </p:sp>
      <p:sp>
        <p:nvSpPr>
          <p:cNvPr id="15392" name="Flowchart: Delay 53">
            <a:extLst>
              <a:ext uri="{FF2B5EF4-FFF2-40B4-BE49-F238E27FC236}">
                <a16:creationId xmlns:a16="http://schemas.microsoft.com/office/drawing/2014/main" id="{EFCFBC6D-854C-4641-9A6C-876DF8B3B3B4}"/>
              </a:ext>
            </a:extLst>
          </p:cNvPr>
          <p:cNvSpPr>
            <a:spLocks noChangeArrowheads="1"/>
          </p:cNvSpPr>
          <p:nvPr/>
        </p:nvSpPr>
        <p:spPr bwMode="auto">
          <a:xfrm>
            <a:off x="8724901" y="2840039"/>
            <a:ext cx="328613" cy="293687"/>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aseline="-25000"/>
          </a:p>
        </p:txBody>
      </p:sp>
      <p:cxnSp>
        <p:nvCxnSpPr>
          <p:cNvPr id="15393" name="Straight Connector 45">
            <a:extLst>
              <a:ext uri="{FF2B5EF4-FFF2-40B4-BE49-F238E27FC236}">
                <a16:creationId xmlns:a16="http://schemas.microsoft.com/office/drawing/2014/main" id="{48581842-3FBC-4FCF-997F-5D425004A971}"/>
              </a:ext>
            </a:extLst>
          </p:cNvPr>
          <p:cNvCxnSpPr>
            <a:cxnSpLocks noChangeShapeType="1"/>
          </p:cNvCxnSpPr>
          <p:nvPr/>
        </p:nvCxnSpPr>
        <p:spPr bwMode="auto">
          <a:xfrm>
            <a:off x="8542339" y="2930525"/>
            <a:ext cx="187325" cy="0"/>
          </a:xfrm>
          <a:prstGeom prst="line">
            <a:avLst/>
          </a:prstGeom>
          <a:noFill/>
          <a:ln w="9525" algn="ctr">
            <a:solidFill>
              <a:schemeClr val="tx1"/>
            </a:solidFill>
            <a:round/>
            <a:headEnd/>
            <a:tailEnd/>
          </a:ln>
        </p:spPr>
      </p:cxnSp>
      <p:cxnSp>
        <p:nvCxnSpPr>
          <p:cNvPr id="15394" name="Straight Connector 46">
            <a:extLst>
              <a:ext uri="{FF2B5EF4-FFF2-40B4-BE49-F238E27FC236}">
                <a16:creationId xmlns:a16="http://schemas.microsoft.com/office/drawing/2014/main" id="{861978ED-0A8D-4B48-B99A-0E8EF18B637C}"/>
              </a:ext>
            </a:extLst>
          </p:cNvPr>
          <p:cNvCxnSpPr>
            <a:cxnSpLocks noChangeShapeType="1"/>
          </p:cNvCxnSpPr>
          <p:nvPr/>
        </p:nvCxnSpPr>
        <p:spPr bwMode="auto">
          <a:xfrm>
            <a:off x="9137651" y="2986088"/>
            <a:ext cx="187325" cy="0"/>
          </a:xfrm>
          <a:prstGeom prst="line">
            <a:avLst/>
          </a:prstGeom>
          <a:noFill/>
          <a:ln w="9525" algn="ctr">
            <a:solidFill>
              <a:schemeClr val="tx1"/>
            </a:solidFill>
            <a:round/>
            <a:headEnd/>
            <a:tailEnd/>
          </a:ln>
        </p:spPr>
      </p:cxnSp>
      <p:cxnSp>
        <p:nvCxnSpPr>
          <p:cNvPr id="15395" name="Straight Connector 47">
            <a:extLst>
              <a:ext uri="{FF2B5EF4-FFF2-40B4-BE49-F238E27FC236}">
                <a16:creationId xmlns:a16="http://schemas.microsoft.com/office/drawing/2014/main" id="{0DF805D9-6CEB-4227-A20E-87851A97AF8E}"/>
              </a:ext>
            </a:extLst>
          </p:cNvPr>
          <p:cNvCxnSpPr>
            <a:cxnSpLocks noChangeShapeType="1"/>
          </p:cNvCxnSpPr>
          <p:nvPr/>
        </p:nvCxnSpPr>
        <p:spPr bwMode="auto">
          <a:xfrm>
            <a:off x="8537576" y="3057525"/>
            <a:ext cx="187325" cy="0"/>
          </a:xfrm>
          <a:prstGeom prst="line">
            <a:avLst/>
          </a:prstGeom>
          <a:noFill/>
          <a:ln w="9525" algn="ctr">
            <a:solidFill>
              <a:schemeClr val="tx1"/>
            </a:solidFill>
            <a:round/>
            <a:headEnd/>
            <a:tailEnd/>
          </a:ln>
        </p:spPr>
      </p:cxnSp>
      <p:sp>
        <p:nvSpPr>
          <p:cNvPr id="15396" name="Isosceles Triangle 77">
            <a:extLst>
              <a:ext uri="{FF2B5EF4-FFF2-40B4-BE49-F238E27FC236}">
                <a16:creationId xmlns:a16="http://schemas.microsoft.com/office/drawing/2014/main" id="{D39204B7-84F9-4ADE-8C23-2218C831F4CE}"/>
              </a:ext>
            </a:extLst>
          </p:cNvPr>
          <p:cNvSpPr>
            <a:spLocks noChangeArrowheads="1"/>
          </p:cNvSpPr>
          <p:nvPr/>
        </p:nvSpPr>
        <p:spPr bwMode="auto">
          <a:xfrm rot="5400000">
            <a:off x="8712201" y="1736726"/>
            <a:ext cx="392112" cy="35083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15397" name="Straight Connector 48">
            <a:extLst>
              <a:ext uri="{FF2B5EF4-FFF2-40B4-BE49-F238E27FC236}">
                <a16:creationId xmlns:a16="http://schemas.microsoft.com/office/drawing/2014/main" id="{B83A3936-AFDC-46AC-A4EA-0B09DC5718D1}"/>
              </a:ext>
            </a:extLst>
          </p:cNvPr>
          <p:cNvCxnSpPr>
            <a:cxnSpLocks noChangeShapeType="1"/>
          </p:cNvCxnSpPr>
          <p:nvPr/>
        </p:nvCxnSpPr>
        <p:spPr bwMode="auto">
          <a:xfrm>
            <a:off x="8540751" y="1912938"/>
            <a:ext cx="187325" cy="0"/>
          </a:xfrm>
          <a:prstGeom prst="line">
            <a:avLst/>
          </a:prstGeom>
          <a:noFill/>
          <a:ln w="9525" algn="ctr">
            <a:solidFill>
              <a:schemeClr val="tx1"/>
            </a:solidFill>
            <a:round/>
            <a:headEnd/>
            <a:tailEnd/>
          </a:ln>
        </p:spPr>
      </p:cxnSp>
      <p:cxnSp>
        <p:nvCxnSpPr>
          <p:cNvPr id="15398" name="Straight Connector 49">
            <a:extLst>
              <a:ext uri="{FF2B5EF4-FFF2-40B4-BE49-F238E27FC236}">
                <a16:creationId xmlns:a16="http://schemas.microsoft.com/office/drawing/2014/main" id="{8D0077AF-908B-4D3E-B57A-30D7586C90C2}"/>
              </a:ext>
            </a:extLst>
          </p:cNvPr>
          <p:cNvCxnSpPr>
            <a:cxnSpLocks noChangeShapeType="1"/>
          </p:cNvCxnSpPr>
          <p:nvPr/>
        </p:nvCxnSpPr>
        <p:spPr bwMode="auto">
          <a:xfrm>
            <a:off x="9167814" y="1914525"/>
            <a:ext cx="187325" cy="0"/>
          </a:xfrm>
          <a:prstGeom prst="line">
            <a:avLst/>
          </a:prstGeom>
          <a:noFill/>
          <a:ln w="9525" algn="ctr">
            <a:solidFill>
              <a:schemeClr val="tx1"/>
            </a:solidFill>
            <a:round/>
            <a:headEnd/>
            <a:tailEnd/>
          </a:ln>
        </p:spPr>
      </p:cxnSp>
      <p:sp>
        <p:nvSpPr>
          <p:cNvPr id="54" name="Rectangle 53">
            <a:extLst>
              <a:ext uri="{FF2B5EF4-FFF2-40B4-BE49-F238E27FC236}">
                <a16:creationId xmlns:a16="http://schemas.microsoft.com/office/drawing/2014/main" id="{BE994A72-76BF-45FD-A49A-195B87EB3B02}"/>
              </a:ext>
            </a:extLst>
          </p:cNvPr>
          <p:cNvSpPr>
            <a:spLocks noRot="1" noChangeAspect="1" noMove="1" noResize="1" noEditPoints="1" noAdjustHandles="1" noChangeArrowheads="1" noChangeShapeType="1" noTextEdit="1"/>
          </p:cNvSpPr>
          <p:nvPr/>
        </p:nvSpPr>
        <p:spPr>
          <a:xfrm>
            <a:off x="7872458" y="2227792"/>
            <a:ext cx="2033543" cy="523220"/>
          </a:xfrm>
          <a:prstGeom prst="rect">
            <a:avLst/>
          </a:prstGeom>
          <a:blipFill rotWithShape="0">
            <a:blip r:embed="rId4"/>
            <a:stretch>
              <a:fillRect/>
            </a:stretch>
          </a:blipFill>
        </p:spPr>
        <p:txBody>
          <a:bodyPr/>
          <a:lstStyle/>
          <a:p>
            <a:r>
              <a:rPr lang="en-US">
                <a:noFill/>
              </a:rPr>
              <a:t> </a:t>
            </a:r>
          </a:p>
        </p:txBody>
      </p:sp>
      <p:sp>
        <p:nvSpPr>
          <p:cNvPr id="55" name="Rectangle 54">
            <a:extLst>
              <a:ext uri="{FF2B5EF4-FFF2-40B4-BE49-F238E27FC236}">
                <a16:creationId xmlns:a16="http://schemas.microsoft.com/office/drawing/2014/main" id="{B66031CF-3530-4EE9-8B89-5BC9EFE33A52}"/>
              </a:ext>
            </a:extLst>
          </p:cNvPr>
          <p:cNvSpPr>
            <a:spLocks noRot="1" noChangeAspect="1" noMove="1" noResize="1" noEditPoints="1" noAdjustHandles="1" noChangeArrowheads="1" noChangeShapeType="1" noTextEdit="1"/>
          </p:cNvSpPr>
          <p:nvPr/>
        </p:nvSpPr>
        <p:spPr>
          <a:xfrm>
            <a:off x="8443541" y="3350047"/>
            <a:ext cx="1019638" cy="326949"/>
          </a:xfrm>
          <a:prstGeom prst="rect">
            <a:avLst/>
          </a:prstGeom>
          <a:blipFill rotWithShape="0">
            <a:blip r:embed="rId5"/>
            <a:stretch>
              <a:fillRect b="-3774"/>
            </a:stretch>
          </a:blipFill>
        </p:spPr>
        <p:txBody>
          <a:bodyPr/>
          <a:lstStyle/>
          <a:p>
            <a:r>
              <a:rPr lang="en-US">
                <a:noFill/>
              </a:rPr>
              <a:t> </a:t>
            </a:r>
          </a:p>
        </p:txBody>
      </p:sp>
      <p:sp>
        <p:nvSpPr>
          <p:cNvPr id="15401" name="Oval 38">
            <a:extLst>
              <a:ext uri="{FF2B5EF4-FFF2-40B4-BE49-F238E27FC236}">
                <a16:creationId xmlns:a16="http://schemas.microsoft.com/office/drawing/2014/main" id="{B3C401D4-2858-44FE-9DFE-208FFBC88F87}"/>
              </a:ext>
            </a:extLst>
          </p:cNvPr>
          <p:cNvSpPr>
            <a:spLocks noChangeArrowheads="1"/>
          </p:cNvSpPr>
          <p:nvPr/>
        </p:nvSpPr>
        <p:spPr bwMode="auto">
          <a:xfrm>
            <a:off x="5494339" y="2246314"/>
            <a:ext cx="79375" cy="7937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5402" name="Oval 55">
            <a:extLst>
              <a:ext uri="{FF2B5EF4-FFF2-40B4-BE49-F238E27FC236}">
                <a16:creationId xmlns:a16="http://schemas.microsoft.com/office/drawing/2014/main" id="{0304576F-78C1-4A4A-BD74-B23D8EB3F565}"/>
              </a:ext>
            </a:extLst>
          </p:cNvPr>
          <p:cNvSpPr>
            <a:spLocks noChangeArrowheads="1"/>
          </p:cNvSpPr>
          <p:nvPr/>
        </p:nvSpPr>
        <p:spPr bwMode="auto">
          <a:xfrm>
            <a:off x="9082089" y="1873250"/>
            <a:ext cx="79375" cy="77788"/>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5403" name="Oval 56">
            <a:extLst>
              <a:ext uri="{FF2B5EF4-FFF2-40B4-BE49-F238E27FC236}">
                <a16:creationId xmlns:a16="http://schemas.microsoft.com/office/drawing/2014/main" id="{30925887-CCA2-4D5B-9D08-3E5C7C0302B0}"/>
              </a:ext>
            </a:extLst>
          </p:cNvPr>
          <p:cNvSpPr>
            <a:spLocks noChangeArrowheads="1"/>
          </p:cNvSpPr>
          <p:nvPr/>
        </p:nvSpPr>
        <p:spPr bwMode="auto">
          <a:xfrm>
            <a:off x="9055100" y="2947989"/>
            <a:ext cx="77788" cy="77787"/>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Nonlinear Delay Model</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0"/>
              </p:nvPr>
            </p:nvSpPr>
            <p:spPr/>
            <p:txBody>
              <a:bodyPr/>
              <a:lstStyle/>
              <a:p>
                <a:pPr lvl="1"/>
                <a:endParaRPr lang="en-US" sz="1600" dirty="0"/>
              </a:p>
              <a:p>
                <a:pPr lvl="1"/>
                <a:endParaRPr lang="en-US" sz="1600" dirty="0"/>
              </a:p>
              <a:p>
                <a:pPr lvl="1"/>
                <a:endParaRPr lang="en-US" sz="1600" dirty="0"/>
              </a:p>
              <a:p>
                <a:r>
                  <a:rPr lang="en-US" sz="2000" dirty="0">
                    <a:solidFill>
                      <a:srgbClr val="0000FF"/>
                    </a:solidFill>
                  </a:rPr>
                  <a:t>Transition time </a:t>
                </a:r>
                <a:r>
                  <a:rPr lang="en-US" sz="2000" dirty="0"/>
                  <a:t>(</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a:rPr>
                          <m:t>T</m:t>
                        </m:r>
                      </m:e>
                      <m:sub>
                        <m:r>
                          <m:rPr>
                            <m:sty m:val="p"/>
                          </m:rPr>
                          <a:rPr lang="en-US" sz="2000">
                            <a:latin typeface="Cambria Math"/>
                          </a:rPr>
                          <m:t>transition</m:t>
                        </m:r>
                      </m:sub>
                    </m:sSub>
                  </m:oMath>
                </a14:m>
                <a:r>
                  <a:rPr lang="en-US" sz="2000" dirty="0"/>
                  <a:t>)</a:t>
                </a:r>
              </a:p>
              <a:p>
                <a:pPr lvl="1"/>
                <a:r>
                  <a:rPr lang="en-US" sz="1600" dirty="0"/>
                  <a:t>Delay introduced  by capacitive load on driving pin (measured, not calculated)</a:t>
                </a:r>
              </a:p>
              <a:p>
                <a:r>
                  <a:rPr lang="en-US" sz="2000" dirty="0">
                    <a:solidFill>
                      <a:srgbClr val="0000FF"/>
                    </a:solidFill>
                  </a:rPr>
                  <a:t>Propagation delay </a:t>
                </a:r>
                <a:r>
                  <a:rPr lang="en-US" sz="2000" dirty="0"/>
                  <a:t>(</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a:rPr>
                          <m:t>T</m:t>
                        </m:r>
                      </m:e>
                      <m:sub>
                        <m:r>
                          <m:rPr>
                            <m:nor/>
                          </m:rPr>
                          <a:rPr lang="en-US" sz="2000" dirty="0"/>
                          <m:t>propagation</m:t>
                        </m:r>
                      </m:sub>
                    </m:sSub>
                  </m:oMath>
                </a14:m>
                <a:r>
                  <a:rPr lang="en-US" sz="2000" dirty="0"/>
                  <a:t>)</a:t>
                </a:r>
              </a:p>
              <a:p>
                <a:pPr lvl="1"/>
                <a:r>
                  <a:rPr lang="en-US" sz="1600" dirty="0"/>
                  <a:t>Time from the 50 percent input pin voltage until the gate output just begins to switch (10 percent output voltage) (measured, not calculated)</a:t>
                </a:r>
              </a:p>
              <a:p>
                <a:r>
                  <a:rPr lang="en-US" sz="2000" dirty="0">
                    <a:solidFill>
                      <a:srgbClr val="0000FF"/>
                    </a:solidFill>
                  </a:rPr>
                  <a:t>Connect Delay </a:t>
                </a:r>
                <a:r>
                  <a:rPr lang="en-US" sz="2000" dirty="0"/>
                  <a:t>(</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a:rPr>
                          <m:t>T</m:t>
                        </m:r>
                      </m:e>
                      <m:sub>
                        <m:r>
                          <m:rPr>
                            <m:sty m:val="p"/>
                          </m:rPr>
                          <a:rPr lang="en-US" sz="2000">
                            <a:latin typeface="Cambria Math"/>
                          </a:rPr>
                          <m:t>connect</m:t>
                        </m:r>
                      </m:sub>
                    </m:sSub>
                  </m:oMath>
                </a14:m>
                <a:r>
                  <a:rPr lang="en-US" sz="2000" dirty="0"/>
                  <a:t>)</a:t>
                </a:r>
              </a:p>
              <a:p>
                <a:pPr lvl="1"/>
                <a:r>
                  <a:rPr lang="en-US" sz="1600" dirty="0"/>
                  <a:t>Delay from transition of the driving pin (estimated interconnect delay)</a:t>
                </a:r>
              </a:p>
              <a:p>
                <a:r>
                  <a:rPr lang="en-US" sz="2000" dirty="0">
                    <a:solidFill>
                      <a:srgbClr val="0000FF"/>
                    </a:solidFill>
                  </a:rPr>
                  <a:t>Transition time and Propagation delay </a:t>
                </a:r>
                <a:r>
                  <a:rPr lang="en-US" sz="2000" dirty="0"/>
                  <a:t>for each cell are measured beforehand and stored in form of lookup table</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0"/>
              </p:nvPr>
            </p:nvSpPr>
            <p:spPr>
              <a:blipFill>
                <a:blip r:embed="rId2"/>
                <a:stretch>
                  <a:fillRect l="-162"/>
                </a:stretch>
              </a:blipFill>
            </p:spPr>
            <p:txBody>
              <a:bodyPr/>
              <a:lstStyle/>
              <a:p>
                <a:r>
                  <a:rPr lang="en-US">
                    <a:noFill/>
                  </a:rPr>
                  <a:t> </a:t>
                </a:r>
              </a:p>
            </p:txBody>
          </p:sp>
        </mc:Fallback>
      </mc:AlternateContent>
      <p:sp>
        <p:nvSpPr>
          <p:cNvPr id="4" name="Rectangle 3"/>
          <p:cNvSpPr/>
          <p:nvPr/>
        </p:nvSpPr>
        <p:spPr>
          <a:xfrm>
            <a:off x="3071813" y="1314451"/>
            <a:ext cx="4953000" cy="830997"/>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344487" lvl="1"/>
            <a:endParaRPr lang="en-US" sz="1600" i="1" dirty="0">
              <a:solidFill>
                <a:schemeClr val="tx1"/>
              </a:solidFill>
              <a:latin typeface="Cambria Math"/>
            </a:endParaRPr>
          </a:p>
          <a:p>
            <a:pPr marL="344487" lvl="1" algn="ctr"/>
            <a:r>
              <a:rPr lang="en-US" sz="1600" i="1" dirty="0" err="1">
                <a:solidFill>
                  <a:schemeClr val="tx1"/>
                </a:solidFill>
                <a:latin typeface="Cambria Math"/>
              </a:rPr>
              <a:t>T</a:t>
            </a:r>
            <a:r>
              <a:rPr lang="en-US" sz="1600" i="1" baseline="-25000" dirty="0" err="1">
                <a:solidFill>
                  <a:schemeClr val="tx1"/>
                </a:solidFill>
                <a:latin typeface="Cambria Math"/>
              </a:rPr>
              <a:t>total</a:t>
            </a:r>
            <a:r>
              <a:rPr lang="en-US" sz="1600" i="1" dirty="0">
                <a:solidFill>
                  <a:schemeClr val="tx1"/>
                </a:solidFill>
                <a:latin typeface="Cambria Math"/>
              </a:rPr>
              <a:t> = </a:t>
            </a:r>
            <a:r>
              <a:rPr lang="en-US" sz="1600" i="1" dirty="0" err="1">
                <a:solidFill>
                  <a:schemeClr val="tx1"/>
                </a:solidFill>
                <a:latin typeface="Cambria Math"/>
              </a:rPr>
              <a:t>T</a:t>
            </a:r>
            <a:r>
              <a:rPr lang="en-US" sz="1600" i="1" baseline="-25000" dirty="0" err="1">
                <a:solidFill>
                  <a:schemeClr val="tx1"/>
                </a:solidFill>
                <a:latin typeface="Cambria Math"/>
              </a:rPr>
              <a:t>propagation</a:t>
            </a:r>
            <a:r>
              <a:rPr lang="en-US" sz="1600" i="1" dirty="0">
                <a:solidFill>
                  <a:schemeClr val="tx1"/>
                </a:solidFill>
                <a:latin typeface="Cambria Math"/>
              </a:rPr>
              <a:t> + </a:t>
            </a:r>
            <a:r>
              <a:rPr lang="en-US" sz="1600" i="1" dirty="0" err="1">
                <a:solidFill>
                  <a:schemeClr val="tx1"/>
                </a:solidFill>
                <a:latin typeface="Cambria Math"/>
              </a:rPr>
              <a:t>T</a:t>
            </a:r>
            <a:r>
              <a:rPr lang="en-US" sz="1600" i="1" baseline="-25000" dirty="0" err="1">
                <a:solidFill>
                  <a:schemeClr val="tx1"/>
                </a:solidFill>
                <a:latin typeface="Cambria Math"/>
              </a:rPr>
              <a:t>transition</a:t>
            </a:r>
            <a:r>
              <a:rPr lang="en-US" sz="1600" i="1" dirty="0">
                <a:solidFill>
                  <a:schemeClr val="tx1"/>
                </a:solidFill>
                <a:latin typeface="Cambria Math"/>
              </a:rPr>
              <a:t> + </a:t>
            </a:r>
            <a:r>
              <a:rPr lang="en-US" sz="1600" i="1" dirty="0" err="1">
                <a:solidFill>
                  <a:schemeClr val="tx1"/>
                </a:solidFill>
                <a:latin typeface="Cambria Math"/>
              </a:rPr>
              <a:t>T</a:t>
            </a:r>
            <a:r>
              <a:rPr lang="en-US" sz="1600" i="1" baseline="-25000" dirty="0" err="1">
                <a:solidFill>
                  <a:schemeClr val="tx1"/>
                </a:solidFill>
                <a:latin typeface="Cambria Math"/>
              </a:rPr>
              <a:t>connect</a:t>
            </a:r>
            <a:endParaRPr lang="en-US" sz="1600" i="1" baseline="-25000" dirty="0">
              <a:solidFill>
                <a:schemeClr val="tx1"/>
              </a:solidFill>
              <a:latin typeface="Cambria Math"/>
            </a:endParaRPr>
          </a:p>
          <a:p>
            <a:pPr marL="344487" lvl="1"/>
            <a:endParaRPr lang="en-US" sz="1600" i="1" dirty="0">
              <a:solidFill>
                <a:schemeClr val="tx1"/>
              </a:solidFill>
              <a:latin typeface="Cambria Math"/>
            </a:endParaRPr>
          </a:p>
        </p:txBody>
      </p:sp>
    </p:spTree>
    <p:extLst>
      <p:ext uri="{BB962C8B-B14F-4D97-AF65-F5344CB8AC3E}">
        <p14:creationId xmlns:p14="http://schemas.microsoft.com/office/powerpoint/2010/main" val="958520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7AC4400-AC7C-44AF-8E7F-7629FC1364FB}"/>
              </a:ext>
            </a:extLst>
          </p:cNvPr>
          <p:cNvSpPr>
            <a:spLocks noGrp="1"/>
          </p:cNvSpPr>
          <p:nvPr>
            <p:ph type="title"/>
          </p:nvPr>
        </p:nvSpPr>
        <p:spPr/>
        <p:txBody>
          <a:bodyPr>
            <a:normAutofit/>
          </a:bodyPr>
          <a:lstStyle/>
          <a:p>
            <a:r>
              <a:rPr lang="en-US" altLang="en-US" dirty="0"/>
              <a:t>Nonlinear Delay Calculation Example</a:t>
            </a:r>
          </a:p>
        </p:txBody>
      </p:sp>
      <p:grpSp>
        <p:nvGrpSpPr>
          <p:cNvPr id="17411" name="Group 2">
            <a:extLst>
              <a:ext uri="{FF2B5EF4-FFF2-40B4-BE49-F238E27FC236}">
                <a16:creationId xmlns:a16="http://schemas.microsoft.com/office/drawing/2014/main" id="{68BEFCBD-9BD6-47C5-BE2E-98B68C1697BD}"/>
              </a:ext>
            </a:extLst>
          </p:cNvPr>
          <p:cNvGrpSpPr>
            <a:grpSpLocks/>
          </p:cNvGrpSpPr>
          <p:nvPr/>
        </p:nvGrpSpPr>
        <p:grpSpPr bwMode="auto">
          <a:xfrm>
            <a:off x="3400426" y="2090739"/>
            <a:ext cx="4697413" cy="2200275"/>
            <a:chOff x="1876728" y="2090143"/>
            <a:chExt cx="4696637" cy="2201542"/>
          </a:xfrm>
        </p:grpSpPr>
        <p:sp>
          <p:nvSpPr>
            <p:cNvPr id="17412" name="Flowchart: Delay 53">
              <a:extLst>
                <a:ext uri="{FF2B5EF4-FFF2-40B4-BE49-F238E27FC236}">
                  <a16:creationId xmlns:a16="http://schemas.microsoft.com/office/drawing/2014/main" id="{BB42E4AE-A35E-44D6-B5C6-18DC37030EEE}"/>
                </a:ext>
              </a:extLst>
            </p:cNvPr>
            <p:cNvSpPr>
              <a:spLocks noChangeArrowheads="1"/>
            </p:cNvSpPr>
            <p:nvPr/>
          </p:nvSpPr>
          <p:spPr bwMode="auto">
            <a:xfrm>
              <a:off x="3602909" y="2815223"/>
              <a:ext cx="877101" cy="687705"/>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aseline="-25000"/>
            </a:p>
          </p:txBody>
        </p:sp>
        <p:sp>
          <p:nvSpPr>
            <p:cNvPr id="17413" name="Oval 56">
              <a:extLst>
                <a:ext uri="{FF2B5EF4-FFF2-40B4-BE49-F238E27FC236}">
                  <a16:creationId xmlns:a16="http://schemas.microsoft.com/office/drawing/2014/main" id="{06EC52A1-B656-43A2-8A72-74047B0E22AB}"/>
                </a:ext>
              </a:extLst>
            </p:cNvPr>
            <p:cNvSpPr>
              <a:spLocks noChangeArrowheads="1"/>
            </p:cNvSpPr>
            <p:nvPr/>
          </p:nvSpPr>
          <p:spPr bwMode="auto">
            <a:xfrm>
              <a:off x="4488579" y="3060831"/>
              <a:ext cx="194912" cy="196488"/>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17414" name="Straight Connector 36">
              <a:extLst>
                <a:ext uri="{FF2B5EF4-FFF2-40B4-BE49-F238E27FC236}">
                  <a16:creationId xmlns:a16="http://schemas.microsoft.com/office/drawing/2014/main" id="{38F89576-628A-47F9-88D6-D8008931EFFE}"/>
                </a:ext>
              </a:extLst>
            </p:cNvPr>
            <p:cNvCxnSpPr>
              <a:cxnSpLocks noChangeShapeType="1"/>
            </p:cNvCxnSpPr>
            <p:nvPr/>
          </p:nvCxnSpPr>
          <p:spPr bwMode="auto">
            <a:xfrm>
              <a:off x="4680177" y="3159075"/>
              <a:ext cx="497765" cy="0"/>
            </a:xfrm>
            <a:prstGeom prst="line">
              <a:avLst/>
            </a:prstGeom>
            <a:noFill/>
            <a:ln w="9525" algn="ctr">
              <a:solidFill>
                <a:schemeClr val="tx1"/>
              </a:solidFill>
              <a:round/>
              <a:headEnd/>
              <a:tailEnd/>
            </a:ln>
          </p:spPr>
        </p:cxnSp>
        <p:sp>
          <p:nvSpPr>
            <p:cNvPr id="17415" name="Isosceles Triangle 77">
              <a:extLst>
                <a:ext uri="{FF2B5EF4-FFF2-40B4-BE49-F238E27FC236}">
                  <a16:creationId xmlns:a16="http://schemas.microsoft.com/office/drawing/2014/main" id="{24B1B501-E16E-4891-965B-477DBC97FFE3}"/>
                </a:ext>
              </a:extLst>
            </p:cNvPr>
            <p:cNvSpPr>
              <a:spLocks noChangeArrowheads="1"/>
            </p:cNvSpPr>
            <p:nvPr/>
          </p:nvSpPr>
          <p:spPr bwMode="auto">
            <a:xfrm rot="5400000">
              <a:off x="1882346" y="2256804"/>
              <a:ext cx="531422" cy="54265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17416" name="Straight Connector 30">
              <a:extLst>
                <a:ext uri="{FF2B5EF4-FFF2-40B4-BE49-F238E27FC236}">
                  <a16:creationId xmlns:a16="http://schemas.microsoft.com/office/drawing/2014/main" id="{7D22312B-C201-4DF1-B05F-876CBDB6934B}"/>
                </a:ext>
              </a:extLst>
            </p:cNvPr>
            <p:cNvCxnSpPr>
              <a:cxnSpLocks noChangeShapeType="1"/>
              <a:stCxn id="17415" idx="3"/>
            </p:cNvCxnSpPr>
            <p:nvPr/>
          </p:nvCxnSpPr>
          <p:spPr bwMode="auto">
            <a:xfrm flipV="1">
              <a:off x="1876728" y="2525397"/>
              <a:ext cx="365022" cy="2736"/>
            </a:xfrm>
            <a:prstGeom prst="line">
              <a:avLst/>
            </a:prstGeom>
            <a:noFill/>
            <a:ln w="9525" algn="ctr">
              <a:solidFill>
                <a:schemeClr val="tx1"/>
              </a:solidFill>
              <a:round/>
              <a:headEnd/>
              <a:tailEnd type="triangle" w="med" len="med"/>
            </a:ln>
          </p:spPr>
        </p:cxnSp>
        <p:cxnSp>
          <p:nvCxnSpPr>
            <p:cNvPr id="17417" name="Straight Connector 31">
              <a:extLst>
                <a:ext uri="{FF2B5EF4-FFF2-40B4-BE49-F238E27FC236}">
                  <a16:creationId xmlns:a16="http://schemas.microsoft.com/office/drawing/2014/main" id="{C531455C-FAEE-4D1A-ADD1-E6846B08CC31}"/>
                </a:ext>
              </a:extLst>
            </p:cNvPr>
            <p:cNvCxnSpPr>
              <a:cxnSpLocks noChangeShapeType="1"/>
            </p:cNvCxnSpPr>
            <p:nvPr/>
          </p:nvCxnSpPr>
          <p:spPr bwMode="auto">
            <a:xfrm>
              <a:off x="2548107" y="2528133"/>
              <a:ext cx="376526" cy="0"/>
            </a:xfrm>
            <a:prstGeom prst="line">
              <a:avLst/>
            </a:prstGeom>
            <a:noFill/>
            <a:ln w="9525" algn="ctr">
              <a:solidFill>
                <a:schemeClr val="tx1"/>
              </a:solidFill>
              <a:round/>
              <a:headEnd/>
              <a:tailEnd/>
            </a:ln>
          </p:spPr>
        </p:cxnSp>
        <p:sp>
          <p:nvSpPr>
            <p:cNvPr id="17418" name="Isosceles Triangle 77">
              <a:extLst>
                <a:ext uri="{FF2B5EF4-FFF2-40B4-BE49-F238E27FC236}">
                  <a16:creationId xmlns:a16="http://schemas.microsoft.com/office/drawing/2014/main" id="{B7BCB1AF-BDC8-4664-ACB8-2755745334D8}"/>
                </a:ext>
              </a:extLst>
            </p:cNvPr>
            <p:cNvSpPr>
              <a:spLocks noChangeArrowheads="1"/>
            </p:cNvSpPr>
            <p:nvPr/>
          </p:nvSpPr>
          <p:spPr bwMode="auto">
            <a:xfrm rot="5400000">
              <a:off x="5902906" y="2486262"/>
              <a:ext cx="531422" cy="54265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17419" name="Straight Connector 26">
              <a:extLst>
                <a:ext uri="{FF2B5EF4-FFF2-40B4-BE49-F238E27FC236}">
                  <a16:creationId xmlns:a16="http://schemas.microsoft.com/office/drawing/2014/main" id="{B30032B1-4215-45E7-9236-C58461515FCA}"/>
                </a:ext>
              </a:extLst>
            </p:cNvPr>
            <p:cNvCxnSpPr>
              <a:cxnSpLocks noChangeShapeType="1"/>
            </p:cNvCxnSpPr>
            <p:nvPr/>
          </p:nvCxnSpPr>
          <p:spPr bwMode="auto">
            <a:xfrm>
              <a:off x="5184170" y="2757590"/>
              <a:ext cx="703592" cy="1"/>
            </a:xfrm>
            <a:prstGeom prst="line">
              <a:avLst/>
            </a:prstGeom>
            <a:noFill/>
            <a:ln w="9525" algn="ctr">
              <a:solidFill>
                <a:schemeClr val="tx1"/>
              </a:solidFill>
              <a:round/>
              <a:headEnd/>
              <a:tailEnd/>
            </a:ln>
          </p:spPr>
        </p:cxnSp>
        <p:cxnSp>
          <p:nvCxnSpPr>
            <p:cNvPr id="17420" name="Straight Connector 7">
              <a:extLst>
                <a:ext uri="{FF2B5EF4-FFF2-40B4-BE49-F238E27FC236}">
                  <a16:creationId xmlns:a16="http://schemas.microsoft.com/office/drawing/2014/main" id="{28041179-B159-457C-831D-E1CFA31E3130}"/>
                </a:ext>
              </a:extLst>
            </p:cNvPr>
            <p:cNvCxnSpPr>
              <a:cxnSpLocks noChangeShapeType="1"/>
            </p:cNvCxnSpPr>
            <p:nvPr/>
          </p:nvCxnSpPr>
          <p:spPr bwMode="auto">
            <a:xfrm>
              <a:off x="5181572" y="2754853"/>
              <a:ext cx="7371" cy="927876"/>
            </a:xfrm>
            <a:prstGeom prst="line">
              <a:avLst/>
            </a:prstGeom>
            <a:noFill/>
            <a:ln w="9525" algn="ctr">
              <a:solidFill>
                <a:schemeClr val="tx1"/>
              </a:solidFill>
              <a:round/>
              <a:headEnd/>
              <a:tailEnd/>
            </a:ln>
          </p:spPr>
        </p:cxnSp>
        <p:cxnSp>
          <p:nvCxnSpPr>
            <p:cNvPr id="17421" name="Straight Connector 8">
              <a:extLst>
                <a:ext uri="{FF2B5EF4-FFF2-40B4-BE49-F238E27FC236}">
                  <a16:creationId xmlns:a16="http://schemas.microsoft.com/office/drawing/2014/main" id="{51009849-B490-4415-9531-41A204578461}"/>
                </a:ext>
              </a:extLst>
            </p:cNvPr>
            <p:cNvCxnSpPr>
              <a:cxnSpLocks noChangeShapeType="1"/>
            </p:cNvCxnSpPr>
            <p:nvPr/>
          </p:nvCxnSpPr>
          <p:spPr bwMode="auto">
            <a:xfrm flipV="1">
              <a:off x="5179461" y="3679993"/>
              <a:ext cx="661830" cy="2736"/>
            </a:xfrm>
            <a:prstGeom prst="line">
              <a:avLst/>
            </a:prstGeom>
            <a:noFill/>
            <a:ln w="9525" algn="ctr">
              <a:solidFill>
                <a:schemeClr val="tx1"/>
              </a:solidFill>
              <a:round/>
              <a:headEnd/>
              <a:tailEnd/>
            </a:ln>
          </p:spPr>
        </p:cxnSp>
        <p:cxnSp>
          <p:nvCxnSpPr>
            <p:cNvPr id="17422" name="Straight Connector 9">
              <a:extLst>
                <a:ext uri="{FF2B5EF4-FFF2-40B4-BE49-F238E27FC236}">
                  <a16:creationId xmlns:a16="http://schemas.microsoft.com/office/drawing/2014/main" id="{48B3247C-60DD-4B3B-9676-D2F16A6F3E77}"/>
                </a:ext>
              </a:extLst>
            </p:cNvPr>
            <p:cNvCxnSpPr>
              <a:cxnSpLocks noChangeShapeType="1"/>
            </p:cNvCxnSpPr>
            <p:nvPr/>
          </p:nvCxnSpPr>
          <p:spPr bwMode="auto">
            <a:xfrm>
              <a:off x="2919870" y="2099156"/>
              <a:ext cx="7371" cy="927876"/>
            </a:xfrm>
            <a:prstGeom prst="line">
              <a:avLst/>
            </a:prstGeom>
            <a:noFill/>
            <a:ln w="9525" algn="ctr">
              <a:solidFill>
                <a:schemeClr val="tx1"/>
              </a:solidFill>
              <a:round/>
              <a:headEnd/>
              <a:tailEnd/>
            </a:ln>
          </p:spPr>
        </p:cxnSp>
        <p:cxnSp>
          <p:nvCxnSpPr>
            <p:cNvPr id="17423" name="Straight Connector 10">
              <a:extLst>
                <a:ext uri="{FF2B5EF4-FFF2-40B4-BE49-F238E27FC236}">
                  <a16:creationId xmlns:a16="http://schemas.microsoft.com/office/drawing/2014/main" id="{897C9D28-A54F-4D50-9238-7CF688FB853B}"/>
                </a:ext>
              </a:extLst>
            </p:cNvPr>
            <p:cNvCxnSpPr>
              <a:cxnSpLocks noChangeShapeType="1"/>
            </p:cNvCxnSpPr>
            <p:nvPr/>
          </p:nvCxnSpPr>
          <p:spPr bwMode="auto">
            <a:xfrm>
              <a:off x="2924633" y="3023301"/>
              <a:ext cx="676852" cy="0"/>
            </a:xfrm>
            <a:prstGeom prst="line">
              <a:avLst/>
            </a:prstGeom>
            <a:noFill/>
            <a:ln w="9525" algn="ctr">
              <a:solidFill>
                <a:schemeClr val="tx1"/>
              </a:solidFill>
              <a:round/>
              <a:headEnd/>
              <a:tailEnd/>
            </a:ln>
          </p:spPr>
        </p:cxnSp>
        <p:cxnSp>
          <p:nvCxnSpPr>
            <p:cNvPr id="17424" name="Straight Connector 11">
              <a:extLst>
                <a:ext uri="{FF2B5EF4-FFF2-40B4-BE49-F238E27FC236}">
                  <a16:creationId xmlns:a16="http://schemas.microsoft.com/office/drawing/2014/main" id="{312C709E-C0FA-41CF-AE69-5907D05D4F79}"/>
                </a:ext>
              </a:extLst>
            </p:cNvPr>
            <p:cNvCxnSpPr>
              <a:cxnSpLocks noChangeShapeType="1"/>
            </p:cNvCxnSpPr>
            <p:nvPr/>
          </p:nvCxnSpPr>
          <p:spPr bwMode="auto">
            <a:xfrm flipV="1">
              <a:off x="2919870" y="2106393"/>
              <a:ext cx="661830" cy="2736"/>
            </a:xfrm>
            <a:prstGeom prst="line">
              <a:avLst/>
            </a:prstGeom>
            <a:noFill/>
            <a:ln w="9525" algn="ctr">
              <a:solidFill>
                <a:schemeClr val="tx1"/>
              </a:solidFill>
              <a:round/>
              <a:headEnd/>
              <a:tailEnd/>
            </a:ln>
          </p:spPr>
        </p:cxnSp>
        <p:sp>
          <p:nvSpPr>
            <p:cNvPr id="13" name="Arc 12">
              <a:extLst>
                <a:ext uri="{FF2B5EF4-FFF2-40B4-BE49-F238E27FC236}">
                  <a16:creationId xmlns:a16="http://schemas.microsoft.com/office/drawing/2014/main" id="{FB8261F5-6959-463B-8AA4-278D3FCF93AA}"/>
                </a:ext>
              </a:extLst>
            </p:cNvPr>
            <p:cNvSpPr/>
            <p:nvPr/>
          </p:nvSpPr>
          <p:spPr bwMode="auto">
            <a:xfrm rot="11062129">
              <a:off x="3670307" y="2957417"/>
              <a:ext cx="1436451" cy="233496"/>
            </a:xfrm>
            <a:prstGeom prst="arc">
              <a:avLst/>
            </a:prstGeom>
            <a:noFill/>
            <a:ln w="9525" cap="flat" cmpd="sng" algn="ctr">
              <a:solidFill>
                <a:schemeClr val="tx1"/>
              </a:solidFill>
              <a:prstDash val="solid"/>
              <a:round/>
              <a:headEnd type="triangle" w="med" len="med"/>
              <a:tailEnd type="none" w="med" len="med"/>
            </a:ln>
            <a:effectLst/>
          </p:spPr>
          <p:txBody>
            <a:bodyPr anchor="ctr"/>
            <a:lstStyle/>
            <a:p>
              <a:pPr algn="ctr" eaLnBrk="1" hangingPunct="1">
                <a:defRPr/>
              </a:pPr>
              <a:endParaRPr lang="en-US">
                <a:latin typeface="Arial" charset="0"/>
                <a:cs typeface="Arial" charset="0"/>
              </a:endParaRPr>
            </a:p>
          </p:txBody>
        </p:sp>
        <p:cxnSp>
          <p:nvCxnSpPr>
            <p:cNvPr id="17426" name="Straight Arrow Connector 13">
              <a:extLst>
                <a:ext uri="{FF2B5EF4-FFF2-40B4-BE49-F238E27FC236}">
                  <a16:creationId xmlns:a16="http://schemas.microsoft.com/office/drawing/2014/main" id="{7DB2E7FD-5FC9-48E8-BA6D-4218BFC91297}"/>
                </a:ext>
              </a:extLst>
            </p:cNvPr>
            <p:cNvCxnSpPr>
              <a:cxnSpLocks noChangeShapeType="1"/>
            </p:cNvCxnSpPr>
            <p:nvPr/>
          </p:nvCxnSpPr>
          <p:spPr bwMode="auto">
            <a:xfrm flipV="1">
              <a:off x="4912062" y="3747932"/>
              <a:ext cx="309987" cy="293140"/>
            </a:xfrm>
            <a:prstGeom prst="straightConnector1">
              <a:avLst/>
            </a:prstGeom>
            <a:noFill/>
            <a:ln w="19050" algn="ctr">
              <a:solidFill>
                <a:schemeClr val="tx1"/>
              </a:solidFill>
              <a:round/>
              <a:headEnd/>
              <a:tailEnd type="triangle" w="med" len="med"/>
            </a:ln>
          </p:spPr>
        </p:cxnSp>
        <p:sp>
          <p:nvSpPr>
            <p:cNvPr id="17427" name="TextBox 14">
              <a:extLst>
                <a:ext uri="{FF2B5EF4-FFF2-40B4-BE49-F238E27FC236}">
                  <a16:creationId xmlns:a16="http://schemas.microsoft.com/office/drawing/2014/main" id="{F048129C-271D-4C88-8528-A0ECE603E2B9}"/>
                </a:ext>
              </a:extLst>
            </p:cNvPr>
            <p:cNvSpPr txBox="1">
              <a:spLocks noChangeArrowheads="1"/>
            </p:cNvSpPr>
            <p:nvPr/>
          </p:nvSpPr>
          <p:spPr bwMode="auto">
            <a:xfrm>
              <a:off x="4818844" y="4003417"/>
              <a:ext cx="53732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net n1</a:t>
              </a:r>
            </a:p>
          </p:txBody>
        </p:sp>
        <p:sp>
          <p:nvSpPr>
            <p:cNvPr id="17428" name="TextBox 15">
              <a:extLst>
                <a:ext uri="{FF2B5EF4-FFF2-40B4-BE49-F238E27FC236}">
                  <a16:creationId xmlns:a16="http://schemas.microsoft.com/office/drawing/2014/main" id="{60BD1F1E-4085-4B85-A178-1357C250A5D5}"/>
                </a:ext>
              </a:extLst>
            </p:cNvPr>
            <p:cNvSpPr txBox="1">
              <a:spLocks noChangeArrowheads="1"/>
            </p:cNvSpPr>
            <p:nvPr/>
          </p:nvSpPr>
          <p:spPr bwMode="auto">
            <a:xfrm>
              <a:off x="4776116" y="2882157"/>
              <a:ext cx="46358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a:t>C</a:t>
              </a:r>
              <a:r>
                <a:rPr lang="en-US" altLang="en-US" sz="1200" baseline="-25000"/>
                <a:t>total</a:t>
              </a:r>
              <a:endParaRPr lang="en-US" altLang="en-US" baseline="-25000"/>
            </a:p>
          </p:txBody>
        </p:sp>
        <p:sp>
          <p:nvSpPr>
            <p:cNvPr id="17" name="TextBox 16">
              <a:extLst>
                <a:ext uri="{FF2B5EF4-FFF2-40B4-BE49-F238E27FC236}">
                  <a16:creationId xmlns:a16="http://schemas.microsoft.com/office/drawing/2014/main" id="{B9AF8BBF-0E95-4E40-B610-BED4450CB2D8}"/>
                </a:ext>
              </a:extLst>
            </p:cNvPr>
            <p:cNvSpPr txBox="1"/>
            <p:nvPr/>
          </p:nvSpPr>
          <p:spPr>
            <a:xfrm>
              <a:off x="2057673" y="2090143"/>
              <a:ext cx="339669" cy="254146"/>
            </a:xfrm>
            <a:prstGeom prst="rect">
              <a:avLst/>
            </a:prstGeom>
            <a:noFill/>
          </p:spPr>
          <p:txBody>
            <a:bodyPr wrap="none">
              <a:spAutoFit/>
            </a:bodyPr>
            <a:lstStyle/>
            <a:p>
              <a:pPr algn="ctr" eaLnBrk="1" hangingPunct="1">
                <a:defRPr/>
              </a:pPr>
              <a:r>
                <a:rPr lang="en-US" sz="1050" dirty="0">
                  <a:latin typeface="Arial" charset="0"/>
                  <a:cs typeface="Arial" charset="0"/>
                </a:rPr>
                <a:t>G</a:t>
              </a:r>
              <a:r>
                <a:rPr lang="en-US" sz="1050" baseline="-25000" dirty="0">
                  <a:latin typeface="Arial" charset="0"/>
                  <a:cs typeface="Arial" charset="0"/>
                </a:rPr>
                <a:t>1</a:t>
              </a:r>
            </a:p>
          </p:txBody>
        </p:sp>
        <p:sp>
          <p:nvSpPr>
            <p:cNvPr id="18" name="TextBox 17">
              <a:extLst>
                <a:ext uri="{FF2B5EF4-FFF2-40B4-BE49-F238E27FC236}">
                  <a16:creationId xmlns:a16="http://schemas.microsoft.com/office/drawing/2014/main" id="{67EB204F-6B68-490E-98A0-55572A5A4A4F}"/>
                </a:ext>
              </a:extLst>
            </p:cNvPr>
            <p:cNvSpPr txBox="1"/>
            <p:nvPr/>
          </p:nvSpPr>
          <p:spPr>
            <a:xfrm>
              <a:off x="3871886" y="2525368"/>
              <a:ext cx="338081" cy="254146"/>
            </a:xfrm>
            <a:prstGeom prst="rect">
              <a:avLst/>
            </a:prstGeom>
            <a:noFill/>
          </p:spPr>
          <p:txBody>
            <a:bodyPr wrap="none">
              <a:spAutoFit/>
            </a:bodyPr>
            <a:lstStyle/>
            <a:p>
              <a:pPr algn="ctr" eaLnBrk="1" hangingPunct="1">
                <a:defRPr/>
              </a:pPr>
              <a:r>
                <a:rPr lang="en-US" sz="1050" dirty="0">
                  <a:latin typeface="Arial" charset="0"/>
                  <a:cs typeface="Arial" charset="0"/>
                </a:rPr>
                <a:t>G</a:t>
              </a:r>
              <a:r>
                <a:rPr lang="en-US" sz="1050" baseline="-25000" dirty="0">
                  <a:latin typeface="Arial" charset="0"/>
                  <a:cs typeface="Arial" charset="0"/>
                </a:rPr>
                <a:t>2</a:t>
              </a:r>
              <a:endParaRPr lang="en-US" baseline="-25000" dirty="0">
                <a:latin typeface="Arial" charset="0"/>
                <a:cs typeface="Arial" charset="0"/>
              </a:endParaRPr>
            </a:p>
          </p:txBody>
        </p:sp>
        <p:sp>
          <p:nvSpPr>
            <p:cNvPr id="19" name="TextBox 18">
              <a:extLst>
                <a:ext uri="{FF2B5EF4-FFF2-40B4-BE49-F238E27FC236}">
                  <a16:creationId xmlns:a16="http://schemas.microsoft.com/office/drawing/2014/main" id="{965C4BC9-FB8F-40C8-9B45-62F61CEA50A5}"/>
                </a:ext>
              </a:extLst>
            </p:cNvPr>
            <p:cNvSpPr txBox="1"/>
            <p:nvPr/>
          </p:nvSpPr>
          <p:spPr>
            <a:xfrm>
              <a:off x="6052751" y="2253749"/>
              <a:ext cx="339669" cy="254146"/>
            </a:xfrm>
            <a:prstGeom prst="rect">
              <a:avLst/>
            </a:prstGeom>
            <a:noFill/>
          </p:spPr>
          <p:txBody>
            <a:bodyPr wrap="none">
              <a:spAutoFit/>
            </a:bodyPr>
            <a:lstStyle/>
            <a:p>
              <a:pPr algn="ctr" eaLnBrk="1" hangingPunct="1">
                <a:defRPr/>
              </a:pPr>
              <a:r>
                <a:rPr lang="en-US" sz="1050" dirty="0">
                  <a:latin typeface="Arial" charset="0"/>
                  <a:cs typeface="Arial" charset="0"/>
                </a:rPr>
                <a:t>G</a:t>
              </a:r>
              <a:r>
                <a:rPr lang="en-US" sz="1050" baseline="-25000" dirty="0">
                  <a:latin typeface="Arial" charset="0"/>
                  <a:cs typeface="Arial" charset="0"/>
                </a:rPr>
                <a:t>3</a:t>
              </a:r>
            </a:p>
          </p:txBody>
        </p:sp>
        <p:sp>
          <p:nvSpPr>
            <p:cNvPr id="20" name="TextBox 19">
              <a:extLst>
                <a:ext uri="{FF2B5EF4-FFF2-40B4-BE49-F238E27FC236}">
                  <a16:creationId xmlns:a16="http://schemas.microsoft.com/office/drawing/2014/main" id="{02DEB275-46E6-43D0-9C96-5665097443FE}"/>
                </a:ext>
              </a:extLst>
            </p:cNvPr>
            <p:cNvSpPr txBox="1"/>
            <p:nvPr/>
          </p:nvSpPr>
          <p:spPr>
            <a:xfrm>
              <a:off x="3129701" y="3682729"/>
              <a:ext cx="442473" cy="277000"/>
            </a:xfrm>
            <a:prstGeom prst="rect">
              <a:avLst/>
            </a:prstGeom>
            <a:pattFill prst="lgGrid">
              <a:fgClr>
                <a:schemeClr val="tx1"/>
              </a:fgClr>
              <a:bgClr>
                <a:schemeClr val="bg1"/>
              </a:bgClr>
            </a:pattFill>
            <a:ln>
              <a:solidFill>
                <a:schemeClr val="tx1"/>
              </a:solidFill>
            </a:ln>
            <a:effectLst>
              <a:glow rad="127000">
                <a:schemeClr val="bg1"/>
              </a:glow>
            </a:effectLst>
            <a:scene3d>
              <a:camera prst="orthographicFront"/>
              <a:lightRig rig="threePt" dir="t"/>
            </a:scene3d>
            <a:sp3d extrusionH="76200" contourW="12700">
              <a:extrusionClr>
                <a:schemeClr val="bg1"/>
              </a:extrusionClr>
              <a:contourClr>
                <a:schemeClr val="bg1"/>
              </a:contourClr>
            </a:sp3d>
          </p:spPr>
          <p:txBody>
            <a:bodyPr>
              <a:spAutoFit/>
            </a:bodyPr>
            <a:lstStyle/>
            <a:p>
              <a:pPr algn="ctr" eaLnBrk="1" hangingPunct="1">
                <a:defRPr/>
              </a:pPr>
              <a:r>
                <a:rPr lang="en-US" sz="1200" b="1" dirty="0">
                  <a:latin typeface="Arial" charset="0"/>
                  <a:cs typeface="Arial" charset="0"/>
                </a:rPr>
                <a:t>P</a:t>
              </a:r>
              <a:endParaRPr lang="en-US" b="1" dirty="0">
                <a:latin typeface="Arial" charset="0"/>
                <a:cs typeface="Arial" charset="0"/>
              </a:endParaRPr>
            </a:p>
          </p:txBody>
        </p:sp>
        <p:sp>
          <p:nvSpPr>
            <p:cNvPr id="21" name="TextBox 20">
              <a:extLst>
                <a:ext uri="{FF2B5EF4-FFF2-40B4-BE49-F238E27FC236}">
                  <a16:creationId xmlns:a16="http://schemas.microsoft.com/office/drawing/2014/main" id="{E25A2F4A-4BFF-47A6-A03F-E7701664A43E}"/>
                </a:ext>
              </a:extLst>
            </p:cNvPr>
            <p:cNvSpPr txBox="1"/>
            <p:nvPr/>
          </p:nvSpPr>
          <p:spPr>
            <a:xfrm>
              <a:off x="3916491" y="3682729"/>
              <a:ext cx="442473" cy="277000"/>
            </a:xfrm>
            <a:prstGeom prst="rect">
              <a:avLst/>
            </a:prstGeom>
            <a:pattFill prst="lgGrid">
              <a:fgClr>
                <a:schemeClr val="tx1"/>
              </a:fgClr>
              <a:bgClr>
                <a:schemeClr val="bg1"/>
              </a:bgClr>
            </a:pattFill>
            <a:ln>
              <a:solidFill>
                <a:schemeClr val="tx1"/>
              </a:solidFill>
            </a:ln>
            <a:effectLst>
              <a:glow rad="127000">
                <a:schemeClr val="bg1"/>
              </a:glow>
            </a:effectLst>
            <a:scene3d>
              <a:camera prst="orthographicFront"/>
              <a:lightRig rig="threePt" dir="t"/>
            </a:scene3d>
            <a:sp3d extrusionH="76200" contourW="12700">
              <a:extrusionClr>
                <a:schemeClr val="bg1"/>
              </a:extrusionClr>
              <a:contourClr>
                <a:schemeClr val="bg1"/>
              </a:contourClr>
            </a:sp3d>
          </p:spPr>
          <p:txBody>
            <a:bodyPr>
              <a:spAutoFit/>
            </a:bodyPr>
            <a:lstStyle/>
            <a:p>
              <a:pPr algn="ctr" eaLnBrk="1" hangingPunct="1">
                <a:defRPr/>
              </a:pPr>
              <a:r>
                <a:rPr lang="en-US" sz="1200" b="1" dirty="0">
                  <a:latin typeface="Arial" charset="0"/>
                  <a:cs typeface="Arial" charset="0"/>
                </a:rPr>
                <a:t>T</a:t>
              </a:r>
            </a:p>
          </p:txBody>
        </p:sp>
        <p:sp>
          <p:nvSpPr>
            <p:cNvPr id="22" name="TextBox 21">
              <a:extLst>
                <a:ext uri="{FF2B5EF4-FFF2-40B4-BE49-F238E27FC236}">
                  <a16:creationId xmlns:a16="http://schemas.microsoft.com/office/drawing/2014/main" id="{084BECE1-A04B-4702-BA97-A19FCC7EEDB0}"/>
                </a:ext>
              </a:extLst>
            </p:cNvPr>
            <p:cNvSpPr txBox="1"/>
            <p:nvPr/>
          </p:nvSpPr>
          <p:spPr>
            <a:xfrm>
              <a:off x="2096888" y="2894707"/>
              <a:ext cx="442473" cy="277000"/>
            </a:xfrm>
            <a:prstGeom prst="rect">
              <a:avLst/>
            </a:prstGeom>
            <a:pattFill prst="lgGrid">
              <a:fgClr>
                <a:schemeClr val="tx1"/>
              </a:fgClr>
              <a:bgClr>
                <a:schemeClr val="bg1"/>
              </a:bgClr>
            </a:pattFill>
            <a:ln>
              <a:solidFill>
                <a:schemeClr val="tx1"/>
              </a:solidFill>
            </a:ln>
            <a:effectLst>
              <a:glow rad="127000">
                <a:schemeClr val="bg1"/>
              </a:glow>
            </a:effectLst>
            <a:scene3d>
              <a:camera prst="orthographicFront"/>
              <a:lightRig rig="threePt" dir="t"/>
            </a:scene3d>
            <a:sp3d extrusionH="76200" contourW="12700">
              <a:extrusionClr>
                <a:schemeClr val="bg1"/>
              </a:extrusionClr>
              <a:contourClr>
                <a:schemeClr val="bg1"/>
              </a:contourClr>
            </a:sp3d>
          </p:spPr>
          <p:txBody>
            <a:bodyPr>
              <a:spAutoFit/>
            </a:bodyPr>
            <a:lstStyle/>
            <a:p>
              <a:pPr algn="ctr" eaLnBrk="1" hangingPunct="1">
                <a:defRPr/>
              </a:pPr>
              <a:r>
                <a:rPr lang="en-US" sz="1200" b="1" dirty="0">
                  <a:latin typeface="Arial" charset="0"/>
                  <a:cs typeface="Arial" charset="0"/>
                </a:rPr>
                <a:t>T</a:t>
              </a:r>
            </a:p>
          </p:txBody>
        </p:sp>
        <p:sp>
          <p:nvSpPr>
            <p:cNvPr id="17441" name="TextBox 22">
              <a:extLst>
                <a:ext uri="{FF2B5EF4-FFF2-40B4-BE49-F238E27FC236}">
                  <a16:creationId xmlns:a16="http://schemas.microsoft.com/office/drawing/2014/main" id="{B7FDC0AF-B5E7-4839-B829-72E60C98CE15}"/>
                </a:ext>
              </a:extLst>
            </p:cNvPr>
            <p:cNvSpPr txBox="1">
              <a:spLocks noChangeArrowheads="1"/>
            </p:cNvSpPr>
            <p:nvPr/>
          </p:nvSpPr>
          <p:spPr bwMode="auto">
            <a:xfrm>
              <a:off x="2134724" y="3218887"/>
              <a:ext cx="3914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rise</a:t>
              </a:r>
            </a:p>
          </p:txBody>
        </p:sp>
        <p:sp>
          <p:nvSpPr>
            <p:cNvPr id="17442" name="TextBox 23">
              <a:extLst>
                <a:ext uri="{FF2B5EF4-FFF2-40B4-BE49-F238E27FC236}">
                  <a16:creationId xmlns:a16="http://schemas.microsoft.com/office/drawing/2014/main" id="{12796ADD-0A9B-4195-A36A-B094323F420E}"/>
                </a:ext>
              </a:extLst>
            </p:cNvPr>
            <p:cNvSpPr txBox="1">
              <a:spLocks noChangeArrowheads="1"/>
            </p:cNvSpPr>
            <p:nvPr/>
          </p:nvSpPr>
          <p:spPr bwMode="auto">
            <a:xfrm>
              <a:off x="3169617" y="4024076"/>
              <a:ext cx="3481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fall</a:t>
              </a:r>
            </a:p>
          </p:txBody>
        </p:sp>
        <p:sp>
          <p:nvSpPr>
            <p:cNvPr id="17443" name="TextBox 24">
              <a:extLst>
                <a:ext uri="{FF2B5EF4-FFF2-40B4-BE49-F238E27FC236}">
                  <a16:creationId xmlns:a16="http://schemas.microsoft.com/office/drawing/2014/main" id="{5FFA5129-8962-443D-9E6A-14F9A78A18E9}"/>
                </a:ext>
              </a:extLst>
            </p:cNvPr>
            <p:cNvSpPr txBox="1">
              <a:spLocks noChangeArrowheads="1"/>
            </p:cNvSpPr>
            <p:nvPr/>
          </p:nvSpPr>
          <p:spPr bwMode="auto">
            <a:xfrm>
              <a:off x="3978382" y="4045464"/>
              <a:ext cx="3481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fall</a:t>
              </a:r>
            </a:p>
          </p:txBody>
        </p:sp>
        <p:sp>
          <p:nvSpPr>
            <p:cNvPr id="17444" name="Oval 56">
              <a:extLst>
                <a:ext uri="{FF2B5EF4-FFF2-40B4-BE49-F238E27FC236}">
                  <a16:creationId xmlns:a16="http://schemas.microsoft.com/office/drawing/2014/main" id="{53E5F776-5112-4CC5-AAF6-D9DE3911C5C1}"/>
                </a:ext>
              </a:extLst>
            </p:cNvPr>
            <p:cNvSpPr>
              <a:spLocks noChangeArrowheads="1"/>
            </p:cNvSpPr>
            <p:nvPr/>
          </p:nvSpPr>
          <p:spPr bwMode="auto">
            <a:xfrm>
              <a:off x="2419904" y="2460884"/>
              <a:ext cx="133419" cy="134498"/>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7445" name="Oval 56">
              <a:extLst>
                <a:ext uri="{FF2B5EF4-FFF2-40B4-BE49-F238E27FC236}">
                  <a16:creationId xmlns:a16="http://schemas.microsoft.com/office/drawing/2014/main" id="{8150C888-0F8C-4BC7-B367-F40C8226321D}"/>
                </a:ext>
              </a:extLst>
            </p:cNvPr>
            <p:cNvSpPr>
              <a:spLocks noChangeArrowheads="1"/>
            </p:cNvSpPr>
            <p:nvPr/>
          </p:nvSpPr>
          <p:spPr bwMode="auto">
            <a:xfrm>
              <a:off x="6439946" y="2690341"/>
              <a:ext cx="133419" cy="134498"/>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D5A1FF9-5BCC-4DE4-8A04-738BFE6D9C4A}"/>
              </a:ext>
            </a:extLst>
          </p:cNvPr>
          <p:cNvSpPr>
            <a:spLocks noGrp="1"/>
          </p:cNvSpPr>
          <p:nvPr>
            <p:ph type="title"/>
          </p:nvPr>
        </p:nvSpPr>
        <p:spPr/>
        <p:txBody>
          <a:bodyPr/>
          <a:lstStyle/>
          <a:p>
            <a:r>
              <a:rPr lang="en-US" altLang="en-US"/>
              <a:t>Two-dimensional Interpolation</a:t>
            </a:r>
          </a:p>
        </p:txBody>
      </p:sp>
      <p:grpSp>
        <p:nvGrpSpPr>
          <p:cNvPr id="18435" name="Group 61">
            <a:extLst>
              <a:ext uri="{FF2B5EF4-FFF2-40B4-BE49-F238E27FC236}">
                <a16:creationId xmlns:a16="http://schemas.microsoft.com/office/drawing/2014/main" id="{DF28EAAD-40A0-4F9D-91ED-5C3614767DDD}"/>
              </a:ext>
            </a:extLst>
          </p:cNvPr>
          <p:cNvGrpSpPr>
            <a:grpSpLocks/>
          </p:cNvGrpSpPr>
          <p:nvPr/>
        </p:nvGrpSpPr>
        <p:grpSpPr bwMode="auto">
          <a:xfrm>
            <a:off x="2872740" y="1516655"/>
            <a:ext cx="5973762" cy="4191000"/>
            <a:chOff x="1295400" y="1219200"/>
            <a:chExt cx="5973762" cy="4191000"/>
          </a:xfrm>
        </p:grpSpPr>
        <p:sp>
          <p:nvSpPr>
            <p:cNvPr id="3" name="Rectangle 2">
              <a:extLst>
                <a:ext uri="{FF2B5EF4-FFF2-40B4-BE49-F238E27FC236}">
                  <a16:creationId xmlns:a16="http://schemas.microsoft.com/office/drawing/2014/main" id="{BAA54608-3DA8-4D17-AAA8-9955DBD99F3C}"/>
                </a:ext>
              </a:extLst>
            </p:cNvPr>
            <p:cNvSpPr/>
            <p:nvPr/>
          </p:nvSpPr>
          <p:spPr bwMode="auto">
            <a:xfrm>
              <a:off x="1295400" y="1219200"/>
              <a:ext cx="5867400" cy="4191000"/>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sz="1200"/>
            </a:p>
          </p:txBody>
        </p:sp>
        <p:grpSp>
          <p:nvGrpSpPr>
            <p:cNvPr id="18437" name="Group 3">
              <a:extLst>
                <a:ext uri="{FF2B5EF4-FFF2-40B4-BE49-F238E27FC236}">
                  <a16:creationId xmlns:a16="http://schemas.microsoft.com/office/drawing/2014/main" id="{A7410B18-80F2-4A47-B248-0D0254EAD539}"/>
                </a:ext>
              </a:extLst>
            </p:cNvPr>
            <p:cNvGrpSpPr>
              <a:grpSpLocks/>
            </p:cNvGrpSpPr>
            <p:nvPr/>
          </p:nvGrpSpPr>
          <p:grpSpPr bwMode="auto">
            <a:xfrm>
              <a:off x="1504950" y="1470025"/>
              <a:ext cx="5764212" cy="3763963"/>
              <a:chOff x="912912" y="1412670"/>
              <a:chExt cx="5764212" cy="3763963"/>
            </a:xfrm>
          </p:grpSpPr>
          <p:cxnSp>
            <p:nvCxnSpPr>
              <p:cNvPr id="18438" name="Straight Arrow Connector 4">
                <a:extLst>
                  <a:ext uri="{FF2B5EF4-FFF2-40B4-BE49-F238E27FC236}">
                    <a16:creationId xmlns:a16="http://schemas.microsoft.com/office/drawing/2014/main" id="{DB817AA6-7192-4521-8D3E-C24C7DB50BA2}"/>
                  </a:ext>
                </a:extLst>
              </p:cNvPr>
              <p:cNvCxnSpPr>
                <a:cxnSpLocks noChangeShapeType="1"/>
              </p:cNvCxnSpPr>
              <p:nvPr/>
            </p:nvCxnSpPr>
            <p:spPr bwMode="auto">
              <a:xfrm>
                <a:off x="2915816" y="3645024"/>
                <a:ext cx="3024336" cy="0"/>
              </a:xfrm>
              <a:prstGeom prst="straightConnector1">
                <a:avLst/>
              </a:prstGeom>
              <a:noFill/>
              <a:ln w="25400" algn="ctr">
                <a:solidFill>
                  <a:schemeClr val="tx1"/>
                </a:solidFill>
                <a:round/>
                <a:headEnd/>
                <a:tailEnd type="triangle" w="med" len="med"/>
              </a:ln>
            </p:spPr>
          </p:cxnSp>
          <p:cxnSp>
            <p:nvCxnSpPr>
              <p:cNvPr id="18439" name="Straight Arrow Connector 5">
                <a:extLst>
                  <a:ext uri="{FF2B5EF4-FFF2-40B4-BE49-F238E27FC236}">
                    <a16:creationId xmlns:a16="http://schemas.microsoft.com/office/drawing/2014/main" id="{C8E6EE42-C89C-4A7E-90DC-E6E4F5324F55}"/>
                  </a:ext>
                </a:extLst>
              </p:cNvPr>
              <p:cNvCxnSpPr>
                <a:cxnSpLocks noChangeShapeType="1"/>
              </p:cNvCxnSpPr>
              <p:nvPr/>
            </p:nvCxnSpPr>
            <p:spPr bwMode="auto">
              <a:xfrm flipV="1">
                <a:off x="2915816" y="1484784"/>
                <a:ext cx="0" cy="2160240"/>
              </a:xfrm>
              <a:prstGeom prst="straightConnector1">
                <a:avLst/>
              </a:prstGeom>
              <a:noFill/>
              <a:ln w="25400" algn="ctr">
                <a:solidFill>
                  <a:schemeClr val="tx1"/>
                </a:solidFill>
                <a:round/>
                <a:headEnd/>
                <a:tailEnd type="triangle" w="med" len="med"/>
              </a:ln>
            </p:spPr>
          </p:cxnSp>
          <p:cxnSp>
            <p:nvCxnSpPr>
              <p:cNvPr id="18440" name="Straight Arrow Connector 6">
                <a:extLst>
                  <a:ext uri="{FF2B5EF4-FFF2-40B4-BE49-F238E27FC236}">
                    <a16:creationId xmlns:a16="http://schemas.microsoft.com/office/drawing/2014/main" id="{D71993F8-1D3B-4872-B343-6625F89D4E46}"/>
                  </a:ext>
                </a:extLst>
              </p:cNvPr>
              <p:cNvCxnSpPr>
                <a:cxnSpLocks noChangeShapeType="1"/>
              </p:cNvCxnSpPr>
              <p:nvPr/>
            </p:nvCxnSpPr>
            <p:spPr bwMode="auto">
              <a:xfrm flipH="1">
                <a:off x="1259632" y="3645024"/>
                <a:ext cx="1656184" cy="1512168"/>
              </a:xfrm>
              <a:prstGeom prst="straightConnector1">
                <a:avLst/>
              </a:prstGeom>
              <a:noFill/>
              <a:ln w="25400" algn="ctr">
                <a:solidFill>
                  <a:schemeClr val="tx1"/>
                </a:solidFill>
                <a:round/>
                <a:headEnd/>
                <a:tailEnd type="triangle" w="med" len="med"/>
              </a:ln>
            </p:spPr>
          </p:cxnSp>
          <p:cxnSp>
            <p:nvCxnSpPr>
              <p:cNvPr id="18441" name="Straight Arrow Connector 7">
                <a:extLst>
                  <a:ext uri="{FF2B5EF4-FFF2-40B4-BE49-F238E27FC236}">
                    <a16:creationId xmlns:a16="http://schemas.microsoft.com/office/drawing/2014/main" id="{F1E493BD-2152-4B3E-A45C-C82249525E14}"/>
                  </a:ext>
                </a:extLst>
              </p:cNvPr>
              <p:cNvCxnSpPr>
                <a:cxnSpLocks noChangeShapeType="1"/>
              </p:cNvCxnSpPr>
              <p:nvPr/>
            </p:nvCxnSpPr>
            <p:spPr bwMode="auto">
              <a:xfrm flipH="1">
                <a:off x="1671489" y="3645024"/>
                <a:ext cx="1656184" cy="1512168"/>
              </a:xfrm>
              <a:prstGeom prst="straightConnector1">
                <a:avLst/>
              </a:prstGeom>
              <a:noFill/>
              <a:ln w="9525" algn="ctr">
                <a:solidFill>
                  <a:schemeClr val="tx1"/>
                </a:solidFill>
                <a:round/>
                <a:headEnd/>
                <a:tailEnd/>
              </a:ln>
            </p:spPr>
          </p:cxnSp>
          <p:cxnSp>
            <p:nvCxnSpPr>
              <p:cNvPr id="18442" name="Straight Arrow Connector 8">
                <a:extLst>
                  <a:ext uri="{FF2B5EF4-FFF2-40B4-BE49-F238E27FC236}">
                    <a16:creationId xmlns:a16="http://schemas.microsoft.com/office/drawing/2014/main" id="{B52E5CA7-036B-4FFE-9A56-9554B8FFFB47}"/>
                  </a:ext>
                </a:extLst>
              </p:cNvPr>
              <p:cNvCxnSpPr>
                <a:cxnSpLocks noChangeShapeType="1"/>
              </p:cNvCxnSpPr>
              <p:nvPr/>
            </p:nvCxnSpPr>
            <p:spPr bwMode="auto">
              <a:xfrm flipH="1">
                <a:off x="2051720" y="3645024"/>
                <a:ext cx="1656184" cy="1512168"/>
              </a:xfrm>
              <a:prstGeom prst="straightConnector1">
                <a:avLst/>
              </a:prstGeom>
              <a:noFill/>
              <a:ln w="9525" algn="ctr">
                <a:solidFill>
                  <a:schemeClr val="tx1"/>
                </a:solidFill>
                <a:round/>
                <a:headEnd/>
                <a:tailEnd/>
              </a:ln>
            </p:spPr>
          </p:cxnSp>
          <p:cxnSp>
            <p:nvCxnSpPr>
              <p:cNvPr id="18443" name="Straight Arrow Connector 9">
                <a:extLst>
                  <a:ext uri="{FF2B5EF4-FFF2-40B4-BE49-F238E27FC236}">
                    <a16:creationId xmlns:a16="http://schemas.microsoft.com/office/drawing/2014/main" id="{FC9F8A39-542D-4331-B58F-855829042BFF}"/>
                  </a:ext>
                </a:extLst>
              </p:cNvPr>
              <p:cNvCxnSpPr>
                <a:cxnSpLocks noChangeShapeType="1"/>
              </p:cNvCxnSpPr>
              <p:nvPr/>
            </p:nvCxnSpPr>
            <p:spPr bwMode="auto">
              <a:xfrm flipH="1">
                <a:off x="2483768" y="3645024"/>
                <a:ext cx="1656184" cy="1512168"/>
              </a:xfrm>
              <a:prstGeom prst="straightConnector1">
                <a:avLst/>
              </a:prstGeom>
              <a:noFill/>
              <a:ln w="9525" algn="ctr">
                <a:solidFill>
                  <a:schemeClr val="tx1"/>
                </a:solidFill>
                <a:round/>
                <a:headEnd/>
                <a:tailEnd/>
              </a:ln>
            </p:spPr>
          </p:cxnSp>
          <p:cxnSp>
            <p:nvCxnSpPr>
              <p:cNvPr id="18444" name="Straight Arrow Connector 10">
                <a:extLst>
                  <a:ext uri="{FF2B5EF4-FFF2-40B4-BE49-F238E27FC236}">
                    <a16:creationId xmlns:a16="http://schemas.microsoft.com/office/drawing/2014/main" id="{8C2EF805-0ADD-4F4C-BB7B-886E82D5462C}"/>
                  </a:ext>
                </a:extLst>
              </p:cNvPr>
              <p:cNvCxnSpPr>
                <a:cxnSpLocks noChangeShapeType="1"/>
              </p:cNvCxnSpPr>
              <p:nvPr/>
            </p:nvCxnSpPr>
            <p:spPr bwMode="auto">
              <a:xfrm flipH="1">
                <a:off x="2915816" y="3645024"/>
                <a:ext cx="1656184" cy="1512168"/>
              </a:xfrm>
              <a:prstGeom prst="straightConnector1">
                <a:avLst/>
              </a:prstGeom>
              <a:noFill/>
              <a:ln w="9525" algn="ctr">
                <a:solidFill>
                  <a:schemeClr val="tx1"/>
                </a:solidFill>
                <a:round/>
                <a:headEnd/>
                <a:tailEnd/>
              </a:ln>
            </p:spPr>
          </p:cxnSp>
          <p:cxnSp>
            <p:nvCxnSpPr>
              <p:cNvPr id="18445" name="Straight Arrow Connector 11">
                <a:extLst>
                  <a:ext uri="{FF2B5EF4-FFF2-40B4-BE49-F238E27FC236}">
                    <a16:creationId xmlns:a16="http://schemas.microsoft.com/office/drawing/2014/main" id="{6A133029-9FE7-4283-A4A4-A345DCE072F4}"/>
                  </a:ext>
                </a:extLst>
              </p:cNvPr>
              <p:cNvCxnSpPr>
                <a:cxnSpLocks noChangeShapeType="1"/>
              </p:cNvCxnSpPr>
              <p:nvPr/>
            </p:nvCxnSpPr>
            <p:spPr bwMode="auto">
              <a:xfrm flipH="1">
                <a:off x="3557414" y="3645024"/>
                <a:ext cx="1656184" cy="1512168"/>
              </a:xfrm>
              <a:prstGeom prst="straightConnector1">
                <a:avLst/>
              </a:prstGeom>
              <a:noFill/>
              <a:ln w="9525" algn="ctr">
                <a:solidFill>
                  <a:schemeClr val="tx1"/>
                </a:solidFill>
                <a:round/>
                <a:headEnd/>
                <a:tailEnd/>
              </a:ln>
            </p:spPr>
          </p:cxnSp>
          <p:cxnSp>
            <p:nvCxnSpPr>
              <p:cNvPr id="18446" name="Straight Arrow Connector 12">
                <a:extLst>
                  <a:ext uri="{FF2B5EF4-FFF2-40B4-BE49-F238E27FC236}">
                    <a16:creationId xmlns:a16="http://schemas.microsoft.com/office/drawing/2014/main" id="{4CD79D1B-7DD7-4D2F-A8D8-BBFA2CE3EDE8}"/>
                  </a:ext>
                </a:extLst>
              </p:cNvPr>
              <p:cNvCxnSpPr>
                <a:cxnSpLocks noChangeShapeType="1"/>
              </p:cNvCxnSpPr>
              <p:nvPr/>
            </p:nvCxnSpPr>
            <p:spPr bwMode="auto">
              <a:xfrm>
                <a:off x="2618259" y="3933056"/>
                <a:ext cx="3024336" cy="0"/>
              </a:xfrm>
              <a:prstGeom prst="straightConnector1">
                <a:avLst/>
              </a:prstGeom>
              <a:noFill/>
              <a:ln w="9525" algn="ctr">
                <a:solidFill>
                  <a:schemeClr val="tx1"/>
                </a:solidFill>
                <a:round/>
                <a:headEnd/>
                <a:tailEnd/>
              </a:ln>
            </p:spPr>
          </p:cxnSp>
          <p:cxnSp>
            <p:nvCxnSpPr>
              <p:cNvPr id="18447" name="Straight Arrow Connector 13">
                <a:extLst>
                  <a:ext uri="{FF2B5EF4-FFF2-40B4-BE49-F238E27FC236}">
                    <a16:creationId xmlns:a16="http://schemas.microsoft.com/office/drawing/2014/main" id="{29A72F98-23D3-43EE-AB3C-FBDDE301DD36}"/>
                  </a:ext>
                </a:extLst>
              </p:cNvPr>
              <p:cNvCxnSpPr>
                <a:cxnSpLocks noChangeShapeType="1"/>
              </p:cNvCxnSpPr>
              <p:nvPr/>
            </p:nvCxnSpPr>
            <p:spPr bwMode="auto">
              <a:xfrm>
                <a:off x="2296319" y="4221088"/>
                <a:ext cx="3024336" cy="0"/>
              </a:xfrm>
              <a:prstGeom prst="straightConnector1">
                <a:avLst/>
              </a:prstGeom>
              <a:noFill/>
              <a:ln w="9525" algn="ctr">
                <a:solidFill>
                  <a:schemeClr val="tx1"/>
                </a:solidFill>
                <a:round/>
                <a:headEnd/>
                <a:tailEnd/>
              </a:ln>
            </p:spPr>
          </p:cxnSp>
          <p:cxnSp>
            <p:nvCxnSpPr>
              <p:cNvPr id="18448" name="Straight Arrow Connector 14">
                <a:extLst>
                  <a:ext uri="{FF2B5EF4-FFF2-40B4-BE49-F238E27FC236}">
                    <a16:creationId xmlns:a16="http://schemas.microsoft.com/office/drawing/2014/main" id="{54B74CD5-8FC2-4E46-819F-3CBB900AA467}"/>
                  </a:ext>
                </a:extLst>
              </p:cNvPr>
              <p:cNvCxnSpPr>
                <a:cxnSpLocks noChangeShapeType="1"/>
              </p:cNvCxnSpPr>
              <p:nvPr/>
            </p:nvCxnSpPr>
            <p:spPr bwMode="auto">
              <a:xfrm>
                <a:off x="2123728" y="4365104"/>
                <a:ext cx="3024336" cy="0"/>
              </a:xfrm>
              <a:prstGeom prst="straightConnector1">
                <a:avLst/>
              </a:prstGeom>
              <a:noFill/>
              <a:ln w="9525" algn="ctr">
                <a:solidFill>
                  <a:schemeClr val="tx1"/>
                </a:solidFill>
                <a:round/>
                <a:headEnd/>
                <a:tailEnd/>
              </a:ln>
            </p:spPr>
          </p:cxnSp>
          <p:cxnSp>
            <p:nvCxnSpPr>
              <p:cNvPr id="18449" name="Straight Arrow Connector 15">
                <a:extLst>
                  <a:ext uri="{FF2B5EF4-FFF2-40B4-BE49-F238E27FC236}">
                    <a16:creationId xmlns:a16="http://schemas.microsoft.com/office/drawing/2014/main" id="{77017BF6-82B2-4574-ABCD-CE50811BF8A0}"/>
                  </a:ext>
                </a:extLst>
              </p:cNvPr>
              <p:cNvCxnSpPr>
                <a:cxnSpLocks noChangeShapeType="1"/>
              </p:cNvCxnSpPr>
              <p:nvPr/>
            </p:nvCxnSpPr>
            <p:spPr bwMode="auto">
              <a:xfrm>
                <a:off x="1739305" y="4725144"/>
                <a:ext cx="3024336" cy="0"/>
              </a:xfrm>
              <a:prstGeom prst="straightConnector1">
                <a:avLst/>
              </a:prstGeom>
              <a:noFill/>
              <a:ln w="9525" algn="ctr">
                <a:solidFill>
                  <a:schemeClr val="tx1"/>
                </a:solidFill>
                <a:round/>
                <a:headEnd/>
                <a:tailEnd/>
              </a:ln>
            </p:spPr>
          </p:cxnSp>
          <p:sp>
            <p:nvSpPr>
              <p:cNvPr id="17" name="Овал 109">
                <a:extLst>
                  <a:ext uri="{FF2B5EF4-FFF2-40B4-BE49-F238E27FC236}">
                    <a16:creationId xmlns:a16="http://schemas.microsoft.com/office/drawing/2014/main" id="{CA682AC4-6E5A-460C-B0B3-0F291DF185AB}"/>
                  </a:ext>
                </a:extLst>
              </p:cNvPr>
              <p:cNvSpPr/>
              <p:nvPr/>
            </p:nvSpPr>
            <p:spPr bwMode="auto">
              <a:xfrm>
                <a:off x="2990950" y="3903458"/>
                <a:ext cx="50800" cy="5238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18" name="Овал 109">
                <a:extLst>
                  <a:ext uri="{FF2B5EF4-FFF2-40B4-BE49-F238E27FC236}">
                    <a16:creationId xmlns:a16="http://schemas.microsoft.com/office/drawing/2014/main" id="{93A9A82E-E424-4F12-979E-0468C9330133}"/>
                  </a:ext>
                </a:extLst>
              </p:cNvPr>
              <p:cNvSpPr/>
              <p:nvPr/>
            </p:nvSpPr>
            <p:spPr bwMode="auto">
              <a:xfrm>
                <a:off x="3357662" y="390822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19" name="Овал 109">
                <a:extLst>
                  <a:ext uri="{FF2B5EF4-FFF2-40B4-BE49-F238E27FC236}">
                    <a16:creationId xmlns:a16="http://schemas.microsoft.com/office/drawing/2014/main" id="{7B5519FD-A7DD-483F-8348-C1EE810B6955}"/>
                  </a:ext>
                </a:extLst>
              </p:cNvPr>
              <p:cNvSpPr/>
              <p:nvPr/>
            </p:nvSpPr>
            <p:spPr bwMode="auto">
              <a:xfrm>
                <a:off x="3806925" y="390822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0" name="Овал 109">
                <a:extLst>
                  <a:ext uri="{FF2B5EF4-FFF2-40B4-BE49-F238E27FC236}">
                    <a16:creationId xmlns:a16="http://schemas.microsoft.com/office/drawing/2014/main" id="{412AE9BE-22AC-4064-B418-791822B86A89}"/>
                  </a:ext>
                </a:extLst>
              </p:cNvPr>
              <p:cNvSpPr/>
              <p:nvPr/>
            </p:nvSpPr>
            <p:spPr bwMode="auto">
              <a:xfrm>
                <a:off x="4233962" y="3903458"/>
                <a:ext cx="50800" cy="5238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1" name="Овал 109">
                <a:extLst>
                  <a:ext uri="{FF2B5EF4-FFF2-40B4-BE49-F238E27FC236}">
                    <a16:creationId xmlns:a16="http://schemas.microsoft.com/office/drawing/2014/main" id="{3091B446-3DA9-4C40-9E2F-61FE45E66FD0}"/>
                  </a:ext>
                </a:extLst>
              </p:cNvPr>
              <p:cNvSpPr/>
              <p:nvPr/>
            </p:nvSpPr>
            <p:spPr bwMode="auto">
              <a:xfrm>
                <a:off x="4875312" y="3903458"/>
                <a:ext cx="50800" cy="5238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2" name="Овал 109">
                <a:extLst>
                  <a:ext uri="{FF2B5EF4-FFF2-40B4-BE49-F238E27FC236}">
                    <a16:creationId xmlns:a16="http://schemas.microsoft.com/office/drawing/2014/main" id="{77D11A82-7CE4-4551-85AE-AD2C12A61DE0}"/>
                  </a:ext>
                </a:extLst>
              </p:cNvPr>
              <p:cNvSpPr/>
              <p:nvPr/>
            </p:nvSpPr>
            <p:spPr bwMode="auto">
              <a:xfrm>
                <a:off x="2675037" y="4197145"/>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3" name="Овал 109">
                <a:extLst>
                  <a:ext uri="{FF2B5EF4-FFF2-40B4-BE49-F238E27FC236}">
                    <a16:creationId xmlns:a16="http://schemas.microsoft.com/office/drawing/2014/main" id="{F2E067C9-6998-4545-B428-399CD9A18CAB}"/>
                  </a:ext>
                </a:extLst>
              </p:cNvPr>
              <p:cNvSpPr/>
              <p:nvPr/>
            </p:nvSpPr>
            <p:spPr bwMode="auto">
              <a:xfrm>
                <a:off x="3049687" y="420667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4" name="Овал 109">
                <a:extLst>
                  <a:ext uri="{FF2B5EF4-FFF2-40B4-BE49-F238E27FC236}">
                    <a16:creationId xmlns:a16="http://schemas.microsoft.com/office/drawing/2014/main" id="{E44C3E23-8251-4B30-9D51-1EC61A705ED2}"/>
                  </a:ext>
                </a:extLst>
              </p:cNvPr>
              <p:cNvSpPr/>
              <p:nvPr/>
            </p:nvSpPr>
            <p:spPr bwMode="auto">
              <a:xfrm>
                <a:off x="3491012" y="419873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5" name="Овал 109">
                <a:extLst>
                  <a:ext uri="{FF2B5EF4-FFF2-40B4-BE49-F238E27FC236}">
                    <a16:creationId xmlns:a16="http://schemas.microsoft.com/office/drawing/2014/main" id="{2BD8BF47-D19D-403B-8FD6-671083ED4F50}"/>
                  </a:ext>
                </a:extLst>
              </p:cNvPr>
              <p:cNvSpPr/>
              <p:nvPr/>
            </p:nvSpPr>
            <p:spPr bwMode="auto">
              <a:xfrm>
                <a:off x="3919637" y="419397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6" name="Овал 109">
                <a:extLst>
                  <a:ext uri="{FF2B5EF4-FFF2-40B4-BE49-F238E27FC236}">
                    <a16:creationId xmlns:a16="http://schemas.microsoft.com/office/drawing/2014/main" id="{A832D88A-65D7-4A56-8A90-6BADC87ED497}"/>
                  </a:ext>
                </a:extLst>
              </p:cNvPr>
              <p:cNvSpPr/>
              <p:nvPr/>
            </p:nvSpPr>
            <p:spPr bwMode="auto">
              <a:xfrm>
                <a:off x="4565750" y="4201908"/>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7" name="Овал 109">
                <a:extLst>
                  <a:ext uri="{FF2B5EF4-FFF2-40B4-BE49-F238E27FC236}">
                    <a16:creationId xmlns:a16="http://schemas.microsoft.com/office/drawing/2014/main" id="{7B9AA5AE-7A52-4B3F-8766-D41472B8216D}"/>
                  </a:ext>
                </a:extLst>
              </p:cNvPr>
              <p:cNvSpPr/>
              <p:nvPr/>
            </p:nvSpPr>
            <p:spPr bwMode="auto">
              <a:xfrm>
                <a:off x="2513112" y="433843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8" name="Овал 109">
                <a:extLst>
                  <a:ext uri="{FF2B5EF4-FFF2-40B4-BE49-F238E27FC236}">
                    <a16:creationId xmlns:a16="http://schemas.microsoft.com/office/drawing/2014/main" id="{55CD8D22-6DE0-42AD-BE0C-CA86FABE38A0}"/>
                  </a:ext>
                </a:extLst>
              </p:cNvPr>
              <p:cNvSpPr/>
              <p:nvPr/>
            </p:nvSpPr>
            <p:spPr bwMode="auto">
              <a:xfrm>
                <a:off x="2879825" y="4343195"/>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29" name="Овал 109">
                <a:extLst>
                  <a:ext uri="{FF2B5EF4-FFF2-40B4-BE49-F238E27FC236}">
                    <a16:creationId xmlns:a16="http://schemas.microsoft.com/office/drawing/2014/main" id="{09AB01F5-0EDB-4809-BD29-DD708063EE97}"/>
                  </a:ext>
                </a:extLst>
              </p:cNvPr>
              <p:cNvSpPr/>
              <p:nvPr/>
            </p:nvSpPr>
            <p:spPr bwMode="auto">
              <a:xfrm>
                <a:off x="3329087" y="4343195"/>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0" name="Овал 109">
                <a:extLst>
                  <a:ext uri="{FF2B5EF4-FFF2-40B4-BE49-F238E27FC236}">
                    <a16:creationId xmlns:a16="http://schemas.microsoft.com/office/drawing/2014/main" id="{FAB126EF-147E-4D08-9CE8-9783F9AC6F5A}"/>
                  </a:ext>
                </a:extLst>
              </p:cNvPr>
              <p:cNvSpPr/>
              <p:nvPr/>
            </p:nvSpPr>
            <p:spPr bwMode="auto">
              <a:xfrm>
                <a:off x="3756125" y="433843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1" name="Овал 109">
                <a:extLst>
                  <a:ext uri="{FF2B5EF4-FFF2-40B4-BE49-F238E27FC236}">
                    <a16:creationId xmlns:a16="http://schemas.microsoft.com/office/drawing/2014/main" id="{347824B6-D5AC-46BD-9D55-68CACE83894F}"/>
                  </a:ext>
                </a:extLst>
              </p:cNvPr>
              <p:cNvSpPr/>
              <p:nvPr/>
            </p:nvSpPr>
            <p:spPr bwMode="auto">
              <a:xfrm>
                <a:off x="4397475" y="433843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2" name="Овал 109">
                <a:extLst>
                  <a:ext uri="{FF2B5EF4-FFF2-40B4-BE49-F238E27FC236}">
                    <a16:creationId xmlns:a16="http://schemas.microsoft.com/office/drawing/2014/main" id="{9FCF0217-DC91-4524-BBB4-F3F7CA56CEBE}"/>
                  </a:ext>
                </a:extLst>
              </p:cNvPr>
              <p:cNvSpPr/>
              <p:nvPr/>
            </p:nvSpPr>
            <p:spPr bwMode="auto">
              <a:xfrm>
                <a:off x="2109887" y="469562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3" name="Овал 109">
                <a:extLst>
                  <a:ext uri="{FF2B5EF4-FFF2-40B4-BE49-F238E27FC236}">
                    <a16:creationId xmlns:a16="http://schemas.microsoft.com/office/drawing/2014/main" id="{C9F4ED84-627E-4C17-B214-EEE27E9CD3B8}"/>
                  </a:ext>
                </a:extLst>
              </p:cNvPr>
              <p:cNvSpPr/>
              <p:nvPr/>
            </p:nvSpPr>
            <p:spPr bwMode="auto">
              <a:xfrm>
                <a:off x="2476600" y="470038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4" name="Овал 109">
                <a:extLst>
                  <a:ext uri="{FF2B5EF4-FFF2-40B4-BE49-F238E27FC236}">
                    <a16:creationId xmlns:a16="http://schemas.microsoft.com/office/drawing/2014/main" id="{75AC3A18-D100-470B-A23F-BD05B6F8792B}"/>
                  </a:ext>
                </a:extLst>
              </p:cNvPr>
              <p:cNvSpPr/>
              <p:nvPr/>
            </p:nvSpPr>
            <p:spPr bwMode="auto">
              <a:xfrm>
                <a:off x="2925862" y="4700383"/>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5" name="Овал 109">
                <a:extLst>
                  <a:ext uri="{FF2B5EF4-FFF2-40B4-BE49-F238E27FC236}">
                    <a16:creationId xmlns:a16="http://schemas.microsoft.com/office/drawing/2014/main" id="{97877E0A-98D8-44E4-B569-DE19D92333AA}"/>
                  </a:ext>
                </a:extLst>
              </p:cNvPr>
              <p:cNvSpPr/>
              <p:nvPr/>
            </p:nvSpPr>
            <p:spPr bwMode="auto">
              <a:xfrm>
                <a:off x="3352900" y="469562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sp>
            <p:nvSpPr>
              <p:cNvPr id="36" name="Овал 109">
                <a:extLst>
                  <a:ext uri="{FF2B5EF4-FFF2-40B4-BE49-F238E27FC236}">
                    <a16:creationId xmlns:a16="http://schemas.microsoft.com/office/drawing/2014/main" id="{2727CB5F-F4BA-4058-AFE1-31347711A77A}"/>
                  </a:ext>
                </a:extLst>
              </p:cNvPr>
              <p:cNvSpPr/>
              <p:nvPr/>
            </p:nvSpPr>
            <p:spPr bwMode="auto">
              <a:xfrm>
                <a:off x="3994250" y="4695620"/>
                <a:ext cx="50800" cy="508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ru-RU">
                  <a:latin typeface="+mj-lt"/>
                  <a:cs typeface="Arial" charset="0"/>
                </a:endParaRPr>
              </a:p>
            </p:txBody>
          </p:sp>
          <p:cxnSp>
            <p:nvCxnSpPr>
              <p:cNvPr id="18470" name="Straight Connector 36">
                <a:extLst>
                  <a:ext uri="{FF2B5EF4-FFF2-40B4-BE49-F238E27FC236}">
                    <a16:creationId xmlns:a16="http://schemas.microsoft.com/office/drawing/2014/main" id="{72F1A704-D47B-4B4F-AEFD-0E757F71B588}"/>
                  </a:ext>
                </a:extLst>
              </p:cNvPr>
              <p:cNvCxnSpPr>
                <a:cxnSpLocks noChangeShapeType="1"/>
              </p:cNvCxnSpPr>
              <p:nvPr/>
            </p:nvCxnSpPr>
            <p:spPr bwMode="auto">
              <a:xfrm>
                <a:off x="2473205" y="4077072"/>
                <a:ext cx="1949356" cy="0"/>
              </a:xfrm>
              <a:prstGeom prst="line">
                <a:avLst/>
              </a:prstGeom>
              <a:noFill/>
              <a:ln w="19050" algn="ctr">
                <a:solidFill>
                  <a:schemeClr val="tx1"/>
                </a:solidFill>
                <a:round/>
                <a:headEnd/>
                <a:tailEnd/>
              </a:ln>
            </p:spPr>
          </p:cxnSp>
          <p:cxnSp>
            <p:nvCxnSpPr>
              <p:cNvPr id="18471" name="Straight Arrow Connector 37">
                <a:extLst>
                  <a:ext uri="{FF2B5EF4-FFF2-40B4-BE49-F238E27FC236}">
                    <a16:creationId xmlns:a16="http://schemas.microsoft.com/office/drawing/2014/main" id="{E75E7E8A-FBF2-456F-BF51-F5EE626DBCBE}"/>
                  </a:ext>
                </a:extLst>
              </p:cNvPr>
              <p:cNvCxnSpPr>
                <a:cxnSpLocks noChangeShapeType="1"/>
              </p:cNvCxnSpPr>
              <p:nvPr/>
            </p:nvCxnSpPr>
            <p:spPr bwMode="auto">
              <a:xfrm flipH="1">
                <a:off x="4419604" y="3645024"/>
                <a:ext cx="473195" cy="432048"/>
              </a:xfrm>
              <a:prstGeom prst="straightConnector1">
                <a:avLst/>
              </a:prstGeom>
              <a:noFill/>
              <a:ln w="19050" algn="ctr">
                <a:solidFill>
                  <a:schemeClr val="tx1"/>
                </a:solidFill>
                <a:round/>
                <a:headEnd/>
                <a:tailEnd/>
              </a:ln>
            </p:spPr>
          </p:cxnSp>
          <p:cxnSp>
            <p:nvCxnSpPr>
              <p:cNvPr id="18472" name="Straight Arrow Connector 38">
                <a:extLst>
                  <a:ext uri="{FF2B5EF4-FFF2-40B4-BE49-F238E27FC236}">
                    <a16:creationId xmlns:a16="http://schemas.microsoft.com/office/drawing/2014/main" id="{268C2075-76D2-46A1-AEED-0FDEF9EB4B71}"/>
                  </a:ext>
                </a:extLst>
              </p:cNvPr>
              <p:cNvCxnSpPr>
                <a:cxnSpLocks noChangeShapeType="1"/>
                <a:endCxn id="43" idx="3"/>
              </p:cNvCxnSpPr>
              <p:nvPr/>
            </p:nvCxnSpPr>
            <p:spPr bwMode="auto">
              <a:xfrm flipV="1">
                <a:off x="4255393" y="2113654"/>
                <a:ext cx="0" cy="1828929"/>
              </a:xfrm>
              <a:prstGeom prst="straightConnector1">
                <a:avLst/>
              </a:prstGeom>
              <a:noFill/>
              <a:ln w="9525" algn="ctr">
                <a:solidFill>
                  <a:schemeClr val="tx1"/>
                </a:solidFill>
                <a:round/>
                <a:headEnd/>
                <a:tailEnd/>
              </a:ln>
            </p:spPr>
          </p:cxnSp>
          <p:cxnSp>
            <p:nvCxnSpPr>
              <p:cNvPr id="18473" name="Straight Arrow Connector 39">
                <a:extLst>
                  <a:ext uri="{FF2B5EF4-FFF2-40B4-BE49-F238E27FC236}">
                    <a16:creationId xmlns:a16="http://schemas.microsoft.com/office/drawing/2014/main" id="{076F4E81-6645-4B0B-BDE6-30D6429D738C}"/>
                  </a:ext>
                </a:extLst>
              </p:cNvPr>
              <p:cNvCxnSpPr>
                <a:cxnSpLocks noChangeShapeType="1"/>
              </p:cNvCxnSpPr>
              <p:nvPr/>
            </p:nvCxnSpPr>
            <p:spPr bwMode="auto">
              <a:xfrm flipV="1">
                <a:off x="4906516" y="1660512"/>
                <a:ext cx="0" cy="2272545"/>
              </a:xfrm>
              <a:prstGeom prst="straightConnector1">
                <a:avLst/>
              </a:prstGeom>
              <a:noFill/>
              <a:ln w="9525" algn="ctr">
                <a:solidFill>
                  <a:schemeClr val="tx1"/>
                </a:solidFill>
                <a:round/>
                <a:headEnd/>
                <a:tailEnd/>
              </a:ln>
            </p:spPr>
          </p:cxnSp>
          <p:cxnSp>
            <p:nvCxnSpPr>
              <p:cNvPr id="18474" name="Straight Arrow Connector 40">
                <a:extLst>
                  <a:ext uri="{FF2B5EF4-FFF2-40B4-BE49-F238E27FC236}">
                    <a16:creationId xmlns:a16="http://schemas.microsoft.com/office/drawing/2014/main" id="{4F987408-6C64-4915-B0CB-783CB08C2B06}"/>
                  </a:ext>
                </a:extLst>
              </p:cNvPr>
              <p:cNvCxnSpPr>
                <a:cxnSpLocks noChangeShapeType="1"/>
              </p:cNvCxnSpPr>
              <p:nvPr/>
            </p:nvCxnSpPr>
            <p:spPr bwMode="auto">
              <a:xfrm flipV="1">
                <a:off x="4589909" y="2031377"/>
                <a:ext cx="0" cy="2189713"/>
              </a:xfrm>
              <a:prstGeom prst="straightConnector1">
                <a:avLst/>
              </a:prstGeom>
              <a:noFill/>
              <a:ln w="9525" algn="ctr">
                <a:solidFill>
                  <a:schemeClr val="tx1"/>
                </a:solidFill>
                <a:round/>
                <a:headEnd/>
                <a:tailEnd/>
              </a:ln>
            </p:spPr>
          </p:cxnSp>
          <p:cxnSp>
            <p:nvCxnSpPr>
              <p:cNvPr id="18475" name="Straight Arrow Connector 41">
                <a:extLst>
                  <a:ext uri="{FF2B5EF4-FFF2-40B4-BE49-F238E27FC236}">
                    <a16:creationId xmlns:a16="http://schemas.microsoft.com/office/drawing/2014/main" id="{2A40EE93-0CBC-4E34-AFE9-5E899D82AF38}"/>
                  </a:ext>
                </a:extLst>
              </p:cNvPr>
              <p:cNvCxnSpPr>
                <a:cxnSpLocks noChangeShapeType="1"/>
              </p:cNvCxnSpPr>
              <p:nvPr/>
            </p:nvCxnSpPr>
            <p:spPr bwMode="auto">
              <a:xfrm flipV="1">
                <a:off x="3952503" y="2204864"/>
                <a:ext cx="0" cy="2029941"/>
              </a:xfrm>
              <a:prstGeom prst="straightConnector1">
                <a:avLst/>
              </a:prstGeom>
              <a:noFill/>
              <a:ln w="9525" algn="ctr">
                <a:solidFill>
                  <a:schemeClr val="tx1"/>
                </a:solidFill>
                <a:round/>
                <a:headEnd/>
                <a:tailEnd/>
              </a:ln>
            </p:spPr>
          </p:cxnSp>
          <p:sp>
            <p:nvSpPr>
              <p:cNvPr id="43" name="Parallelogram 42">
                <a:extLst>
                  <a:ext uri="{FF2B5EF4-FFF2-40B4-BE49-F238E27FC236}">
                    <a16:creationId xmlns:a16="http://schemas.microsoft.com/office/drawing/2014/main" id="{4BD49283-47C0-419A-8C76-88D26C9A6AF5}"/>
                  </a:ext>
                </a:extLst>
              </p:cNvPr>
              <p:cNvSpPr/>
              <p:nvPr/>
            </p:nvSpPr>
            <p:spPr bwMode="auto">
              <a:xfrm rot="20660613">
                <a:off x="3889475" y="1800020"/>
                <a:ext cx="1073150" cy="265113"/>
              </a:xfrm>
              <a:prstGeom prst="parallelogram">
                <a:avLst>
                  <a:gd name="adj" fmla="val 150116"/>
                </a:avLst>
              </a:prstGeom>
              <a:pattFill prst="pct60">
                <a:fgClr>
                  <a:schemeClr val="tx1"/>
                </a:fgClr>
                <a:bgClr>
                  <a:schemeClr val="bg1"/>
                </a:bgClr>
              </a:patt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77" name="Straight Arrow Connector 43">
                <a:extLst>
                  <a:ext uri="{FF2B5EF4-FFF2-40B4-BE49-F238E27FC236}">
                    <a16:creationId xmlns:a16="http://schemas.microsoft.com/office/drawing/2014/main" id="{3F19466B-ABA5-4B09-B9BD-A25FE9842952}"/>
                  </a:ext>
                </a:extLst>
              </p:cNvPr>
              <p:cNvCxnSpPr>
                <a:cxnSpLocks noChangeShapeType="1"/>
              </p:cNvCxnSpPr>
              <p:nvPr/>
            </p:nvCxnSpPr>
            <p:spPr bwMode="auto">
              <a:xfrm flipV="1">
                <a:off x="4418459" y="1857375"/>
                <a:ext cx="0" cy="2220840"/>
              </a:xfrm>
              <a:prstGeom prst="straightConnector1">
                <a:avLst/>
              </a:prstGeom>
              <a:noFill/>
              <a:ln w="19050" algn="ctr">
                <a:solidFill>
                  <a:schemeClr val="tx1"/>
                </a:solidFill>
                <a:round/>
                <a:headEnd/>
                <a:tailEnd/>
              </a:ln>
            </p:spPr>
          </p:cxnSp>
          <p:sp>
            <p:nvSpPr>
              <p:cNvPr id="45" name="TextBox 44">
                <a:extLst>
                  <a:ext uri="{FF2B5EF4-FFF2-40B4-BE49-F238E27FC236}">
                    <a16:creationId xmlns:a16="http://schemas.microsoft.com/office/drawing/2014/main" id="{C731F9AD-097F-4EFB-9AFD-7063BB122C7B}"/>
                  </a:ext>
                </a:extLst>
              </p:cNvPr>
              <p:cNvSpPr txBox="1"/>
              <p:nvPr/>
            </p:nvSpPr>
            <p:spPr>
              <a:xfrm>
                <a:off x="2960786" y="1811133"/>
                <a:ext cx="1052761" cy="646331"/>
              </a:xfrm>
              <a:prstGeom prst="rect">
                <a:avLst/>
              </a:prstGeom>
              <a:noFill/>
            </p:spPr>
            <p:txBody>
              <a:bodyPr wrap="square">
                <a:spAutoFit/>
              </a:bodyPr>
              <a:lstStyle/>
              <a:p>
                <a:pPr eaLnBrk="1" hangingPunct="1">
                  <a:defRPr/>
                </a:pPr>
                <a:r>
                  <a:rPr lang="en-US" sz="1200" dirty="0">
                    <a:latin typeface="+mj-lt"/>
                    <a:cs typeface="Arial" charset="0"/>
                  </a:rPr>
                  <a:t>Fall Propagation Delay </a:t>
                </a:r>
              </a:p>
            </p:txBody>
          </p:sp>
          <p:sp>
            <p:nvSpPr>
              <p:cNvPr id="46" name="TextBox 45">
                <a:extLst>
                  <a:ext uri="{FF2B5EF4-FFF2-40B4-BE49-F238E27FC236}">
                    <a16:creationId xmlns:a16="http://schemas.microsoft.com/office/drawing/2014/main" id="{2E697129-AD44-41F6-B9C6-F9E94AA0E69E}"/>
                  </a:ext>
                </a:extLst>
              </p:cNvPr>
              <p:cNvSpPr txBox="1"/>
              <p:nvPr/>
            </p:nvSpPr>
            <p:spPr>
              <a:xfrm>
                <a:off x="5626200" y="3116058"/>
                <a:ext cx="1050924" cy="430887"/>
              </a:xfrm>
              <a:prstGeom prst="rect">
                <a:avLst/>
              </a:prstGeom>
              <a:noFill/>
            </p:spPr>
            <p:txBody>
              <a:bodyPr wrap="square">
                <a:spAutoFit/>
              </a:bodyPr>
              <a:lstStyle/>
              <a:p>
                <a:pPr eaLnBrk="1" hangingPunct="1">
                  <a:defRPr/>
                </a:pPr>
                <a:r>
                  <a:rPr lang="en-US" sz="1100" dirty="0">
                    <a:latin typeface="+mj-lt"/>
                    <a:cs typeface="Arial" charset="0"/>
                  </a:rPr>
                  <a:t>Output </a:t>
                </a:r>
              </a:p>
              <a:p>
                <a:pPr eaLnBrk="1" hangingPunct="1">
                  <a:defRPr/>
                </a:pPr>
                <a:r>
                  <a:rPr lang="en-US" sz="1100" dirty="0">
                    <a:latin typeface="+mj-lt"/>
                    <a:cs typeface="Arial" charset="0"/>
                  </a:rPr>
                  <a:t>Capacitance</a:t>
                </a:r>
              </a:p>
            </p:txBody>
          </p:sp>
          <p:sp>
            <p:nvSpPr>
              <p:cNvPr id="47" name="TextBox 46">
                <a:extLst>
                  <a:ext uri="{FF2B5EF4-FFF2-40B4-BE49-F238E27FC236}">
                    <a16:creationId xmlns:a16="http://schemas.microsoft.com/office/drawing/2014/main" id="{D5EEFD50-93F3-4F6C-A298-6C777CBDCDD1}"/>
                  </a:ext>
                </a:extLst>
              </p:cNvPr>
              <p:cNvSpPr txBox="1"/>
              <p:nvPr/>
            </p:nvSpPr>
            <p:spPr>
              <a:xfrm>
                <a:off x="912912" y="4114595"/>
                <a:ext cx="846138" cy="600164"/>
              </a:xfrm>
              <a:prstGeom prst="rect">
                <a:avLst/>
              </a:prstGeom>
              <a:noFill/>
            </p:spPr>
            <p:txBody>
              <a:bodyPr>
                <a:spAutoFit/>
              </a:bodyPr>
              <a:lstStyle/>
              <a:p>
                <a:pPr eaLnBrk="1" hangingPunct="1">
                  <a:defRPr/>
                </a:pPr>
                <a:r>
                  <a:rPr lang="en-US" sz="1100" dirty="0">
                    <a:latin typeface="+mj-lt"/>
                    <a:cs typeface="Arial" charset="0"/>
                  </a:rPr>
                  <a:t>Input</a:t>
                </a:r>
              </a:p>
              <a:p>
                <a:pPr eaLnBrk="1" hangingPunct="1">
                  <a:defRPr/>
                </a:pPr>
                <a:r>
                  <a:rPr lang="en-US" sz="1100" dirty="0">
                    <a:latin typeface="+mj-lt"/>
                    <a:cs typeface="Arial" charset="0"/>
                  </a:rPr>
                  <a:t>Transition</a:t>
                </a:r>
              </a:p>
              <a:p>
                <a:pPr eaLnBrk="1" hangingPunct="1">
                  <a:defRPr/>
                </a:pPr>
                <a:r>
                  <a:rPr lang="en-US" sz="1100" dirty="0">
                    <a:latin typeface="+mj-lt"/>
                    <a:cs typeface="Arial" charset="0"/>
                  </a:rPr>
                  <a:t>Time</a:t>
                </a:r>
              </a:p>
            </p:txBody>
          </p:sp>
          <p:sp>
            <p:nvSpPr>
              <p:cNvPr id="48" name="TextBox 47">
                <a:extLst>
                  <a:ext uri="{FF2B5EF4-FFF2-40B4-BE49-F238E27FC236}">
                    <a16:creationId xmlns:a16="http://schemas.microsoft.com/office/drawing/2014/main" id="{9C5704D7-29A2-48F0-B909-3930CDF0F3E8}"/>
                  </a:ext>
                </a:extLst>
              </p:cNvPr>
              <p:cNvSpPr txBox="1"/>
              <p:nvPr/>
            </p:nvSpPr>
            <p:spPr>
              <a:xfrm>
                <a:off x="1012925" y="4868658"/>
                <a:ext cx="277812" cy="307975"/>
              </a:xfrm>
              <a:prstGeom prst="rect">
                <a:avLst/>
              </a:prstGeom>
              <a:noFill/>
            </p:spPr>
            <p:txBody>
              <a:bodyPr>
                <a:spAutoFit/>
              </a:bodyPr>
              <a:lstStyle/>
              <a:p>
                <a:pPr eaLnBrk="1" hangingPunct="1">
                  <a:defRPr/>
                </a:pPr>
                <a:r>
                  <a:rPr lang="en-US" sz="1400" b="1" dirty="0">
                    <a:latin typeface="+mj-lt"/>
                    <a:cs typeface="Arial" charset="0"/>
                  </a:rPr>
                  <a:t>x</a:t>
                </a:r>
              </a:p>
            </p:txBody>
          </p:sp>
          <p:sp>
            <p:nvSpPr>
              <p:cNvPr id="49" name="TextBox 48">
                <a:extLst>
                  <a:ext uri="{FF2B5EF4-FFF2-40B4-BE49-F238E27FC236}">
                    <a16:creationId xmlns:a16="http://schemas.microsoft.com/office/drawing/2014/main" id="{40D085E9-AFF1-47FA-B383-55CD14CEA770}"/>
                  </a:ext>
                </a:extLst>
              </p:cNvPr>
              <p:cNvSpPr txBox="1"/>
              <p:nvPr/>
            </p:nvSpPr>
            <p:spPr>
              <a:xfrm>
                <a:off x="6050062" y="3528808"/>
                <a:ext cx="277813" cy="307975"/>
              </a:xfrm>
              <a:prstGeom prst="rect">
                <a:avLst/>
              </a:prstGeom>
              <a:noFill/>
            </p:spPr>
            <p:txBody>
              <a:bodyPr>
                <a:spAutoFit/>
              </a:bodyPr>
              <a:lstStyle/>
              <a:p>
                <a:pPr eaLnBrk="1" hangingPunct="1">
                  <a:defRPr/>
                </a:pPr>
                <a:r>
                  <a:rPr lang="en-US" sz="1400" b="1" dirty="0">
                    <a:latin typeface="+mj-lt"/>
                    <a:cs typeface="Arial" charset="0"/>
                  </a:rPr>
                  <a:t>y</a:t>
                </a:r>
                <a:endParaRPr lang="en-US" sz="1200" b="1" dirty="0">
                  <a:latin typeface="+mj-lt"/>
                  <a:cs typeface="Arial" charset="0"/>
                </a:endParaRPr>
              </a:p>
            </p:txBody>
          </p:sp>
          <p:sp>
            <p:nvSpPr>
              <p:cNvPr id="50" name="TextBox 49">
                <a:extLst>
                  <a:ext uri="{FF2B5EF4-FFF2-40B4-BE49-F238E27FC236}">
                    <a16:creationId xmlns:a16="http://schemas.microsoft.com/office/drawing/2014/main" id="{D5F74AB7-D678-414B-82C3-C0CC7DA8971A}"/>
                  </a:ext>
                </a:extLst>
              </p:cNvPr>
              <p:cNvSpPr txBox="1"/>
              <p:nvPr/>
            </p:nvSpPr>
            <p:spPr>
              <a:xfrm>
                <a:off x="2563912" y="1412670"/>
                <a:ext cx="279400" cy="307975"/>
              </a:xfrm>
              <a:prstGeom prst="rect">
                <a:avLst/>
              </a:prstGeom>
              <a:noFill/>
            </p:spPr>
            <p:txBody>
              <a:bodyPr>
                <a:spAutoFit/>
              </a:bodyPr>
              <a:lstStyle/>
              <a:p>
                <a:pPr eaLnBrk="1" hangingPunct="1">
                  <a:defRPr/>
                </a:pPr>
                <a:r>
                  <a:rPr lang="en-US" sz="1400" b="1" dirty="0">
                    <a:latin typeface="+mj-lt"/>
                    <a:cs typeface="Arial" charset="0"/>
                  </a:rPr>
                  <a:t>z</a:t>
                </a:r>
                <a:endParaRPr lang="en-US" sz="1200" b="1" dirty="0">
                  <a:latin typeface="+mj-lt"/>
                  <a:cs typeface="Arial" charset="0"/>
                </a:endParaRPr>
              </a:p>
            </p:txBody>
          </p:sp>
          <p:sp>
            <p:nvSpPr>
              <p:cNvPr id="51" name="TextBox 50">
                <a:extLst>
                  <a:ext uri="{FF2B5EF4-FFF2-40B4-BE49-F238E27FC236}">
                    <a16:creationId xmlns:a16="http://schemas.microsoft.com/office/drawing/2014/main" id="{70D9F68E-71BA-416A-9C82-B615E0FCBBBE}"/>
                  </a:ext>
                </a:extLst>
              </p:cNvPr>
              <p:cNvSpPr txBox="1"/>
              <p:nvPr/>
            </p:nvSpPr>
            <p:spPr>
              <a:xfrm flipH="1">
                <a:off x="2190850" y="3730420"/>
                <a:ext cx="719137" cy="261938"/>
              </a:xfrm>
              <a:prstGeom prst="rect">
                <a:avLst/>
              </a:prstGeom>
              <a:noFill/>
            </p:spPr>
            <p:txBody>
              <a:bodyPr>
                <a:spAutoFit/>
              </a:bodyPr>
              <a:lstStyle/>
              <a:p>
                <a:pPr eaLnBrk="1" hangingPunct="1">
                  <a:defRPr/>
                </a:pPr>
                <a:r>
                  <a:rPr lang="en-US" sz="1050" dirty="0">
                    <a:latin typeface="+mj-lt"/>
                    <a:cs typeface="Arial" charset="0"/>
                  </a:rPr>
                  <a:t>0.20</a:t>
                </a:r>
                <a:endParaRPr lang="en-US" sz="1000" dirty="0">
                  <a:latin typeface="+mj-lt"/>
                  <a:cs typeface="Arial" charset="0"/>
                </a:endParaRPr>
              </a:p>
            </p:txBody>
          </p:sp>
          <p:sp>
            <p:nvSpPr>
              <p:cNvPr id="52" name="TextBox 51">
                <a:extLst>
                  <a:ext uri="{FF2B5EF4-FFF2-40B4-BE49-F238E27FC236}">
                    <a16:creationId xmlns:a16="http://schemas.microsoft.com/office/drawing/2014/main" id="{780275EF-5F15-4521-AFFF-CFC61D2F525F}"/>
                  </a:ext>
                </a:extLst>
              </p:cNvPr>
              <p:cNvSpPr txBox="1"/>
              <p:nvPr/>
            </p:nvSpPr>
            <p:spPr>
              <a:xfrm flipH="1">
                <a:off x="2033687" y="3879645"/>
                <a:ext cx="719138" cy="260350"/>
              </a:xfrm>
              <a:prstGeom prst="rect">
                <a:avLst/>
              </a:prstGeom>
              <a:noFill/>
            </p:spPr>
            <p:txBody>
              <a:bodyPr>
                <a:spAutoFit/>
              </a:bodyPr>
              <a:lstStyle/>
              <a:p>
                <a:pPr eaLnBrk="1" hangingPunct="1">
                  <a:defRPr/>
                </a:pPr>
                <a:r>
                  <a:rPr lang="en-US" sz="1050" dirty="0">
                    <a:latin typeface="+mj-lt"/>
                    <a:cs typeface="Arial" charset="0"/>
                  </a:rPr>
                  <a:t>0.34</a:t>
                </a:r>
                <a:endParaRPr lang="en-US" sz="1000" dirty="0">
                  <a:latin typeface="+mj-lt"/>
                  <a:cs typeface="Arial" charset="0"/>
                </a:endParaRPr>
              </a:p>
            </p:txBody>
          </p:sp>
          <p:sp>
            <p:nvSpPr>
              <p:cNvPr id="53" name="TextBox 52">
                <a:extLst>
                  <a:ext uri="{FF2B5EF4-FFF2-40B4-BE49-F238E27FC236}">
                    <a16:creationId xmlns:a16="http://schemas.microsoft.com/office/drawing/2014/main" id="{ACACE182-0993-421C-A7AE-99289CFB745D}"/>
                  </a:ext>
                </a:extLst>
              </p:cNvPr>
              <p:cNvSpPr txBox="1"/>
              <p:nvPr/>
            </p:nvSpPr>
            <p:spPr>
              <a:xfrm flipH="1">
                <a:off x="1851125" y="4009820"/>
                <a:ext cx="719137" cy="261938"/>
              </a:xfrm>
              <a:prstGeom prst="rect">
                <a:avLst/>
              </a:prstGeom>
              <a:noFill/>
            </p:spPr>
            <p:txBody>
              <a:bodyPr>
                <a:spAutoFit/>
              </a:bodyPr>
              <a:lstStyle/>
              <a:p>
                <a:pPr eaLnBrk="1" hangingPunct="1">
                  <a:defRPr/>
                </a:pPr>
                <a:r>
                  <a:rPr lang="en-US" sz="1050" dirty="0">
                    <a:latin typeface="+mj-lt"/>
                    <a:cs typeface="Arial" charset="0"/>
                  </a:rPr>
                  <a:t>0.56</a:t>
                </a:r>
                <a:endParaRPr lang="en-US" sz="1000" dirty="0">
                  <a:latin typeface="+mj-lt"/>
                  <a:cs typeface="Arial" charset="0"/>
                </a:endParaRPr>
              </a:p>
            </p:txBody>
          </p:sp>
          <p:sp>
            <p:nvSpPr>
              <p:cNvPr id="54" name="TextBox 53">
                <a:extLst>
                  <a:ext uri="{FF2B5EF4-FFF2-40B4-BE49-F238E27FC236}">
                    <a16:creationId xmlns:a16="http://schemas.microsoft.com/office/drawing/2014/main" id="{A5391C77-E6F0-4D52-9B2E-E98B95B74520}"/>
                  </a:ext>
                </a:extLst>
              </p:cNvPr>
              <p:cNvSpPr txBox="1"/>
              <p:nvPr/>
            </p:nvSpPr>
            <p:spPr>
              <a:xfrm flipH="1">
                <a:off x="1692375" y="4222545"/>
                <a:ext cx="719137" cy="261938"/>
              </a:xfrm>
              <a:prstGeom prst="rect">
                <a:avLst/>
              </a:prstGeom>
              <a:noFill/>
            </p:spPr>
            <p:txBody>
              <a:bodyPr>
                <a:spAutoFit/>
              </a:bodyPr>
              <a:lstStyle/>
              <a:p>
                <a:pPr eaLnBrk="1" hangingPunct="1">
                  <a:defRPr/>
                </a:pPr>
                <a:r>
                  <a:rPr lang="en-US" sz="1050" dirty="0">
                    <a:latin typeface="+mj-lt"/>
                    <a:cs typeface="Arial" charset="0"/>
                  </a:rPr>
                  <a:t>0.72</a:t>
                </a:r>
                <a:endParaRPr lang="en-US" sz="1000" dirty="0">
                  <a:latin typeface="+mj-lt"/>
                  <a:cs typeface="Arial" charset="0"/>
                </a:endParaRPr>
              </a:p>
            </p:txBody>
          </p:sp>
          <p:sp>
            <p:nvSpPr>
              <p:cNvPr id="55" name="TextBox 54">
                <a:extLst>
                  <a:ext uri="{FF2B5EF4-FFF2-40B4-BE49-F238E27FC236}">
                    <a16:creationId xmlns:a16="http://schemas.microsoft.com/office/drawing/2014/main" id="{21858C39-BE38-4B0E-91F1-44A75646659E}"/>
                  </a:ext>
                </a:extLst>
              </p:cNvPr>
              <p:cNvSpPr txBox="1"/>
              <p:nvPr/>
            </p:nvSpPr>
            <p:spPr>
              <a:xfrm flipH="1">
                <a:off x="1370112" y="4500358"/>
                <a:ext cx="719138" cy="261937"/>
              </a:xfrm>
              <a:prstGeom prst="rect">
                <a:avLst/>
              </a:prstGeom>
              <a:noFill/>
            </p:spPr>
            <p:txBody>
              <a:bodyPr>
                <a:spAutoFit/>
              </a:bodyPr>
              <a:lstStyle/>
              <a:p>
                <a:pPr eaLnBrk="1" hangingPunct="1">
                  <a:defRPr/>
                </a:pPr>
                <a:r>
                  <a:rPr lang="en-US" sz="1050" dirty="0">
                    <a:latin typeface="+mj-lt"/>
                    <a:cs typeface="Arial" charset="0"/>
                  </a:rPr>
                  <a:t>1.23</a:t>
                </a:r>
                <a:endParaRPr lang="en-US" sz="1000" dirty="0">
                  <a:latin typeface="+mj-lt"/>
                  <a:cs typeface="Arial" charset="0"/>
                </a:endParaRPr>
              </a:p>
            </p:txBody>
          </p:sp>
          <p:sp>
            <p:nvSpPr>
              <p:cNvPr id="56" name="TextBox 55">
                <a:extLst>
                  <a:ext uri="{FF2B5EF4-FFF2-40B4-BE49-F238E27FC236}">
                    <a16:creationId xmlns:a16="http://schemas.microsoft.com/office/drawing/2014/main" id="{5C14C31A-FA8E-4E2F-94B4-FE555C65B059}"/>
                  </a:ext>
                </a:extLst>
              </p:cNvPr>
              <p:cNvSpPr txBox="1"/>
              <p:nvPr/>
            </p:nvSpPr>
            <p:spPr>
              <a:xfrm flipH="1">
                <a:off x="3060800" y="3382758"/>
                <a:ext cx="719137" cy="261937"/>
              </a:xfrm>
              <a:prstGeom prst="rect">
                <a:avLst/>
              </a:prstGeom>
              <a:noFill/>
            </p:spPr>
            <p:txBody>
              <a:bodyPr>
                <a:spAutoFit/>
              </a:bodyPr>
              <a:lstStyle/>
              <a:p>
                <a:pPr eaLnBrk="1" hangingPunct="1">
                  <a:defRPr/>
                </a:pPr>
                <a:r>
                  <a:rPr lang="en-US" sz="1050" dirty="0">
                    <a:latin typeface="+mj-lt"/>
                    <a:cs typeface="Arial" charset="0"/>
                  </a:rPr>
                  <a:t>10.2</a:t>
                </a:r>
                <a:endParaRPr lang="en-US" sz="1000" dirty="0">
                  <a:latin typeface="+mj-lt"/>
                  <a:cs typeface="Arial" charset="0"/>
                </a:endParaRPr>
              </a:p>
            </p:txBody>
          </p:sp>
          <p:sp>
            <p:nvSpPr>
              <p:cNvPr id="57" name="TextBox 56">
                <a:extLst>
                  <a:ext uri="{FF2B5EF4-FFF2-40B4-BE49-F238E27FC236}">
                    <a16:creationId xmlns:a16="http://schemas.microsoft.com/office/drawing/2014/main" id="{BFFDC353-24EB-40F2-90F7-E7BB9E5094FC}"/>
                  </a:ext>
                </a:extLst>
              </p:cNvPr>
              <p:cNvSpPr txBox="1"/>
              <p:nvPr/>
            </p:nvSpPr>
            <p:spPr>
              <a:xfrm flipH="1">
                <a:off x="3494187" y="3385933"/>
                <a:ext cx="719138" cy="260350"/>
              </a:xfrm>
              <a:prstGeom prst="rect">
                <a:avLst/>
              </a:prstGeom>
              <a:noFill/>
            </p:spPr>
            <p:txBody>
              <a:bodyPr>
                <a:spAutoFit/>
              </a:bodyPr>
              <a:lstStyle/>
              <a:p>
                <a:pPr eaLnBrk="1" hangingPunct="1">
                  <a:defRPr/>
                </a:pPr>
                <a:r>
                  <a:rPr lang="en-US" sz="1050" dirty="0">
                    <a:latin typeface="+mj-lt"/>
                    <a:cs typeface="Arial" charset="0"/>
                  </a:rPr>
                  <a:t>30.8</a:t>
                </a:r>
                <a:endParaRPr lang="en-US" sz="1000" dirty="0">
                  <a:latin typeface="+mj-lt"/>
                  <a:cs typeface="Arial" charset="0"/>
                </a:endParaRPr>
              </a:p>
            </p:txBody>
          </p:sp>
          <p:sp>
            <p:nvSpPr>
              <p:cNvPr id="58" name="TextBox 57">
                <a:extLst>
                  <a:ext uri="{FF2B5EF4-FFF2-40B4-BE49-F238E27FC236}">
                    <a16:creationId xmlns:a16="http://schemas.microsoft.com/office/drawing/2014/main" id="{0EE97798-D8CA-41E6-BF1C-63FF1FB0CFC0}"/>
                  </a:ext>
                </a:extLst>
              </p:cNvPr>
              <p:cNvSpPr txBox="1"/>
              <p:nvPr/>
            </p:nvSpPr>
            <p:spPr>
              <a:xfrm flipH="1">
                <a:off x="3891062" y="3400220"/>
                <a:ext cx="719138" cy="261938"/>
              </a:xfrm>
              <a:prstGeom prst="rect">
                <a:avLst/>
              </a:prstGeom>
              <a:noFill/>
            </p:spPr>
            <p:txBody>
              <a:bodyPr>
                <a:spAutoFit/>
              </a:bodyPr>
              <a:lstStyle/>
              <a:p>
                <a:pPr eaLnBrk="1" hangingPunct="1">
                  <a:defRPr/>
                </a:pPr>
                <a:r>
                  <a:rPr lang="en-US" sz="1050" dirty="0">
                    <a:latin typeface="+mj-lt"/>
                    <a:cs typeface="Arial" charset="0"/>
                  </a:rPr>
                  <a:t>58.7</a:t>
                </a:r>
                <a:endParaRPr lang="en-US" sz="1000" dirty="0">
                  <a:latin typeface="+mj-lt"/>
                  <a:cs typeface="Arial" charset="0"/>
                </a:endParaRPr>
              </a:p>
            </p:txBody>
          </p:sp>
          <p:sp>
            <p:nvSpPr>
              <p:cNvPr id="59" name="TextBox 58">
                <a:extLst>
                  <a:ext uri="{FF2B5EF4-FFF2-40B4-BE49-F238E27FC236}">
                    <a16:creationId xmlns:a16="http://schemas.microsoft.com/office/drawing/2014/main" id="{2277B089-6F79-45E1-9074-9D8F25CC17F5}"/>
                  </a:ext>
                </a:extLst>
              </p:cNvPr>
              <p:cNvSpPr txBox="1"/>
              <p:nvPr/>
            </p:nvSpPr>
            <p:spPr>
              <a:xfrm flipH="1">
                <a:off x="4429225" y="3389108"/>
                <a:ext cx="719137" cy="261937"/>
              </a:xfrm>
              <a:prstGeom prst="rect">
                <a:avLst/>
              </a:prstGeom>
              <a:noFill/>
            </p:spPr>
            <p:txBody>
              <a:bodyPr>
                <a:spAutoFit/>
              </a:bodyPr>
              <a:lstStyle/>
              <a:p>
                <a:pPr eaLnBrk="1" hangingPunct="1">
                  <a:defRPr/>
                </a:pPr>
                <a:r>
                  <a:rPr lang="en-US" sz="1050" dirty="0">
                    <a:latin typeface="+mj-lt"/>
                    <a:cs typeface="Arial" charset="0"/>
                  </a:rPr>
                  <a:t>99.9</a:t>
                </a:r>
                <a:endParaRPr lang="en-US" sz="1000" dirty="0">
                  <a:latin typeface="+mj-lt"/>
                  <a:cs typeface="Arial" charset="0"/>
                </a:endParaRPr>
              </a:p>
            </p:txBody>
          </p:sp>
          <p:sp>
            <p:nvSpPr>
              <p:cNvPr id="60" name="TextBox 59">
                <a:extLst>
                  <a:ext uri="{FF2B5EF4-FFF2-40B4-BE49-F238E27FC236}">
                    <a16:creationId xmlns:a16="http://schemas.microsoft.com/office/drawing/2014/main" id="{2D02F8C2-5E34-4FFF-A3FE-A6DACE2A6167}"/>
                  </a:ext>
                </a:extLst>
              </p:cNvPr>
              <p:cNvSpPr txBox="1"/>
              <p:nvPr/>
            </p:nvSpPr>
            <p:spPr>
              <a:xfrm flipH="1">
                <a:off x="4716562" y="3212895"/>
                <a:ext cx="719138" cy="261938"/>
              </a:xfrm>
              <a:prstGeom prst="rect">
                <a:avLst/>
              </a:prstGeom>
              <a:noFill/>
            </p:spPr>
            <p:txBody>
              <a:bodyPr>
                <a:spAutoFit/>
              </a:bodyPr>
              <a:lstStyle/>
              <a:p>
                <a:pPr eaLnBrk="1" hangingPunct="1">
                  <a:defRPr/>
                </a:pPr>
                <a:r>
                  <a:rPr lang="en-US" sz="1050" dirty="0">
                    <a:latin typeface="+mj-lt"/>
                    <a:cs typeface="Arial" charset="0"/>
                  </a:rPr>
                  <a:t>110.1</a:t>
                </a:r>
                <a:endParaRPr lang="en-US" sz="1000" dirty="0">
                  <a:latin typeface="+mj-lt"/>
                  <a:cs typeface="Arial" charset="0"/>
                </a:endParaRPr>
              </a:p>
            </p:txBody>
          </p:sp>
          <p:sp>
            <p:nvSpPr>
              <p:cNvPr id="61" name="TextBox 60">
                <a:extLst>
                  <a:ext uri="{FF2B5EF4-FFF2-40B4-BE49-F238E27FC236}">
                    <a16:creationId xmlns:a16="http://schemas.microsoft.com/office/drawing/2014/main" id="{D3C84B7F-4ECA-40E7-A73A-FBF2A8A52167}"/>
                  </a:ext>
                </a:extLst>
              </p:cNvPr>
              <p:cNvSpPr txBox="1"/>
              <p:nvPr/>
            </p:nvSpPr>
            <p:spPr>
              <a:xfrm flipH="1">
                <a:off x="5070575" y="3385933"/>
                <a:ext cx="719137" cy="260350"/>
              </a:xfrm>
              <a:prstGeom prst="rect">
                <a:avLst/>
              </a:prstGeom>
              <a:noFill/>
            </p:spPr>
            <p:txBody>
              <a:bodyPr>
                <a:spAutoFit/>
              </a:bodyPr>
              <a:lstStyle/>
              <a:p>
                <a:pPr eaLnBrk="1" hangingPunct="1">
                  <a:defRPr/>
                </a:pPr>
                <a:r>
                  <a:rPr lang="en-US" sz="1050" dirty="0">
                    <a:latin typeface="+mj-lt"/>
                    <a:cs typeface="Arial" charset="0"/>
                  </a:rPr>
                  <a:t>151.6</a:t>
                </a:r>
                <a:endParaRPr lang="en-US" sz="1000" dirty="0">
                  <a:latin typeface="+mj-lt"/>
                  <a:cs typeface="Arial" charset="0"/>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DBF0176-081D-457B-8E9C-56CDB2841280}"/>
              </a:ext>
            </a:extLst>
          </p:cNvPr>
          <p:cNvSpPr>
            <a:spLocks noGrp="1"/>
          </p:cNvSpPr>
          <p:nvPr>
            <p:ph type="title"/>
          </p:nvPr>
        </p:nvSpPr>
        <p:spPr/>
        <p:txBody>
          <a:bodyPr/>
          <a:lstStyle/>
          <a:p>
            <a:r>
              <a:rPr lang="en-US" altLang="en-US"/>
              <a:t>Non Linear Delay Model (NLDM)</a:t>
            </a:r>
          </a:p>
        </p:txBody>
      </p:sp>
      <p:sp>
        <p:nvSpPr>
          <p:cNvPr id="19459" name="AutoShape 3">
            <a:extLst>
              <a:ext uri="{FF2B5EF4-FFF2-40B4-BE49-F238E27FC236}">
                <a16:creationId xmlns:a16="http://schemas.microsoft.com/office/drawing/2014/main" id="{09DFB9A0-8997-468C-89D7-7D08D100CBE7}"/>
              </a:ext>
            </a:extLst>
          </p:cNvPr>
          <p:cNvSpPr>
            <a:spLocks noChangeAspect="1" noChangeArrowheads="1" noTextEdit="1"/>
          </p:cNvSpPr>
          <p:nvPr/>
        </p:nvSpPr>
        <p:spPr bwMode="auto">
          <a:xfrm>
            <a:off x="2698750" y="1565275"/>
            <a:ext cx="6781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60" name="Rectangle 7">
            <a:extLst>
              <a:ext uri="{FF2B5EF4-FFF2-40B4-BE49-F238E27FC236}">
                <a16:creationId xmlns:a16="http://schemas.microsoft.com/office/drawing/2014/main" id="{8AA292A6-20CB-41CB-BB4F-DFE266D7C999}"/>
              </a:ext>
            </a:extLst>
          </p:cNvPr>
          <p:cNvSpPr>
            <a:spLocks noChangeArrowheads="1"/>
          </p:cNvSpPr>
          <p:nvPr/>
        </p:nvSpPr>
        <p:spPr bwMode="auto">
          <a:xfrm>
            <a:off x="2776538" y="1763714"/>
            <a:ext cx="46196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cell</a:t>
            </a:r>
            <a:endParaRPr lang="en-US" altLang="en-US"/>
          </a:p>
        </p:txBody>
      </p:sp>
      <p:sp>
        <p:nvSpPr>
          <p:cNvPr id="19461" name="Rectangle 8">
            <a:extLst>
              <a:ext uri="{FF2B5EF4-FFF2-40B4-BE49-F238E27FC236}">
                <a16:creationId xmlns:a16="http://schemas.microsoft.com/office/drawing/2014/main" id="{E7AB7ACA-6A14-4F53-985D-970695658586}"/>
              </a:ext>
            </a:extLst>
          </p:cNvPr>
          <p:cNvSpPr>
            <a:spLocks noChangeArrowheads="1"/>
          </p:cNvSpPr>
          <p:nvPr/>
        </p:nvSpPr>
        <p:spPr bwMode="auto">
          <a:xfrm>
            <a:off x="3294064" y="1763714"/>
            <a:ext cx="115887"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_</a:t>
            </a:r>
            <a:endParaRPr lang="en-US" altLang="en-US"/>
          </a:p>
        </p:txBody>
      </p:sp>
      <p:sp>
        <p:nvSpPr>
          <p:cNvPr id="19462" name="Rectangle 9">
            <a:extLst>
              <a:ext uri="{FF2B5EF4-FFF2-40B4-BE49-F238E27FC236}">
                <a16:creationId xmlns:a16="http://schemas.microsoft.com/office/drawing/2014/main" id="{823A049A-9BF0-462F-AB19-BB7DBC99EA1D}"/>
              </a:ext>
            </a:extLst>
          </p:cNvPr>
          <p:cNvSpPr>
            <a:spLocks noChangeArrowheads="1"/>
          </p:cNvSpPr>
          <p:nvPr/>
        </p:nvSpPr>
        <p:spPr bwMode="auto">
          <a:xfrm>
            <a:off x="3430588" y="1763714"/>
            <a:ext cx="5778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rise </a:t>
            </a:r>
            <a:endParaRPr lang="en-US" altLang="en-US"/>
          </a:p>
        </p:txBody>
      </p:sp>
      <p:sp>
        <p:nvSpPr>
          <p:cNvPr id="19463" name="Rectangle 10">
            <a:extLst>
              <a:ext uri="{FF2B5EF4-FFF2-40B4-BE49-F238E27FC236}">
                <a16:creationId xmlns:a16="http://schemas.microsoft.com/office/drawing/2014/main" id="{172338AA-AB2F-4679-8B1D-9911E9E06FE2}"/>
              </a:ext>
            </a:extLst>
          </p:cNvPr>
          <p:cNvSpPr>
            <a:spLocks noChangeArrowheads="1"/>
          </p:cNvSpPr>
          <p:nvPr/>
        </p:nvSpPr>
        <p:spPr bwMode="auto">
          <a:xfrm>
            <a:off x="4084638" y="1747839"/>
            <a:ext cx="1714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t>or</a:t>
            </a:r>
            <a:endParaRPr lang="en-US" altLang="en-US"/>
          </a:p>
        </p:txBody>
      </p:sp>
      <p:sp>
        <p:nvSpPr>
          <p:cNvPr id="19464" name="Rectangle 11">
            <a:extLst>
              <a:ext uri="{FF2B5EF4-FFF2-40B4-BE49-F238E27FC236}">
                <a16:creationId xmlns:a16="http://schemas.microsoft.com/office/drawing/2014/main" id="{52948120-FAFA-4DCC-8780-145104825885}"/>
              </a:ext>
            </a:extLst>
          </p:cNvPr>
          <p:cNvSpPr>
            <a:spLocks noChangeArrowheads="1"/>
          </p:cNvSpPr>
          <p:nvPr/>
        </p:nvSpPr>
        <p:spPr bwMode="auto">
          <a:xfrm>
            <a:off x="4302125" y="1763714"/>
            <a:ext cx="5778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 cell</a:t>
            </a:r>
            <a:endParaRPr lang="en-US" altLang="en-US"/>
          </a:p>
        </p:txBody>
      </p:sp>
      <p:sp>
        <p:nvSpPr>
          <p:cNvPr id="19465" name="Rectangle 12">
            <a:extLst>
              <a:ext uri="{FF2B5EF4-FFF2-40B4-BE49-F238E27FC236}">
                <a16:creationId xmlns:a16="http://schemas.microsoft.com/office/drawing/2014/main" id="{B3D20964-4A7A-411C-9ADF-E793DFA3DCCA}"/>
              </a:ext>
            </a:extLst>
          </p:cNvPr>
          <p:cNvSpPr>
            <a:spLocks noChangeArrowheads="1"/>
          </p:cNvSpPr>
          <p:nvPr/>
        </p:nvSpPr>
        <p:spPr bwMode="auto">
          <a:xfrm>
            <a:off x="4956175" y="1763714"/>
            <a:ext cx="115888"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_</a:t>
            </a:r>
            <a:endParaRPr lang="en-US" altLang="en-US"/>
          </a:p>
        </p:txBody>
      </p:sp>
      <p:sp>
        <p:nvSpPr>
          <p:cNvPr id="19466" name="Rectangle 13">
            <a:extLst>
              <a:ext uri="{FF2B5EF4-FFF2-40B4-BE49-F238E27FC236}">
                <a16:creationId xmlns:a16="http://schemas.microsoft.com/office/drawing/2014/main" id="{18D46F7C-F7F4-4A55-B11E-4C2D2D4F8642}"/>
              </a:ext>
            </a:extLst>
          </p:cNvPr>
          <p:cNvSpPr>
            <a:spLocks noChangeArrowheads="1"/>
          </p:cNvSpPr>
          <p:nvPr/>
        </p:nvSpPr>
        <p:spPr bwMode="auto">
          <a:xfrm>
            <a:off x="5083175" y="1763714"/>
            <a:ext cx="5778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latin typeface="Courier New" panose="02070309020205020404" pitchFamily="49" charset="0"/>
              </a:rPr>
              <a:t>fall </a:t>
            </a:r>
            <a:endParaRPr lang="en-US" altLang="en-US"/>
          </a:p>
        </p:txBody>
      </p:sp>
      <p:sp>
        <p:nvSpPr>
          <p:cNvPr id="19467" name="Rectangle 14">
            <a:extLst>
              <a:ext uri="{FF2B5EF4-FFF2-40B4-BE49-F238E27FC236}">
                <a16:creationId xmlns:a16="http://schemas.microsoft.com/office/drawing/2014/main" id="{71BD619B-2912-4723-8267-218DBE362AE4}"/>
              </a:ext>
            </a:extLst>
          </p:cNvPr>
          <p:cNvSpPr>
            <a:spLocks noChangeArrowheads="1"/>
          </p:cNvSpPr>
          <p:nvPr/>
        </p:nvSpPr>
        <p:spPr bwMode="auto">
          <a:xfrm>
            <a:off x="3940175" y="1974850"/>
            <a:ext cx="4191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500"/>
              <a:t>table</a:t>
            </a:r>
            <a:endParaRPr lang="en-US" altLang="en-US"/>
          </a:p>
        </p:txBody>
      </p:sp>
      <p:sp>
        <p:nvSpPr>
          <p:cNvPr id="19468" name="Rectangle 15">
            <a:extLst>
              <a:ext uri="{FF2B5EF4-FFF2-40B4-BE49-F238E27FC236}">
                <a16:creationId xmlns:a16="http://schemas.microsoft.com/office/drawing/2014/main" id="{1D3B431A-6AAD-4903-A73D-3D32F69CFD32}"/>
              </a:ext>
            </a:extLst>
          </p:cNvPr>
          <p:cNvSpPr>
            <a:spLocks noChangeArrowheads="1"/>
          </p:cNvSpPr>
          <p:nvPr/>
        </p:nvSpPr>
        <p:spPr bwMode="auto">
          <a:xfrm>
            <a:off x="4770438" y="3762376"/>
            <a:ext cx="7810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output cap</a:t>
            </a:r>
            <a:endParaRPr lang="en-US" altLang="en-US"/>
          </a:p>
        </p:txBody>
      </p:sp>
      <p:sp>
        <p:nvSpPr>
          <p:cNvPr id="19469" name="Rectangle 16">
            <a:extLst>
              <a:ext uri="{FF2B5EF4-FFF2-40B4-BE49-F238E27FC236}">
                <a16:creationId xmlns:a16="http://schemas.microsoft.com/office/drawing/2014/main" id="{27CB55FA-186C-434A-9409-15CB9269967A}"/>
              </a:ext>
            </a:extLst>
          </p:cNvPr>
          <p:cNvSpPr>
            <a:spLocks noChangeArrowheads="1"/>
          </p:cNvSpPr>
          <p:nvPr/>
        </p:nvSpPr>
        <p:spPr bwMode="auto">
          <a:xfrm>
            <a:off x="2252664" y="2043114"/>
            <a:ext cx="7524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Input slew</a:t>
            </a:r>
          </a:p>
        </p:txBody>
      </p:sp>
      <p:sp>
        <p:nvSpPr>
          <p:cNvPr id="19470" name="Freeform 18">
            <a:extLst>
              <a:ext uri="{FF2B5EF4-FFF2-40B4-BE49-F238E27FC236}">
                <a16:creationId xmlns:a16="http://schemas.microsoft.com/office/drawing/2014/main" id="{73CB02AE-8B1E-447D-B241-7B378AAE56A2}"/>
              </a:ext>
            </a:extLst>
          </p:cNvPr>
          <p:cNvSpPr>
            <a:spLocks noEditPoints="1"/>
          </p:cNvSpPr>
          <p:nvPr/>
        </p:nvSpPr>
        <p:spPr bwMode="auto">
          <a:xfrm>
            <a:off x="3028950" y="2220913"/>
            <a:ext cx="109538" cy="1358900"/>
          </a:xfrm>
          <a:custGeom>
            <a:avLst/>
            <a:gdLst>
              <a:gd name="T0" fmla="*/ 2147483646 w 69"/>
              <a:gd name="T1" fmla="*/ 2147483646 h 856"/>
              <a:gd name="T2" fmla="*/ 2147483646 w 69"/>
              <a:gd name="T3" fmla="*/ 2147483646 h 856"/>
              <a:gd name="T4" fmla="*/ 2147483646 w 69"/>
              <a:gd name="T5" fmla="*/ 2147483646 h 856"/>
              <a:gd name="T6" fmla="*/ 2147483646 w 69"/>
              <a:gd name="T7" fmla="*/ 2147483646 h 856"/>
              <a:gd name="T8" fmla="*/ 2147483646 w 69"/>
              <a:gd name="T9" fmla="*/ 2147483646 h 856"/>
              <a:gd name="T10" fmla="*/ 2147483646 w 69"/>
              <a:gd name="T11" fmla="*/ 2147483646 h 856"/>
              <a:gd name="T12" fmla="*/ 0 w 69"/>
              <a:gd name="T13" fmla="*/ 2147483646 h 856"/>
              <a:gd name="T14" fmla="*/ 2147483646 w 69"/>
              <a:gd name="T15" fmla="*/ 0 h 856"/>
              <a:gd name="T16" fmla="*/ 2147483646 w 69"/>
              <a:gd name="T17" fmla="*/ 2147483646 h 856"/>
              <a:gd name="T18" fmla="*/ 0 w 69"/>
              <a:gd name="T19" fmla="*/ 2147483646 h 856"/>
              <a:gd name="T20" fmla="*/ 0 w 69"/>
              <a:gd name="T21" fmla="*/ 2147483646 h 8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856"/>
              <a:gd name="T35" fmla="*/ 69 w 69"/>
              <a:gd name="T36" fmla="*/ 856 h 8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856">
                <a:moveTo>
                  <a:pt x="23" y="856"/>
                </a:moveTo>
                <a:lnTo>
                  <a:pt x="23" y="49"/>
                </a:lnTo>
                <a:lnTo>
                  <a:pt x="46" y="49"/>
                </a:lnTo>
                <a:lnTo>
                  <a:pt x="46" y="856"/>
                </a:lnTo>
                <a:lnTo>
                  <a:pt x="23" y="856"/>
                </a:lnTo>
                <a:close/>
                <a:moveTo>
                  <a:pt x="0" y="59"/>
                </a:moveTo>
                <a:lnTo>
                  <a:pt x="35" y="0"/>
                </a:lnTo>
                <a:lnTo>
                  <a:pt x="69" y="59"/>
                </a:lnTo>
                <a:lnTo>
                  <a:pt x="0"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71" name="Freeform 19">
            <a:extLst>
              <a:ext uri="{FF2B5EF4-FFF2-40B4-BE49-F238E27FC236}">
                <a16:creationId xmlns:a16="http://schemas.microsoft.com/office/drawing/2014/main" id="{7BF802C1-F04C-451B-9653-36C0976AEF0C}"/>
              </a:ext>
            </a:extLst>
          </p:cNvPr>
          <p:cNvSpPr>
            <a:spLocks/>
          </p:cNvSpPr>
          <p:nvPr/>
        </p:nvSpPr>
        <p:spPr bwMode="auto">
          <a:xfrm>
            <a:off x="3065463" y="2298701"/>
            <a:ext cx="36512" cy="1281113"/>
          </a:xfrm>
          <a:custGeom>
            <a:avLst/>
            <a:gdLst>
              <a:gd name="T0" fmla="*/ 0 w 23"/>
              <a:gd name="T1" fmla="*/ 2147483646 h 807"/>
              <a:gd name="T2" fmla="*/ 0 w 23"/>
              <a:gd name="T3" fmla="*/ 0 h 807"/>
              <a:gd name="T4" fmla="*/ 2147483646 w 23"/>
              <a:gd name="T5" fmla="*/ 0 h 807"/>
              <a:gd name="T6" fmla="*/ 2147483646 w 23"/>
              <a:gd name="T7" fmla="*/ 2147483646 h 807"/>
              <a:gd name="T8" fmla="*/ 0 w 23"/>
              <a:gd name="T9" fmla="*/ 2147483646 h 807"/>
              <a:gd name="T10" fmla="*/ 0 w 23"/>
              <a:gd name="T11" fmla="*/ 2147483646 h 807"/>
              <a:gd name="T12" fmla="*/ 0 60000 65536"/>
              <a:gd name="T13" fmla="*/ 0 60000 65536"/>
              <a:gd name="T14" fmla="*/ 0 60000 65536"/>
              <a:gd name="T15" fmla="*/ 0 60000 65536"/>
              <a:gd name="T16" fmla="*/ 0 60000 65536"/>
              <a:gd name="T17" fmla="*/ 0 60000 65536"/>
              <a:gd name="T18" fmla="*/ 0 w 23"/>
              <a:gd name="T19" fmla="*/ 0 h 807"/>
              <a:gd name="T20" fmla="*/ 23 w 23"/>
              <a:gd name="T21" fmla="*/ 807 h 807"/>
            </a:gdLst>
            <a:ahLst/>
            <a:cxnLst>
              <a:cxn ang="T12">
                <a:pos x="T0" y="T1"/>
              </a:cxn>
              <a:cxn ang="T13">
                <a:pos x="T2" y="T3"/>
              </a:cxn>
              <a:cxn ang="T14">
                <a:pos x="T4" y="T5"/>
              </a:cxn>
              <a:cxn ang="T15">
                <a:pos x="T6" y="T7"/>
              </a:cxn>
              <a:cxn ang="T16">
                <a:pos x="T8" y="T9"/>
              </a:cxn>
              <a:cxn ang="T17">
                <a:pos x="T10" y="T11"/>
              </a:cxn>
            </a:cxnLst>
            <a:rect l="T18" t="T19" r="T20" b="T21"/>
            <a:pathLst>
              <a:path w="23" h="807">
                <a:moveTo>
                  <a:pt x="0" y="807"/>
                </a:moveTo>
                <a:lnTo>
                  <a:pt x="0" y="0"/>
                </a:lnTo>
                <a:lnTo>
                  <a:pt x="23" y="0"/>
                </a:lnTo>
                <a:lnTo>
                  <a:pt x="23" y="807"/>
                </a:lnTo>
                <a:lnTo>
                  <a:pt x="0" y="807"/>
                </a:lnTo>
                <a:close/>
              </a:path>
            </a:pathLst>
          </a:custGeom>
          <a:noFill/>
          <a:ln w="1"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2" name="Freeform 20">
            <a:extLst>
              <a:ext uri="{FF2B5EF4-FFF2-40B4-BE49-F238E27FC236}">
                <a16:creationId xmlns:a16="http://schemas.microsoft.com/office/drawing/2014/main" id="{C5FE977D-3497-4D4B-AD43-CEFA951DCF06}"/>
              </a:ext>
            </a:extLst>
          </p:cNvPr>
          <p:cNvSpPr>
            <a:spLocks/>
          </p:cNvSpPr>
          <p:nvPr/>
        </p:nvSpPr>
        <p:spPr bwMode="auto">
          <a:xfrm>
            <a:off x="3028950" y="2220913"/>
            <a:ext cx="109538" cy="93662"/>
          </a:xfrm>
          <a:custGeom>
            <a:avLst/>
            <a:gdLst>
              <a:gd name="T0" fmla="*/ 0 w 69"/>
              <a:gd name="T1" fmla="*/ 2147483646 h 59"/>
              <a:gd name="T2" fmla="*/ 2147483646 w 69"/>
              <a:gd name="T3" fmla="*/ 0 h 59"/>
              <a:gd name="T4" fmla="*/ 2147483646 w 69"/>
              <a:gd name="T5" fmla="*/ 2147483646 h 59"/>
              <a:gd name="T6" fmla="*/ 0 w 69"/>
              <a:gd name="T7" fmla="*/ 2147483646 h 59"/>
              <a:gd name="T8" fmla="*/ 0 w 69"/>
              <a:gd name="T9" fmla="*/ 2147483646 h 59"/>
              <a:gd name="T10" fmla="*/ 0 60000 65536"/>
              <a:gd name="T11" fmla="*/ 0 60000 65536"/>
              <a:gd name="T12" fmla="*/ 0 60000 65536"/>
              <a:gd name="T13" fmla="*/ 0 60000 65536"/>
              <a:gd name="T14" fmla="*/ 0 60000 65536"/>
              <a:gd name="T15" fmla="*/ 0 w 69"/>
              <a:gd name="T16" fmla="*/ 0 h 59"/>
              <a:gd name="T17" fmla="*/ 69 w 69"/>
              <a:gd name="T18" fmla="*/ 59 h 59"/>
            </a:gdLst>
            <a:ahLst/>
            <a:cxnLst>
              <a:cxn ang="T10">
                <a:pos x="T0" y="T1"/>
              </a:cxn>
              <a:cxn ang="T11">
                <a:pos x="T2" y="T3"/>
              </a:cxn>
              <a:cxn ang="T12">
                <a:pos x="T4" y="T5"/>
              </a:cxn>
              <a:cxn ang="T13">
                <a:pos x="T6" y="T7"/>
              </a:cxn>
              <a:cxn ang="T14">
                <a:pos x="T8" y="T9"/>
              </a:cxn>
            </a:cxnLst>
            <a:rect l="T15" t="T16" r="T17" b="T18"/>
            <a:pathLst>
              <a:path w="69" h="59">
                <a:moveTo>
                  <a:pt x="0" y="59"/>
                </a:moveTo>
                <a:lnTo>
                  <a:pt x="35" y="0"/>
                </a:lnTo>
                <a:lnTo>
                  <a:pt x="69" y="59"/>
                </a:lnTo>
                <a:lnTo>
                  <a:pt x="0" y="59"/>
                </a:lnTo>
                <a:close/>
              </a:path>
            </a:pathLst>
          </a:custGeom>
          <a:noFill/>
          <a:ln w="1"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3" name="Freeform 21">
            <a:extLst>
              <a:ext uri="{FF2B5EF4-FFF2-40B4-BE49-F238E27FC236}">
                <a16:creationId xmlns:a16="http://schemas.microsoft.com/office/drawing/2014/main" id="{D6B41C44-7ADB-4F6D-ADFF-E9CA214A2939}"/>
              </a:ext>
            </a:extLst>
          </p:cNvPr>
          <p:cNvSpPr>
            <a:spLocks noEditPoints="1"/>
          </p:cNvSpPr>
          <p:nvPr/>
        </p:nvSpPr>
        <p:spPr bwMode="auto">
          <a:xfrm>
            <a:off x="3059113" y="3533776"/>
            <a:ext cx="2292350" cy="93663"/>
          </a:xfrm>
          <a:custGeom>
            <a:avLst/>
            <a:gdLst>
              <a:gd name="T0" fmla="*/ 0 w 1444"/>
              <a:gd name="T1" fmla="*/ 2147483646 h 59"/>
              <a:gd name="T2" fmla="*/ 2147483646 w 1444"/>
              <a:gd name="T3" fmla="*/ 2147483646 h 59"/>
              <a:gd name="T4" fmla="*/ 2147483646 w 1444"/>
              <a:gd name="T5" fmla="*/ 2147483646 h 59"/>
              <a:gd name="T6" fmla="*/ 0 w 1444"/>
              <a:gd name="T7" fmla="*/ 2147483646 h 59"/>
              <a:gd name="T8" fmla="*/ 0 w 1444"/>
              <a:gd name="T9" fmla="*/ 2147483646 h 59"/>
              <a:gd name="T10" fmla="*/ 0 w 1444"/>
              <a:gd name="T11" fmla="*/ 2147483646 h 59"/>
              <a:gd name="T12" fmla="*/ 2147483646 w 1444"/>
              <a:gd name="T13" fmla="*/ 0 h 59"/>
              <a:gd name="T14" fmla="*/ 2147483646 w 1444"/>
              <a:gd name="T15" fmla="*/ 2147483646 h 59"/>
              <a:gd name="T16" fmla="*/ 2147483646 w 1444"/>
              <a:gd name="T17" fmla="*/ 2147483646 h 59"/>
              <a:gd name="T18" fmla="*/ 2147483646 w 1444"/>
              <a:gd name="T19" fmla="*/ 0 h 59"/>
              <a:gd name="T20" fmla="*/ 2147483646 w 1444"/>
              <a:gd name="T21" fmla="*/ 0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44"/>
              <a:gd name="T34" fmla="*/ 0 h 59"/>
              <a:gd name="T35" fmla="*/ 1444 w 1444"/>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44" h="59">
                <a:moveTo>
                  <a:pt x="0" y="20"/>
                </a:moveTo>
                <a:lnTo>
                  <a:pt x="1387" y="20"/>
                </a:lnTo>
                <a:lnTo>
                  <a:pt x="1387" y="39"/>
                </a:lnTo>
                <a:lnTo>
                  <a:pt x="0" y="39"/>
                </a:lnTo>
                <a:lnTo>
                  <a:pt x="0" y="20"/>
                </a:lnTo>
                <a:close/>
                <a:moveTo>
                  <a:pt x="1376" y="0"/>
                </a:moveTo>
                <a:lnTo>
                  <a:pt x="1444" y="29"/>
                </a:lnTo>
                <a:lnTo>
                  <a:pt x="1376" y="59"/>
                </a:lnTo>
                <a:lnTo>
                  <a:pt x="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74" name="Freeform 22">
            <a:extLst>
              <a:ext uri="{FF2B5EF4-FFF2-40B4-BE49-F238E27FC236}">
                <a16:creationId xmlns:a16="http://schemas.microsoft.com/office/drawing/2014/main" id="{4B332F2C-DBAA-42A0-8694-3BB065A2A259}"/>
              </a:ext>
            </a:extLst>
          </p:cNvPr>
          <p:cNvSpPr>
            <a:spLocks/>
          </p:cNvSpPr>
          <p:nvPr/>
        </p:nvSpPr>
        <p:spPr bwMode="auto">
          <a:xfrm>
            <a:off x="3059113" y="3565526"/>
            <a:ext cx="2201862" cy="30163"/>
          </a:xfrm>
          <a:custGeom>
            <a:avLst/>
            <a:gdLst>
              <a:gd name="T0" fmla="*/ 0 w 1387"/>
              <a:gd name="T1" fmla="*/ 0 h 19"/>
              <a:gd name="T2" fmla="*/ 2147483646 w 1387"/>
              <a:gd name="T3" fmla="*/ 0 h 19"/>
              <a:gd name="T4" fmla="*/ 2147483646 w 1387"/>
              <a:gd name="T5" fmla="*/ 2147483646 h 19"/>
              <a:gd name="T6" fmla="*/ 0 w 1387"/>
              <a:gd name="T7" fmla="*/ 2147483646 h 19"/>
              <a:gd name="T8" fmla="*/ 0 w 1387"/>
              <a:gd name="T9" fmla="*/ 0 h 19"/>
              <a:gd name="T10" fmla="*/ 0 w 1387"/>
              <a:gd name="T11" fmla="*/ 0 h 19"/>
              <a:gd name="T12" fmla="*/ 0 60000 65536"/>
              <a:gd name="T13" fmla="*/ 0 60000 65536"/>
              <a:gd name="T14" fmla="*/ 0 60000 65536"/>
              <a:gd name="T15" fmla="*/ 0 60000 65536"/>
              <a:gd name="T16" fmla="*/ 0 60000 65536"/>
              <a:gd name="T17" fmla="*/ 0 60000 65536"/>
              <a:gd name="T18" fmla="*/ 0 w 1387"/>
              <a:gd name="T19" fmla="*/ 0 h 19"/>
              <a:gd name="T20" fmla="*/ 1387 w 1387"/>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1387" h="19">
                <a:moveTo>
                  <a:pt x="0" y="0"/>
                </a:moveTo>
                <a:lnTo>
                  <a:pt x="1387" y="0"/>
                </a:lnTo>
                <a:lnTo>
                  <a:pt x="1387" y="19"/>
                </a:lnTo>
                <a:lnTo>
                  <a:pt x="0" y="19"/>
                </a:lnTo>
                <a:lnTo>
                  <a:pt x="0" y="0"/>
                </a:lnTo>
                <a:close/>
              </a:path>
            </a:pathLst>
          </a:custGeom>
          <a:noFill/>
          <a:ln w="1"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5" name="Freeform 23">
            <a:extLst>
              <a:ext uri="{FF2B5EF4-FFF2-40B4-BE49-F238E27FC236}">
                <a16:creationId xmlns:a16="http://schemas.microsoft.com/office/drawing/2014/main" id="{4F6B6DCB-6F3B-40C6-AA31-C2FC00F7E8ED}"/>
              </a:ext>
            </a:extLst>
          </p:cNvPr>
          <p:cNvSpPr>
            <a:spLocks/>
          </p:cNvSpPr>
          <p:nvPr/>
        </p:nvSpPr>
        <p:spPr bwMode="auto">
          <a:xfrm>
            <a:off x="5243513" y="3533776"/>
            <a:ext cx="107950" cy="93663"/>
          </a:xfrm>
          <a:custGeom>
            <a:avLst/>
            <a:gdLst>
              <a:gd name="T0" fmla="*/ 0 w 68"/>
              <a:gd name="T1" fmla="*/ 0 h 59"/>
              <a:gd name="T2" fmla="*/ 2147483646 w 68"/>
              <a:gd name="T3" fmla="*/ 2147483646 h 59"/>
              <a:gd name="T4" fmla="*/ 0 w 68"/>
              <a:gd name="T5" fmla="*/ 2147483646 h 59"/>
              <a:gd name="T6" fmla="*/ 0 w 68"/>
              <a:gd name="T7" fmla="*/ 0 h 59"/>
              <a:gd name="T8" fmla="*/ 0 w 68"/>
              <a:gd name="T9" fmla="*/ 0 h 59"/>
              <a:gd name="T10" fmla="*/ 0 60000 65536"/>
              <a:gd name="T11" fmla="*/ 0 60000 65536"/>
              <a:gd name="T12" fmla="*/ 0 60000 65536"/>
              <a:gd name="T13" fmla="*/ 0 60000 65536"/>
              <a:gd name="T14" fmla="*/ 0 60000 65536"/>
              <a:gd name="T15" fmla="*/ 0 w 68"/>
              <a:gd name="T16" fmla="*/ 0 h 59"/>
              <a:gd name="T17" fmla="*/ 68 w 68"/>
              <a:gd name="T18" fmla="*/ 59 h 59"/>
            </a:gdLst>
            <a:ahLst/>
            <a:cxnLst>
              <a:cxn ang="T10">
                <a:pos x="T0" y="T1"/>
              </a:cxn>
              <a:cxn ang="T11">
                <a:pos x="T2" y="T3"/>
              </a:cxn>
              <a:cxn ang="T12">
                <a:pos x="T4" y="T5"/>
              </a:cxn>
              <a:cxn ang="T13">
                <a:pos x="T6" y="T7"/>
              </a:cxn>
              <a:cxn ang="T14">
                <a:pos x="T8" y="T9"/>
              </a:cxn>
            </a:cxnLst>
            <a:rect l="T15" t="T16" r="T17" b="T18"/>
            <a:pathLst>
              <a:path w="68" h="59">
                <a:moveTo>
                  <a:pt x="0" y="0"/>
                </a:moveTo>
                <a:lnTo>
                  <a:pt x="68" y="29"/>
                </a:lnTo>
                <a:lnTo>
                  <a:pt x="0" y="59"/>
                </a:lnTo>
                <a:lnTo>
                  <a:pt x="0" y="0"/>
                </a:lnTo>
                <a:close/>
              </a:path>
            </a:pathLst>
          </a:custGeom>
          <a:noFill/>
          <a:ln w="1"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6" name="Rectangle 24">
            <a:extLst>
              <a:ext uri="{FF2B5EF4-FFF2-40B4-BE49-F238E27FC236}">
                <a16:creationId xmlns:a16="http://schemas.microsoft.com/office/drawing/2014/main" id="{E6B12C1E-3E96-4EC1-B9D2-23E333583534}"/>
              </a:ext>
            </a:extLst>
          </p:cNvPr>
          <p:cNvSpPr>
            <a:spLocks noChangeArrowheads="1"/>
          </p:cNvSpPr>
          <p:nvPr/>
        </p:nvSpPr>
        <p:spPr bwMode="auto">
          <a:xfrm>
            <a:off x="2776538" y="2390776"/>
            <a:ext cx="9366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0</a:t>
            </a:r>
            <a:endParaRPr lang="en-US" altLang="en-US"/>
          </a:p>
        </p:txBody>
      </p:sp>
      <p:sp>
        <p:nvSpPr>
          <p:cNvPr id="19477" name="Rectangle 25">
            <a:extLst>
              <a:ext uri="{FF2B5EF4-FFF2-40B4-BE49-F238E27FC236}">
                <a16:creationId xmlns:a16="http://schemas.microsoft.com/office/drawing/2014/main" id="{18C68A5C-E357-4727-9E62-A82AE74068DA}"/>
              </a:ext>
            </a:extLst>
          </p:cNvPr>
          <p:cNvSpPr>
            <a:spLocks noChangeArrowheads="1"/>
          </p:cNvSpPr>
          <p:nvPr/>
        </p:nvSpPr>
        <p:spPr bwMode="auto">
          <a:xfrm>
            <a:off x="2886075" y="2390776"/>
            <a:ext cx="460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a:t>
            </a:r>
            <a:endParaRPr lang="en-US" altLang="en-US"/>
          </a:p>
        </p:txBody>
      </p:sp>
      <p:sp>
        <p:nvSpPr>
          <p:cNvPr id="19478" name="Rectangle 26">
            <a:extLst>
              <a:ext uri="{FF2B5EF4-FFF2-40B4-BE49-F238E27FC236}">
                <a16:creationId xmlns:a16="http://schemas.microsoft.com/office/drawing/2014/main" id="{E24E14A1-6668-4328-94A2-2BDD12532B4C}"/>
              </a:ext>
            </a:extLst>
          </p:cNvPr>
          <p:cNvSpPr>
            <a:spLocks noChangeArrowheads="1"/>
          </p:cNvSpPr>
          <p:nvPr/>
        </p:nvSpPr>
        <p:spPr bwMode="auto">
          <a:xfrm>
            <a:off x="2940051" y="2390776"/>
            <a:ext cx="936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7</a:t>
            </a:r>
            <a:endParaRPr lang="en-US" altLang="en-US"/>
          </a:p>
        </p:txBody>
      </p:sp>
      <p:sp>
        <p:nvSpPr>
          <p:cNvPr id="19479" name="Rectangle 27">
            <a:extLst>
              <a:ext uri="{FF2B5EF4-FFF2-40B4-BE49-F238E27FC236}">
                <a16:creationId xmlns:a16="http://schemas.microsoft.com/office/drawing/2014/main" id="{FFD6443A-7DFC-40F5-BAEC-6BA6120B7FCD}"/>
              </a:ext>
            </a:extLst>
          </p:cNvPr>
          <p:cNvSpPr>
            <a:spLocks noChangeArrowheads="1"/>
          </p:cNvSpPr>
          <p:nvPr/>
        </p:nvSpPr>
        <p:spPr bwMode="auto">
          <a:xfrm>
            <a:off x="2776538" y="2697164"/>
            <a:ext cx="9366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0</a:t>
            </a:r>
            <a:endParaRPr lang="en-US" altLang="en-US"/>
          </a:p>
        </p:txBody>
      </p:sp>
      <p:sp>
        <p:nvSpPr>
          <p:cNvPr id="19480" name="Rectangle 28">
            <a:extLst>
              <a:ext uri="{FF2B5EF4-FFF2-40B4-BE49-F238E27FC236}">
                <a16:creationId xmlns:a16="http://schemas.microsoft.com/office/drawing/2014/main" id="{F91534E2-242E-4E68-A4DB-C5F2954EACBF}"/>
              </a:ext>
            </a:extLst>
          </p:cNvPr>
          <p:cNvSpPr>
            <a:spLocks noChangeArrowheads="1"/>
          </p:cNvSpPr>
          <p:nvPr/>
        </p:nvSpPr>
        <p:spPr bwMode="auto">
          <a:xfrm>
            <a:off x="2886075" y="2697164"/>
            <a:ext cx="460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a:t>
            </a:r>
            <a:endParaRPr lang="en-US" altLang="en-US"/>
          </a:p>
        </p:txBody>
      </p:sp>
      <p:sp>
        <p:nvSpPr>
          <p:cNvPr id="19481" name="Rectangle 29">
            <a:extLst>
              <a:ext uri="{FF2B5EF4-FFF2-40B4-BE49-F238E27FC236}">
                <a16:creationId xmlns:a16="http://schemas.microsoft.com/office/drawing/2014/main" id="{94B982E7-02FE-487C-9ED0-47300C12939E}"/>
              </a:ext>
            </a:extLst>
          </p:cNvPr>
          <p:cNvSpPr>
            <a:spLocks noChangeArrowheads="1"/>
          </p:cNvSpPr>
          <p:nvPr/>
        </p:nvSpPr>
        <p:spPr bwMode="auto">
          <a:xfrm>
            <a:off x="2940051" y="2697164"/>
            <a:ext cx="936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5</a:t>
            </a:r>
            <a:endParaRPr lang="en-US" altLang="en-US"/>
          </a:p>
        </p:txBody>
      </p:sp>
      <p:sp>
        <p:nvSpPr>
          <p:cNvPr id="19482" name="Rectangle 30">
            <a:extLst>
              <a:ext uri="{FF2B5EF4-FFF2-40B4-BE49-F238E27FC236}">
                <a16:creationId xmlns:a16="http://schemas.microsoft.com/office/drawing/2014/main" id="{2D87A2DB-60A8-4588-B6A6-E52254E8D45B}"/>
              </a:ext>
            </a:extLst>
          </p:cNvPr>
          <p:cNvSpPr>
            <a:spLocks noChangeArrowheads="1"/>
          </p:cNvSpPr>
          <p:nvPr/>
        </p:nvSpPr>
        <p:spPr bwMode="auto">
          <a:xfrm>
            <a:off x="2776538" y="2994026"/>
            <a:ext cx="9366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0</a:t>
            </a:r>
            <a:endParaRPr lang="en-US" altLang="en-US"/>
          </a:p>
        </p:txBody>
      </p:sp>
      <p:sp>
        <p:nvSpPr>
          <p:cNvPr id="19483" name="Rectangle 31">
            <a:extLst>
              <a:ext uri="{FF2B5EF4-FFF2-40B4-BE49-F238E27FC236}">
                <a16:creationId xmlns:a16="http://schemas.microsoft.com/office/drawing/2014/main" id="{7D6646BC-9B82-4626-9DE7-B680F3D3699A}"/>
              </a:ext>
            </a:extLst>
          </p:cNvPr>
          <p:cNvSpPr>
            <a:spLocks noChangeArrowheads="1"/>
          </p:cNvSpPr>
          <p:nvPr/>
        </p:nvSpPr>
        <p:spPr bwMode="auto">
          <a:xfrm>
            <a:off x="2886075" y="2994026"/>
            <a:ext cx="460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a:t>
            </a:r>
            <a:endParaRPr lang="en-US" altLang="en-US"/>
          </a:p>
        </p:txBody>
      </p:sp>
      <p:sp>
        <p:nvSpPr>
          <p:cNvPr id="19484" name="Rectangle 32">
            <a:extLst>
              <a:ext uri="{FF2B5EF4-FFF2-40B4-BE49-F238E27FC236}">
                <a16:creationId xmlns:a16="http://schemas.microsoft.com/office/drawing/2014/main" id="{4E6BC95F-17BB-45F3-A5C8-20D4739B5E76}"/>
              </a:ext>
            </a:extLst>
          </p:cNvPr>
          <p:cNvSpPr>
            <a:spLocks noChangeArrowheads="1"/>
          </p:cNvSpPr>
          <p:nvPr/>
        </p:nvSpPr>
        <p:spPr bwMode="auto">
          <a:xfrm>
            <a:off x="2940051" y="2994026"/>
            <a:ext cx="936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2</a:t>
            </a:r>
            <a:endParaRPr lang="en-US" altLang="en-US"/>
          </a:p>
        </p:txBody>
      </p:sp>
      <p:sp>
        <p:nvSpPr>
          <p:cNvPr id="19485" name="Rectangle 33">
            <a:extLst>
              <a:ext uri="{FF2B5EF4-FFF2-40B4-BE49-F238E27FC236}">
                <a16:creationId xmlns:a16="http://schemas.microsoft.com/office/drawing/2014/main" id="{E76D7D31-D002-409C-A506-CBDACE2EFAC4}"/>
              </a:ext>
            </a:extLst>
          </p:cNvPr>
          <p:cNvSpPr>
            <a:spLocks noChangeArrowheads="1"/>
          </p:cNvSpPr>
          <p:nvPr/>
        </p:nvSpPr>
        <p:spPr bwMode="auto">
          <a:xfrm>
            <a:off x="2776538" y="3292476"/>
            <a:ext cx="9366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0</a:t>
            </a:r>
            <a:endParaRPr lang="en-US" altLang="en-US"/>
          </a:p>
        </p:txBody>
      </p:sp>
      <p:sp>
        <p:nvSpPr>
          <p:cNvPr id="19486" name="Rectangle 34">
            <a:extLst>
              <a:ext uri="{FF2B5EF4-FFF2-40B4-BE49-F238E27FC236}">
                <a16:creationId xmlns:a16="http://schemas.microsoft.com/office/drawing/2014/main" id="{E97A0D11-0C09-43B2-B7B6-056B0243FE5D}"/>
              </a:ext>
            </a:extLst>
          </p:cNvPr>
          <p:cNvSpPr>
            <a:spLocks noChangeArrowheads="1"/>
          </p:cNvSpPr>
          <p:nvPr/>
        </p:nvSpPr>
        <p:spPr bwMode="auto">
          <a:xfrm>
            <a:off x="2886075" y="3292476"/>
            <a:ext cx="460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a:t>
            </a:r>
            <a:endParaRPr lang="en-US" altLang="en-US"/>
          </a:p>
        </p:txBody>
      </p:sp>
      <p:sp>
        <p:nvSpPr>
          <p:cNvPr id="19487" name="Rectangle 35">
            <a:extLst>
              <a:ext uri="{FF2B5EF4-FFF2-40B4-BE49-F238E27FC236}">
                <a16:creationId xmlns:a16="http://schemas.microsoft.com/office/drawing/2014/main" id="{E1002911-8595-44FB-BA03-37D5EE0FED5B}"/>
              </a:ext>
            </a:extLst>
          </p:cNvPr>
          <p:cNvSpPr>
            <a:spLocks noChangeArrowheads="1"/>
          </p:cNvSpPr>
          <p:nvPr/>
        </p:nvSpPr>
        <p:spPr bwMode="auto">
          <a:xfrm>
            <a:off x="2940051" y="3292476"/>
            <a:ext cx="936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300"/>
              <a:t>1</a:t>
            </a:r>
            <a:endParaRPr lang="en-US" altLang="en-US"/>
          </a:p>
        </p:txBody>
      </p:sp>
      <p:sp>
        <p:nvSpPr>
          <p:cNvPr id="19488" name="Rectangle 36">
            <a:extLst>
              <a:ext uri="{FF2B5EF4-FFF2-40B4-BE49-F238E27FC236}">
                <a16:creationId xmlns:a16="http://schemas.microsoft.com/office/drawing/2014/main" id="{F6DD0F64-D054-4785-A555-08E9707FE314}"/>
              </a:ext>
            </a:extLst>
          </p:cNvPr>
          <p:cNvSpPr>
            <a:spLocks noChangeArrowheads="1"/>
          </p:cNvSpPr>
          <p:nvPr/>
        </p:nvSpPr>
        <p:spPr bwMode="auto">
          <a:xfrm>
            <a:off x="3130551" y="3605213"/>
            <a:ext cx="428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en-US" altLang="en-US"/>
          </a:p>
        </p:txBody>
      </p:sp>
      <p:sp>
        <p:nvSpPr>
          <p:cNvPr id="19489" name="Rectangle 37">
            <a:extLst>
              <a:ext uri="{FF2B5EF4-FFF2-40B4-BE49-F238E27FC236}">
                <a16:creationId xmlns:a16="http://schemas.microsoft.com/office/drawing/2014/main" id="{2328E49D-7B7E-42F0-9A04-7392E75B2F30}"/>
              </a:ext>
            </a:extLst>
          </p:cNvPr>
          <p:cNvSpPr>
            <a:spLocks noChangeArrowheads="1"/>
          </p:cNvSpPr>
          <p:nvPr/>
        </p:nvSpPr>
        <p:spPr bwMode="auto">
          <a:xfrm>
            <a:off x="3176588" y="3605213"/>
            <a:ext cx="34131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023  </a:t>
            </a:r>
            <a:endParaRPr lang="en-US" altLang="en-US"/>
          </a:p>
        </p:txBody>
      </p:sp>
      <p:sp>
        <p:nvSpPr>
          <p:cNvPr id="19490" name="Rectangle 38">
            <a:extLst>
              <a:ext uri="{FF2B5EF4-FFF2-40B4-BE49-F238E27FC236}">
                <a16:creationId xmlns:a16="http://schemas.microsoft.com/office/drawing/2014/main" id="{6B4B716F-8DAA-489E-91A5-A66766009EF0}"/>
              </a:ext>
            </a:extLst>
          </p:cNvPr>
          <p:cNvSpPr>
            <a:spLocks noChangeArrowheads="1"/>
          </p:cNvSpPr>
          <p:nvPr/>
        </p:nvSpPr>
        <p:spPr bwMode="auto">
          <a:xfrm>
            <a:off x="3557588" y="3605213"/>
            <a:ext cx="4328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en-US" altLang="en-US"/>
          </a:p>
        </p:txBody>
      </p:sp>
      <p:sp>
        <p:nvSpPr>
          <p:cNvPr id="19491" name="Rectangle 39">
            <a:extLst>
              <a:ext uri="{FF2B5EF4-FFF2-40B4-BE49-F238E27FC236}">
                <a16:creationId xmlns:a16="http://schemas.microsoft.com/office/drawing/2014/main" id="{3CC7ED1B-C543-4F24-8B75-EB24BC868D08}"/>
              </a:ext>
            </a:extLst>
          </p:cNvPr>
          <p:cNvSpPr>
            <a:spLocks noChangeArrowheads="1"/>
          </p:cNvSpPr>
          <p:nvPr/>
        </p:nvSpPr>
        <p:spPr bwMode="auto">
          <a:xfrm>
            <a:off x="3603626" y="3605213"/>
            <a:ext cx="34131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047  </a:t>
            </a:r>
            <a:endParaRPr lang="en-US" altLang="en-US"/>
          </a:p>
        </p:txBody>
      </p:sp>
      <p:sp>
        <p:nvSpPr>
          <p:cNvPr id="19492" name="Rectangle 40">
            <a:extLst>
              <a:ext uri="{FF2B5EF4-FFF2-40B4-BE49-F238E27FC236}">
                <a16:creationId xmlns:a16="http://schemas.microsoft.com/office/drawing/2014/main" id="{7B6ABC54-BA50-42D6-A068-57E21E626EA0}"/>
              </a:ext>
            </a:extLst>
          </p:cNvPr>
          <p:cNvSpPr>
            <a:spLocks noChangeArrowheads="1"/>
          </p:cNvSpPr>
          <p:nvPr/>
        </p:nvSpPr>
        <p:spPr bwMode="auto">
          <a:xfrm>
            <a:off x="3984626" y="3605213"/>
            <a:ext cx="428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en-US" altLang="en-US"/>
          </a:p>
        </p:txBody>
      </p:sp>
      <p:sp>
        <p:nvSpPr>
          <p:cNvPr id="19493" name="Rectangle 41">
            <a:extLst>
              <a:ext uri="{FF2B5EF4-FFF2-40B4-BE49-F238E27FC236}">
                <a16:creationId xmlns:a16="http://schemas.microsoft.com/office/drawing/2014/main" id="{9F912EE8-C9C0-4EF1-94EA-653F37A853DF}"/>
              </a:ext>
            </a:extLst>
          </p:cNvPr>
          <p:cNvSpPr>
            <a:spLocks noChangeArrowheads="1"/>
          </p:cNvSpPr>
          <p:nvPr/>
        </p:nvSpPr>
        <p:spPr bwMode="auto">
          <a:xfrm>
            <a:off x="4030663" y="3605213"/>
            <a:ext cx="341312"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065  </a:t>
            </a:r>
            <a:endParaRPr lang="en-US" altLang="en-US"/>
          </a:p>
        </p:txBody>
      </p:sp>
      <p:sp>
        <p:nvSpPr>
          <p:cNvPr id="19494" name="Rectangle 42">
            <a:extLst>
              <a:ext uri="{FF2B5EF4-FFF2-40B4-BE49-F238E27FC236}">
                <a16:creationId xmlns:a16="http://schemas.microsoft.com/office/drawing/2014/main" id="{793A1F25-962F-4EBD-A65C-EE6CBAB1FBC2}"/>
              </a:ext>
            </a:extLst>
          </p:cNvPr>
          <p:cNvSpPr>
            <a:spLocks noChangeArrowheads="1"/>
          </p:cNvSpPr>
          <p:nvPr/>
        </p:nvSpPr>
        <p:spPr bwMode="auto">
          <a:xfrm>
            <a:off x="4411663" y="3605213"/>
            <a:ext cx="4328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en-US" altLang="en-US"/>
          </a:p>
        </p:txBody>
      </p:sp>
      <p:sp>
        <p:nvSpPr>
          <p:cNvPr id="19495" name="Rectangle 43">
            <a:extLst>
              <a:ext uri="{FF2B5EF4-FFF2-40B4-BE49-F238E27FC236}">
                <a16:creationId xmlns:a16="http://schemas.microsoft.com/office/drawing/2014/main" id="{C0DABD62-9B69-4B65-BE4F-76013914D0F6}"/>
              </a:ext>
            </a:extLst>
          </p:cNvPr>
          <p:cNvSpPr>
            <a:spLocks noChangeArrowheads="1"/>
          </p:cNvSpPr>
          <p:nvPr/>
        </p:nvSpPr>
        <p:spPr bwMode="auto">
          <a:xfrm>
            <a:off x="4457701" y="3605213"/>
            <a:ext cx="34131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078  </a:t>
            </a:r>
            <a:endParaRPr lang="en-US" altLang="en-US"/>
          </a:p>
        </p:txBody>
      </p:sp>
      <p:sp>
        <p:nvSpPr>
          <p:cNvPr id="19496" name="Rectangle 44">
            <a:extLst>
              <a:ext uri="{FF2B5EF4-FFF2-40B4-BE49-F238E27FC236}">
                <a16:creationId xmlns:a16="http://schemas.microsoft.com/office/drawing/2014/main" id="{E76FBD66-07B0-4A59-8D17-22A85A2EEF53}"/>
              </a:ext>
            </a:extLst>
          </p:cNvPr>
          <p:cNvSpPr>
            <a:spLocks noChangeArrowheads="1"/>
          </p:cNvSpPr>
          <p:nvPr/>
        </p:nvSpPr>
        <p:spPr bwMode="auto">
          <a:xfrm>
            <a:off x="4829176" y="3605213"/>
            <a:ext cx="428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t>
            </a:r>
            <a:endParaRPr lang="en-US" altLang="en-US"/>
          </a:p>
        </p:txBody>
      </p:sp>
      <p:sp>
        <p:nvSpPr>
          <p:cNvPr id="19497" name="Rectangle 45">
            <a:extLst>
              <a:ext uri="{FF2B5EF4-FFF2-40B4-BE49-F238E27FC236}">
                <a16:creationId xmlns:a16="http://schemas.microsoft.com/office/drawing/2014/main" id="{8F52128A-2E50-4EC8-A82F-EEA5ACCF8500}"/>
              </a:ext>
            </a:extLst>
          </p:cNvPr>
          <p:cNvSpPr>
            <a:spLocks noChangeArrowheads="1"/>
          </p:cNvSpPr>
          <p:nvPr/>
        </p:nvSpPr>
        <p:spPr bwMode="auto">
          <a:xfrm>
            <a:off x="4883150" y="3605213"/>
            <a:ext cx="2555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091</a:t>
            </a:r>
            <a:endParaRPr lang="en-US" altLang="en-US"/>
          </a:p>
        </p:txBody>
      </p:sp>
      <p:sp>
        <p:nvSpPr>
          <p:cNvPr id="19498" name="Line 46">
            <a:extLst>
              <a:ext uri="{FF2B5EF4-FFF2-40B4-BE49-F238E27FC236}">
                <a16:creationId xmlns:a16="http://schemas.microsoft.com/office/drawing/2014/main" id="{2C3EF877-90DF-4CB0-A04C-E34186B0C6DC}"/>
              </a:ext>
            </a:extLst>
          </p:cNvPr>
          <p:cNvSpPr>
            <a:spLocks noChangeShapeType="1"/>
          </p:cNvSpPr>
          <p:nvPr/>
        </p:nvSpPr>
        <p:spPr bwMode="auto">
          <a:xfrm>
            <a:off x="2997201" y="2322514"/>
            <a:ext cx="2189163" cy="1587"/>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9" name="Line 47">
            <a:extLst>
              <a:ext uri="{FF2B5EF4-FFF2-40B4-BE49-F238E27FC236}">
                <a16:creationId xmlns:a16="http://schemas.microsoft.com/office/drawing/2014/main" id="{AF5125B7-3C6E-4883-98D1-4E61724C1F8F}"/>
              </a:ext>
            </a:extLst>
          </p:cNvPr>
          <p:cNvSpPr>
            <a:spLocks noChangeShapeType="1"/>
          </p:cNvSpPr>
          <p:nvPr/>
        </p:nvSpPr>
        <p:spPr bwMode="auto">
          <a:xfrm>
            <a:off x="2997201" y="2644775"/>
            <a:ext cx="2189163" cy="1588"/>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0" name="Line 48">
            <a:extLst>
              <a:ext uri="{FF2B5EF4-FFF2-40B4-BE49-F238E27FC236}">
                <a16:creationId xmlns:a16="http://schemas.microsoft.com/office/drawing/2014/main" id="{29297DB5-47B1-47F2-B81B-4D9D818FA025}"/>
              </a:ext>
            </a:extLst>
          </p:cNvPr>
          <p:cNvSpPr>
            <a:spLocks noChangeShapeType="1"/>
          </p:cNvSpPr>
          <p:nvPr/>
        </p:nvSpPr>
        <p:spPr bwMode="auto">
          <a:xfrm>
            <a:off x="3060701" y="2967039"/>
            <a:ext cx="2189163" cy="1587"/>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1" name="Line 49">
            <a:extLst>
              <a:ext uri="{FF2B5EF4-FFF2-40B4-BE49-F238E27FC236}">
                <a16:creationId xmlns:a16="http://schemas.microsoft.com/office/drawing/2014/main" id="{A06BB481-11DF-4BC3-847F-5F5F50431CDB}"/>
              </a:ext>
            </a:extLst>
          </p:cNvPr>
          <p:cNvSpPr>
            <a:spLocks noChangeShapeType="1"/>
          </p:cNvSpPr>
          <p:nvPr/>
        </p:nvSpPr>
        <p:spPr bwMode="auto">
          <a:xfrm>
            <a:off x="3059113" y="3281364"/>
            <a:ext cx="2189162" cy="1587"/>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2" name="Line 50">
            <a:extLst>
              <a:ext uri="{FF2B5EF4-FFF2-40B4-BE49-F238E27FC236}">
                <a16:creationId xmlns:a16="http://schemas.microsoft.com/office/drawing/2014/main" id="{B0F670E5-2AF0-4907-A0FC-925BD616AE2D}"/>
              </a:ext>
            </a:extLst>
          </p:cNvPr>
          <p:cNvSpPr>
            <a:spLocks noChangeShapeType="1"/>
          </p:cNvSpPr>
          <p:nvPr/>
        </p:nvSpPr>
        <p:spPr bwMode="auto">
          <a:xfrm>
            <a:off x="5183189" y="2300288"/>
            <a:ext cx="1587" cy="1274762"/>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3" name="Line 51">
            <a:extLst>
              <a:ext uri="{FF2B5EF4-FFF2-40B4-BE49-F238E27FC236}">
                <a16:creationId xmlns:a16="http://schemas.microsoft.com/office/drawing/2014/main" id="{5F5212A2-8564-456F-80F4-5B108DA2B63E}"/>
              </a:ext>
            </a:extLst>
          </p:cNvPr>
          <p:cNvSpPr>
            <a:spLocks noChangeShapeType="1"/>
          </p:cNvSpPr>
          <p:nvPr/>
        </p:nvSpPr>
        <p:spPr bwMode="auto">
          <a:xfrm>
            <a:off x="4821239" y="2328863"/>
            <a:ext cx="1587" cy="1268412"/>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4" name="Line 52">
            <a:extLst>
              <a:ext uri="{FF2B5EF4-FFF2-40B4-BE49-F238E27FC236}">
                <a16:creationId xmlns:a16="http://schemas.microsoft.com/office/drawing/2014/main" id="{BB12F9E9-1C83-482D-8A01-2C71DC3991C4}"/>
              </a:ext>
            </a:extLst>
          </p:cNvPr>
          <p:cNvSpPr>
            <a:spLocks noChangeShapeType="1"/>
          </p:cNvSpPr>
          <p:nvPr/>
        </p:nvSpPr>
        <p:spPr bwMode="auto">
          <a:xfrm>
            <a:off x="4381500" y="2328863"/>
            <a:ext cx="1588" cy="1274762"/>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5" name="Line 53">
            <a:extLst>
              <a:ext uri="{FF2B5EF4-FFF2-40B4-BE49-F238E27FC236}">
                <a16:creationId xmlns:a16="http://schemas.microsoft.com/office/drawing/2014/main" id="{5BDBB75C-5689-44FF-838C-5BF4E633638B}"/>
              </a:ext>
            </a:extLst>
          </p:cNvPr>
          <p:cNvSpPr>
            <a:spLocks noChangeShapeType="1"/>
          </p:cNvSpPr>
          <p:nvPr/>
        </p:nvSpPr>
        <p:spPr bwMode="auto">
          <a:xfrm>
            <a:off x="3944939" y="2328863"/>
            <a:ext cx="1587" cy="1274762"/>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6" name="Line 54">
            <a:extLst>
              <a:ext uri="{FF2B5EF4-FFF2-40B4-BE49-F238E27FC236}">
                <a16:creationId xmlns:a16="http://schemas.microsoft.com/office/drawing/2014/main" id="{91B93125-F4DF-4898-8555-3AC47010FE7B}"/>
              </a:ext>
            </a:extLst>
          </p:cNvPr>
          <p:cNvSpPr>
            <a:spLocks noChangeShapeType="1"/>
          </p:cNvSpPr>
          <p:nvPr/>
        </p:nvSpPr>
        <p:spPr bwMode="auto">
          <a:xfrm>
            <a:off x="3506789" y="2328863"/>
            <a:ext cx="1587" cy="1274762"/>
          </a:xfrm>
          <a:prstGeom prst="line">
            <a:avLst/>
          </a:prstGeom>
          <a:noFill/>
          <a:ln w="6"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Rectangle 648">
            <a:extLst>
              <a:ext uri="{FF2B5EF4-FFF2-40B4-BE49-F238E27FC236}">
                <a16:creationId xmlns:a16="http://schemas.microsoft.com/office/drawing/2014/main" id="{64C3ECCC-936D-4D70-AC95-DE5431B1EAD7}"/>
              </a:ext>
            </a:extLst>
          </p:cNvPr>
          <p:cNvSpPr>
            <a:spLocks noChangeArrowheads="1"/>
          </p:cNvSpPr>
          <p:nvPr/>
        </p:nvSpPr>
        <p:spPr bwMode="auto">
          <a:xfrm>
            <a:off x="2011363" y="5041900"/>
            <a:ext cx="5943600" cy="584200"/>
          </a:xfrm>
          <a:prstGeom prst="rect">
            <a:avLst/>
          </a:prstGeom>
          <a:solidFill>
            <a:schemeClr val="accent1"/>
          </a:solidFill>
          <a:ln/>
          <a:effectLst/>
        </p:spPr>
        <p:style>
          <a:lnRef idx="1">
            <a:schemeClr val="accent1"/>
          </a:lnRef>
          <a:fillRef idx="2">
            <a:schemeClr val="accent1"/>
          </a:fillRef>
          <a:effectRef idx="1">
            <a:schemeClr val="accent1"/>
          </a:effectRef>
          <a:fontRef idx="minor">
            <a:schemeClr val="dk1"/>
          </a:fontRef>
        </p:style>
        <p:txBody>
          <a:bodyPr>
            <a:spAutoFit/>
          </a:bodyPr>
          <a:lstStyle/>
          <a:p>
            <a:pPr eaLnBrk="1" hangingPunct="1">
              <a:defRPr/>
            </a:pPr>
            <a:r>
              <a:rPr lang="en-US" sz="1600" dirty="0">
                <a:solidFill>
                  <a:schemeClr val="bg1"/>
                </a:solidFill>
              </a:rPr>
              <a:t>Linear Delay model:</a:t>
            </a:r>
          </a:p>
          <a:p>
            <a:pPr eaLnBrk="1" hangingPunct="1">
              <a:defRPr/>
            </a:pPr>
            <a:r>
              <a:rPr lang="en-US" sz="1600" dirty="0">
                <a:solidFill>
                  <a:schemeClr val="bg1"/>
                </a:solidFill>
              </a:rPr>
              <a:t>Delay = Intrinsic Delay + </a:t>
            </a:r>
            <a:r>
              <a:rPr lang="en-US" sz="1600" dirty="0" err="1">
                <a:solidFill>
                  <a:schemeClr val="bg1"/>
                </a:solidFill>
              </a:rPr>
              <a:t>Slope_factor</a:t>
            </a:r>
            <a:r>
              <a:rPr lang="en-US" sz="1600" dirty="0">
                <a:solidFill>
                  <a:schemeClr val="bg1"/>
                </a:solidFill>
              </a:rPr>
              <a:t> * Load(Cap)</a:t>
            </a:r>
          </a:p>
        </p:txBody>
      </p:sp>
      <p:graphicFrame>
        <p:nvGraphicFramePr>
          <p:cNvPr id="3" name="Table 2">
            <a:extLst>
              <a:ext uri="{FF2B5EF4-FFF2-40B4-BE49-F238E27FC236}">
                <a16:creationId xmlns:a16="http://schemas.microsoft.com/office/drawing/2014/main" id="{1CDC6011-36D1-4D48-A16E-BB9A7F3F48E0}"/>
              </a:ext>
            </a:extLst>
          </p:cNvPr>
          <p:cNvGraphicFramePr>
            <a:graphicFrameLocks noGrp="1"/>
          </p:cNvGraphicFramePr>
          <p:nvPr/>
        </p:nvGraphicFramePr>
        <p:xfrm>
          <a:off x="3138488" y="2379663"/>
          <a:ext cx="2044700" cy="1154112"/>
        </p:xfrm>
        <a:graphic>
          <a:graphicData uri="http://schemas.openxmlformats.org/drawingml/2006/table">
            <a:tbl>
              <a:tblPr firstRow="1" bandRow="1">
                <a:tableStyleId>{5C22544A-7EE6-4342-B048-85BDC9FD1C3A}</a:tableStyleId>
              </a:tblPr>
              <a:tblGrid>
                <a:gridCol w="408940">
                  <a:extLst>
                    <a:ext uri="{9D8B030D-6E8A-4147-A177-3AD203B41FA5}">
                      <a16:colId xmlns:a16="http://schemas.microsoft.com/office/drawing/2014/main" val="20000"/>
                    </a:ext>
                  </a:extLst>
                </a:gridCol>
                <a:gridCol w="408940">
                  <a:extLst>
                    <a:ext uri="{9D8B030D-6E8A-4147-A177-3AD203B41FA5}">
                      <a16:colId xmlns:a16="http://schemas.microsoft.com/office/drawing/2014/main" val="20001"/>
                    </a:ext>
                  </a:extLst>
                </a:gridCol>
                <a:gridCol w="408940">
                  <a:extLst>
                    <a:ext uri="{9D8B030D-6E8A-4147-A177-3AD203B41FA5}">
                      <a16:colId xmlns:a16="http://schemas.microsoft.com/office/drawing/2014/main" val="20002"/>
                    </a:ext>
                  </a:extLst>
                </a:gridCol>
                <a:gridCol w="408940">
                  <a:extLst>
                    <a:ext uri="{9D8B030D-6E8A-4147-A177-3AD203B41FA5}">
                      <a16:colId xmlns:a16="http://schemas.microsoft.com/office/drawing/2014/main" val="20003"/>
                    </a:ext>
                  </a:extLst>
                </a:gridCol>
                <a:gridCol w="408940">
                  <a:extLst>
                    <a:ext uri="{9D8B030D-6E8A-4147-A177-3AD203B41FA5}">
                      <a16:colId xmlns:a16="http://schemas.microsoft.com/office/drawing/2014/main" val="20004"/>
                    </a:ext>
                  </a:extLst>
                </a:gridCol>
              </a:tblGrid>
              <a:tr h="288528">
                <a:tc>
                  <a:txBody>
                    <a:bodyPr/>
                    <a:lstStyle/>
                    <a:p>
                      <a:r>
                        <a:rPr lang="en-US" sz="900" b="0" dirty="0">
                          <a:solidFill>
                            <a:schemeClr val="tx1"/>
                          </a:solidFill>
                        </a:rPr>
                        <a:t>0.25</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0.27</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0.31</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0.33</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8528">
                <a:tc>
                  <a:txBody>
                    <a:bodyPr/>
                    <a:lstStyle/>
                    <a:p>
                      <a:r>
                        <a:rPr lang="en-US" sz="900" b="0" dirty="0">
                          <a:solidFill>
                            <a:schemeClr val="tx1"/>
                          </a:solidFill>
                        </a:rPr>
                        <a:t>0.26</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0.28</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0.29</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0.31</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0.35</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528">
                <a:tc>
                  <a:txBody>
                    <a:bodyPr/>
                    <a:lstStyle/>
                    <a:p>
                      <a:r>
                        <a:rPr lang="en-US" sz="900" b="0" dirty="0">
                          <a:solidFill>
                            <a:schemeClr val="tx1"/>
                          </a:solidFill>
                        </a:rPr>
                        <a:t>0.35</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0.37</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0.39</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0.41</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0.45</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528">
                <a:tc>
                  <a:txBody>
                    <a:bodyPr/>
                    <a:lstStyle/>
                    <a:p>
                      <a:r>
                        <a:rPr lang="en-US" sz="900" b="0" dirty="0">
                          <a:solidFill>
                            <a:schemeClr val="tx1"/>
                          </a:solidFill>
                        </a:rPr>
                        <a:t>0.40</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0.41</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0.43</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0.48</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rPr>
                        <a:t>0.51</a:t>
                      </a:r>
                    </a:p>
                  </a:txBody>
                  <a:tcPr marT="45695" marB="4569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pSp>
        <p:nvGrpSpPr>
          <p:cNvPr id="2" name="Group 1">
            <a:extLst>
              <a:ext uri="{FF2B5EF4-FFF2-40B4-BE49-F238E27FC236}">
                <a16:creationId xmlns:a16="http://schemas.microsoft.com/office/drawing/2014/main" id="{E09D00F5-8F03-3412-555F-27FE8DF5CE5C}"/>
              </a:ext>
            </a:extLst>
          </p:cNvPr>
          <p:cNvGrpSpPr/>
          <p:nvPr/>
        </p:nvGrpSpPr>
        <p:grpSpPr>
          <a:xfrm>
            <a:off x="6172201" y="2027238"/>
            <a:ext cx="3794125" cy="1530994"/>
            <a:chOff x="6172201" y="2027238"/>
            <a:chExt cx="3794125" cy="1530994"/>
          </a:xfrm>
        </p:grpSpPr>
        <p:sp>
          <p:nvSpPr>
            <p:cNvPr id="19531" name="Freeform 11">
              <a:extLst>
                <a:ext uri="{FF2B5EF4-FFF2-40B4-BE49-F238E27FC236}">
                  <a16:creationId xmlns:a16="http://schemas.microsoft.com/office/drawing/2014/main" id="{ED8F8AE3-5E09-416A-B4CE-521A9D74D4FD}"/>
                </a:ext>
              </a:extLst>
            </p:cNvPr>
            <p:cNvSpPr>
              <a:spLocks/>
            </p:cNvSpPr>
            <p:nvPr/>
          </p:nvSpPr>
          <p:spPr bwMode="auto">
            <a:xfrm>
              <a:off x="6172201" y="2027238"/>
              <a:ext cx="1157288" cy="565150"/>
            </a:xfrm>
            <a:custGeom>
              <a:avLst/>
              <a:gdLst>
                <a:gd name="T0" fmla="*/ 0 w 503245"/>
                <a:gd name="T1" fmla="*/ 2147483646 h 196669"/>
                <a:gd name="T2" fmla="*/ 2147483646 w 503245"/>
                <a:gd name="T3" fmla="*/ 2147483646 h 196669"/>
                <a:gd name="T4" fmla="*/ 2147483646 w 503245"/>
                <a:gd name="T5" fmla="*/ 2147483646 h 196669"/>
                <a:gd name="T6" fmla="*/ 2147483646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19539" name="Group 2">
              <a:extLst>
                <a:ext uri="{FF2B5EF4-FFF2-40B4-BE49-F238E27FC236}">
                  <a16:creationId xmlns:a16="http://schemas.microsoft.com/office/drawing/2014/main" id="{EA0BD5A3-5E74-4BCF-89A2-932F57F3FBB8}"/>
                </a:ext>
              </a:extLst>
            </p:cNvPr>
            <p:cNvGrpSpPr>
              <a:grpSpLocks/>
            </p:cNvGrpSpPr>
            <p:nvPr/>
          </p:nvGrpSpPr>
          <p:grpSpPr bwMode="auto">
            <a:xfrm>
              <a:off x="8392560" y="2089150"/>
              <a:ext cx="751989" cy="615496"/>
              <a:chOff x="5282492" y="2872128"/>
              <a:chExt cx="374678" cy="307240"/>
            </a:xfrm>
          </p:grpSpPr>
          <p:sp>
            <p:nvSpPr>
              <p:cNvPr id="19548" name="Flowchart: Extract 3">
                <a:extLst>
                  <a:ext uri="{FF2B5EF4-FFF2-40B4-BE49-F238E27FC236}">
                    <a16:creationId xmlns:a16="http://schemas.microsoft.com/office/drawing/2014/main" id="{056B41D8-4713-4D13-8DAE-376176DA4AF3}"/>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549" name="Flowchart: Connector 4">
                <a:extLst>
                  <a:ext uri="{FF2B5EF4-FFF2-40B4-BE49-F238E27FC236}">
                    <a16:creationId xmlns:a16="http://schemas.microsoft.com/office/drawing/2014/main" id="{989DDA50-732A-4F2E-B85D-9ABC8D91C3A3}"/>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9540" name="Group 5">
              <a:extLst>
                <a:ext uri="{FF2B5EF4-FFF2-40B4-BE49-F238E27FC236}">
                  <a16:creationId xmlns:a16="http://schemas.microsoft.com/office/drawing/2014/main" id="{31494B4F-4BB4-486C-9BAB-202B0F5D332C}"/>
                </a:ext>
              </a:extLst>
            </p:cNvPr>
            <p:cNvGrpSpPr>
              <a:grpSpLocks/>
            </p:cNvGrpSpPr>
            <p:nvPr/>
          </p:nvGrpSpPr>
          <p:grpSpPr bwMode="auto">
            <a:xfrm>
              <a:off x="9580927" y="2400131"/>
              <a:ext cx="385399" cy="846307"/>
              <a:chOff x="4744668" y="3352190"/>
              <a:chExt cx="115215" cy="345645"/>
            </a:xfrm>
          </p:grpSpPr>
          <p:cxnSp>
            <p:nvCxnSpPr>
              <p:cNvPr id="19543" name="Straight Connector 6">
                <a:extLst>
                  <a:ext uri="{FF2B5EF4-FFF2-40B4-BE49-F238E27FC236}">
                    <a16:creationId xmlns:a16="http://schemas.microsoft.com/office/drawing/2014/main" id="{F452E5F6-D24D-4B27-9758-6907953987B7}"/>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44" name="Straight Connector 7">
                <a:extLst>
                  <a:ext uri="{FF2B5EF4-FFF2-40B4-BE49-F238E27FC236}">
                    <a16:creationId xmlns:a16="http://schemas.microsoft.com/office/drawing/2014/main" id="{B11DA4B0-3D73-4DF2-84F5-E048F3FF6E3B}"/>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45" name="Straight Connector 8">
                <a:extLst>
                  <a:ext uri="{FF2B5EF4-FFF2-40B4-BE49-F238E27FC236}">
                    <a16:creationId xmlns:a16="http://schemas.microsoft.com/office/drawing/2014/main" id="{8BE2A251-6B7A-4A70-9405-387B225A203B}"/>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46" name="Straight Connector 9">
                <a:extLst>
                  <a:ext uri="{FF2B5EF4-FFF2-40B4-BE49-F238E27FC236}">
                    <a16:creationId xmlns:a16="http://schemas.microsoft.com/office/drawing/2014/main" id="{9EEEACC0-FF18-4E6D-B5E0-0F6208BF7976}"/>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47" name="Straight Connector 10">
                <a:extLst>
                  <a:ext uri="{FF2B5EF4-FFF2-40B4-BE49-F238E27FC236}">
                    <a16:creationId xmlns:a16="http://schemas.microsoft.com/office/drawing/2014/main" id="{38851C47-5205-4BAD-A1F4-8F19EC685ED2}"/>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19541" name="Straight Connector 15">
              <a:extLst>
                <a:ext uri="{FF2B5EF4-FFF2-40B4-BE49-F238E27FC236}">
                  <a16:creationId xmlns:a16="http://schemas.microsoft.com/office/drawing/2014/main" id="{71E39961-B16C-4DAD-ADD7-4A8800A4EDE2}"/>
                </a:ext>
              </a:extLst>
            </p:cNvPr>
            <p:cNvCxnSpPr>
              <a:cxnSpLocks noChangeShapeType="1"/>
              <a:endCxn id="19548" idx="2"/>
            </p:cNvCxnSpPr>
            <p:nvPr/>
          </p:nvCxnSpPr>
          <p:spPr bwMode="auto">
            <a:xfrm flipV="1">
              <a:off x="7467601" y="2396898"/>
              <a:ext cx="924961"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42" name="Straight Connector 17">
              <a:extLst>
                <a:ext uri="{FF2B5EF4-FFF2-40B4-BE49-F238E27FC236}">
                  <a16:creationId xmlns:a16="http://schemas.microsoft.com/office/drawing/2014/main" id="{B6002095-32B2-493F-940F-204FB9F3A78D}"/>
                </a:ext>
              </a:extLst>
            </p:cNvPr>
            <p:cNvCxnSpPr>
              <a:cxnSpLocks noChangeShapeType="1"/>
              <a:stCxn id="19549" idx="6"/>
            </p:cNvCxnSpPr>
            <p:nvPr/>
          </p:nvCxnSpPr>
          <p:spPr bwMode="auto">
            <a:xfrm>
              <a:off x="9144549" y="2396898"/>
              <a:ext cx="635449"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33" name="Straight Connector 22">
              <a:extLst>
                <a:ext uri="{FF2B5EF4-FFF2-40B4-BE49-F238E27FC236}">
                  <a16:creationId xmlns:a16="http://schemas.microsoft.com/office/drawing/2014/main" id="{075211C3-FFD9-4036-96A0-B253C2D6A66C}"/>
                </a:ext>
              </a:extLst>
            </p:cNvPr>
            <p:cNvCxnSpPr>
              <a:cxnSpLocks noChangeShapeType="1"/>
              <a:stCxn id="19531" idx="1"/>
            </p:cNvCxnSpPr>
            <p:nvPr/>
          </p:nvCxnSpPr>
          <p:spPr bwMode="auto">
            <a:xfrm flipH="1">
              <a:off x="6637339" y="2589213"/>
              <a:ext cx="0" cy="4651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34" name="Straight Connector 23">
              <a:extLst>
                <a:ext uri="{FF2B5EF4-FFF2-40B4-BE49-F238E27FC236}">
                  <a16:creationId xmlns:a16="http://schemas.microsoft.com/office/drawing/2014/main" id="{F6C3AE66-5ABA-49E5-A7D3-6ED2A963F8F3}"/>
                </a:ext>
              </a:extLst>
            </p:cNvPr>
            <p:cNvCxnSpPr>
              <a:cxnSpLocks noChangeShapeType="1"/>
              <a:stCxn id="19531" idx="2"/>
            </p:cNvCxnSpPr>
            <p:nvPr/>
          </p:nvCxnSpPr>
          <p:spPr bwMode="auto">
            <a:xfrm>
              <a:off x="6962776" y="2027238"/>
              <a:ext cx="0" cy="1020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535" name="Straight Arrow Connector 31">
              <a:extLst>
                <a:ext uri="{FF2B5EF4-FFF2-40B4-BE49-F238E27FC236}">
                  <a16:creationId xmlns:a16="http://schemas.microsoft.com/office/drawing/2014/main" id="{BFC09D74-E16F-4216-8EE8-603123E3DCFC}"/>
                </a:ext>
              </a:extLst>
            </p:cNvPr>
            <p:cNvCxnSpPr>
              <a:cxnSpLocks noChangeShapeType="1"/>
            </p:cNvCxnSpPr>
            <p:nvPr/>
          </p:nvCxnSpPr>
          <p:spPr bwMode="auto">
            <a:xfrm>
              <a:off x="6319839" y="2900363"/>
              <a:ext cx="307975"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536" name="Straight Arrow Connector 32">
              <a:extLst>
                <a:ext uri="{FF2B5EF4-FFF2-40B4-BE49-F238E27FC236}">
                  <a16:creationId xmlns:a16="http://schemas.microsoft.com/office/drawing/2014/main" id="{B89D59E3-9D20-4ABC-98A1-438CF59E9415}"/>
                </a:ext>
              </a:extLst>
            </p:cNvPr>
            <p:cNvCxnSpPr>
              <a:cxnSpLocks noChangeShapeType="1"/>
            </p:cNvCxnSpPr>
            <p:nvPr/>
          </p:nvCxnSpPr>
          <p:spPr bwMode="auto">
            <a:xfrm>
              <a:off x="6962776" y="2900363"/>
              <a:ext cx="309563" cy="0"/>
            </a:xfrm>
            <a:prstGeom prst="straightConnector1">
              <a:avLst/>
            </a:prstGeom>
            <a:noFill/>
            <a:ln w="9525" algn="ctr">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19537" name="TextBox 33">
              <a:extLst>
                <a:ext uri="{FF2B5EF4-FFF2-40B4-BE49-F238E27FC236}">
                  <a16:creationId xmlns:a16="http://schemas.microsoft.com/office/drawing/2014/main" id="{F48440E0-944C-4DA2-BA9B-1E5269FFE49A}"/>
                </a:ext>
              </a:extLst>
            </p:cNvPr>
            <p:cNvSpPr txBox="1">
              <a:spLocks noChangeArrowheads="1"/>
            </p:cNvSpPr>
            <p:nvPr/>
          </p:nvSpPr>
          <p:spPr bwMode="auto">
            <a:xfrm>
              <a:off x="6599239" y="3046413"/>
              <a:ext cx="70403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a:t>Input slew</a:t>
              </a:r>
            </a:p>
          </p:txBody>
        </p:sp>
        <p:sp>
          <p:nvSpPr>
            <p:cNvPr id="19538" name="TextBox 33">
              <a:extLst>
                <a:ext uri="{FF2B5EF4-FFF2-40B4-BE49-F238E27FC236}">
                  <a16:creationId xmlns:a16="http://schemas.microsoft.com/office/drawing/2014/main" id="{89E2DD4C-F0D7-4296-BFD8-A2A0713831A2}"/>
                </a:ext>
              </a:extLst>
            </p:cNvPr>
            <p:cNvSpPr txBox="1">
              <a:spLocks noChangeArrowheads="1"/>
            </p:cNvSpPr>
            <p:nvPr/>
          </p:nvSpPr>
          <p:spPr bwMode="auto">
            <a:xfrm>
              <a:off x="9029701" y="3327400"/>
              <a:ext cx="7489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900"/>
                <a:t>Output cap</a:t>
              </a:r>
            </a:p>
          </p:txBody>
        </p:sp>
      </p:grpSp>
      <p:sp>
        <p:nvSpPr>
          <p:cNvPr id="613" name="Text Box 19">
            <a:extLst>
              <a:ext uri="{FF2B5EF4-FFF2-40B4-BE49-F238E27FC236}">
                <a16:creationId xmlns:a16="http://schemas.microsoft.com/office/drawing/2014/main" id="{65510AFE-7399-493E-9B89-9C2E26738074}"/>
              </a:ext>
            </a:extLst>
          </p:cNvPr>
          <p:cNvSpPr txBox="1">
            <a:spLocks noChangeArrowheads="1"/>
          </p:cNvSpPr>
          <p:nvPr/>
        </p:nvSpPr>
        <p:spPr bwMode="auto">
          <a:xfrm>
            <a:off x="6592888" y="4064000"/>
            <a:ext cx="3600450" cy="584200"/>
          </a:xfrm>
          <a:prstGeom prst="rect">
            <a:avLst/>
          </a:prstGeom>
          <a:solidFill>
            <a:schemeClr val="accent1"/>
          </a:solidFill>
          <a:ln>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eaLnBrk="1" hangingPunct="1">
              <a:defRPr/>
            </a:pPr>
            <a:r>
              <a:rPr lang="en-US" sz="1600" dirty="0">
                <a:solidFill>
                  <a:schemeClr val="bg1"/>
                </a:solidFill>
              </a:rPr>
              <a:t>Delay/Power are measured as function of input slew and output cap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ABFB-90E1-41F0-9C3B-782B6DBED8AF}"/>
              </a:ext>
            </a:extLst>
          </p:cNvPr>
          <p:cNvSpPr>
            <a:spLocks noGrp="1"/>
          </p:cNvSpPr>
          <p:nvPr>
            <p:ph type="title"/>
          </p:nvPr>
        </p:nvSpPr>
        <p:spPr/>
        <p:txBody>
          <a:bodyPr/>
          <a:lstStyle/>
          <a:p>
            <a:r>
              <a:rPr lang="en-US" dirty="0"/>
              <a:t>Composite Current Source Model (CCS)</a:t>
            </a:r>
          </a:p>
        </p:txBody>
      </p:sp>
      <p:grpSp>
        <p:nvGrpSpPr>
          <p:cNvPr id="50" name="Group 49">
            <a:extLst>
              <a:ext uri="{FF2B5EF4-FFF2-40B4-BE49-F238E27FC236}">
                <a16:creationId xmlns:a16="http://schemas.microsoft.com/office/drawing/2014/main" id="{386CF596-B785-8B00-F4DC-9207EF0101C5}"/>
              </a:ext>
            </a:extLst>
          </p:cNvPr>
          <p:cNvGrpSpPr/>
          <p:nvPr/>
        </p:nvGrpSpPr>
        <p:grpSpPr>
          <a:xfrm>
            <a:off x="2585625" y="1647825"/>
            <a:ext cx="7020750" cy="2190611"/>
            <a:chOff x="1189681" y="2247900"/>
            <a:chExt cx="7020750" cy="2190611"/>
          </a:xfrm>
        </p:grpSpPr>
        <p:grpSp>
          <p:nvGrpSpPr>
            <p:cNvPr id="46" name="Group 45">
              <a:extLst>
                <a:ext uri="{FF2B5EF4-FFF2-40B4-BE49-F238E27FC236}">
                  <a16:creationId xmlns:a16="http://schemas.microsoft.com/office/drawing/2014/main" id="{D7139CAF-CFFF-FCC7-AA16-F1571B483F7D}"/>
                </a:ext>
              </a:extLst>
            </p:cNvPr>
            <p:cNvGrpSpPr/>
            <p:nvPr/>
          </p:nvGrpSpPr>
          <p:grpSpPr>
            <a:xfrm>
              <a:off x="1189681" y="2247900"/>
              <a:ext cx="6970114" cy="2190611"/>
              <a:chOff x="2304106" y="2190750"/>
              <a:chExt cx="6970114" cy="2190611"/>
            </a:xfrm>
          </p:grpSpPr>
          <p:grpSp>
            <p:nvGrpSpPr>
              <p:cNvPr id="26" name="Group 25">
                <a:extLst>
                  <a:ext uri="{FF2B5EF4-FFF2-40B4-BE49-F238E27FC236}">
                    <a16:creationId xmlns:a16="http://schemas.microsoft.com/office/drawing/2014/main" id="{B1BE50D4-5527-5EDC-C9AB-780EC0230142}"/>
                  </a:ext>
                </a:extLst>
              </p:cNvPr>
              <p:cNvGrpSpPr/>
              <p:nvPr/>
            </p:nvGrpSpPr>
            <p:grpSpPr>
              <a:xfrm>
                <a:off x="2304106" y="3327149"/>
                <a:ext cx="787651" cy="787651"/>
                <a:chOff x="2308634" y="3576119"/>
                <a:chExt cx="787651" cy="787651"/>
              </a:xfrm>
            </p:grpSpPr>
            <p:sp>
              <p:nvSpPr>
                <p:cNvPr id="23" name="Oval 22">
                  <a:extLst>
                    <a:ext uri="{FF2B5EF4-FFF2-40B4-BE49-F238E27FC236}">
                      <a16:creationId xmlns:a16="http://schemas.microsoft.com/office/drawing/2014/main" id="{C8B3D6B0-9404-E729-EB65-0444C0B24EF8}"/>
                    </a:ext>
                  </a:extLst>
                </p:cNvPr>
                <p:cNvSpPr/>
                <p:nvPr/>
              </p:nvSpPr>
              <p:spPr>
                <a:xfrm>
                  <a:off x="2308634" y="3576119"/>
                  <a:ext cx="787651" cy="787651"/>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cxnSp>
              <p:nvCxnSpPr>
                <p:cNvPr id="25" name="Straight Arrow Connector 24">
                  <a:extLst>
                    <a:ext uri="{FF2B5EF4-FFF2-40B4-BE49-F238E27FC236}">
                      <a16:creationId xmlns:a16="http://schemas.microsoft.com/office/drawing/2014/main" id="{CF855A81-CCE0-F1C0-8D86-AA8EEA8FCFCC}"/>
                    </a:ext>
                  </a:extLst>
                </p:cNvPr>
                <p:cNvCxnSpPr/>
                <p:nvPr/>
              </p:nvCxnSpPr>
              <p:spPr>
                <a:xfrm flipV="1">
                  <a:off x="2697933" y="3720975"/>
                  <a:ext cx="0" cy="516048"/>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A4EFC83-4F65-ECCE-EE7C-FA0ECCA79A82}"/>
                  </a:ext>
                </a:extLst>
              </p:cNvPr>
              <p:cNvCxnSpPr>
                <a:cxnSpLocks/>
                <a:stCxn id="23" idx="4"/>
              </p:cNvCxnSpPr>
              <p:nvPr/>
            </p:nvCxnSpPr>
            <p:spPr>
              <a:xfrm>
                <a:off x="2697932" y="4114800"/>
                <a:ext cx="2264" cy="26656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A115D9-DCA7-2DEE-42A4-65A695860187}"/>
                  </a:ext>
                </a:extLst>
              </p:cNvPr>
              <p:cNvCxnSpPr>
                <a:cxnSpLocks/>
                <a:endCxn id="23" idx="0"/>
              </p:cNvCxnSpPr>
              <p:nvPr/>
            </p:nvCxnSpPr>
            <p:spPr>
              <a:xfrm flipH="1">
                <a:off x="2697932" y="2897109"/>
                <a:ext cx="4528" cy="43004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2CECF9E-A3FA-E611-2AD8-5DE6D2F6CF98}"/>
                  </a:ext>
                </a:extLst>
              </p:cNvPr>
              <p:cNvCxnSpPr>
                <a:cxnSpLocks/>
              </p:cNvCxnSpPr>
              <p:nvPr/>
            </p:nvCxnSpPr>
            <p:spPr>
              <a:xfrm flipH="1">
                <a:off x="2697933" y="2897109"/>
                <a:ext cx="18921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10">
                <a:extLst>
                  <a:ext uri="{FF2B5EF4-FFF2-40B4-BE49-F238E27FC236}">
                    <a16:creationId xmlns:a16="http://schemas.microsoft.com/office/drawing/2014/main" id="{4D6F8DE8-53C3-6CE3-1B10-FF0F322F74AF}"/>
                  </a:ext>
                </a:extLst>
              </p:cNvPr>
              <p:cNvCxnSpPr>
                <a:cxnSpLocks noChangeShapeType="1"/>
              </p:cNvCxnSpPr>
              <p:nvPr/>
            </p:nvCxnSpPr>
            <p:spPr bwMode="auto">
              <a:xfrm>
                <a:off x="2547260" y="4381361"/>
                <a:ext cx="305871"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sp>
            <p:nvSpPr>
              <p:cNvPr id="34" name="Rectangle 33">
                <a:extLst>
                  <a:ext uri="{FF2B5EF4-FFF2-40B4-BE49-F238E27FC236}">
                    <a16:creationId xmlns:a16="http://schemas.microsoft.com/office/drawing/2014/main" id="{ADECF78E-6C0C-B583-4334-C00285EB8F90}"/>
                  </a:ext>
                </a:extLst>
              </p:cNvPr>
              <p:cNvSpPr/>
              <p:nvPr/>
            </p:nvSpPr>
            <p:spPr>
              <a:xfrm>
                <a:off x="4314825" y="2190750"/>
                <a:ext cx="2752725" cy="21730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400" dirty="0"/>
                  <a:t>Network model</a:t>
                </a:r>
              </a:p>
            </p:txBody>
          </p:sp>
          <p:cxnSp>
            <p:nvCxnSpPr>
              <p:cNvPr id="36" name="Straight Connector 6">
                <a:extLst>
                  <a:ext uri="{FF2B5EF4-FFF2-40B4-BE49-F238E27FC236}">
                    <a16:creationId xmlns:a16="http://schemas.microsoft.com/office/drawing/2014/main" id="{C0B27AC9-8597-09C9-03B9-9026B7F7E67F}"/>
                  </a:ext>
                </a:extLst>
              </p:cNvPr>
              <p:cNvCxnSpPr>
                <a:cxnSpLocks noChangeShapeType="1"/>
              </p:cNvCxnSpPr>
              <p:nvPr/>
            </p:nvCxnSpPr>
            <p:spPr bwMode="auto">
              <a:xfrm rot="5400000">
                <a:off x="8606604" y="3225685"/>
                <a:ext cx="660386"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cxnSp>
            <p:nvCxnSpPr>
              <p:cNvPr id="37" name="Straight Connector 7">
                <a:extLst>
                  <a:ext uri="{FF2B5EF4-FFF2-40B4-BE49-F238E27FC236}">
                    <a16:creationId xmlns:a16="http://schemas.microsoft.com/office/drawing/2014/main" id="{D988C050-E657-E5D9-E57A-4CC4AA41F501}"/>
                  </a:ext>
                </a:extLst>
              </p:cNvPr>
              <p:cNvCxnSpPr>
                <a:cxnSpLocks noChangeShapeType="1"/>
              </p:cNvCxnSpPr>
              <p:nvPr/>
            </p:nvCxnSpPr>
            <p:spPr bwMode="auto">
              <a:xfrm>
                <a:off x="8597572" y="3555878"/>
                <a:ext cx="676648"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cxnSp>
            <p:nvCxnSpPr>
              <p:cNvPr id="38" name="Straight Connector 8">
                <a:extLst>
                  <a:ext uri="{FF2B5EF4-FFF2-40B4-BE49-F238E27FC236}">
                    <a16:creationId xmlns:a16="http://schemas.microsoft.com/office/drawing/2014/main" id="{7ED05569-5D3F-6110-5B76-A38C85C2994E}"/>
                  </a:ext>
                </a:extLst>
              </p:cNvPr>
              <p:cNvCxnSpPr>
                <a:cxnSpLocks noChangeShapeType="1"/>
              </p:cNvCxnSpPr>
              <p:nvPr/>
            </p:nvCxnSpPr>
            <p:spPr bwMode="auto">
              <a:xfrm>
                <a:off x="8597572" y="3720975"/>
                <a:ext cx="676648"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cxnSp>
            <p:nvCxnSpPr>
              <p:cNvPr id="39" name="Straight Connector 9">
                <a:extLst>
                  <a:ext uri="{FF2B5EF4-FFF2-40B4-BE49-F238E27FC236}">
                    <a16:creationId xmlns:a16="http://schemas.microsoft.com/office/drawing/2014/main" id="{36CF254A-1FFA-1D7B-B4E3-C0891681BAAF}"/>
                  </a:ext>
                </a:extLst>
              </p:cNvPr>
              <p:cNvCxnSpPr>
                <a:cxnSpLocks noChangeShapeType="1"/>
              </p:cNvCxnSpPr>
              <p:nvPr/>
            </p:nvCxnSpPr>
            <p:spPr bwMode="auto">
              <a:xfrm rot="5400000">
                <a:off x="8606610" y="4051168"/>
                <a:ext cx="660386"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cxnSp>
            <p:nvCxnSpPr>
              <p:cNvPr id="41" name="Straight Connector 10">
                <a:extLst>
                  <a:ext uri="{FF2B5EF4-FFF2-40B4-BE49-F238E27FC236}">
                    <a16:creationId xmlns:a16="http://schemas.microsoft.com/office/drawing/2014/main" id="{D6E997BB-1353-EF23-6C3D-926592895E83}"/>
                  </a:ext>
                </a:extLst>
              </p:cNvPr>
              <p:cNvCxnSpPr>
                <a:cxnSpLocks noChangeShapeType="1"/>
              </p:cNvCxnSpPr>
              <p:nvPr/>
            </p:nvCxnSpPr>
            <p:spPr bwMode="auto">
              <a:xfrm>
                <a:off x="8783861" y="4381361"/>
                <a:ext cx="305871" cy="0"/>
              </a:xfrm>
              <a:prstGeom prst="line">
                <a:avLst/>
              </a:prstGeom>
              <a:noFill/>
              <a:ln w="38100" algn="ctr">
                <a:solidFill>
                  <a:schemeClr val="accent1"/>
                </a:solidFill>
                <a:round/>
                <a:headEnd/>
                <a:tailEnd/>
              </a:ln>
              <a:extLst>
                <a:ext uri="{909E8E84-426E-40DD-AFC4-6F175D3DCCD1}">
                  <a14:hiddenFill xmlns:a14="http://schemas.microsoft.com/office/drawing/2010/main">
                    <a:noFill/>
                  </a14:hiddenFill>
                </a:ext>
              </a:extLst>
            </p:spPr>
          </p:cxnSp>
          <p:cxnSp>
            <p:nvCxnSpPr>
              <p:cNvPr id="42" name="Straight Connector 41">
                <a:extLst>
                  <a:ext uri="{FF2B5EF4-FFF2-40B4-BE49-F238E27FC236}">
                    <a16:creationId xmlns:a16="http://schemas.microsoft.com/office/drawing/2014/main" id="{E8F55205-8203-A639-447C-6B9063521DF2}"/>
                  </a:ext>
                </a:extLst>
              </p:cNvPr>
              <p:cNvCxnSpPr>
                <a:cxnSpLocks/>
              </p:cNvCxnSpPr>
              <p:nvPr/>
            </p:nvCxnSpPr>
            <p:spPr>
              <a:xfrm flipH="1">
                <a:off x="7044629" y="2908143"/>
                <a:ext cx="18921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5FEF67CE-A7C1-7CDE-483E-CDB124DE1BF3}"/>
                </a:ext>
              </a:extLst>
            </p:cNvPr>
            <p:cNvCxnSpPr>
              <a:cxnSpLocks/>
            </p:cNvCxnSpPr>
            <p:nvPr/>
          </p:nvCxnSpPr>
          <p:spPr>
            <a:xfrm flipV="1">
              <a:off x="7432511" y="3334410"/>
              <a:ext cx="777920" cy="71079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0E830FDD-D253-10B3-59A7-C6A7AF42F354}"/>
              </a:ext>
            </a:extLst>
          </p:cNvPr>
          <p:cNvGrpSpPr/>
          <p:nvPr/>
        </p:nvGrpSpPr>
        <p:grpSpPr>
          <a:xfrm>
            <a:off x="9611550" y="1132944"/>
            <a:ext cx="1856140" cy="1436260"/>
            <a:chOff x="3238095" y="4257675"/>
            <a:chExt cx="2276880" cy="1761824"/>
          </a:xfrm>
        </p:grpSpPr>
        <p:cxnSp>
          <p:nvCxnSpPr>
            <p:cNvPr id="52" name="Straight Connector 51">
              <a:extLst>
                <a:ext uri="{FF2B5EF4-FFF2-40B4-BE49-F238E27FC236}">
                  <a16:creationId xmlns:a16="http://schemas.microsoft.com/office/drawing/2014/main" id="{DADA7FBF-48B7-507E-82C5-D8ABB989AAA7}"/>
                </a:ext>
              </a:extLst>
            </p:cNvPr>
            <p:cNvCxnSpPr/>
            <p:nvPr/>
          </p:nvCxnSpPr>
          <p:spPr>
            <a:xfrm>
              <a:off x="4038600" y="4257675"/>
              <a:ext cx="0" cy="166687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A134B31-0334-3F55-8396-F99DAF6B1873}"/>
                </a:ext>
              </a:extLst>
            </p:cNvPr>
            <p:cNvCxnSpPr>
              <a:cxnSpLocks/>
            </p:cNvCxnSpPr>
            <p:nvPr/>
          </p:nvCxnSpPr>
          <p:spPr>
            <a:xfrm flipH="1">
              <a:off x="3305175" y="4886325"/>
              <a:ext cx="22098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D53BDB0-FE91-2433-F8DE-42F3892938DD}"/>
                </a:ext>
              </a:extLst>
            </p:cNvPr>
            <p:cNvCxnSpPr>
              <a:cxnSpLocks/>
            </p:cNvCxnSpPr>
            <p:nvPr/>
          </p:nvCxnSpPr>
          <p:spPr>
            <a:xfrm flipH="1">
              <a:off x="3305175" y="5600700"/>
              <a:ext cx="2209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62A9E66-FB55-A8F9-5D5A-D71A6325C7F2}"/>
                </a:ext>
              </a:extLst>
            </p:cNvPr>
            <p:cNvCxnSpPr>
              <a:cxnSpLocks/>
            </p:cNvCxnSpPr>
            <p:nvPr/>
          </p:nvCxnSpPr>
          <p:spPr>
            <a:xfrm flipH="1">
              <a:off x="3305175" y="4429125"/>
              <a:ext cx="2209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7" name="Ink 56">
                  <a:extLst>
                    <a:ext uri="{FF2B5EF4-FFF2-40B4-BE49-F238E27FC236}">
                      <a16:creationId xmlns:a16="http://schemas.microsoft.com/office/drawing/2014/main" id="{5D1F990E-F714-21E6-9686-06DA6404AAE2}"/>
                    </a:ext>
                  </a:extLst>
                </p14:cNvPr>
                <p14:cNvContentPartPr/>
                <p14:nvPr/>
              </p14:nvContentPartPr>
              <p14:xfrm>
                <a:off x="3238095" y="4494900"/>
                <a:ext cx="2152800" cy="1067400"/>
              </p14:xfrm>
            </p:contentPart>
          </mc:Choice>
          <mc:Fallback xmlns="">
            <p:pic>
              <p:nvPicPr>
                <p:cNvPr id="57" name="Ink 56">
                  <a:extLst>
                    <a:ext uri="{FF2B5EF4-FFF2-40B4-BE49-F238E27FC236}">
                      <a16:creationId xmlns:a16="http://schemas.microsoft.com/office/drawing/2014/main" id="{5D1F990E-F714-21E6-9686-06DA6404AAE2}"/>
                    </a:ext>
                  </a:extLst>
                </p:cNvPr>
                <p:cNvPicPr/>
                <p:nvPr/>
              </p:nvPicPr>
              <p:blipFill>
                <a:blip r:embed="rId3"/>
                <a:stretch>
                  <a:fillRect/>
                </a:stretch>
              </p:blipFill>
              <p:spPr>
                <a:xfrm>
                  <a:off x="3227055" y="4484305"/>
                  <a:ext cx="2174438" cy="1089031"/>
                </a:xfrm>
                <a:prstGeom prst="rect">
                  <a:avLst/>
                </a:prstGeom>
              </p:spPr>
            </p:pic>
          </mc:Fallback>
        </mc:AlternateContent>
        <p:sp>
          <p:nvSpPr>
            <p:cNvPr id="59" name="TextBox 58">
              <a:extLst>
                <a:ext uri="{FF2B5EF4-FFF2-40B4-BE49-F238E27FC236}">
                  <a16:creationId xmlns:a16="http://schemas.microsoft.com/office/drawing/2014/main" id="{81F6D61A-8976-7604-5DDA-42DB4DEBE21B}"/>
                </a:ext>
              </a:extLst>
            </p:cNvPr>
            <p:cNvSpPr txBox="1"/>
            <p:nvPr/>
          </p:nvSpPr>
          <p:spPr>
            <a:xfrm>
              <a:off x="3532962" y="5619389"/>
              <a:ext cx="455574" cy="400110"/>
            </a:xfrm>
            <a:prstGeom prst="rect">
              <a:avLst/>
            </a:prstGeom>
            <a:noFill/>
          </p:spPr>
          <p:txBody>
            <a:bodyPr wrap="none" rtlCol="0">
              <a:spAutoFit/>
            </a:bodyPr>
            <a:lstStyle/>
            <a:p>
              <a:pPr algn="l"/>
              <a:r>
                <a:rPr lang="en-US" sz="2000" dirty="0"/>
                <a:t>C</a:t>
              </a:r>
              <a:r>
                <a:rPr lang="en-US" sz="1200" dirty="0"/>
                <a:t>1</a:t>
              </a:r>
              <a:endParaRPr lang="en-US" sz="2000" dirty="0"/>
            </a:p>
          </p:txBody>
        </p:sp>
        <p:sp>
          <p:nvSpPr>
            <p:cNvPr id="60" name="TextBox 59">
              <a:extLst>
                <a:ext uri="{FF2B5EF4-FFF2-40B4-BE49-F238E27FC236}">
                  <a16:creationId xmlns:a16="http://schemas.microsoft.com/office/drawing/2014/main" id="{3343436F-0171-3253-D30B-F2BE6595EEF9}"/>
                </a:ext>
              </a:extLst>
            </p:cNvPr>
            <p:cNvSpPr txBox="1"/>
            <p:nvPr/>
          </p:nvSpPr>
          <p:spPr>
            <a:xfrm>
              <a:off x="4038600" y="5619389"/>
              <a:ext cx="455574" cy="400110"/>
            </a:xfrm>
            <a:prstGeom prst="rect">
              <a:avLst/>
            </a:prstGeom>
            <a:noFill/>
          </p:spPr>
          <p:txBody>
            <a:bodyPr wrap="none" rtlCol="0">
              <a:spAutoFit/>
            </a:bodyPr>
            <a:lstStyle/>
            <a:p>
              <a:pPr algn="l"/>
              <a:r>
                <a:rPr lang="en-US" sz="2000" dirty="0"/>
                <a:t>C</a:t>
              </a:r>
              <a:r>
                <a:rPr lang="en-US" sz="1200" dirty="0"/>
                <a:t>2</a:t>
              </a:r>
              <a:endParaRPr lang="en-US" sz="2000" dirty="0"/>
            </a:p>
          </p:txBody>
        </p:sp>
      </p:grpSp>
      <p:sp>
        <p:nvSpPr>
          <p:cNvPr id="63" name="TextBox 62">
            <a:extLst>
              <a:ext uri="{FF2B5EF4-FFF2-40B4-BE49-F238E27FC236}">
                <a16:creationId xmlns:a16="http://schemas.microsoft.com/office/drawing/2014/main" id="{9E271D12-B818-A329-46AB-363DFB163259}"/>
              </a:ext>
            </a:extLst>
          </p:cNvPr>
          <p:cNvSpPr txBox="1"/>
          <p:nvPr/>
        </p:nvSpPr>
        <p:spPr>
          <a:xfrm>
            <a:off x="247451" y="4166511"/>
            <a:ext cx="11220239" cy="1815882"/>
          </a:xfrm>
          <a:prstGeom prst="rect">
            <a:avLst/>
          </a:prstGeom>
          <a:noFill/>
        </p:spPr>
        <p:txBody>
          <a:bodyPr wrap="square">
            <a:spAutoFit/>
          </a:bodyPr>
          <a:lstStyle/>
          <a:p>
            <a:pPr marL="365760" indent="-365760" defTabSz="914400">
              <a:spcBef>
                <a:spcPts val="600"/>
              </a:spcBef>
              <a:spcAft>
                <a:spcPts val="600"/>
              </a:spcAft>
              <a:buClr>
                <a:schemeClr val="accent6"/>
              </a:buClr>
              <a:buSzPct val="75000"/>
              <a:buFont typeface="Wingdings" panose="05000000000000000000" pitchFamily="2" charset="2"/>
              <a:buChar char=""/>
            </a:pPr>
            <a:r>
              <a:rPr lang="en-US" sz="2000" dirty="0"/>
              <a:t>The </a:t>
            </a:r>
            <a:r>
              <a:rPr lang="en-US" sz="2000" b="1" dirty="0"/>
              <a:t>driver model </a:t>
            </a:r>
            <a:r>
              <a:rPr lang="en-US" sz="2000" dirty="0"/>
              <a:t>uses a time-varying current source.</a:t>
            </a:r>
          </a:p>
          <a:p>
            <a:pPr marL="365760" indent="-365760" defTabSz="914400">
              <a:spcBef>
                <a:spcPts val="600"/>
              </a:spcBef>
              <a:spcAft>
                <a:spcPts val="600"/>
              </a:spcAft>
              <a:buClr>
                <a:schemeClr val="accent6"/>
              </a:buClr>
              <a:buSzPct val="75000"/>
              <a:buFont typeface="Wingdings" panose="05000000000000000000" pitchFamily="2" charset="2"/>
              <a:buChar char=""/>
            </a:pPr>
            <a:r>
              <a:rPr lang="en-US" sz="2000" dirty="0"/>
              <a:t>The </a:t>
            </a:r>
            <a:r>
              <a:rPr lang="en-US" sz="2000" b="1" dirty="0"/>
              <a:t>receiver model</a:t>
            </a:r>
            <a:r>
              <a:rPr lang="en-US" sz="2000" dirty="0"/>
              <a:t> consists of 2 different capacitors. </a:t>
            </a:r>
            <a:br>
              <a:rPr lang="en-US" sz="2000" dirty="0"/>
            </a:br>
            <a:r>
              <a:rPr lang="en-US" sz="1600" dirty="0"/>
              <a:t>The first one is used as load up to the input delay threshold. A second capacitance value is used when the input waveform reaches the threshold value.</a:t>
            </a:r>
          </a:p>
          <a:p>
            <a:pPr marL="365760" indent="-365760" defTabSz="914400">
              <a:spcBef>
                <a:spcPts val="600"/>
              </a:spcBef>
              <a:spcAft>
                <a:spcPts val="600"/>
              </a:spcAft>
              <a:buClr>
                <a:schemeClr val="accent6"/>
              </a:buClr>
              <a:buSzPct val="75000"/>
              <a:buFont typeface="Wingdings" panose="05000000000000000000" pitchFamily="2" charset="2"/>
              <a:buChar char=""/>
            </a:pPr>
            <a:r>
              <a:rPr lang="en-US" sz="2000" dirty="0"/>
              <a:t>CCS models are frequently used in advanced technology nodes.</a:t>
            </a:r>
          </a:p>
        </p:txBody>
      </p:sp>
    </p:spTree>
    <p:extLst>
      <p:ext uri="{BB962C8B-B14F-4D97-AF65-F5344CB8AC3E}">
        <p14:creationId xmlns:p14="http://schemas.microsoft.com/office/powerpoint/2010/main" val="2564691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8">
            <a:extLst>
              <a:ext uri="{FF2B5EF4-FFF2-40B4-BE49-F238E27FC236}">
                <a16:creationId xmlns:a16="http://schemas.microsoft.com/office/drawing/2014/main" id="{554F9769-EB52-4794-B0E2-7AE820308C5A}"/>
              </a:ext>
            </a:extLst>
          </p:cNvPr>
          <p:cNvSpPr>
            <a:spLocks noGrp="1"/>
          </p:cNvSpPr>
          <p:nvPr>
            <p:ph type="title"/>
          </p:nvPr>
        </p:nvSpPr>
        <p:spPr/>
        <p:txBody>
          <a:bodyPr/>
          <a:lstStyle/>
          <a:p>
            <a:r>
              <a:rPr lang="en-US" altLang="en-US"/>
              <a:t>Synopsys Liberty Format (.lib)</a:t>
            </a:r>
          </a:p>
        </p:txBody>
      </p:sp>
      <p:sp>
        <p:nvSpPr>
          <p:cNvPr id="10" name="AutoShape 65">
            <a:extLst>
              <a:ext uri="{FF2B5EF4-FFF2-40B4-BE49-F238E27FC236}">
                <a16:creationId xmlns:a16="http://schemas.microsoft.com/office/drawing/2014/main" id="{8AA18C23-71A0-43D8-BA7C-83C535D53B77}"/>
              </a:ext>
            </a:extLst>
          </p:cNvPr>
          <p:cNvSpPr>
            <a:spLocks noChangeArrowheads="1"/>
          </p:cNvSpPr>
          <p:nvPr/>
        </p:nvSpPr>
        <p:spPr bwMode="auto">
          <a:xfrm>
            <a:off x="1981200" y="1144589"/>
            <a:ext cx="5943600" cy="4664075"/>
          </a:xfrm>
          <a:prstGeom prst="roundRect">
            <a:avLst>
              <a:gd name="adj" fmla="val 0"/>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spAutoFit/>
          </a:bodyPr>
          <a:lstStyle/>
          <a:p>
            <a:pPr eaLnBrk="1" hangingPunct="1">
              <a:defRPr/>
            </a:pPr>
            <a:r>
              <a:rPr lang="en-US" sz="1100" dirty="0">
                <a:solidFill>
                  <a:srgbClr val="0000FF"/>
                </a:solidFill>
                <a:latin typeface="Courier New" pitchFamily="49" charset="0"/>
                <a:cs typeface="Courier New" pitchFamily="49" charset="0"/>
              </a:rPr>
              <a:t>library</a:t>
            </a:r>
            <a:r>
              <a:rPr lang="en-US" sz="1100" dirty="0">
                <a:solidFill>
                  <a:schemeClr val="tx1"/>
                </a:solidFill>
                <a:latin typeface="Courier New" pitchFamily="49" charset="0"/>
                <a:cs typeface="Courier New" pitchFamily="49" charset="0"/>
              </a:rPr>
              <a:t> (Digital_Std_Lib) {</a:t>
            </a:r>
          </a:p>
          <a:p>
            <a:pPr lvl="1" eaLnBrk="1" hangingPunct="1">
              <a:defRPr/>
            </a:pPr>
            <a:r>
              <a:rPr lang="en-US" sz="1100" dirty="0">
                <a:solidFill>
                  <a:srgbClr val="0000FF"/>
                </a:solidFill>
                <a:latin typeface="Courier New" pitchFamily="49" charset="0"/>
                <a:cs typeface="Courier New" pitchFamily="49" charset="0"/>
              </a:rPr>
              <a:t>technology</a:t>
            </a:r>
            <a:r>
              <a:rPr lang="en-US" sz="1100" dirty="0">
                <a:solidFill>
                  <a:schemeClr val="tx1"/>
                </a:solidFill>
                <a:latin typeface="Courier New" pitchFamily="49" charset="0"/>
                <a:cs typeface="Courier New" pitchFamily="49" charset="0"/>
              </a:rPr>
              <a:t> (cmos);</a:t>
            </a:r>
          </a:p>
          <a:p>
            <a:pPr lvl="1" eaLnBrk="1" hangingPunct="1">
              <a:defRPr/>
            </a:pPr>
            <a:r>
              <a:rPr lang="en-US" sz="1100" dirty="0" err="1">
                <a:solidFill>
                  <a:srgbClr val="0000FF"/>
                </a:solidFill>
                <a:latin typeface="Courier New" pitchFamily="49" charset="0"/>
                <a:cs typeface="Courier New" pitchFamily="49" charset="0"/>
              </a:rPr>
              <a:t>delay_model</a:t>
            </a:r>
            <a:r>
              <a:rPr lang="en-US" sz="1100" dirty="0">
                <a:solidFill>
                  <a:schemeClr val="tx1"/>
                </a:solidFill>
                <a:latin typeface="Courier New" pitchFamily="49" charset="0"/>
                <a:cs typeface="Courier New" pitchFamily="49" charset="0"/>
              </a:rPr>
              <a:t> : table_lookup;</a:t>
            </a:r>
          </a:p>
          <a:p>
            <a:pPr lvl="1">
              <a:tabLst>
                <a:tab pos="90488" algn="l"/>
                <a:tab pos="180975" algn="l"/>
                <a:tab pos="357188" algn="l"/>
              </a:tabLst>
              <a:defRPr/>
            </a:pPr>
            <a:r>
              <a:rPr lang="en-US" sz="1100" dirty="0">
                <a:solidFill>
                  <a:srgbClr val="0000FF"/>
                </a:solidFill>
                <a:latin typeface="Courier New" pitchFamily="49" charset="0"/>
                <a:cs typeface="Courier New" pitchFamily="49" charset="0"/>
              </a:rPr>
              <a:t>cell(AND2</a:t>
            </a: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rgbClr val="0000FF"/>
                </a:solidFill>
                <a:latin typeface="Courier New" pitchFamily="49" charset="0"/>
                <a:cs typeface="Courier New" pitchFamily="49" charset="0"/>
              </a:rPr>
              <a:t>	area</a:t>
            </a:r>
            <a:r>
              <a:rPr lang="en-US" sz="1100" dirty="0">
                <a:solidFill>
                  <a:schemeClr val="tx1"/>
                </a:solidFill>
                <a:latin typeface="Courier New" pitchFamily="49" charset="0"/>
                <a:cs typeface="Courier New" pitchFamily="49" charset="0"/>
              </a:rPr>
              <a:t> : 2;</a:t>
            </a:r>
          </a:p>
          <a:p>
            <a:pPr lvl="1">
              <a:tabLst>
                <a:tab pos="90488" algn="l"/>
                <a:tab pos="180975" algn="l"/>
                <a:tab pos="357188" algn="l"/>
              </a:tabLst>
              <a:defRPr/>
            </a:pPr>
            <a:r>
              <a:rPr lang="en-US" sz="1100" dirty="0">
                <a:solidFill>
                  <a:srgbClr val="0000FF"/>
                </a:solidFill>
                <a:latin typeface="Courier New" pitchFamily="49" charset="0"/>
                <a:cs typeface="Courier New" pitchFamily="49" charset="0"/>
              </a:rPr>
              <a:t>	pin(A</a:t>
            </a: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rgbClr val="0000FF"/>
                </a:solidFill>
                <a:latin typeface="Courier New" pitchFamily="49" charset="0"/>
                <a:cs typeface="Courier New" pitchFamily="49" charset="0"/>
              </a:rPr>
              <a:t>		direction</a:t>
            </a:r>
            <a:r>
              <a:rPr lang="en-US" sz="1100" dirty="0">
                <a:solidFill>
                  <a:schemeClr val="tx1"/>
                </a:solidFill>
                <a:latin typeface="Courier New" pitchFamily="49" charset="0"/>
                <a:cs typeface="Courier New" pitchFamily="49" charset="0"/>
              </a:rPr>
              <a:t> : input;	</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pin(B</a:t>
            </a: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direction</a:t>
            </a:r>
            <a:r>
              <a:rPr lang="en-US" sz="1100" dirty="0">
                <a:solidFill>
                  <a:schemeClr val="tx1"/>
                </a:solidFill>
                <a:latin typeface="Courier New" pitchFamily="49" charset="0"/>
                <a:cs typeface="Courier New" pitchFamily="49" charset="0"/>
              </a:rPr>
              <a:t> : input;</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pin(Z</a:t>
            </a:r>
            <a:r>
              <a:rPr lang="en-US" sz="1100" dirty="0">
                <a:solidFill>
                  <a:schemeClr val="tx1"/>
                </a:solidFill>
                <a:latin typeface="Courier New" pitchFamily="49" charset="0"/>
                <a:cs typeface="Courier New" pitchFamily="49" charset="0"/>
              </a:rPr>
              <a:t>) {</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direction</a:t>
            </a:r>
            <a:r>
              <a:rPr lang="en-US" sz="1100" dirty="0">
                <a:solidFill>
                  <a:schemeClr val="tx1"/>
                </a:solidFill>
                <a:latin typeface="Courier New" pitchFamily="49" charset="0"/>
                <a:cs typeface="Courier New" pitchFamily="49" charset="0"/>
              </a:rPr>
              <a:t> : output;</a:t>
            </a:r>
          </a:p>
          <a:p>
            <a:pPr lvl="1">
              <a:tabLst>
                <a:tab pos="90488" algn="l"/>
                <a:tab pos="180975" algn="l"/>
                <a:tab pos="357188" algn="l"/>
              </a:tabLst>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function</a:t>
            </a:r>
            <a:r>
              <a:rPr lang="en-US" sz="1100" dirty="0">
                <a:solidFill>
                  <a:schemeClr val="tx1"/>
                </a:solidFill>
                <a:latin typeface="Courier New" pitchFamily="49" charset="0"/>
                <a:cs typeface="Courier New" pitchFamily="49" charset="0"/>
              </a:rPr>
              <a:t> : "A*B";</a:t>
            </a:r>
          </a:p>
          <a:p>
            <a:pPr marL="1095375" lvl="3">
              <a:defRPr/>
            </a:pP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timing</a:t>
            </a:r>
            <a:r>
              <a:rPr lang="en-US" sz="1100" dirty="0">
                <a:solidFill>
                  <a:schemeClr val="tx1"/>
                </a:solidFill>
                <a:latin typeface="Courier New" pitchFamily="49" charset="0"/>
                <a:cs typeface="Courier New" pitchFamily="49" charset="0"/>
              </a:rPr>
              <a:t>() {</a:t>
            </a:r>
          </a:p>
          <a:p>
            <a:pPr marL="1552575" lvl="4">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related_pin</a:t>
            </a:r>
            <a:r>
              <a:rPr lang="en-US" sz="1100" dirty="0">
                <a:solidFill>
                  <a:schemeClr val="tx1"/>
                </a:solidFill>
                <a:latin typeface="Courier New" pitchFamily="49" charset="0"/>
                <a:cs typeface="Courier New" pitchFamily="49" charset="0"/>
              </a:rPr>
              <a:t> : “A" ;</a:t>
            </a:r>
          </a:p>
          <a:p>
            <a:pPr marL="1552575" lvl="4">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timing_type</a:t>
            </a:r>
            <a:r>
              <a:rPr lang="en-US" sz="1100" dirty="0">
                <a:solidFill>
                  <a:schemeClr val="tx1"/>
                </a:solidFill>
                <a:latin typeface="Courier New" pitchFamily="49" charset="0"/>
                <a:cs typeface="Courier New" pitchFamily="49" charset="0"/>
              </a:rPr>
              <a:t> : "combinational" ;</a:t>
            </a:r>
          </a:p>
          <a:p>
            <a:pPr marL="1552575" lvl="4">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cell_rise</a:t>
            </a:r>
            <a:r>
              <a:rPr lang="en-US" sz="1100" dirty="0">
                <a:solidFill>
                  <a:schemeClr val="tx1"/>
                </a:solidFill>
                <a:latin typeface="Courier New" pitchFamily="49" charset="0"/>
                <a:cs typeface="Courier New" pitchFamily="49" charset="0"/>
              </a:rPr>
              <a:t>(…) {  </a:t>
            </a:r>
          </a:p>
          <a:p>
            <a:pPr eaLnBrk="1" hangingPunct="1">
              <a:defRPr/>
            </a:pPr>
            <a:r>
              <a:rPr lang="en-US" sz="1100" dirty="0">
                <a:solidFill>
                  <a:schemeClr val="tx1"/>
                </a:solidFill>
                <a:latin typeface="Courier New" pitchFamily="49" charset="0"/>
                <a:cs typeface="Courier New" pitchFamily="49" charset="0"/>
              </a:rPr>
              <a:t>			index_1("0.016, 0.032, 0.064”);</a:t>
            </a:r>
          </a:p>
          <a:p>
            <a:pPr eaLnBrk="1" hangingPunct="1">
              <a:defRPr/>
            </a:pPr>
            <a:r>
              <a:rPr lang="en-US" sz="1100" dirty="0">
                <a:solidFill>
                  <a:schemeClr val="tx1"/>
                </a:solidFill>
                <a:latin typeface="Courier New" pitchFamily="49" charset="0"/>
                <a:cs typeface="Courier New" pitchFamily="49" charset="0"/>
              </a:rPr>
              <a:t>			index_2("2, 4");</a:t>
            </a:r>
          </a:p>
          <a:p>
            <a:pPr marL="1552575" lvl="4">
              <a:defRPr/>
            </a:pPr>
            <a:r>
              <a:rPr lang="en-US" sz="1100" dirty="0">
                <a:solidFill>
                  <a:schemeClr val="tx1"/>
                </a:solidFill>
                <a:latin typeface="Courier New" pitchFamily="49" charset="0"/>
                <a:cs typeface="Courier New" pitchFamily="49" charset="0"/>
              </a:rPr>
              <a:t>		values("1.0020, 1.1280, 3.547 “, \</a:t>
            </a:r>
          </a:p>
          <a:p>
            <a:pPr marL="1552575" lvl="4">
              <a:defRPr/>
            </a:pPr>
            <a:r>
              <a:rPr lang="en-US" sz="1100" dirty="0">
                <a:solidFill>
                  <a:schemeClr val="tx1"/>
                </a:solidFill>
                <a:latin typeface="Courier New" pitchFamily="49" charset="0"/>
                <a:cs typeface="Courier New" pitchFamily="49" charset="0"/>
              </a:rPr>
              <a:t>		       "1.0080, 1.1310, 3.847 “	 );</a:t>
            </a:r>
          </a:p>
          <a:p>
            <a:pPr marL="1552575" lvl="4">
              <a:defRPr/>
            </a:pPr>
            <a:r>
              <a:rPr lang="en-US" sz="1100" dirty="0">
                <a:solidFill>
                  <a:schemeClr val="tx1"/>
                </a:solidFill>
                <a:latin typeface="Courier New" pitchFamily="49" charset="0"/>
                <a:cs typeface="Courier New" pitchFamily="49" charset="0"/>
              </a:rPr>
              <a:t>	   }</a:t>
            </a:r>
          </a:p>
          <a:p>
            <a:pPr marL="912813" lvl="4">
              <a:defRPr/>
            </a:pPr>
            <a:r>
              <a:rPr lang="en-US" sz="1100" dirty="0">
                <a:solidFill>
                  <a:schemeClr val="tx1"/>
                </a:solidFill>
                <a:latin typeface="Courier New" pitchFamily="49" charset="0"/>
                <a:cs typeface="Courier New" pitchFamily="49" charset="0"/>
              </a:rPr>
              <a:t>		}</a:t>
            </a:r>
          </a:p>
          <a:p>
            <a:pPr marL="914400" lvl="3">
              <a:tabLst>
                <a:tab pos="90488" algn="l"/>
              </a:tabLst>
              <a:defRPr/>
            </a:pPr>
            <a:r>
              <a:rPr lang="en-US" sz="1100" dirty="0">
                <a:solidFill>
                  <a:schemeClr val="tx1"/>
                </a:solidFill>
                <a:latin typeface="Courier New" pitchFamily="49" charset="0"/>
                <a:cs typeface="Courier New" pitchFamily="49" charset="0"/>
              </a:rPr>
              <a:t>} </a:t>
            </a:r>
            <a:r>
              <a:rPr lang="en-US" sz="1100" i="1" dirty="0">
                <a:solidFill>
                  <a:schemeClr val="tx2"/>
                </a:solidFill>
                <a:latin typeface="Courier New" pitchFamily="49" charset="0"/>
                <a:cs typeface="Courier New" pitchFamily="49" charset="0"/>
              </a:rPr>
              <a:t>/* end of pin */</a:t>
            </a:r>
            <a:endParaRPr lang="en-US" sz="1100" dirty="0">
              <a:solidFill>
                <a:schemeClr val="tx1"/>
              </a:solidFill>
              <a:latin typeface="Courier New" pitchFamily="49" charset="0"/>
              <a:cs typeface="Courier New" pitchFamily="49" charset="0"/>
            </a:endParaRPr>
          </a:p>
          <a:p>
            <a:pPr lvl="1" eaLnBrk="1" hangingPunct="1">
              <a:defRPr/>
            </a:pPr>
            <a:r>
              <a:rPr lang="en-US" sz="1100" dirty="0">
                <a:solidFill>
                  <a:schemeClr val="tx1"/>
                </a:solidFill>
                <a:latin typeface="Courier New" pitchFamily="49" charset="0"/>
                <a:cs typeface="Courier New" pitchFamily="49" charset="0"/>
              </a:rPr>
              <a:t>  } </a:t>
            </a:r>
            <a:r>
              <a:rPr lang="en-US" sz="1100" i="1" dirty="0">
                <a:solidFill>
                  <a:schemeClr val="tx2"/>
                </a:solidFill>
                <a:latin typeface="Courier New" pitchFamily="49" charset="0"/>
                <a:cs typeface="Courier New" pitchFamily="49" charset="0"/>
              </a:rPr>
              <a:t>/* end of cell */</a:t>
            </a:r>
          </a:p>
          <a:p>
            <a:pPr eaLnBrk="1" hangingPunct="1">
              <a:defRPr/>
            </a:pPr>
            <a:r>
              <a:rPr lang="en-US" sz="1100" dirty="0">
                <a:solidFill>
                  <a:schemeClr val="tx1"/>
                </a:solidFill>
                <a:latin typeface="Courier New" pitchFamily="49" charset="0"/>
                <a:cs typeface="Courier New" pitchFamily="49" charset="0"/>
              </a:rPr>
              <a:t>} </a:t>
            </a:r>
            <a:r>
              <a:rPr lang="en-US" sz="1100" i="1" dirty="0">
                <a:solidFill>
                  <a:schemeClr val="tx2"/>
                </a:solidFill>
                <a:latin typeface="Courier New" pitchFamily="49" charset="0"/>
                <a:cs typeface="Courier New" pitchFamily="49" charset="0"/>
              </a:rPr>
              <a:t>/* end of library*/</a:t>
            </a:r>
            <a:endParaRPr lang="ru-RU" sz="1100" i="1" dirty="0">
              <a:solidFill>
                <a:schemeClr val="tx2"/>
              </a:solidFill>
              <a:latin typeface="Courier New" pitchFamily="49" charset="0"/>
              <a:cs typeface="Courier New" pitchFamily="49" charset="0"/>
            </a:endParaRPr>
          </a:p>
        </p:txBody>
      </p:sp>
      <p:graphicFrame>
        <p:nvGraphicFramePr>
          <p:cNvPr id="5" name="Table 4">
            <a:extLst>
              <a:ext uri="{FF2B5EF4-FFF2-40B4-BE49-F238E27FC236}">
                <a16:creationId xmlns:a16="http://schemas.microsoft.com/office/drawing/2014/main" id="{E320C00F-55A8-49F5-B47D-7BB03DB20A43}"/>
              </a:ext>
            </a:extLst>
          </p:cNvPr>
          <p:cNvGraphicFramePr>
            <a:graphicFrameLocks noGrp="1"/>
          </p:cNvGraphicFramePr>
          <p:nvPr>
            <p:extLst>
              <p:ext uri="{D42A27DB-BD31-4B8C-83A1-F6EECF244321}">
                <p14:modId xmlns:p14="http://schemas.microsoft.com/office/powerpoint/2010/main" val="3698715907"/>
              </p:ext>
            </p:extLst>
          </p:nvPr>
        </p:nvGraphicFramePr>
        <p:xfrm>
          <a:off x="6945314" y="2484438"/>
          <a:ext cx="3127375" cy="1096968"/>
        </p:xfrm>
        <a:graphic>
          <a:graphicData uri="http://schemas.openxmlformats.org/drawingml/2006/table">
            <a:tbl>
              <a:tblPr firstRow="1" bandRow="1">
                <a:tableStyleId>{5C22544A-7EE6-4342-B048-85BDC9FD1C3A}</a:tableStyleId>
              </a:tblPr>
              <a:tblGrid>
                <a:gridCol w="380921">
                  <a:extLst>
                    <a:ext uri="{9D8B030D-6E8A-4147-A177-3AD203B41FA5}">
                      <a16:colId xmlns:a16="http://schemas.microsoft.com/office/drawing/2014/main" val="20000"/>
                    </a:ext>
                  </a:extLst>
                </a:gridCol>
                <a:gridCol w="367214">
                  <a:extLst>
                    <a:ext uri="{9D8B030D-6E8A-4147-A177-3AD203B41FA5}">
                      <a16:colId xmlns:a16="http://schemas.microsoft.com/office/drawing/2014/main" val="20001"/>
                    </a:ext>
                  </a:extLst>
                </a:gridCol>
                <a:gridCol w="793080">
                  <a:extLst>
                    <a:ext uri="{9D8B030D-6E8A-4147-A177-3AD203B41FA5}">
                      <a16:colId xmlns:a16="http://schemas.microsoft.com/office/drawing/2014/main" val="20002"/>
                    </a:ext>
                  </a:extLst>
                </a:gridCol>
                <a:gridCol w="793080">
                  <a:extLst>
                    <a:ext uri="{9D8B030D-6E8A-4147-A177-3AD203B41FA5}">
                      <a16:colId xmlns:a16="http://schemas.microsoft.com/office/drawing/2014/main" val="20003"/>
                    </a:ext>
                  </a:extLst>
                </a:gridCol>
                <a:gridCol w="793080">
                  <a:extLst>
                    <a:ext uri="{9D8B030D-6E8A-4147-A177-3AD203B41FA5}">
                      <a16:colId xmlns:a16="http://schemas.microsoft.com/office/drawing/2014/main" val="20004"/>
                    </a:ext>
                  </a:extLst>
                </a:gridCol>
              </a:tblGrid>
              <a:tr h="274241">
                <a:tc rowSpan="2"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Courier New" pitchFamily="49" charset="0"/>
                        <a:cs typeface="Courier New" pitchFamily="49" charset="0"/>
                      </a:endParaRPr>
                    </a:p>
                  </a:txBody>
                  <a:tcPr marL="91421" marR="91421" marT="45681" marB="4568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rowSpan="2"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no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dirty="0" err="1">
                          <a:solidFill>
                            <a:schemeClr val="bg1"/>
                          </a:solidFill>
                          <a:latin typeface="Courier New" pitchFamily="49" charset="0"/>
                          <a:cs typeface="Courier New" pitchFamily="49" charset="0"/>
                        </a:rPr>
                        <a:t>t</a:t>
                      </a:r>
                      <a:r>
                        <a:rPr lang="en-US" sz="1200" b="0" baseline="-25000" dirty="0" err="1">
                          <a:solidFill>
                            <a:schemeClr val="bg1"/>
                          </a:solidFill>
                          <a:latin typeface="Courier New" pitchFamily="49" charset="0"/>
                          <a:cs typeface="Courier New" pitchFamily="49" charset="0"/>
                        </a:rPr>
                        <a:t>rise</a:t>
                      </a:r>
                      <a:endParaRPr lang="en-US" sz="1200" b="0" dirty="0">
                        <a:solidFill>
                          <a:schemeClr val="bg1"/>
                        </a:solidFill>
                        <a:latin typeface="Courier New" pitchFamily="49" charset="0"/>
                        <a:cs typeface="Courier New" pitchFamily="49" charset="0"/>
                      </a:endParaRPr>
                    </a:p>
                  </a:txBody>
                  <a:tcPr marL="91421" marR="91421" marT="45681" marB="45681">
                    <a:lnL w="12700" cmpd="sng">
                      <a:noFill/>
                    </a:lnL>
                  </a:tcPr>
                </a:tc>
                <a:tc hMerge="1">
                  <a:txBody>
                    <a:bodyPr/>
                    <a:lstStyle/>
                    <a:p>
                      <a:endParaRPr lang="en-US" sz="1200"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0"/>
                  </a:ext>
                </a:extLst>
              </a:tr>
              <a:tr h="274241">
                <a:tc gridSpan="2"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hMerge="1"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200" b="0" dirty="0">
                          <a:solidFill>
                            <a:schemeClr val="bg1"/>
                          </a:solidFill>
                          <a:latin typeface="Courier New" pitchFamily="49" charset="0"/>
                          <a:cs typeface="Courier New" pitchFamily="49" charset="0"/>
                        </a:rPr>
                        <a:t>0.016</a:t>
                      </a:r>
                    </a:p>
                  </a:txBody>
                  <a:tcPr marL="91421" marR="91421" marT="45681" marB="45681">
                    <a:lnL w="38100" cmpd="sng">
                      <a:noFill/>
                    </a:lnL>
                    <a:solidFill>
                      <a:schemeClr val="accent1"/>
                    </a:solidFill>
                  </a:tcPr>
                </a:tc>
                <a:tc>
                  <a:txBody>
                    <a:bodyPr/>
                    <a:lstStyle/>
                    <a:p>
                      <a:r>
                        <a:rPr lang="en-US" sz="1200" b="0" dirty="0">
                          <a:solidFill>
                            <a:schemeClr val="bg1"/>
                          </a:solidFill>
                          <a:latin typeface="Courier New" pitchFamily="49" charset="0"/>
                          <a:cs typeface="Courier New" pitchFamily="49" charset="0"/>
                        </a:rPr>
                        <a:t>0.032</a:t>
                      </a:r>
                    </a:p>
                  </a:txBody>
                  <a:tcPr marL="91421" marR="91421" marT="45681" marB="45681">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solidFill>
                          <a:latin typeface="Courier New" pitchFamily="49" charset="0"/>
                          <a:cs typeface="Courier New" pitchFamily="49" charset="0"/>
                        </a:rPr>
                        <a:t>0.064</a:t>
                      </a:r>
                    </a:p>
                  </a:txBody>
                  <a:tcPr marL="91421" marR="91421" marT="45681" marB="45681">
                    <a:solidFill>
                      <a:schemeClr val="accent1"/>
                    </a:solidFill>
                  </a:tcPr>
                </a:tc>
                <a:extLst>
                  <a:ext uri="{0D108BD9-81ED-4DB2-BD59-A6C34878D82A}">
                    <a16:rowId xmlns:a16="http://schemas.microsoft.com/office/drawing/2014/main" val="10001"/>
                  </a:ext>
                </a:extLst>
              </a:tr>
              <a:tr h="274241">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solidFill>
                          <a:latin typeface="Courier New" pitchFamily="49" charset="0"/>
                          <a:cs typeface="Courier New" pitchFamily="49" charset="0"/>
                        </a:rPr>
                        <a:t>C</a:t>
                      </a:r>
                      <a:r>
                        <a:rPr lang="en-US" sz="1200" b="0" baseline="-25000" dirty="0">
                          <a:solidFill>
                            <a:schemeClr val="bg1"/>
                          </a:solidFill>
                          <a:latin typeface="Courier New" pitchFamily="49" charset="0"/>
                          <a:cs typeface="Courier New" pitchFamily="49" charset="0"/>
                        </a:rPr>
                        <a:t>L</a:t>
                      </a:r>
                      <a:endParaRPr lang="en-US" sz="1200" b="0" dirty="0">
                        <a:solidFill>
                          <a:schemeClr val="bg1"/>
                        </a:solidFill>
                        <a:latin typeface="Courier New" pitchFamily="49" charset="0"/>
                        <a:cs typeface="Courier New" pitchFamily="49" charset="0"/>
                      </a:endParaRPr>
                    </a:p>
                  </a:txBody>
                  <a:tcPr marL="91421" marR="91421" marT="45681" marB="45681" anchor="ctr">
                    <a:lnT w="38100" cmpd="sng">
                      <a:noFill/>
                    </a:lnT>
                    <a:solidFill>
                      <a:schemeClr val="accent1"/>
                    </a:solidFill>
                  </a:tcPr>
                </a:tc>
                <a:tc>
                  <a:txBody>
                    <a:bodyPr/>
                    <a:lstStyle/>
                    <a:p>
                      <a:r>
                        <a:rPr lang="en-US" sz="1200" b="0" dirty="0">
                          <a:solidFill>
                            <a:schemeClr val="bg1"/>
                          </a:solidFill>
                          <a:latin typeface="Courier New" pitchFamily="49" charset="0"/>
                          <a:cs typeface="Courier New" pitchFamily="49" charset="0"/>
                        </a:rPr>
                        <a:t>2</a:t>
                      </a:r>
                    </a:p>
                  </a:txBody>
                  <a:tcPr marL="91421" marR="91421" marT="45681" marB="45681">
                    <a:lnT w="38100" cmpd="sng">
                      <a:noFill/>
                    </a:lnT>
                    <a:solidFill>
                      <a:schemeClr val="accent1"/>
                    </a:solidFill>
                  </a:tcPr>
                </a:tc>
                <a:tc>
                  <a:txBody>
                    <a:bodyPr/>
                    <a:lstStyle/>
                    <a:p>
                      <a:r>
                        <a:rPr lang="en-US" sz="1200" b="0" dirty="0">
                          <a:solidFill>
                            <a:schemeClr val="tx1"/>
                          </a:solidFill>
                          <a:latin typeface="Courier New" pitchFamily="49" charset="0"/>
                          <a:cs typeface="Courier New" pitchFamily="49" charset="0"/>
                        </a:rPr>
                        <a:t>1.0020 </a:t>
                      </a:r>
                    </a:p>
                  </a:txBody>
                  <a:tcPr marL="91421" marR="91421" marT="45681" marB="45681"/>
                </a:tc>
                <a:tc>
                  <a:txBody>
                    <a:bodyPr/>
                    <a:lstStyle/>
                    <a:p>
                      <a:r>
                        <a:rPr lang="en-US" sz="1200" b="0" dirty="0">
                          <a:solidFill>
                            <a:schemeClr val="tx1"/>
                          </a:solidFill>
                          <a:latin typeface="Courier New" pitchFamily="49" charset="0"/>
                          <a:cs typeface="Courier New" pitchFamily="49" charset="0"/>
                        </a:rPr>
                        <a:t>1.1280</a:t>
                      </a:r>
                    </a:p>
                  </a:txBody>
                  <a:tcPr marL="91421" marR="91421" marT="45681" marB="45681"/>
                </a:tc>
                <a:tc>
                  <a:txBody>
                    <a:bodyPr/>
                    <a:lstStyle/>
                    <a:p>
                      <a:r>
                        <a:rPr lang="en-US" sz="1200" b="0" dirty="0">
                          <a:solidFill>
                            <a:schemeClr val="tx1"/>
                          </a:solidFill>
                          <a:latin typeface="Courier New" pitchFamily="49" charset="0"/>
                          <a:cs typeface="Courier New" pitchFamily="49" charset="0"/>
                        </a:rPr>
                        <a:t>3.547</a:t>
                      </a:r>
                    </a:p>
                  </a:txBody>
                  <a:tcPr marL="91421" marR="91421" marT="45681" marB="45681"/>
                </a:tc>
                <a:extLst>
                  <a:ext uri="{0D108BD9-81ED-4DB2-BD59-A6C34878D82A}">
                    <a16:rowId xmlns:a16="http://schemas.microsoft.com/office/drawing/2014/main" val="10002"/>
                  </a:ext>
                </a:extLst>
              </a:tr>
              <a:tr h="274241">
                <a:tc vMerge="1">
                  <a:txBody>
                    <a:bodyPr/>
                    <a:lstStyle/>
                    <a:p>
                      <a:endParaRPr lang="en-US" sz="1200" dirty="0"/>
                    </a:p>
                  </a:txBody>
                  <a:tcPr>
                    <a:solidFill>
                      <a:schemeClr val="accent1"/>
                    </a:solidFill>
                  </a:tcPr>
                </a:tc>
                <a:tc>
                  <a:txBody>
                    <a:bodyPr/>
                    <a:lstStyle/>
                    <a:p>
                      <a:r>
                        <a:rPr lang="en-US" sz="1200" b="0" dirty="0">
                          <a:solidFill>
                            <a:schemeClr val="bg1"/>
                          </a:solidFill>
                          <a:latin typeface="Courier New" pitchFamily="49" charset="0"/>
                          <a:cs typeface="Courier New" pitchFamily="49" charset="0"/>
                        </a:rPr>
                        <a:t>4</a:t>
                      </a:r>
                    </a:p>
                  </a:txBody>
                  <a:tcPr marL="91421" marR="91421" marT="45681" marB="45681">
                    <a:solidFill>
                      <a:schemeClr val="accent1"/>
                    </a:solidFill>
                  </a:tcPr>
                </a:tc>
                <a:tc>
                  <a:txBody>
                    <a:bodyPr/>
                    <a:lstStyle/>
                    <a:p>
                      <a:r>
                        <a:rPr lang="en-US" sz="1200" b="0">
                          <a:solidFill>
                            <a:schemeClr val="tx1"/>
                          </a:solidFill>
                          <a:latin typeface="Courier New" pitchFamily="49" charset="0"/>
                          <a:cs typeface="Courier New" pitchFamily="49" charset="0"/>
                        </a:rPr>
                        <a:t>1.0080</a:t>
                      </a:r>
                      <a:endParaRPr lang="en-US" sz="1200" b="0" dirty="0">
                        <a:solidFill>
                          <a:schemeClr val="tx1"/>
                        </a:solidFill>
                        <a:latin typeface="Courier New" pitchFamily="49" charset="0"/>
                        <a:cs typeface="Courier New" pitchFamily="49" charset="0"/>
                      </a:endParaRPr>
                    </a:p>
                  </a:txBody>
                  <a:tcPr marL="91421" marR="91421" marT="45681" marB="45681"/>
                </a:tc>
                <a:tc>
                  <a:txBody>
                    <a:bodyPr/>
                    <a:lstStyle/>
                    <a:p>
                      <a:r>
                        <a:rPr lang="en-US" sz="1200" b="0">
                          <a:solidFill>
                            <a:schemeClr val="tx1"/>
                          </a:solidFill>
                          <a:latin typeface="Courier New" pitchFamily="49" charset="0"/>
                          <a:cs typeface="Courier New" pitchFamily="49" charset="0"/>
                        </a:rPr>
                        <a:t>1.1310</a:t>
                      </a:r>
                    </a:p>
                  </a:txBody>
                  <a:tcPr marL="91421" marR="91421" marT="45681" marB="45681"/>
                </a:tc>
                <a:tc>
                  <a:txBody>
                    <a:bodyPr/>
                    <a:lstStyle/>
                    <a:p>
                      <a:r>
                        <a:rPr lang="en-US" sz="1200" b="0" dirty="0">
                          <a:solidFill>
                            <a:schemeClr val="tx1"/>
                          </a:solidFill>
                          <a:latin typeface="Courier New" pitchFamily="49" charset="0"/>
                          <a:cs typeface="Courier New" pitchFamily="49" charset="0"/>
                        </a:rPr>
                        <a:t>1.1310</a:t>
                      </a:r>
                    </a:p>
                  </a:txBody>
                  <a:tcPr marL="91421" marR="91421" marT="45681" marB="45681"/>
                </a:tc>
                <a:extLst>
                  <a:ext uri="{0D108BD9-81ED-4DB2-BD59-A6C34878D82A}">
                    <a16:rowId xmlns:a16="http://schemas.microsoft.com/office/drawing/2014/main" val="10003"/>
                  </a:ext>
                </a:extLst>
              </a:tr>
            </a:tbl>
          </a:graphicData>
        </a:graphic>
      </p:graphicFrame>
      <p:sp>
        <p:nvSpPr>
          <p:cNvPr id="6" name="Rounded Rectangle 5">
            <a:extLst>
              <a:ext uri="{FF2B5EF4-FFF2-40B4-BE49-F238E27FC236}">
                <a16:creationId xmlns:a16="http://schemas.microsoft.com/office/drawing/2014/main" id="{406B8902-9F3D-4BC1-BE73-D4F10ED72E70}"/>
              </a:ext>
            </a:extLst>
          </p:cNvPr>
          <p:cNvSpPr/>
          <p:nvPr/>
        </p:nvSpPr>
        <p:spPr bwMode="auto">
          <a:xfrm>
            <a:off x="3886200" y="4038600"/>
            <a:ext cx="4419600" cy="990600"/>
          </a:xfrm>
          <a:prstGeom prst="roundRect">
            <a:avLst>
              <a:gd name="adj" fmla="val 0"/>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a:solidFill>
                <a:schemeClr val="tx1"/>
              </a:solidFill>
            </a:endParaRPr>
          </a:p>
        </p:txBody>
      </p:sp>
      <p:cxnSp>
        <p:nvCxnSpPr>
          <p:cNvPr id="8" name="Straight Arrow Connector 7">
            <a:extLst>
              <a:ext uri="{FF2B5EF4-FFF2-40B4-BE49-F238E27FC236}">
                <a16:creationId xmlns:a16="http://schemas.microsoft.com/office/drawing/2014/main" id="{9D172371-854A-40CD-85D5-280AE6F7DF6E}"/>
              </a:ext>
            </a:extLst>
          </p:cNvPr>
          <p:cNvCxnSpPr/>
          <p:nvPr/>
        </p:nvCxnSpPr>
        <p:spPr bwMode="auto">
          <a:xfrm flipH="1">
            <a:off x="7848600" y="3581400"/>
            <a:ext cx="381000" cy="457200"/>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grpSp>
        <p:nvGrpSpPr>
          <p:cNvPr id="20512" name="Group 8">
            <a:extLst>
              <a:ext uri="{FF2B5EF4-FFF2-40B4-BE49-F238E27FC236}">
                <a16:creationId xmlns:a16="http://schemas.microsoft.com/office/drawing/2014/main" id="{534083DE-3118-49AD-B911-F61AF930E582}"/>
              </a:ext>
            </a:extLst>
          </p:cNvPr>
          <p:cNvGrpSpPr>
            <a:grpSpLocks/>
          </p:cNvGrpSpPr>
          <p:nvPr/>
        </p:nvGrpSpPr>
        <p:grpSpPr bwMode="auto">
          <a:xfrm>
            <a:off x="8509000" y="3894138"/>
            <a:ext cx="1836738" cy="1670050"/>
            <a:chOff x="5278724" y="2360899"/>
            <a:chExt cx="3484183" cy="3166925"/>
          </a:xfrm>
          <a:solidFill>
            <a:schemeClr val="accent1">
              <a:lumMod val="20000"/>
              <a:lumOff val="80000"/>
            </a:schemeClr>
          </a:solidFill>
        </p:grpSpPr>
        <p:sp>
          <p:nvSpPr>
            <p:cNvPr id="12" name="Rectangle 45">
              <a:extLst>
                <a:ext uri="{FF2B5EF4-FFF2-40B4-BE49-F238E27FC236}">
                  <a16:creationId xmlns:a16="http://schemas.microsoft.com/office/drawing/2014/main" id="{CEFF7C00-8DE0-4840-99A9-9C2AC9486B5D}"/>
                </a:ext>
              </a:extLst>
            </p:cNvPr>
            <p:cNvSpPr>
              <a:spLocks noChangeArrowheads="1"/>
            </p:cNvSpPr>
            <p:nvPr/>
          </p:nvSpPr>
          <p:spPr bwMode="auto">
            <a:xfrm>
              <a:off x="5278724" y="2360899"/>
              <a:ext cx="3484183" cy="3166925"/>
            </a:xfrm>
            <a:prstGeom prst="rect">
              <a:avLst/>
            </a:prstGeom>
            <a:grpFill/>
            <a:ln>
              <a:headEnd/>
              <a:tailEn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endParaRPr lang="en-US" sz="1600"/>
            </a:p>
          </p:txBody>
        </p:sp>
        <p:grpSp>
          <p:nvGrpSpPr>
            <p:cNvPr id="20515" name="Group 82">
              <a:extLst>
                <a:ext uri="{FF2B5EF4-FFF2-40B4-BE49-F238E27FC236}">
                  <a16:creationId xmlns:a16="http://schemas.microsoft.com/office/drawing/2014/main" id="{EB0114E1-28D8-4866-BA1F-07A8941FBC29}"/>
                </a:ext>
              </a:extLst>
            </p:cNvPr>
            <p:cNvGrpSpPr>
              <a:grpSpLocks/>
            </p:cNvGrpSpPr>
            <p:nvPr/>
          </p:nvGrpSpPr>
          <p:grpSpPr bwMode="auto">
            <a:xfrm>
              <a:off x="5354926" y="2375825"/>
              <a:ext cx="3407981" cy="3054056"/>
              <a:chOff x="5340350" y="1778000"/>
              <a:chExt cx="3178173" cy="2868441"/>
            </a:xfrm>
            <a:grpFill/>
          </p:grpSpPr>
          <p:grpSp>
            <p:nvGrpSpPr>
              <p:cNvPr id="20516" name="Group 44">
                <a:extLst>
                  <a:ext uri="{FF2B5EF4-FFF2-40B4-BE49-F238E27FC236}">
                    <a16:creationId xmlns:a16="http://schemas.microsoft.com/office/drawing/2014/main" id="{269926AB-B673-4E18-8D7B-FE4871B7D8BC}"/>
                  </a:ext>
                </a:extLst>
              </p:cNvPr>
              <p:cNvGrpSpPr>
                <a:grpSpLocks/>
              </p:cNvGrpSpPr>
              <p:nvPr/>
            </p:nvGrpSpPr>
            <p:grpSpPr bwMode="auto">
              <a:xfrm>
                <a:off x="5646103" y="2071689"/>
                <a:ext cx="2222269" cy="2125663"/>
                <a:chOff x="5634749" y="2074592"/>
                <a:chExt cx="2039863" cy="2005109"/>
              </a:xfrm>
              <a:grpFill/>
            </p:grpSpPr>
            <p:cxnSp>
              <p:nvCxnSpPr>
                <p:cNvPr id="20557" name="Straight Arrow Connector 37">
                  <a:extLst>
                    <a:ext uri="{FF2B5EF4-FFF2-40B4-BE49-F238E27FC236}">
                      <a16:creationId xmlns:a16="http://schemas.microsoft.com/office/drawing/2014/main" id="{A361DEA7-13C4-4C08-B77B-48AC07BF2772}"/>
                    </a:ext>
                  </a:extLst>
                </p:cNvPr>
                <p:cNvCxnSpPr>
                  <a:cxnSpLocks noChangeShapeType="1"/>
                </p:cNvCxnSpPr>
                <p:nvPr/>
              </p:nvCxnSpPr>
              <p:spPr bwMode="auto">
                <a:xfrm rot="5400000" flipH="1" flipV="1">
                  <a:off x="5811605" y="2677632"/>
                  <a:ext cx="1207668" cy="1588"/>
                </a:xfrm>
                <a:prstGeom prst="straightConnector1">
                  <a:avLst/>
                </a:prstGeom>
                <a:grpFill/>
                <a:ln w="9525" algn="ctr">
                  <a:solidFill>
                    <a:schemeClr val="tx1"/>
                  </a:solidFill>
                  <a:round/>
                  <a:headEnd/>
                  <a:tailEnd type="triangle" w="med" len="med"/>
                </a:ln>
              </p:spPr>
            </p:cxnSp>
            <p:cxnSp>
              <p:nvCxnSpPr>
                <p:cNvPr id="20558" name="Straight Arrow Connector 38">
                  <a:extLst>
                    <a:ext uri="{FF2B5EF4-FFF2-40B4-BE49-F238E27FC236}">
                      <a16:creationId xmlns:a16="http://schemas.microsoft.com/office/drawing/2014/main" id="{7F93454C-4FEA-476F-A97A-20B4BE47A7BE}"/>
                    </a:ext>
                  </a:extLst>
                </p:cNvPr>
                <p:cNvCxnSpPr>
                  <a:cxnSpLocks noChangeShapeType="1"/>
                </p:cNvCxnSpPr>
                <p:nvPr/>
              </p:nvCxnSpPr>
              <p:spPr bwMode="auto">
                <a:xfrm rot="5400000">
                  <a:off x="5622932" y="3287190"/>
                  <a:ext cx="804328" cy="780694"/>
                </a:xfrm>
                <a:prstGeom prst="straightConnector1">
                  <a:avLst/>
                </a:prstGeom>
                <a:grpFill/>
                <a:ln w="9525" algn="ctr">
                  <a:solidFill>
                    <a:schemeClr val="tx1"/>
                  </a:solidFill>
                  <a:round/>
                  <a:headEnd/>
                  <a:tailEnd type="triangle" w="med" len="med"/>
                </a:ln>
              </p:spPr>
            </p:cxnSp>
            <p:cxnSp>
              <p:nvCxnSpPr>
                <p:cNvPr id="20559" name="Straight Arrow Connector 41">
                  <a:extLst>
                    <a:ext uri="{FF2B5EF4-FFF2-40B4-BE49-F238E27FC236}">
                      <a16:creationId xmlns:a16="http://schemas.microsoft.com/office/drawing/2014/main" id="{725AF330-9E31-4555-B9C2-A029AC053026}"/>
                    </a:ext>
                  </a:extLst>
                </p:cNvPr>
                <p:cNvCxnSpPr>
                  <a:cxnSpLocks noChangeShapeType="1"/>
                </p:cNvCxnSpPr>
                <p:nvPr/>
              </p:nvCxnSpPr>
              <p:spPr bwMode="auto">
                <a:xfrm>
                  <a:off x="6415438" y="3279866"/>
                  <a:ext cx="1259174" cy="0"/>
                </a:xfrm>
                <a:prstGeom prst="straightConnector1">
                  <a:avLst/>
                </a:prstGeom>
                <a:grpFill/>
                <a:ln w="9525" algn="ctr">
                  <a:solidFill>
                    <a:schemeClr val="tx1"/>
                  </a:solidFill>
                  <a:round/>
                  <a:headEnd/>
                  <a:tailEnd type="triangle" w="med" len="med"/>
                </a:ln>
              </p:spPr>
            </p:cxnSp>
          </p:grpSp>
          <p:sp>
            <p:nvSpPr>
              <p:cNvPr id="20517" name="TextBox 47">
                <a:extLst>
                  <a:ext uri="{FF2B5EF4-FFF2-40B4-BE49-F238E27FC236}">
                    <a16:creationId xmlns:a16="http://schemas.microsoft.com/office/drawing/2014/main" id="{CF71F008-F87E-4735-B7B6-5C0B029D97CB}"/>
                  </a:ext>
                </a:extLst>
              </p:cNvPr>
              <p:cNvSpPr txBox="1">
                <a:spLocks noChangeArrowheads="1"/>
              </p:cNvSpPr>
              <p:nvPr/>
            </p:nvSpPr>
            <p:spPr bwMode="auto">
              <a:xfrm>
                <a:off x="6376989" y="1778000"/>
                <a:ext cx="561949" cy="60307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t</a:t>
                </a:r>
                <a:r>
                  <a:rPr lang="en-US" altLang="en-US" sz="1600" baseline="-25000"/>
                  <a:t>d</a:t>
                </a:r>
                <a:endParaRPr lang="en-US" altLang="en-US" sz="1600"/>
              </a:p>
            </p:txBody>
          </p:sp>
          <p:sp>
            <p:nvSpPr>
              <p:cNvPr id="20518" name="TextBox 48">
                <a:extLst>
                  <a:ext uri="{FF2B5EF4-FFF2-40B4-BE49-F238E27FC236}">
                    <a16:creationId xmlns:a16="http://schemas.microsoft.com/office/drawing/2014/main" id="{B90E8E33-6703-4B29-9D4D-55C09DBAD051}"/>
                  </a:ext>
                </a:extLst>
              </p:cNvPr>
              <p:cNvSpPr txBox="1">
                <a:spLocks noChangeArrowheads="1"/>
              </p:cNvSpPr>
              <p:nvPr/>
            </p:nvSpPr>
            <p:spPr bwMode="auto">
              <a:xfrm>
                <a:off x="7797800" y="3160712"/>
                <a:ext cx="720723" cy="60307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C</a:t>
                </a:r>
                <a:r>
                  <a:rPr lang="en-US" altLang="en-US" sz="1600" baseline="-25000"/>
                  <a:t>L</a:t>
                </a:r>
                <a:endParaRPr lang="en-US" altLang="en-US" sz="1600"/>
              </a:p>
            </p:txBody>
          </p:sp>
          <p:sp>
            <p:nvSpPr>
              <p:cNvPr id="20519" name="TextBox 49">
                <a:extLst>
                  <a:ext uri="{FF2B5EF4-FFF2-40B4-BE49-F238E27FC236}">
                    <a16:creationId xmlns:a16="http://schemas.microsoft.com/office/drawing/2014/main" id="{7EA68A2D-573E-49FB-869C-13667DE82597}"/>
                  </a:ext>
                </a:extLst>
              </p:cNvPr>
              <p:cNvSpPr txBox="1">
                <a:spLocks noChangeArrowheads="1"/>
              </p:cNvSpPr>
              <p:nvPr/>
            </p:nvSpPr>
            <p:spPr bwMode="auto">
              <a:xfrm>
                <a:off x="5340350" y="4043362"/>
                <a:ext cx="817122" cy="60307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t</a:t>
                </a:r>
                <a:r>
                  <a:rPr lang="en-US" altLang="en-US" sz="1600" baseline="-25000"/>
                  <a:t>rise</a:t>
                </a:r>
                <a:endParaRPr lang="en-US" altLang="en-US" sz="1600"/>
              </a:p>
            </p:txBody>
          </p:sp>
          <p:cxnSp>
            <p:nvCxnSpPr>
              <p:cNvPr id="20520" name="Straight Connector 54">
                <a:extLst>
                  <a:ext uri="{FF2B5EF4-FFF2-40B4-BE49-F238E27FC236}">
                    <a16:creationId xmlns:a16="http://schemas.microsoft.com/office/drawing/2014/main" id="{2C874938-B3F7-4DAE-BB17-3AFBA139B95F}"/>
                  </a:ext>
                </a:extLst>
              </p:cNvPr>
              <p:cNvCxnSpPr>
                <a:cxnSpLocks noChangeShapeType="1"/>
              </p:cNvCxnSpPr>
              <p:nvPr/>
            </p:nvCxnSpPr>
            <p:spPr bwMode="auto">
              <a:xfrm>
                <a:off x="5954713" y="3889375"/>
                <a:ext cx="806450" cy="0"/>
              </a:xfrm>
              <a:prstGeom prst="line">
                <a:avLst/>
              </a:prstGeom>
              <a:grpFill/>
              <a:ln w="9525" algn="ctr">
                <a:solidFill>
                  <a:schemeClr val="tx1"/>
                </a:solidFill>
                <a:prstDash val="lgDash"/>
                <a:round/>
                <a:headEnd/>
                <a:tailEnd/>
              </a:ln>
            </p:spPr>
          </p:cxnSp>
          <p:cxnSp>
            <p:nvCxnSpPr>
              <p:cNvPr id="20521" name="Straight Connector 55">
                <a:extLst>
                  <a:ext uri="{FF2B5EF4-FFF2-40B4-BE49-F238E27FC236}">
                    <a16:creationId xmlns:a16="http://schemas.microsoft.com/office/drawing/2014/main" id="{6E2EFF8D-6006-4123-963C-2B5F204D31E0}"/>
                  </a:ext>
                </a:extLst>
              </p:cNvPr>
              <p:cNvCxnSpPr>
                <a:cxnSpLocks noChangeShapeType="1"/>
              </p:cNvCxnSpPr>
              <p:nvPr/>
            </p:nvCxnSpPr>
            <p:spPr bwMode="auto">
              <a:xfrm>
                <a:off x="6261100" y="3582988"/>
                <a:ext cx="806450" cy="0"/>
              </a:xfrm>
              <a:prstGeom prst="line">
                <a:avLst/>
              </a:prstGeom>
              <a:grpFill/>
              <a:ln w="9525" algn="ctr">
                <a:solidFill>
                  <a:schemeClr val="tx1"/>
                </a:solidFill>
                <a:prstDash val="lgDash"/>
                <a:round/>
                <a:headEnd/>
                <a:tailEnd/>
              </a:ln>
            </p:spPr>
          </p:cxnSp>
          <p:cxnSp>
            <p:nvCxnSpPr>
              <p:cNvPr id="20522" name="Straight Connector 56">
                <a:extLst>
                  <a:ext uri="{FF2B5EF4-FFF2-40B4-BE49-F238E27FC236}">
                    <a16:creationId xmlns:a16="http://schemas.microsoft.com/office/drawing/2014/main" id="{B49C4D72-8F74-4127-8B17-B1D8645ED5BA}"/>
                  </a:ext>
                </a:extLst>
              </p:cNvPr>
              <p:cNvCxnSpPr>
                <a:cxnSpLocks noChangeShapeType="1"/>
              </p:cNvCxnSpPr>
              <p:nvPr/>
            </p:nvCxnSpPr>
            <p:spPr bwMode="auto">
              <a:xfrm rot="5400000">
                <a:off x="6300788" y="3352800"/>
                <a:ext cx="536575" cy="536575"/>
              </a:xfrm>
              <a:prstGeom prst="line">
                <a:avLst/>
              </a:prstGeom>
              <a:grpFill/>
              <a:ln w="9525" algn="ctr">
                <a:solidFill>
                  <a:schemeClr val="tx1"/>
                </a:solidFill>
                <a:prstDash val="lgDash"/>
                <a:round/>
                <a:headEnd/>
                <a:tailEnd/>
              </a:ln>
            </p:spPr>
          </p:cxnSp>
          <p:cxnSp>
            <p:nvCxnSpPr>
              <p:cNvPr id="20523" name="Straight Connector 58">
                <a:extLst>
                  <a:ext uri="{FF2B5EF4-FFF2-40B4-BE49-F238E27FC236}">
                    <a16:creationId xmlns:a16="http://schemas.microsoft.com/office/drawing/2014/main" id="{58801D15-64E1-4C5A-9E29-B0B1C4EB5DE8}"/>
                  </a:ext>
                </a:extLst>
              </p:cNvPr>
              <p:cNvCxnSpPr>
                <a:cxnSpLocks noChangeShapeType="1"/>
              </p:cNvCxnSpPr>
              <p:nvPr/>
            </p:nvCxnSpPr>
            <p:spPr bwMode="auto">
              <a:xfrm rot="5400000">
                <a:off x="6766719" y="3352006"/>
                <a:ext cx="536575" cy="538163"/>
              </a:xfrm>
              <a:prstGeom prst="line">
                <a:avLst/>
              </a:prstGeom>
              <a:grpFill/>
              <a:ln w="9525" algn="ctr">
                <a:solidFill>
                  <a:schemeClr val="tx1"/>
                </a:solidFill>
                <a:prstDash val="lgDash"/>
                <a:round/>
                <a:headEnd/>
                <a:tailEnd/>
              </a:ln>
            </p:spPr>
          </p:cxnSp>
          <p:sp>
            <p:nvSpPr>
              <p:cNvPr id="20524" name="Flowchart: Connector 59">
                <a:extLst>
                  <a:ext uri="{FF2B5EF4-FFF2-40B4-BE49-F238E27FC236}">
                    <a16:creationId xmlns:a16="http://schemas.microsoft.com/office/drawing/2014/main" id="{BC754D68-F148-47BF-A52F-075AF633193B}"/>
                  </a:ext>
                </a:extLst>
              </p:cNvPr>
              <p:cNvSpPr>
                <a:spLocks noChangeArrowheads="1"/>
              </p:cNvSpPr>
              <p:nvPr/>
            </p:nvSpPr>
            <p:spPr bwMode="auto">
              <a:xfrm>
                <a:off x="6591300" y="3560763"/>
                <a:ext cx="44450" cy="46037"/>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25" name="Flowchart: Connector 60">
                <a:extLst>
                  <a:ext uri="{FF2B5EF4-FFF2-40B4-BE49-F238E27FC236}">
                    <a16:creationId xmlns:a16="http://schemas.microsoft.com/office/drawing/2014/main" id="{8CF4B344-37B0-4658-8C01-83E739F493CD}"/>
                  </a:ext>
                </a:extLst>
              </p:cNvPr>
              <p:cNvSpPr>
                <a:spLocks noChangeArrowheads="1"/>
              </p:cNvSpPr>
              <p:nvPr/>
            </p:nvSpPr>
            <p:spPr bwMode="auto">
              <a:xfrm>
                <a:off x="7048500" y="3560763"/>
                <a:ext cx="46038" cy="46037"/>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26" name="Flowchart: Connector 61">
                <a:extLst>
                  <a:ext uri="{FF2B5EF4-FFF2-40B4-BE49-F238E27FC236}">
                    <a16:creationId xmlns:a16="http://schemas.microsoft.com/office/drawing/2014/main" id="{DFE783EB-33AF-40EC-8AF9-30EFA781B678}"/>
                  </a:ext>
                </a:extLst>
              </p:cNvPr>
              <p:cNvSpPr>
                <a:spLocks noChangeArrowheads="1"/>
              </p:cNvSpPr>
              <p:nvPr/>
            </p:nvSpPr>
            <p:spPr bwMode="auto">
              <a:xfrm>
                <a:off x="6753225" y="3868738"/>
                <a:ext cx="46038" cy="44450"/>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27" name="Flowchart: Connector 62">
                <a:extLst>
                  <a:ext uri="{FF2B5EF4-FFF2-40B4-BE49-F238E27FC236}">
                    <a16:creationId xmlns:a16="http://schemas.microsoft.com/office/drawing/2014/main" id="{2607E669-FDED-476A-BC95-64855C77B48E}"/>
                  </a:ext>
                </a:extLst>
              </p:cNvPr>
              <p:cNvSpPr>
                <a:spLocks noChangeArrowheads="1"/>
              </p:cNvSpPr>
              <p:nvPr/>
            </p:nvSpPr>
            <p:spPr bwMode="auto">
              <a:xfrm>
                <a:off x="6272213" y="3863975"/>
                <a:ext cx="44450"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28" name="Flowchart: Connector 63">
                <a:extLst>
                  <a:ext uri="{FF2B5EF4-FFF2-40B4-BE49-F238E27FC236}">
                    <a16:creationId xmlns:a16="http://schemas.microsoft.com/office/drawing/2014/main" id="{68A28B41-ED08-4F9A-9490-C4852A7259AF}"/>
                  </a:ext>
                </a:extLst>
              </p:cNvPr>
              <p:cNvSpPr>
                <a:spLocks noChangeArrowheads="1"/>
              </p:cNvSpPr>
              <p:nvPr/>
            </p:nvSpPr>
            <p:spPr bwMode="auto">
              <a:xfrm>
                <a:off x="5935663" y="3865563"/>
                <a:ext cx="46037" cy="46037"/>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29" name="Flowchart: Connector 64">
                <a:extLst>
                  <a:ext uri="{FF2B5EF4-FFF2-40B4-BE49-F238E27FC236}">
                    <a16:creationId xmlns:a16="http://schemas.microsoft.com/office/drawing/2014/main" id="{B650D2AE-566C-449F-8F0D-DCDBEBEA0EDC}"/>
                  </a:ext>
                </a:extLst>
              </p:cNvPr>
              <p:cNvSpPr>
                <a:spLocks noChangeArrowheads="1"/>
              </p:cNvSpPr>
              <p:nvPr/>
            </p:nvSpPr>
            <p:spPr bwMode="auto">
              <a:xfrm>
                <a:off x="6240463" y="3565525"/>
                <a:ext cx="46037"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30" name="Flowchart: Connector 65">
                <a:extLst>
                  <a:ext uri="{FF2B5EF4-FFF2-40B4-BE49-F238E27FC236}">
                    <a16:creationId xmlns:a16="http://schemas.microsoft.com/office/drawing/2014/main" id="{B8F6D37B-4F60-4165-9733-7E82F755655A}"/>
                  </a:ext>
                </a:extLst>
              </p:cNvPr>
              <p:cNvSpPr>
                <a:spLocks noChangeArrowheads="1"/>
              </p:cNvSpPr>
              <p:nvPr/>
            </p:nvSpPr>
            <p:spPr bwMode="auto">
              <a:xfrm>
                <a:off x="6823075" y="3327400"/>
                <a:ext cx="46038"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31" name="Flowchart: Connector 66">
                <a:extLst>
                  <a:ext uri="{FF2B5EF4-FFF2-40B4-BE49-F238E27FC236}">
                    <a16:creationId xmlns:a16="http://schemas.microsoft.com/office/drawing/2014/main" id="{FD128D0C-E245-4968-B6D6-0268D03BA099}"/>
                  </a:ext>
                </a:extLst>
              </p:cNvPr>
              <p:cNvSpPr>
                <a:spLocks noChangeArrowheads="1"/>
              </p:cNvSpPr>
              <p:nvPr/>
            </p:nvSpPr>
            <p:spPr bwMode="auto">
              <a:xfrm>
                <a:off x="7277100" y="3325813"/>
                <a:ext cx="46038" cy="46037"/>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20532" name="Straight Connector 70">
                <a:extLst>
                  <a:ext uri="{FF2B5EF4-FFF2-40B4-BE49-F238E27FC236}">
                    <a16:creationId xmlns:a16="http://schemas.microsoft.com/office/drawing/2014/main" id="{6ABFD030-F307-410A-A51A-5DD0B1EF463A}"/>
                  </a:ext>
                </a:extLst>
              </p:cNvPr>
              <p:cNvCxnSpPr>
                <a:cxnSpLocks noChangeShapeType="1"/>
              </p:cNvCxnSpPr>
              <p:nvPr/>
            </p:nvCxnSpPr>
            <p:spPr bwMode="auto">
              <a:xfrm rot="5400000" flipH="1">
                <a:off x="5809456" y="3404394"/>
                <a:ext cx="973138" cy="0"/>
              </a:xfrm>
              <a:prstGeom prst="line">
                <a:avLst/>
              </a:prstGeom>
              <a:grpFill/>
              <a:ln w="9525" algn="ctr">
                <a:solidFill>
                  <a:schemeClr val="tx1"/>
                </a:solidFill>
                <a:round/>
                <a:headEnd/>
                <a:tailEnd/>
              </a:ln>
            </p:spPr>
          </p:cxnSp>
          <p:cxnSp>
            <p:nvCxnSpPr>
              <p:cNvPr id="20533" name="Straight Connector 71">
                <a:extLst>
                  <a:ext uri="{FF2B5EF4-FFF2-40B4-BE49-F238E27FC236}">
                    <a16:creationId xmlns:a16="http://schemas.microsoft.com/office/drawing/2014/main" id="{77ABC7C6-C423-452D-BDFB-2DADD038FF5C}"/>
                  </a:ext>
                </a:extLst>
              </p:cNvPr>
              <p:cNvCxnSpPr>
                <a:cxnSpLocks noChangeShapeType="1"/>
              </p:cNvCxnSpPr>
              <p:nvPr/>
            </p:nvCxnSpPr>
            <p:spPr bwMode="auto">
              <a:xfrm rot="16200000" flipV="1">
                <a:off x="6125727" y="3235353"/>
                <a:ext cx="1301696" cy="0"/>
              </a:xfrm>
              <a:prstGeom prst="line">
                <a:avLst/>
              </a:prstGeom>
              <a:grpFill/>
              <a:ln w="9525" algn="ctr">
                <a:solidFill>
                  <a:schemeClr val="tx1"/>
                </a:solidFill>
                <a:round/>
                <a:headEnd/>
                <a:tailEnd/>
              </a:ln>
            </p:spPr>
          </p:cxnSp>
          <p:cxnSp>
            <p:nvCxnSpPr>
              <p:cNvPr id="20534" name="Straight Connector 72">
                <a:extLst>
                  <a:ext uri="{FF2B5EF4-FFF2-40B4-BE49-F238E27FC236}">
                    <a16:creationId xmlns:a16="http://schemas.microsoft.com/office/drawing/2014/main" id="{564E33DD-C3C7-4460-8A16-7D3006B6CE2C}"/>
                  </a:ext>
                </a:extLst>
              </p:cNvPr>
              <p:cNvCxnSpPr>
                <a:cxnSpLocks noChangeShapeType="1"/>
              </p:cNvCxnSpPr>
              <p:nvPr/>
            </p:nvCxnSpPr>
            <p:spPr bwMode="auto">
              <a:xfrm rot="16200000" flipV="1">
                <a:off x="6259873" y="3238861"/>
                <a:ext cx="693375" cy="1231"/>
              </a:xfrm>
              <a:prstGeom prst="line">
                <a:avLst/>
              </a:prstGeom>
              <a:grpFill/>
              <a:ln w="9525" algn="ctr">
                <a:solidFill>
                  <a:schemeClr val="tx1"/>
                </a:solidFill>
                <a:round/>
                <a:headEnd/>
                <a:tailEnd/>
              </a:ln>
            </p:spPr>
          </p:cxnSp>
          <p:cxnSp>
            <p:nvCxnSpPr>
              <p:cNvPr id="20535" name="Straight Connector 73">
                <a:extLst>
                  <a:ext uri="{FF2B5EF4-FFF2-40B4-BE49-F238E27FC236}">
                    <a16:creationId xmlns:a16="http://schemas.microsoft.com/office/drawing/2014/main" id="{2AB8F2E8-869F-4E4F-A833-D9DDDFEB63A9}"/>
                  </a:ext>
                </a:extLst>
              </p:cNvPr>
              <p:cNvCxnSpPr>
                <a:cxnSpLocks noChangeShapeType="1"/>
              </p:cNvCxnSpPr>
              <p:nvPr/>
            </p:nvCxnSpPr>
            <p:spPr bwMode="auto">
              <a:xfrm rot="5400000" flipH="1">
                <a:off x="6584156" y="3096419"/>
                <a:ext cx="973138" cy="0"/>
              </a:xfrm>
              <a:prstGeom prst="line">
                <a:avLst/>
              </a:prstGeom>
              <a:grpFill/>
              <a:ln w="9525" algn="ctr">
                <a:solidFill>
                  <a:schemeClr val="tx1"/>
                </a:solidFill>
                <a:round/>
                <a:headEnd/>
                <a:tailEnd/>
              </a:ln>
            </p:spPr>
          </p:cxnSp>
          <p:grpSp>
            <p:nvGrpSpPr>
              <p:cNvPr id="20536" name="Group 94">
                <a:extLst>
                  <a:ext uri="{FF2B5EF4-FFF2-40B4-BE49-F238E27FC236}">
                    <a16:creationId xmlns:a16="http://schemas.microsoft.com/office/drawing/2014/main" id="{126D8913-A90D-4436-AAD0-6D42F63B57BB}"/>
                  </a:ext>
                </a:extLst>
              </p:cNvPr>
              <p:cNvGrpSpPr>
                <a:grpSpLocks/>
              </p:cNvGrpSpPr>
              <p:nvPr/>
            </p:nvGrpSpPr>
            <p:grpSpPr bwMode="auto">
              <a:xfrm>
                <a:off x="6296031" y="2554908"/>
                <a:ext cx="773112" cy="369267"/>
                <a:chOff x="5117093" y="2554259"/>
                <a:chExt cx="569832" cy="369917"/>
              </a:xfrm>
              <a:grpFill/>
            </p:grpSpPr>
            <p:cxnSp>
              <p:nvCxnSpPr>
                <p:cNvPr id="20553" name="Straight Connector 68">
                  <a:extLst>
                    <a:ext uri="{FF2B5EF4-FFF2-40B4-BE49-F238E27FC236}">
                      <a16:creationId xmlns:a16="http://schemas.microsoft.com/office/drawing/2014/main" id="{D03E3925-7BA5-4D6B-960E-EF02A6C2A015}"/>
                    </a:ext>
                  </a:extLst>
                </p:cNvPr>
                <p:cNvCxnSpPr>
                  <a:cxnSpLocks noChangeShapeType="1"/>
                  <a:endCxn id="20539" idx="0"/>
                </p:cNvCxnSpPr>
                <p:nvPr/>
              </p:nvCxnSpPr>
              <p:spPr bwMode="auto">
                <a:xfrm flipV="1">
                  <a:off x="5117093" y="2554259"/>
                  <a:ext cx="354879" cy="365155"/>
                </a:xfrm>
                <a:prstGeom prst="line">
                  <a:avLst/>
                </a:prstGeom>
                <a:grpFill/>
                <a:ln w="9525" algn="ctr">
                  <a:solidFill>
                    <a:schemeClr val="tx1"/>
                  </a:solidFill>
                  <a:round/>
                  <a:headEnd/>
                  <a:tailEnd/>
                </a:ln>
              </p:spPr>
            </p:cxnSp>
            <p:cxnSp>
              <p:nvCxnSpPr>
                <p:cNvPr id="20554" name="Straight Connector 77">
                  <a:extLst>
                    <a:ext uri="{FF2B5EF4-FFF2-40B4-BE49-F238E27FC236}">
                      <a16:creationId xmlns:a16="http://schemas.microsoft.com/office/drawing/2014/main" id="{052F139A-EC16-4B53-B4CF-B4B919A78709}"/>
                    </a:ext>
                  </a:extLst>
                </p:cNvPr>
                <p:cNvCxnSpPr>
                  <a:cxnSpLocks noChangeShapeType="1"/>
                  <a:stCxn id="20539" idx="6"/>
                </p:cNvCxnSpPr>
                <p:nvPr/>
              </p:nvCxnSpPr>
              <p:spPr bwMode="auto">
                <a:xfrm>
                  <a:off x="5488354" y="2577319"/>
                  <a:ext cx="195065" cy="37295"/>
                </a:xfrm>
                <a:prstGeom prst="line">
                  <a:avLst/>
                </a:prstGeom>
                <a:grpFill/>
                <a:ln w="9525" algn="ctr">
                  <a:solidFill>
                    <a:schemeClr val="tx1"/>
                  </a:solidFill>
                  <a:round/>
                  <a:headEnd/>
                  <a:tailEnd/>
                </a:ln>
              </p:spPr>
            </p:cxnSp>
            <p:cxnSp>
              <p:nvCxnSpPr>
                <p:cNvPr id="20555" name="Straight Connector 82">
                  <a:extLst>
                    <a:ext uri="{FF2B5EF4-FFF2-40B4-BE49-F238E27FC236}">
                      <a16:creationId xmlns:a16="http://schemas.microsoft.com/office/drawing/2014/main" id="{10D90F6F-F824-4405-8E67-2017C72C542B}"/>
                    </a:ext>
                  </a:extLst>
                </p:cNvPr>
                <p:cNvCxnSpPr>
                  <a:cxnSpLocks noChangeShapeType="1"/>
                  <a:endCxn id="20538" idx="6"/>
                </p:cNvCxnSpPr>
                <p:nvPr/>
              </p:nvCxnSpPr>
              <p:spPr bwMode="auto">
                <a:xfrm rot="10800000" flipV="1">
                  <a:off x="5360050" y="2616993"/>
                  <a:ext cx="326875" cy="279539"/>
                </a:xfrm>
                <a:prstGeom prst="line">
                  <a:avLst/>
                </a:prstGeom>
                <a:grpFill/>
                <a:ln w="9525" algn="ctr">
                  <a:solidFill>
                    <a:schemeClr val="tx1"/>
                  </a:solidFill>
                  <a:round/>
                  <a:headEnd/>
                  <a:tailEnd/>
                </a:ln>
              </p:spPr>
            </p:cxnSp>
            <p:cxnSp>
              <p:nvCxnSpPr>
                <p:cNvPr id="20556" name="Straight Connector 84">
                  <a:extLst>
                    <a:ext uri="{FF2B5EF4-FFF2-40B4-BE49-F238E27FC236}">
                      <a16:creationId xmlns:a16="http://schemas.microsoft.com/office/drawing/2014/main" id="{FDC6907C-CD67-4EC0-84D2-54669881842C}"/>
                    </a:ext>
                  </a:extLst>
                </p:cNvPr>
                <p:cNvCxnSpPr>
                  <a:cxnSpLocks noChangeShapeType="1"/>
                </p:cNvCxnSpPr>
                <p:nvPr/>
              </p:nvCxnSpPr>
              <p:spPr bwMode="auto">
                <a:xfrm flipV="1">
                  <a:off x="5117095" y="2897505"/>
                  <a:ext cx="226668" cy="26671"/>
                </a:xfrm>
                <a:prstGeom prst="line">
                  <a:avLst/>
                </a:prstGeom>
                <a:grpFill/>
                <a:ln w="9525" algn="ctr">
                  <a:solidFill>
                    <a:schemeClr val="tx1"/>
                  </a:solidFill>
                  <a:round/>
                  <a:headEnd/>
                  <a:tailEnd/>
                </a:ln>
              </p:spPr>
            </p:cxnSp>
          </p:grpSp>
          <p:sp>
            <p:nvSpPr>
              <p:cNvPr id="20537" name="Flowchart: Connector 62">
                <a:extLst>
                  <a:ext uri="{FF2B5EF4-FFF2-40B4-BE49-F238E27FC236}">
                    <a16:creationId xmlns:a16="http://schemas.microsoft.com/office/drawing/2014/main" id="{4D5E36DC-4706-4F63-9AF4-4F131E80E2F6}"/>
                  </a:ext>
                </a:extLst>
              </p:cNvPr>
              <p:cNvSpPr>
                <a:spLocks noChangeArrowheads="1"/>
              </p:cNvSpPr>
              <p:nvPr/>
            </p:nvSpPr>
            <p:spPr bwMode="auto">
              <a:xfrm>
                <a:off x="6271345" y="2900855"/>
                <a:ext cx="44450"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38" name="Flowchart: Connector 62">
                <a:extLst>
                  <a:ext uri="{FF2B5EF4-FFF2-40B4-BE49-F238E27FC236}">
                    <a16:creationId xmlns:a16="http://schemas.microsoft.com/office/drawing/2014/main" id="{2D9F7257-51A2-4ED3-B871-A77DF4D93A89}"/>
                  </a:ext>
                </a:extLst>
              </p:cNvPr>
              <p:cNvSpPr>
                <a:spLocks noChangeArrowheads="1"/>
              </p:cNvSpPr>
              <p:nvPr/>
            </p:nvSpPr>
            <p:spPr bwMode="auto">
              <a:xfrm>
                <a:off x="6581215" y="2873561"/>
                <a:ext cx="44450"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39" name="Flowchart: Connector 62">
                <a:extLst>
                  <a:ext uri="{FF2B5EF4-FFF2-40B4-BE49-F238E27FC236}">
                    <a16:creationId xmlns:a16="http://schemas.microsoft.com/office/drawing/2014/main" id="{AF1292D8-4E6F-44C0-82DD-60757B327252}"/>
                  </a:ext>
                </a:extLst>
              </p:cNvPr>
              <p:cNvSpPr>
                <a:spLocks noChangeArrowheads="1"/>
              </p:cNvSpPr>
              <p:nvPr/>
            </p:nvSpPr>
            <p:spPr bwMode="auto">
              <a:xfrm>
                <a:off x="6755290" y="2554908"/>
                <a:ext cx="44450"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0540" name="Flowchart: Connector 62">
                <a:extLst>
                  <a:ext uri="{FF2B5EF4-FFF2-40B4-BE49-F238E27FC236}">
                    <a16:creationId xmlns:a16="http://schemas.microsoft.com/office/drawing/2014/main" id="{C0372A4B-74CF-4E5C-BD40-61C03BF2DEE1}"/>
                  </a:ext>
                </a:extLst>
              </p:cNvPr>
              <p:cNvSpPr>
                <a:spLocks noChangeArrowheads="1"/>
              </p:cNvSpPr>
              <p:nvPr/>
            </p:nvSpPr>
            <p:spPr bwMode="auto">
              <a:xfrm>
                <a:off x="7039445" y="2599965"/>
                <a:ext cx="44450" cy="46038"/>
              </a:xfrm>
              <a:prstGeom prst="flowChartConnector">
                <a:avLst/>
              </a:prstGeom>
              <a:grp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cxnSp>
            <p:nvCxnSpPr>
              <p:cNvPr id="20541" name="Straight Connector 57">
                <a:extLst>
                  <a:ext uri="{FF2B5EF4-FFF2-40B4-BE49-F238E27FC236}">
                    <a16:creationId xmlns:a16="http://schemas.microsoft.com/office/drawing/2014/main" id="{13C0C25E-EAAE-43E6-9728-82FD9E9E1CDB}"/>
                  </a:ext>
                </a:extLst>
              </p:cNvPr>
              <p:cNvCxnSpPr>
                <a:cxnSpLocks noChangeShapeType="1"/>
              </p:cNvCxnSpPr>
              <p:nvPr/>
            </p:nvCxnSpPr>
            <p:spPr bwMode="auto">
              <a:xfrm rot="5400000">
                <a:off x="6369015" y="2834883"/>
                <a:ext cx="117110" cy="42423"/>
              </a:xfrm>
              <a:prstGeom prst="line">
                <a:avLst/>
              </a:prstGeom>
              <a:grpFill/>
              <a:ln w="9525" algn="ctr">
                <a:solidFill>
                  <a:schemeClr val="tx1"/>
                </a:solidFill>
                <a:round/>
                <a:headEnd/>
                <a:tailEnd/>
              </a:ln>
            </p:spPr>
          </p:cxnSp>
          <p:cxnSp>
            <p:nvCxnSpPr>
              <p:cNvPr id="20542" name="Straight Connector 58">
                <a:extLst>
                  <a:ext uri="{FF2B5EF4-FFF2-40B4-BE49-F238E27FC236}">
                    <a16:creationId xmlns:a16="http://schemas.microsoft.com/office/drawing/2014/main" id="{60EEC2D8-5E39-43BA-B7F4-2BDF7651D81B}"/>
                  </a:ext>
                </a:extLst>
              </p:cNvPr>
              <p:cNvCxnSpPr>
                <a:cxnSpLocks noChangeShapeType="1"/>
              </p:cNvCxnSpPr>
              <p:nvPr/>
            </p:nvCxnSpPr>
            <p:spPr bwMode="auto">
              <a:xfrm rot="5400000">
                <a:off x="6402286" y="2811003"/>
                <a:ext cx="155208" cy="56848"/>
              </a:xfrm>
              <a:prstGeom prst="line">
                <a:avLst/>
              </a:prstGeom>
              <a:grpFill/>
              <a:ln w="9525" algn="ctr">
                <a:solidFill>
                  <a:schemeClr val="tx1"/>
                </a:solidFill>
                <a:round/>
                <a:headEnd/>
                <a:tailEnd/>
              </a:ln>
            </p:spPr>
          </p:cxnSp>
          <p:cxnSp>
            <p:nvCxnSpPr>
              <p:cNvPr id="20543" name="Straight Connector 60">
                <a:extLst>
                  <a:ext uri="{FF2B5EF4-FFF2-40B4-BE49-F238E27FC236}">
                    <a16:creationId xmlns:a16="http://schemas.microsoft.com/office/drawing/2014/main" id="{D7E128F1-2C29-4EE4-9236-9BC98E335918}"/>
                  </a:ext>
                </a:extLst>
              </p:cNvPr>
              <p:cNvCxnSpPr>
                <a:cxnSpLocks noChangeShapeType="1"/>
              </p:cNvCxnSpPr>
              <p:nvPr/>
            </p:nvCxnSpPr>
            <p:spPr bwMode="auto">
              <a:xfrm rot="5400000">
                <a:off x="6436966" y="2779009"/>
                <a:ext cx="193309" cy="63687"/>
              </a:xfrm>
              <a:prstGeom prst="line">
                <a:avLst/>
              </a:prstGeom>
              <a:grpFill/>
              <a:ln w="9525" algn="ctr">
                <a:solidFill>
                  <a:schemeClr val="tx1"/>
                </a:solidFill>
                <a:round/>
                <a:headEnd/>
                <a:tailEnd/>
              </a:ln>
            </p:spPr>
          </p:cxnSp>
          <p:cxnSp>
            <p:nvCxnSpPr>
              <p:cNvPr id="20544" name="Straight Connector 61">
                <a:extLst>
                  <a:ext uri="{FF2B5EF4-FFF2-40B4-BE49-F238E27FC236}">
                    <a16:creationId xmlns:a16="http://schemas.microsoft.com/office/drawing/2014/main" id="{57D6C71C-C017-436B-8107-22497343E1AB}"/>
                  </a:ext>
                </a:extLst>
              </p:cNvPr>
              <p:cNvCxnSpPr>
                <a:cxnSpLocks noChangeShapeType="1"/>
              </p:cNvCxnSpPr>
              <p:nvPr/>
            </p:nvCxnSpPr>
            <p:spPr bwMode="auto">
              <a:xfrm rot="5400000">
                <a:off x="6472988" y="2748358"/>
                <a:ext cx="231412" cy="77362"/>
              </a:xfrm>
              <a:prstGeom prst="line">
                <a:avLst/>
              </a:prstGeom>
              <a:grpFill/>
              <a:ln w="9525" algn="ctr">
                <a:solidFill>
                  <a:schemeClr val="tx1"/>
                </a:solidFill>
                <a:round/>
                <a:headEnd/>
                <a:tailEnd/>
              </a:ln>
            </p:spPr>
          </p:cxnSp>
          <p:cxnSp>
            <p:nvCxnSpPr>
              <p:cNvPr id="20545" name="Straight Connector 64">
                <a:extLst>
                  <a:ext uri="{FF2B5EF4-FFF2-40B4-BE49-F238E27FC236}">
                    <a16:creationId xmlns:a16="http://schemas.microsoft.com/office/drawing/2014/main" id="{0A985F29-56CC-4A27-963D-E1D4061D439E}"/>
                  </a:ext>
                </a:extLst>
              </p:cNvPr>
              <p:cNvCxnSpPr>
                <a:cxnSpLocks noChangeShapeType="1"/>
              </p:cNvCxnSpPr>
              <p:nvPr/>
            </p:nvCxnSpPr>
            <p:spPr bwMode="auto">
              <a:xfrm rot="5400000">
                <a:off x="6512215" y="2706746"/>
                <a:ext cx="279158" cy="98800"/>
              </a:xfrm>
              <a:prstGeom prst="line">
                <a:avLst/>
              </a:prstGeom>
              <a:grpFill/>
              <a:ln w="9525" algn="ctr">
                <a:solidFill>
                  <a:schemeClr val="tx1"/>
                </a:solidFill>
                <a:round/>
                <a:headEnd/>
                <a:tailEnd/>
              </a:ln>
            </p:spPr>
          </p:cxnSp>
          <p:cxnSp>
            <p:nvCxnSpPr>
              <p:cNvPr id="20546" name="Straight Connector 65">
                <a:extLst>
                  <a:ext uri="{FF2B5EF4-FFF2-40B4-BE49-F238E27FC236}">
                    <a16:creationId xmlns:a16="http://schemas.microsoft.com/office/drawing/2014/main" id="{93293E6A-734C-438F-925B-907205B859E4}"/>
                  </a:ext>
                </a:extLst>
              </p:cNvPr>
              <p:cNvCxnSpPr>
                <a:cxnSpLocks noChangeShapeType="1"/>
              </p:cNvCxnSpPr>
              <p:nvPr/>
            </p:nvCxnSpPr>
            <p:spPr bwMode="auto">
              <a:xfrm rot="5400000">
                <a:off x="6559547" y="2668156"/>
                <a:ext cx="306753" cy="104419"/>
              </a:xfrm>
              <a:prstGeom prst="line">
                <a:avLst/>
              </a:prstGeom>
              <a:grpFill/>
              <a:ln w="9525" algn="ctr">
                <a:solidFill>
                  <a:schemeClr val="tx1"/>
                </a:solidFill>
                <a:round/>
                <a:headEnd/>
                <a:tailEnd/>
              </a:ln>
            </p:spPr>
          </p:cxnSp>
          <p:cxnSp>
            <p:nvCxnSpPr>
              <p:cNvPr id="20547" name="Straight Connector 66">
                <a:extLst>
                  <a:ext uri="{FF2B5EF4-FFF2-40B4-BE49-F238E27FC236}">
                    <a16:creationId xmlns:a16="http://schemas.microsoft.com/office/drawing/2014/main" id="{F581D443-E217-4079-8B2B-DADC32C72F25}"/>
                  </a:ext>
                </a:extLst>
              </p:cNvPr>
              <p:cNvCxnSpPr>
                <a:cxnSpLocks noChangeShapeType="1"/>
              </p:cNvCxnSpPr>
              <p:nvPr/>
            </p:nvCxnSpPr>
            <p:spPr bwMode="auto">
              <a:xfrm rot="5400000">
                <a:off x="6640511" y="2661012"/>
                <a:ext cx="254360" cy="85369"/>
              </a:xfrm>
              <a:prstGeom prst="line">
                <a:avLst/>
              </a:prstGeom>
              <a:grpFill/>
              <a:ln w="9525" algn="ctr">
                <a:solidFill>
                  <a:schemeClr val="tx1"/>
                </a:solidFill>
                <a:round/>
                <a:headEnd/>
                <a:tailEnd/>
              </a:ln>
            </p:spPr>
          </p:cxnSp>
          <p:cxnSp>
            <p:nvCxnSpPr>
              <p:cNvPr id="20548" name="Straight Connector 67">
                <a:extLst>
                  <a:ext uri="{FF2B5EF4-FFF2-40B4-BE49-F238E27FC236}">
                    <a16:creationId xmlns:a16="http://schemas.microsoft.com/office/drawing/2014/main" id="{7260A677-A837-4DB0-813E-BAB115EDF62C}"/>
                  </a:ext>
                </a:extLst>
              </p:cNvPr>
              <p:cNvCxnSpPr>
                <a:cxnSpLocks noChangeShapeType="1"/>
              </p:cNvCxnSpPr>
              <p:nvPr/>
            </p:nvCxnSpPr>
            <p:spPr bwMode="auto">
              <a:xfrm rot="5400000">
                <a:off x="6723852" y="2651485"/>
                <a:ext cx="204361" cy="73464"/>
              </a:xfrm>
              <a:prstGeom prst="line">
                <a:avLst/>
              </a:prstGeom>
              <a:grpFill/>
              <a:ln w="9525" algn="ctr">
                <a:solidFill>
                  <a:schemeClr val="tx1"/>
                </a:solidFill>
                <a:round/>
                <a:headEnd/>
                <a:tailEnd/>
              </a:ln>
            </p:spPr>
          </p:cxnSp>
          <p:cxnSp>
            <p:nvCxnSpPr>
              <p:cNvPr id="20549" name="Straight Connector 68">
                <a:extLst>
                  <a:ext uri="{FF2B5EF4-FFF2-40B4-BE49-F238E27FC236}">
                    <a16:creationId xmlns:a16="http://schemas.microsoft.com/office/drawing/2014/main" id="{CBEC1C5C-7274-4C3A-9CBA-32964EDF2FFF}"/>
                  </a:ext>
                </a:extLst>
              </p:cNvPr>
              <p:cNvCxnSpPr>
                <a:cxnSpLocks noChangeShapeType="1"/>
              </p:cNvCxnSpPr>
              <p:nvPr/>
            </p:nvCxnSpPr>
            <p:spPr bwMode="auto">
              <a:xfrm rot="5400000">
                <a:off x="6808387" y="2643152"/>
                <a:ext cx="154353" cy="54414"/>
              </a:xfrm>
              <a:prstGeom prst="line">
                <a:avLst/>
              </a:prstGeom>
              <a:grpFill/>
              <a:ln w="9525" algn="ctr">
                <a:solidFill>
                  <a:schemeClr val="tx1"/>
                </a:solidFill>
                <a:round/>
                <a:headEnd/>
                <a:tailEnd/>
              </a:ln>
            </p:spPr>
          </p:cxnSp>
          <p:cxnSp>
            <p:nvCxnSpPr>
              <p:cNvPr id="20550" name="Straight Connector 69">
                <a:extLst>
                  <a:ext uri="{FF2B5EF4-FFF2-40B4-BE49-F238E27FC236}">
                    <a16:creationId xmlns:a16="http://schemas.microsoft.com/office/drawing/2014/main" id="{7F95EA13-BE4F-46F8-8B70-28ACD881F513}"/>
                  </a:ext>
                </a:extLst>
              </p:cNvPr>
              <p:cNvCxnSpPr>
                <a:cxnSpLocks noChangeShapeType="1"/>
              </p:cNvCxnSpPr>
              <p:nvPr/>
            </p:nvCxnSpPr>
            <p:spPr bwMode="auto">
              <a:xfrm rot="5400000">
                <a:off x="6885780" y="2632437"/>
                <a:ext cx="109104" cy="40125"/>
              </a:xfrm>
              <a:prstGeom prst="line">
                <a:avLst/>
              </a:prstGeom>
              <a:grpFill/>
              <a:ln w="9525" algn="ctr">
                <a:solidFill>
                  <a:schemeClr val="tx1"/>
                </a:solidFill>
                <a:round/>
                <a:headEnd/>
                <a:tailEnd/>
              </a:ln>
            </p:spPr>
          </p:cxnSp>
          <p:cxnSp>
            <p:nvCxnSpPr>
              <p:cNvPr id="20551" name="Straight Connector 70">
                <a:extLst>
                  <a:ext uri="{FF2B5EF4-FFF2-40B4-BE49-F238E27FC236}">
                    <a16:creationId xmlns:a16="http://schemas.microsoft.com/office/drawing/2014/main" id="{33EF53DF-8122-4705-B4A2-2386DFF88CEB}"/>
                  </a:ext>
                </a:extLst>
              </p:cNvPr>
              <p:cNvCxnSpPr>
                <a:cxnSpLocks noChangeShapeType="1"/>
              </p:cNvCxnSpPr>
              <p:nvPr/>
            </p:nvCxnSpPr>
            <p:spPr bwMode="auto">
              <a:xfrm rot="5400000">
                <a:off x="6336828" y="2874195"/>
                <a:ext cx="61311" cy="19604"/>
              </a:xfrm>
              <a:prstGeom prst="line">
                <a:avLst/>
              </a:prstGeom>
              <a:grpFill/>
              <a:ln w="9525" algn="ctr">
                <a:solidFill>
                  <a:schemeClr val="tx1"/>
                </a:solidFill>
                <a:round/>
                <a:headEnd/>
                <a:tailEnd/>
              </a:ln>
            </p:spPr>
          </p:cxnSp>
          <p:cxnSp>
            <p:nvCxnSpPr>
              <p:cNvPr id="20552" name="Straight Connector 79">
                <a:extLst>
                  <a:ext uri="{FF2B5EF4-FFF2-40B4-BE49-F238E27FC236}">
                    <a16:creationId xmlns:a16="http://schemas.microsoft.com/office/drawing/2014/main" id="{39B8347A-1678-49A6-9276-C4B8054F61C1}"/>
                  </a:ext>
                </a:extLst>
              </p:cNvPr>
              <p:cNvCxnSpPr>
                <a:cxnSpLocks noChangeShapeType="1"/>
              </p:cNvCxnSpPr>
              <p:nvPr/>
            </p:nvCxnSpPr>
            <p:spPr bwMode="auto">
              <a:xfrm rot="5400000">
                <a:off x="6957216" y="2627674"/>
                <a:ext cx="68627" cy="28220"/>
              </a:xfrm>
              <a:prstGeom prst="line">
                <a:avLst/>
              </a:prstGeom>
              <a:grpFill/>
              <a:ln w="9525" algn="ctr">
                <a:solidFill>
                  <a:schemeClr val="tx1"/>
                </a:solidFill>
                <a:round/>
                <a:headEnd/>
                <a:tailEnd/>
              </a:ln>
            </p:spPr>
          </p:cxnSp>
        </p:grpSp>
      </p:grpSp>
      <p:sp>
        <p:nvSpPr>
          <p:cNvPr id="2" name="Rectangle 1">
            <a:extLst>
              <a:ext uri="{FF2B5EF4-FFF2-40B4-BE49-F238E27FC236}">
                <a16:creationId xmlns:a16="http://schemas.microsoft.com/office/drawing/2014/main" id="{10EB8CA6-F5A6-474B-82F9-74B81F5ADD03}"/>
              </a:ext>
            </a:extLst>
          </p:cNvPr>
          <p:cNvSpPr/>
          <p:nvPr/>
        </p:nvSpPr>
        <p:spPr>
          <a:xfrm>
            <a:off x="8126414" y="1970088"/>
            <a:ext cx="1570037" cy="368300"/>
          </a:xfrm>
          <a:prstGeom prst="rect">
            <a:avLst/>
          </a:prstGeom>
          <a:solidFill>
            <a:schemeClr val="accent1"/>
          </a:solidFill>
          <a:effectLst/>
        </p:spPr>
        <p:style>
          <a:lnRef idx="1">
            <a:schemeClr val="accent1"/>
          </a:lnRef>
          <a:fillRef idx="2">
            <a:schemeClr val="accent1"/>
          </a:fillRef>
          <a:effectRef idx="1">
            <a:schemeClr val="accent1"/>
          </a:effectRef>
          <a:fontRef idx="minor">
            <a:schemeClr val="dk1"/>
          </a:fontRef>
        </p:style>
        <p:txBody>
          <a:bodyPr wrap="none">
            <a:spAutoFit/>
          </a:bodyPr>
          <a:lstStyle/>
          <a:p>
            <a:pPr eaLnBrk="1" hangingPunct="1">
              <a:defRPr/>
            </a:pPr>
            <a:r>
              <a:rPr lang="en-US" dirty="0">
                <a:solidFill>
                  <a:schemeClr val="bg1"/>
                </a:solidFill>
              </a:rPr>
              <a:t>Lookup table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8471CF9D-7A41-4CFF-A70C-07930DAA7100}"/>
              </a:ext>
            </a:extLst>
          </p:cNvPr>
          <p:cNvSpPr>
            <a:spLocks noGrp="1"/>
          </p:cNvSpPr>
          <p:nvPr>
            <p:ph type="title"/>
          </p:nvPr>
        </p:nvSpPr>
        <p:spPr/>
        <p:txBody>
          <a:bodyPr/>
          <a:lstStyle/>
          <a:p>
            <a:r>
              <a:rPr lang="en-US" altLang="en-US"/>
              <a:t>Cell Timing Data</a:t>
            </a:r>
          </a:p>
        </p:txBody>
      </p:sp>
      <p:sp>
        <p:nvSpPr>
          <p:cNvPr id="5" name="Rectangle 4">
            <a:extLst>
              <a:ext uri="{FF2B5EF4-FFF2-40B4-BE49-F238E27FC236}">
                <a16:creationId xmlns:a16="http://schemas.microsoft.com/office/drawing/2014/main" id="{E1DD9B9F-27C9-42C7-8E4C-C2813B34B5CA}"/>
              </a:ext>
            </a:extLst>
          </p:cNvPr>
          <p:cNvSpPr/>
          <p:nvPr/>
        </p:nvSpPr>
        <p:spPr bwMode="auto">
          <a:xfrm>
            <a:off x="1943100" y="2609850"/>
            <a:ext cx="8305800" cy="3162300"/>
          </a:xfrm>
          <a:prstGeom prst="rect">
            <a:avLst/>
          </a:prstGeom>
          <a:solidFill>
            <a:schemeClr val="accent1">
              <a:lumMod val="20000"/>
              <a:lumOff val="80000"/>
            </a:schemeClr>
          </a:solidFill>
          <a:ln>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cell (INVX1)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pin (Y) {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timing ()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related_pin</a:t>
            </a:r>
            <a:r>
              <a:rPr lang="en-US" sz="1100" dirty="0">
                <a:solidFill>
                  <a:schemeClr val="tx1"/>
                </a:solidFill>
                <a:latin typeface="Courier New" pitchFamily="49" charset="0"/>
                <a:cs typeface="Courier New" pitchFamily="49" charset="0"/>
              </a:rPr>
              <a:t> : "A";</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timing_type</a:t>
            </a:r>
            <a:r>
              <a:rPr lang="en-US" sz="1100" dirty="0">
                <a:solidFill>
                  <a:schemeClr val="tx1"/>
                </a:solidFill>
                <a:latin typeface="Courier New" pitchFamily="49" charset="0"/>
                <a:cs typeface="Courier New" pitchFamily="49" charset="0"/>
              </a:rPr>
              <a:t> : "combinational";</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timing_sense</a:t>
            </a:r>
            <a:r>
              <a:rPr lang="en-US" sz="1100" dirty="0">
                <a:solidFill>
                  <a:schemeClr val="tx1"/>
                </a:solidFill>
                <a:latin typeface="Courier New" pitchFamily="49" charset="0"/>
                <a:cs typeface="Courier New" pitchFamily="49" charset="0"/>
              </a:rPr>
              <a:t> : "</a:t>
            </a:r>
            <a:r>
              <a:rPr lang="en-US" sz="1100" dirty="0" err="1">
                <a:solidFill>
                  <a:schemeClr val="tx1"/>
                </a:solidFill>
                <a:latin typeface="Courier New" pitchFamily="49" charset="0"/>
                <a:cs typeface="Courier New" pitchFamily="49" charset="0"/>
              </a:rPr>
              <a:t>negative_unate</a:t>
            </a:r>
            <a:r>
              <a:rPr lang="en-US" sz="11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cell_rise</a:t>
            </a: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del_1_7_7</a:t>
            </a:r>
            <a:r>
              <a:rPr lang="en-US" sz="11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index_1("0.016, 0.032, 0.064, 0.128, 0.256, 0.512, 1.024");</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index_2("0.1, 0.25, 0.5, 1, 2, 4, 8");</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values("0.016861, 0.0179019, 0.0195185, 0.0229259, 0.029658, 0.043145, 0.07712",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"0.0239648, 0.0255491, 0.0279298, 0.0319930, 0.0387540, 0.0520896, 0.0790211",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"0.0342118, 0.0366966, 0.0402223, 0.0462823, 0.0558327, 0.0705154, 0.0967339",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"0.0491695, 0.0524727, 0.0576512, 0.0665647, 0.0810999, 0.1027237, 0.1342571",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"0.0721332, 0.0765389, 0.0836775, 0.0960890, 0.1171612, 0.1497265, 0.1957640",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"0.1111560, 0.1164417, 0.1252609, 0.1422002, 0.1712097, 0.2171862, 0.2847010",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"0.1841131, 0.1901881, 0.2010298, 0.2194395, 0.2555983, 0.3182710, 0.4139452");</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p>
        </p:txBody>
      </p:sp>
      <p:sp>
        <p:nvSpPr>
          <p:cNvPr id="7" name="Rectangle 6">
            <a:extLst>
              <a:ext uri="{FF2B5EF4-FFF2-40B4-BE49-F238E27FC236}">
                <a16:creationId xmlns:a16="http://schemas.microsoft.com/office/drawing/2014/main" id="{45787C1A-1B9F-4825-944C-EB70DE2946AF}"/>
              </a:ext>
            </a:extLst>
          </p:cNvPr>
          <p:cNvSpPr/>
          <p:nvPr/>
        </p:nvSpPr>
        <p:spPr bwMode="auto">
          <a:xfrm>
            <a:off x="1943100" y="1238250"/>
            <a:ext cx="8305800" cy="1257300"/>
          </a:xfrm>
          <a:prstGeom prst="rect">
            <a:avLst/>
          </a:prstGeom>
          <a:solidFill>
            <a:schemeClr val="accent1">
              <a:lumMod val="20000"/>
              <a:lumOff val="80000"/>
            </a:schemeClr>
          </a:solidFill>
          <a:ln>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library(){</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lu_table_template</a:t>
            </a:r>
            <a:r>
              <a:rPr lang="en-US" sz="1100" dirty="0">
                <a:solidFill>
                  <a:schemeClr val="tx1"/>
                </a:solidFill>
                <a:latin typeface="Courier New" pitchFamily="49" charset="0"/>
                <a:cs typeface="Courier New" pitchFamily="49" charset="0"/>
              </a:rPr>
              <a:t> ("</a:t>
            </a:r>
            <a:r>
              <a:rPr lang="en-US" sz="1100" dirty="0">
                <a:solidFill>
                  <a:srgbClr val="0000FF"/>
                </a:solidFill>
                <a:latin typeface="Courier New" pitchFamily="49" charset="0"/>
                <a:cs typeface="Courier New" pitchFamily="49" charset="0"/>
              </a:rPr>
              <a:t>del_1_7_7</a:t>
            </a:r>
            <a:r>
              <a:rPr lang="en-US" sz="11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variable_1 : "</a:t>
            </a:r>
            <a:r>
              <a:rPr lang="en-US" sz="1100" dirty="0" err="1">
                <a:solidFill>
                  <a:schemeClr val="tx1"/>
                </a:solidFill>
                <a:latin typeface="Courier New" pitchFamily="49" charset="0"/>
                <a:cs typeface="Courier New" pitchFamily="49" charset="0"/>
              </a:rPr>
              <a:t>input_net_transition</a:t>
            </a:r>
            <a:r>
              <a:rPr lang="en-US" sz="11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index_1("1, 2, 3, 4, 5, 6, 7");</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variable_2 : "</a:t>
            </a:r>
            <a:r>
              <a:rPr lang="en-US" sz="1100" dirty="0" err="1">
                <a:solidFill>
                  <a:schemeClr val="tx1"/>
                </a:solidFill>
                <a:latin typeface="Courier New" pitchFamily="49" charset="0"/>
                <a:cs typeface="Courier New" pitchFamily="49" charset="0"/>
              </a:rPr>
              <a:t>total_output_net_capacitance</a:t>
            </a:r>
            <a:r>
              <a:rPr lang="en-US" sz="11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index_2("1, 2, 3, 4, 5, 6, 7");</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p>
        </p:txBody>
      </p:sp>
      <p:cxnSp>
        <p:nvCxnSpPr>
          <p:cNvPr id="3" name="Curved Connector 2">
            <a:extLst>
              <a:ext uri="{FF2B5EF4-FFF2-40B4-BE49-F238E27FC236}">
                <a16:creationId xmlns:a16="http://schemas.microsoft.com/office/drawing/2014/main" id="{C5585906-02B5-4BED-8D96-4BBC6A5A94AE}"/>
              </a:ext>
            </a:extLst>
          </p:cNvPr>
          <p:cNvCxnSpPr/>
          <p:nvPr/>
        </p:nvCxnSpPr>
        <p:spPr bwMode="auto">
          <a:xfrm rot="16200000" flipH="1">
            <a:off x="1678782" y="2507457"/>
            <a:ext cx="2305050" cy="690563"/>
          </a:xfrm>
          <a:prstGeom prst="curvedConnector3">
            <a:avLst>
              <a:gd name="adj1" fmla="val 100595"/>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8" name="Curved Connector 7">
            <a:extLst>
              <a:ext uri="{FF2B5EF4-FFF2-40B4-BE49-F238E27FC236}">
                <a16:creationId xmlns:a16="http://schemas.microsoft.com/office/drawing/2014/main" id="{6BEAC677-2D60-4E41-B4D2-192739261672}"/>
              </a:ext>
            </a:extLst>
          </p:cNvPr>
          <p:cNvCxnSpPr/>
          <p:nvPr/>
        </p:nvCxnSpPr>
        <p:spPr bwMode="auto">
          <a:xfrm rot="16200000" flipH="1">
            <a:off x="1681957" y="2696369"/>
            <a:ext cx="2144712" cy="844550"/>
          </a:xfrm>
          <a:prstGeom prst="curvedConnector3">
            <a:avLst>
              <a:gd name="adj1" fmla="val 100455"/>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2C765C0-64B0-4BF3-80B9-40FF2F7A470F}"/>
              </a:ext>
            </a:extLst>
          </p:cNvPr>
          <p:cNvSpPr>
            <a:spLocks noGrp="1"/>
          </p:cNvSpPr>
          <p:nvPr>
            <p:ph type="title"/>
          </p:nvPr>
        </p:nvSpPr>
        <p:spPr/>
        <p:txBody>
          <a:bodyPr/>
          <a:lstStyle/>
          <a:p>
            <a:r>
              <a:rPr lang="en-US" altLang="en-US"/>
              <a:t>Cell Types: Sequential Cells</a:t>
            </a:r>
          </a:p>
        </p:txBody>
      </p:sp>
      <p:sp>
        <p:nvSpPr>
          <p:cNvPr id="23555" name="Content Placeholder 2">
            <a:extLst>
              <a:ext uri="{FF2B5EF4-FFF2-40B4-BE49-F238E27FC236}">
                <a16:creationId xmlns:a16="http://schemas.microsoft.com/office/drawing/2014/main" id="{BF76D7CF-95DB-4A54-811F-916EDB18BFF1}"/>
              </a:ext>
            </a:extLst>
          </p:cNvPr>
          <p:cNvSpPr>
            <a:spLocks noGrp="1"/>
          </p:cNvSpPr>
          <p:nvPr>
            <p:ph type="body" sz="quarter" idx="10"/>
          </p:nvPr>
        </p:nvSpPr>
        <p:spPr/>
        <p:txBody>
          <a:bodyPr/>
          <a:lstStyle/>
          <a:p>
            <a:r>
              <a:rPr lang="en-US" altLang="en-US"/>
              <a:t>Combinational</a:t>
            </a:r>
          </a:p>
          <a:p>
            <a:pPr lvl="1"/>
            <a:r>
              <a:rPr lang="en-US" altLang="en-US"/>
              <a:t>Cell output changes with changes at input</a:t>
            </a:r>
          </a:p>
          <a:p>
            <a:r>
              <a:rPr lang="en-US" altLang="en-US"/>
              <a:t>Sequential</a:t>
            </a:r>
          </a:p>
          <a:p>
            <a:pPr lvl="1"/>
            <a:r>
              <a:rPr lang="en-US" altLang="en-US"/>
              <a:t>Cell has memory and output depends on memory and input</a:t>
            </a:r>
          </a:p>
        </p:txBody>
      </p:sp>
      <p:grpSp>
        <p:nvGrpSpPr>
          <p:cNvPr id="23556" name="Group 30">
            <a:extLst>
              <a:ext uri="{FF2B5EF4-FFF2-40B4-BE49-F238E27FC236}">
                <a16:creationId xmlns:a16="http://schemas.microsoft.com/office/drawing/2014/main" id="{9460F802-3CBE-44DA-9BD3-79B302D6D749}"/>
              </a:ext>
            </a:extLst>
          </p:cNvPr>
          <p:cNvGrpSpPr>
            <a:grpSpLocks/>
          </p:cNvGrpSpPr>
          <p:nvPr/>
        </p:nvGrpSpPr>
        <p:grpSpPr bwMode="auto">
          <a:xfrm>
            <a:off x="7218364" y="1736725"/>
            <a:ext cx="2174875" cy="666750"/>
            <a:chOff x="5340100" y="5065824"/>
            <a:chExt cx="2175772" cy="667475"/>
          </a:xfrm>
        </p:grpSpPr>
        <p:sp>
          <p:nvSpPr>
            <p:cNvPr id="23589" name="Moon 18">
              <a:extLst>
                <a:ext uri="{FF2B5EF4-FFF2-40B4-BE49-F238E27FC236}">
                  <a16:creationId xmlns:a16="http://schemas.microsoft.com/office/drawing/2014/main" id="{4318C2DB-B1CD-40F9-BDEC-8F7A5FE2755F}"/>
                </a:ext>
              </a:extLst>
            </p:cNvPr>
            <p:cNvSpPr>
              <a:spLocks noChangeArrowheads="1"/>
            </p:cNvSpPr>
            <p:nvPr/>
          </p:nvSpPr>
          <p:spPr bwMode="auto">
            <a:xfrm rot="10800000">
              <a:off x="6108642" y="5065824"/>
              <a:ext cx="806651" cy="653172"/>
            </a:xfrm>
            <a:prstGeom prst="moon">
              <a:avLst>
                <a:gd name="adj" fmla="val 82292"/>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000"/>
            </a:p>
          </p:txBody>
        </p:sp>
        <p:cxnSp>
          <p:nvCxnSpPr>
            <p:cNvPr id="23590" name="Straight Connector 20">
              <a:extLst>
                <a:ext uri="{FF2B5EF4-FFF2-40B4-BE49-F238E27FC236}">
                  <a16:creationId xmlns:a16="http://schemas.microsoft.com/office/drawing/2014/main" id="{274BFDDB-A5BE-41A8-95BA-18432E69BEB5}"/>
                </a:ext>
              </a:extLst>
            </p:cNvPr>
            <p:cNvCxnSpPr>
              <a:cxnSpLocks noChangeShapeType="1"/>
            </p:cNvCxnSpPr>
            <p:nvPr/>
          </p:nvCxnSpPr>
          <p:spPr bwMode="auto">
            <a:xfrm rot="10800000">
              <a:off x="5590988" y="5242229"/>
              <a:ext cx="63992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591" name="Straight Connector 21">
              <a:extLst>
                <a:ext uri="{FF2B5EF4-FFF2-40B4-BE49-F238E27FC236}">
                  <a16:creationId xmlns:a16="http://schemas.microsoft.com/office/drawing/2014/main" id="{55D8C7AA-D3E3-4EC0-B867-B71F01D28C79}"/>
                </a:ext>
              </a:extLst>
            </p:cNvPr>
            <p:cNvCxnSpPr>
              <a:cxnSpLocks noChangeShapeType="1"/>
            </p:cNvCxnSpPr>
            <p:nvPr/>
          </p:nvCxnSpPr>
          <p:spPr bwMode="auto">
            <a:xfrm rot="10800000">
              <a:off x="5605278" y="5488558"/>
              <a:ext cx="63992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3592" name="Straight Connector 22">
              <a:extLst>
                <a:ext uri="{FF2B5EF4-FFF2-40B4-BE49-F238E27FC236}">
                  <a16:creationId xmlns:a16="http://schemas.microsoft.com/office/drawing/2014/main" id="{48176C44-B3F5-444A-A8F0-F16D2F7FC387}"/>
                </a:ext>
              </a:extLst>
            </p:cNvPr>
            <p:cNvCxnSpPr>
              <a:cxnSpLocks noChangeShapeType="1"/>
            </p:cNvCxnSpPr>
            <p:nvPr/>
          </p:nvCxnSpPr>
          <p:spPr bwMode="auto">
            <a:xfrm rot="10800000" flipV="1">
              <a:off x="6915293" y="5410687"/>
              <a:ext cx="323931"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3593" name="Moon 23">
              <a:extLst>
                <a:ext uri="{FF2B5EF4-FFF2-40B4-BE49-F238E27FC236}">
                  <a16:creationId xmlns:a16="http://schemas.microsoft.com/office/drawing/2014/main" id="{6F262121-1146-471D-B527-1208C809FAAD}"/>
                </a:ext>
              </a:extLst>
            </p:cNvPr>
            <p:cNvSpPr>
              <a:spLocks noChangeArrowheads="1"/>
            </p:cNvSpPr>
            <p:nvPr/>
          </p:nvSpPr>
          <p:spPr bwMode="auto">
            <a:xfrm rot="10800000">
              <a:off x="5945088" y="5080128"/>
              <a:ext cx="192136" cy="653171"/>
            </a:xfrm>
            <a:prstGeom prst="moon">
              <a:avLst>
                <a:gd name="adj" fmla="val 0"/>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000"/>
            </a:p>
          </p:txBody>
        </p:sp>
        <p:sp>
          <p:nvSpPr>
            <p:cNvPr id="23594" name="TextBox 25">
              <a:extLst>
                <a:ext uri="{FF2B5EF4-FFF2-40B4-BE49-F238E27FC236}">
                  <a16:creationId xmlns:a16="http://schemas.microsoft.com/office/drawing/2014/main" id="{ADDE7FC2-B297-4BCB-BFAA-991A9F1C3C5E}"/>
                </a:ext>
              </a:extLst>
            </p:cNvPr>
            <p:cNvSpPr txBox="1">
              <a:spLocks noChangeArrowheads="1"/>
            </p:cNvSpPr>
            <p:nvPr/>
          </p:nvSpPr>
          <p:spPr bwMode="auto">
            <a:xfrm>
              <a:off x="5340100" y="5065824"/>
              <a:ext cx="321002" cy="33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B</a:t>
              </a:r>
            </a:p>
          </p:txBody>
        </p:sp>
        <p:sp>
          <p:nvSpPr>
            <p:cNvPr id="23595" name="TextBox 26">
              <a:extLst>
                <a:ext uri="{FF2B5EF4-FFF2-40B4-BE49-F238E27FC236}">
                  <a16:creationId xmlns:a16="http://schemas.microsoft.com/office/drawing/2014/main" id="{86373636-AFE7-4C37-B2C8-62C2B3351B7A}"/>
                </a:ext>
              </a:extLst>
            </p:cNvPr>
            <p:cNvSpPr txBox="1">
              <a:spLocks noChangeArrowheads="1"/>
            </p:cNvSpPr>
            <p:nvPr/>
          </p:nvSpPr>
          <p:spPr bwMode="auto">
            <a:xfrm>
              <a:off x="5373445" y="5315333"/>
              <a:ext cx="321002" cy="33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A</a:t>
              </a:r>
            </a:p>
          </p:txBody>
        </p:sp>
        <p:sp>
          <p:nvSpPr>
            <p:cNvPr id="23596" name="TextBox 27">
              <a:extLst>
                <a:ext uri="{FF2B5EF4-FFF2-40B4-BE49-F238E27FC236}">
                  <a16:creationId xmlns:a16="http://schemas.microsoft.com/office/drawing/2014/main" id="{91DC5A83-ED0A-4BB4-98A1-C8AE06781EEF}"/>
                </a:ext>
              </a:extLst>
            </p:cNvPr>
            <p:cNvSpPr txBox="1">
              <a:spLocks noChangeArrowheads="1"/>
            </p:cNvSpPr>
            <p:nvPr/>
          </p:nvSpPr>
          <p:spPr bwMode="auto">
            <a:xfrm>
              <a:off x="7183647" y="5219979"/>
              <a:ext cx="332225" cy="33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C</a:t>
              </a:r>
            </a:p>
          </p:txBody>
        </p:sp>
      </p:grpSp>
      <p:cxnSp>
        <p:nvCxnSpPr>
          <p:cNvPr id="16" name="Straight Connector 15">
            <a:extLst>
              <a:ext uri="{FF2B5EF4-FFF2-40B4-BE49-F238E27FC236}">
                <a16:creationId xmlns:a16="http://schemas.microsoft.com/office/drawing/2014/main" id="{1E6B61C2-855A-4606-83B9-0F13AC560CE4}"/>
              </a:ext>
            </a:extLst>
          </p:cNvPr>
          <p:cNvCxnSpPr/>
          <p:nvPr/>
        </p:nvCxnSpPr>
        <p:spPr bwMode="auto">
          <a:xfrm flipV="1">
            <a:off x="8755063" y="3973513"/>
            <a:ext cx="690562"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hape 68">
            <a:extLst>
              <a:ext uri="{FF2B5EF4-FFF2-40B4-BE49-F238E27FC236}">
                <a16:creationId xmlns:a16="http://schemas.microsoft.com/office/drawing/2014/main" id="{807E0929-0832-4CBA-9F82-36106C5C95F7}"/>
              </a:ext>
            </a:extLst>
          </p:cNvPr>
          <p:cNvCxnSpPr/>
          <p:nvPr/>
        </p:nvCxnSpPr>
        <p:spPr bwMode="auto">
          <a:xfrm>
            <a:off x="7078663" y="4751388"/>
            <a:ext cx="762000" cy="0"/>
          </a:xfrm>
          <a:prstGeom prst="bentConnector3">
            <a:avLst>
              <a:gd name="adj1" fmla="val 50000"/>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3559" name="Rectangle 92">
            <a:extLst>
              <a:ext uri="{FF2B5EF4-FFF2-40B4-BE49-F238E27FC236}">
                <a16:creationId xmlns:a16="http://schemas.microsoft.com/office/drawing/2014/main" id="{86025864-2740-4269-B2D0-CD8EE5E42282}"/>
              </a:ext>
            </a:extLst>
          </p:cNvPr>
          <p:cNvSpPr>
            <a:spLocks noChangeArrowheads="1"/>
          </p:cNvSpPr>
          <p:nvPr/>
        </p:nvSpPr>
        <p:spPr bwMode="auto">
          <a:xfrm>
            <a:off x="8839200" y="3744913"/>
            <a:ext cx="5667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000"/>
              <a:t>Output</a:t>
            </a:r>
          </a:p>
        </p:txBody>
      </p:sp>
      <p:cxnSp>
        <p:nvCxnSpPr>
          <p:cNvPr id="20" name="Straight Connector 19">
            <a:extLst>
              <a:ext uri="{FF2B5EF4-FFF2-40B4-BE49-F238E27FC236}">
                <a16:creationId xmlns:a16="http://schemas.microsoft.com/office/drawing/2014/main" id="{761A431D-E538-4A52-B0D5-7F44BE489E0A}"/>
              </a:ext>
            </a:extLst>
          </p:cNvPr>
          <p:cNvCxnSpPr/>
          <p:nvPr/>
        </p:nvCxnSpPr>
        <p:spPr bwMode="auto">
          <a:xfrm>
            <a:off x="7078663" y="3975101"/>
            <a:ext cx="766762" cy="15875"/>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3561" name="Group 42">
            <a:extLst>
              <a:ext uri="{FF2B5EF4-FFF2-40B4-BE49-F238E27FC236}">
                <a16:creationId xmlns:a16="http://schemas.microsoft.com/office/drawing/2014/main" id="{E9851B29-0279-4036-BD4C-F94576A47B3D}"/>
              </a:ext>
            </a:extLst>
          </p:cNvPr>
          <p:cNvGrpSpPr>
            <a:grpSpLocks/>
          </p:cNvGrpSpPr>
          <p:nvPr/>
        </p:nvGrpSpPr>
        <p:grpSpPr bwMode="auto">
          <a:xfrm>
            <a:off x="6831013" y="3659188"/>
            <a:ext cx="1924050" cy="1320800"/>
            <a:chOff x="2342962" y="3403742"/>
            <a:chExt cx="1924238" cy="1320658"/>
          </a:xfrm>
        </p:grpSpPr>
        <p:sp>
          <p:nvSpPr>
            <p:cNvPr id="23587" name="Rectangle 36">
              <a:extLst>
                <a:ext uri="{FF2B5EF4-FFF2-40B4-BE49-F238E27FC236}">
                  <a16:creationId xmlns:a16="http://schemas.microsoft.com/office/drawing/2014/main" id="{9FAFA41D-2AEC-402A-ADC0-38375F967C03}"/>
                </a:ext>
              </a:extLst>
            </p:cNvPr>
            <p:cNvSpPr>
              <a:spLocks noChangeArrowheads="1"/>
            </p:cNvSpPr>
            <p:nvPr/>
          </p:nvSpPr>
          <p:spPr bwMode="auto">
            <a:xfrm>
              <a:off x="3352800" y="3429000"/>
              <a:ext cx="914400" cy="129540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000"/>
            </a:p>
          </p:txBody>
        </p:sp>
        <p:sp>
          <p:nvSpPr>
            <p:cNvPr id="23588" name="TextBox 38">
              <a:extLst>
                <a:ext uri="{FF2B5EF4-FFF2-40B4-BE49-F238E27FC236}">
                  <a16:creationId xmlns:a16="http://schemas.microsoft.com/office/drawing/2014/main" id="{6057B369-735F-4A53-9E90-49B4BB50B71B}"/>
                </a:ext>
              </a:extLst>
            </p:cNvPr>
            <p:cNvSpPr txBox="1">
              <a:spLocks noChangeArrowheads="1"/>
            </p:cNvSpPr>
            <p:nvPr/>
          </p:nvSpPr>
          <p:spPr bwMode="auto">
            <a:xfrm>
              <a:off x="2342962" y="3403742"/>
              <a:ext cx="977971" cy="24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000"/>
                <a:t>Data</a:t>
              </a:r>
            </a:p>
          </p:txBody>
        </p:sp>
      </p:grpSp>
      <p:sp>
        <p:nvSpPr>
          <p:cNvPr id="28" name="Oval 27">
            <a:extLst>
              <a:ext uri="{FF2B5EF4-FFF2-40B4-BE49-F238E27FC236}">
                <a16:creationId xmlns:a16="http://schemas.microsoft.com/office/drawing/2014/main" id="{07A793BD-96D3-461A-9940-F47E6C6ECB84}"/>
              </a:ext>
            </a:extLst>
          </p:cNvPr>
          <p:cNvSpPr/>
          <p:nvPr/>
        </p:nvSpPr>
        <p:spPr bwMode="auto">
          <a:xfrm>
            <a:off x="8275639" y="4124326"/>
            <a:ext cx="358775" cy="358775"/>
          </a:xfrm>
          <a:prstGeom prst="ellipse">
            <a:avLst/>
          </a:prstGeom>
          <a:ln>
            <a:solidFill>
              <a:schemeClr val="accent1">
                <a:lumMod val="5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00" dirty="0">
              <a:solidFill>
                <a:schemeClr val="tx1"/>
              </a:solidFill>
            </a:endParaRPr>
          </a:p>
        </p:txBody>
      </p:sp>
      <p:cxnSp>
        <p:nvCxnSpPr>
          <p:cNvPr id="23563" name="Straight Connector 29">
            <a:extLst>
              <a:ext uri="{FF2B5EF4-FFF2-40B4-BE49-F238E27FC236}">
                <a16:creationId xmlns:a16="http://schemas.microsoft.com/office/drawing/2014/main" id="{F1714AFF-4274-4FC8-935E-06E7A9EAC9A3}"/>
              </a:ext>
            </a:extLst>
          </p:cNvPr>
          <p:cNvCxnSpPr>
            <a:cxnSpLocks noChangeShapeType="1"/>
            <a:endCxn id="28" idx="1"/>
          </p:cNvCxnSpPr>
          <p:nvPr/>
        </p:nvCxnSpPr>
        <p:spPr bwMode="auto">
          <a:xfrm>
            <a:off x="7845425" y="3989389"/>
            <a:ext cx="482600" cy="187325"/>
          </a:xfrm>
          <a:prstGeom prst="curvedConnector2">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3564" name="Straight Connector 30">
            <a:extLst>
              <a:ext uri="{FF2B5EF4-FFF2-40B4-BE49-F238E27FC236}">
                <a16:creationId xmlns:a16="http://schemas.microsoft.com/office/drawing/2014/main" id="{F25CDAED-0BE5-4C86-A700-7DFDE2491AB7}"/>
              </a:ext>
            </a:extLst>
          </p:cNvPr>
          <p:cNvCxnSpPr>
            <a:cxnSpLocks noChangeShapeType="1"/>
          </p:cNvCxnSpPr>
          <p:nvPr/>
        </p:nvCxnSpPr>
        <p:spPr bwMode="auto">
          <a:xfrm rot="5400000" flipH="1" flipV="1">
            <a:off x="7700963" y="4268788"/>
            <a:ext cx="627063" cy="338138"/>
          </a:xfrm>
          <a:prstGeom prst="curvedConnector3">
            <a:avLst>
              <a:gd name="adj1" fmla="val 20903"/>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3565" name="Straight Connector 36">
            <a:extLst>
              <a:ext uri="{FF2B5EF4-FFF2-40B4-BE49-F238E27FC236}">
                <a16:creationId xmlns:a16="http://schemas.microsoft.com/office/drawing/2014/main" id="{29D99884-6B33-43E8-AE8F-A4DFE3A04522}"/>
              </a:ext>
            </a:extLst>
          </p:cNvPr>
          <p:cNvCxnSpPr>
            <a:cxnSpLocks noChangeShapeType="1"/>
            <a:stCxn id="28" idx="7"/>
          </p:cNvCxnSpPr>
          <p:nvPr/>
        </p:nvCxnSpPr>
        <p:spPr bwMode="auto">
          <a:xfrm rot="5400000" flipH="1" flipV="1">
            <a:off x="8566944" y="3988594"/>
            <a:ext cx="203200" cy="173038"/>
          </a:xfrm>
          <a:prstGeom prst="curvedConnector3">
            <a:avLst>
              <a:gd name="adj1" fmla="val 71190"/>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40" name="Straight Connector 39">
            <a:extLst>
              <a:ext uri="{FF2B5EF4-FFF2-40B4-BE49-F238E27FC236}">
                <a16:creationId xmlns:a16="http://schemas.microsoft.com/office/drawing/2014/main" id="{DE7AEBCB-6F9C-48EB-8774-71BF972254B9}"/>
              </a:ext>
            </a:extLst>
          </p:cNvPr>
          <p:cNvCxnSpPr/>
          <p:nvPr/>
        </p:nvCxnSpPr>
        <p:spPr bwMode="auto">
          <a:xfrm rot="5400000">
            <a:off x="8181976" y="5087939"/>
            <a:ext cx="233363" cy="1587"/>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3567" name="Isosceles Triangle 48">
            <a:extLst>
              <a:ext uri="{FF2B5EF4-FFF2-40B4-BE49-F238E27FC236}">
                <a16:creationId xmlns:a16="http://schemas.microsoft.com/office/drawing/2014/main" id="{78F5695E-CD4C-4F02-8C51-EBEEC3FA80E9}"/>
              </a:ext>
            </a:extLst>
          </p:cNvPr>
          <p:cNvSpPr>
            <a:spLocks noChangeArrowheads="1"/>
          </p:cNvSpPr>
          <p:nvPr/>
        </p:nvSpPr>
        <p:spPr bwMode="auto">
          <a:xfrm>
            <a:off x="8126414" y="4075114"/>
            <a:ext cx="115887" cy="9048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000"/>
          </a:p>
        </p:txBody>
      </p:sp>
      <p:cxnSp>
        <p:nvCxnSpPr>
          <p:cNvPr id="23568" name="Straight Connector 36">
            <a:extLst>
              <a:ext uri="{FF2B5EF4-FFF2-40B4-BE49-F238E27FC236}">
                <a16:creationId xmlns:a16="http://schemas.microsoft.com/office/drawing/2014/main" id="{1A95D1B2-EEAD-4D48-873E-8A627C32A788}"/>
              </a:ext>
            </a:extLst>
          </p:cNvPr>
          <p:cNvCxnSpPr>
            <a:cxnSpLocks noChangeShapeType="1"/>
            <a:stCxn id="23587" idx="2"/>
            <a:endCxn id="28" idx="4"/>
          </p:cNvCxnSpPr>
          <p:nvPr/>
        </p:nvCxnSpPr>
        <p:spPr bwMode="auto">
          <a:xfrm rot="5400000" flipH="1" flipV="1">
            <a:off x="8128000" y="4652963"/>
            <a:ext cx="496888" cy="157162"/>
          </a:xfrm>
          <a:prstGeom prst="curvedConnector3">
            <a:avLst>
              <a:gd name="adj1" fmla="val 70528"/>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3569" name="TextBox 59">
            <a:extLst>
              <a:ext uri="{FF2B5EF4-FFF2-40B4-BE49-F238E27FC236}">
                <a16:creationId xmlns:a16="http://schemas.microsoft.com/office/drawing/2014/main" id="{38734F99-EFF8-4944-AD54-8913A5D9C5B2}"/>
              </a:ext>
            </a:extLst>
          </p:cNvPr>
          <p:cNvSpPr txBox="1">
            <a:spLocks noChangeArrowheads="1"/>
          </p:cNvSpPr>
          <p:nvPr/>
        </p:nvSpPr>
        <p:spPr bwMode="auto">
          <a:xfrm>
            <a:off x="8269289" y="5094288"/>
            <a:ext cx="5175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t>Reset</a:t>
            </a:r>
          </a:p>
        </p:txBody>
      </p:sp>
      <p:sp>
        <p:nvSpPr>
          <p:cNvPr id="23570" name="TextBox 40">
            <a:extLst>
              <a:ext uri="{FF2B5EF4-FFF2-40B4-BE49-F238E27FC236}">
                <a16:creationId xmlns:a16="http://schemas.microsoft.com/office/drawing/2014/main" id="{C70D22B9-7C47-4F97-BDD8-B42B6CCDD430}"/>
              </a:ext>
            </a:extLst>
          </p:cNvPr>
          <p:cNvSpPr txBox="1">
            <a:spLocks noChangeArrowheads="1"/>
          </p:cNvSpPr>
          <p:nvPr/>
        </p:nvSpPr>
        <p:spPr bwMode="auto">
          <a:xfrm>
            <a:off x="6973888" y="4425951"/>
            <a:ext cx="7620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000"/>
              <a:t>Clock</a:t>
            </a:r>
          </a:p>
        </p:txBody>
      </p:sp>
      <p:sp>
        <p:nvSpPr>
          <p:cNvPr id="67" name="Rectangle 66">
            <a:extLst>
              <a:ext uri="{FF2B5EF4-FFF2-40B4-BE49-F238E27FC236}">
                <a16:creationId xmlns:a16="http://schemas.microsoft.com/office/drawing/2014/main" id="{E2CB28FC-2E5C-4800-B428-3625176D065D}"/>
              </a:ext>
            </a:extLst>
          </p:cNvPr>
          <p:cNvSpPr/>
          <p:nvPr/>
        </p:nvSpPr>
        <p:spPr bwMode="auto">
          <a:xfrm>
            <a:off x="7889875" y="5478464"/>
            <a:ext cx="2332038" cy="269875"/>
          </a:xfrm>
          <a:prstGeom prst="rect">
            <a:avLst/>
          </a:prstGeom>
          <a:solidFill>
            <a:schemeClr val="accent1"/>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000" dirty="0">
                <a:solidFill>
                  <a:schemeClr val="bg1"/>
                </a:solidFill>
              </a:rPr>
              <a:t>Asynchronous input</a:t>
            </a:r>
          </a:p>
        </p:txBody>
      </p:sp>
      <p:sp>
        <p:nvSpPr>
          <p:cNvPr id="69" name="Rectangle 68">
            <a:extLst>
              <a:ext uri="{FF2B5EF4-FFF2-40B4-BE49-F238E27FC236}">
                <a16:creationId xmlns:a16="http://schemas.microsoft.com/office/drawing/2014/main" id="{51782511-1E17-4D62-BB34-E46A7AE99C50}"/>
              </a:ext>
            </a:extLst>
          </p:cNvPr>
          <p:cNvSpPr/>
          <p:nvPr/>
        </p:nvSpPr>
        <p:spPr bwMode="auto">
          <a:xfrm>
            <a:off x="6754814" y="3198814"/>
            <a:ext cx="2200275" cy="268287"/>
          </a:xfrm>
          <a:prstGeom prst="rect">
            <a:avLst/>
          </a:prstGeom>
          <a:solidFill>
            <a:schemeClr val="accent1"/>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anchor="ctr"/>
          <a:lstStyle/>
          <a:p>
            <a:pPr eaLnBrk="1" hangingPunct="1">
              <a:defRPr/>
            </a:pPr>
            <a:r>
              <a:rPr lang="en-US" sz="1000" dirty="0">
                <a:solidFill>
                  <a:schemeClr val="bg1"/>
                </a:solidFill>
              </a:rPr>
              <a:t>Synchronous input</a:t>
            </a:r>
          </a:p>
        </p:txBody>
      </p:sp>
      <p:cxnSp>
        <p:nvCxnSpPr>
          <p:cNvPr id="23573" name="Straight Arrow Connector 73">
            <a:extLst>
              <a:ext uri="{FF2B5EF4-FFF2-40B4-BE49-F238E27FC236}">
                <a16:creationId xmlns:a16="http://schemas.microsoft.com/office/drawing/2014/main" id="{896DB54B-73B0-45FA-9350-884A457571D7}"/>
              </a:ext>
            </a:extLst>
          </p:cNvPr>
          <p:cNvCxnSpPr>
            <a:cxnSpLocks noChangeShapeType="1"/>
          </p:cNvCxnSpPr>
          <p:nvPr/>
        </p:nvCxnSpPr>
        <p:spPr bwMode="auto">
          <a:xfrm>
            <a:off x="7319963" y="3467100"/>
            <a:ext cx="0" cy="179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574" name="Straight Arrow Connector 74">
            <a:extLst>
              <a:ext uri="{FF2B5EF4-FFF2-40B4-BE49-F238E27FC236}">
                <a16:creationId xmlns:a16="http://schemas.microsoft.com/office/drawing/2014/main" id="{3C38EA7B-028E-4821-998C-94255338742F}"/>
              </a:ext>
            </a:extLst>
          </p:cNvPr>
          <p:cNvCxnSpPr>
            <a:cxnSpLocks noChangeShapeType="1"/>
            <a:stCxn id="67" idx="0"/>
          </p:cNvCxnSpPr>
          <p:nvPr/>
        </p:nvCxnSpPr>
        <p:spPr bwMode="auto">
          <a:xfrm flipH="1" flipV="1">
            <a:off x="9048750" y="5326063"/>
            <a:ext cx="0" cy="1524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75" name="TextBox 41">
            <a:extLst>
              <a:ext uri="{FF2B5EF4-FFF2-40B4-BE49-F238E27FC236}">
                <a16:creationId xmlns:a16="http://schemas.microsoft.com/office/drawing/2014/main" id="{8901B24F-C79D-4302-8412-9B292E647648}"/>
              </a:ext>
            </a:extLst>
          </p:cNvPr>
          <p:cNvSpPr txBox="1">
            <a:spLocks noChangeArrowheads="1"/>
          </p:cNvSpPr>
          <p:nvPr/>
        </p:nvSpPr>
        <p:spPr bwMode="auto">
          <a:xfrm>
            <a:off x="7742239" y="3659189"/>
            <a:ext cx="11318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dirty="0">
                <a:solidFill>
                  <a:schemeClr val="bg1"/>
                </a:solidFill>
              </a:rPr>
              <a:t>Flip Flop</a:t>
            </a:r>
          </a:p>
        </p:txBody>
      </p:sp>
      <p:cxnSp>
        <p:nvCxnSpPr>
          <p:cNvPr id="35" name="Shape 68">
            <a:extLst>
              <a:ext uri="{FF2B5EF4-FFF2-40B4-BE49-F238E27FC236}">
                <a16:creationId xmlns:a16="http://schemas.microsoft.com/office/drawing/2014/main" id="{EAC85F1D-B2E7-4410-BC73-9804CDD7107C}"/>
              </a:ext>
            </a:extLst>
          </p:cNvPr>
          <p:cNvCxnSpPr/>
          <p:nvPr/>
        </p:nvCxnSpPr>
        <p:spPr bwMode="auto">
          <a:xfrm>
            <a:off x="7078663" y="4751388"/>
            <a:ext cx="762000" cy="0"/>
          </a:xfrm>
          <a:prstGeom prst="bentConnector3">
            <a:avLst>
              <a:gd name="adj1" fmla="val 50000"/>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23577" name="Group 35">
            <a:extLst>
              <a:ext uri="{FF2B5EF4-FFF2-40B4-BE49-F238E27FC236}">
                <a16:creationId xmlns:a16="http://schemas.microsoft.com/office/drawing/2014/main" id="{23CF9916-C61E-4D1C-AF63-D1431FF80D54}"/>
              </a:ext>
            </a:extLst>
          </p:cNvPr>
          <p:cNvGrpSpPr>
            <a:grpSpLocks/>
          </p:cNvGrpSpPr>
          <p:nvPr/>
        </p:nvGrpSpPr>
        <p:grpSpPr bwMode="auto">
          <a:xfrm>
            <a:off x="6753226" y="4979988"/>
            <a:ext cx="1133475" cy="106362"/>
            <a:chOff x="917763" y="5349250"/>
            <a:chExt cx="2538412" cy="239712"/>
          </a:xfrm>
        </p:grpSpPr>
        <p:sp>
          <p:nvSpPr>
            <p:cNvPr id="23578" name="Line 30">
              <a:extLst>
                <a:ext uri="{FF2B5EF4-FFF2-40B4-BE49-F238E27FC236}">
                  <a16:creationId xmlns:a16="http://schemas.microsoft.com/office/drawing/2014/main" id="{CA61C6F4-7D3F-4FED-9BC8-3A1ECC2268D8}"/>
                </a:ext>
              </a:extLst>
            </p:cNvPr>
            <p:cNvSpPr>
              <a:spLocks noChangeShapeType="1"/>
            </p:cNvSpPr>
            <p:nvPr/>
          </p:nvSpPr>
          <p:spPr bwMode="auto">
            <a:xfrm>
              <a:off x="917763" y="5582612"/>
              <a:ext cx="290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31">
              <a:extLst>
                <a:ext uri="{FF2B5EF4-FFF2-40B4-BE49-F238E27FC236}">
                  <a16:creationId xmlns:a16="http://schemas.microsoft.com/office/drawing/2014/main" id="{418415DF-A1C6-4605-AA62-4F13D140DA17}"/>
                </a:ext>
              </a:extLst>
            </p:cNvPr>
            <p:cNvSpPr>
              <a:spLocks noChangeShapeType="1"/>
            </p:cNvSpPr>
            <p:nvPr/>
          </p:nvSpPr>
          <p:spPr bwMode="auto">
            <a:xfrm flipV="1">
              <a:off x="1216400" y="5349250"/>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sz="1000"/>
            </a:p>
          </p:txBody>
        </p:sp>
        <p:sp>
          <p:nvSpPr>
            <p:cNvPr id="23580" name="Line 32">
              <a:extLst>
                <a:ext uri="{FF2B5EF4-FFF2-40B4-BE49-F238E27FC236}">
                  <a16:creationId xmlns:a16="http://schemas.microsoft.com/office/drawing/2014/main" id="{5C2B616C-8C1D-4F20-AF9E-804F3B7DF6D2}"/>
                </a:ext>
              </a:extLst>
            </p:cNvPr>
            <p:cNvSpPr>
              <a:spLocks noChangeShapeType="1"/>
            </p:cNvSpPr>
            <p:nvPr/>
          </p:nvSpPr>
          <p:spPr bwMode="auto">
            <a:xfrm>
              <a:off x="1220975" y="5355600"/>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1" name="Line 33">
              <a:extLst>
                <a:ext uri="{FF2B5EF4-FFF2-40B4-BE49-F238E27FC236}">
                  <a16:creationId xmlns:a16="http://schemas.microsoft.com/office/drawing/2014/main" id="{9D7D072D-C8F6-46B0-BD84-68D59DB1F04E}"/>
                </a:ext>
              </a:extLst>
            </p:cNvPr>
            <p:cNvSpPr>
              <a:spLocks noChangeShapeType="1"/>
            </p:cNvSpPr>
            <p:nvPr/>
          </p:nvSpPr>
          <p:spPr bwMode="auto">
            <a:xfrm>
              <a:off x="1748025" y="5361950"/>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59">
              <a:extLst>
                <a:ext uri="{FF2B5EF4-FFF2-40B4-BE49-F238E27FC236}">
                  <a16:creationId xmlns:a16="http://schemas.microsoft.com/office/drawing/2014/main" id="{6570D7AA-93F6-4EFC-9203-984331717753}"/>
                </a:ext>
              </a:extLst>
            </p:cNvPr>
            <p:cNvSpPr>
              <a:spLocks noChangeShapeType="1"/>
            </p:cNvSpPr>
            <p:nvPr/>
          </p:nvSpPr>
          <p:spPr bwMode="auto">
            <a:xfrm flipV="1">
              <a:off x="2357620" y="5349250"/>
              <a:ext cx="0" cy="239712"/>
            </a:xfrm>
            <a:prstGeom prst="line">
              <a:avLst/>
            </a:prstGeom>
            <a:ln>
              <a:headEnd/>
              <a:tailEnd/>
            </a:ln>
            <a:effectLst/>
          </p:spPr>
          <p:style>
            <a:lnRef idx="3">
              <a:schemeClr val="accent1"/>
            </a:lnRef>
            <a:fillRef idx="0">
              <a:schemeClr val="accent1"/>
            </a:fillRef>
            <a:effectRef idx="2">
              <a:schemeClr val="accent1"/>
            </a:effectRef>
            <a:fontRef idx="minor">
              <a:schemeClr val="tx1"/>
            </a:fontRef>
          </p:style>
          <p:txBody>
            <a:bodyPr wrap="none" anchor="ctr"/>
            <a:lstStyle/>
            <a:p>
              <a:pPr eaLnBrk="1" hangingPunct="1">
                <a:defRPr/>
              </a:pPr>
              <a:endParaRPr lang="en-US" sz="1000"/>
            </a:p>
          </p:txBody>
        </p:sp>
        <p:sp>
          <p:nvSpPr>
            <p:cNvPr id="23583" name="Line 60">
              <a:extLst>
                <a:ext uri="{FF2B5EF4-FFF2-40B4-BE49-F238E27FC236}">
                  <a16:creationId xmlns:a16="http://schemas.microsoft.com/office/drawing/2014/main" id="{66316364-3113-4E7F-8D86-EA29E62EEFDA}"/>
                </a:ext>
              </a:extLst>
            </p:cNvPr>
            <p:cNvSpPr>
              <a:spLocks noChangeShapeType="1"/>
            </p:cNvSpPr>
            <p:nvPr/>
          </p:nvSpPr>
          <p:spPr bwMode="auto">
            <a:xfrm>
              <a:off x="2362388" y="5355600"/>
              <a:ext cx="5207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4" name="Line 61">
              <a:extLst>
                <a:ext uri="{FF2B5EF4-FFF2-40B4-BE49-F238E27FC236}">
                  <a16:creationId xmlns:a16="http://schemas.microsoft.com/office/drawing/2014/main" id="{B98A6849-83E2-481A-96AD-385D4575D0CF}"/>
                </a:ext>
              </a:extLst>
            </p:cNvPr>
            <p:cNvSpPr>
              <a:spLocks noChangeShapeType="1"/>
            </p:cNvSpPr>
            <p:nvPr/>
          </p:nvSpPr>
          <p:spPr bwMode="auto">
            <a:xfrm>
              <a:off x="2889438" y="5361950"/>
              <a:ext cx="0"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5" name="Line 62">
              <a:extLst>
                <a:ext uri="{FF2B5EF4-FFF2-40B4-BE49-F238E27FC236}">
                  <a16:creationId xmlns:a16="http://schemas.microsoft.com/office/drawing/2014/main" id="{7D20B54E-2534-4A93-9767-745ECF6176CB}"/>
                </a:ext>
              </a:extLst>
            </p:cNvPr>
            <p:cNvSpPr>
              <a:spLocks noChangeShapeType="1"/>
            </p:cNvSpPr>
            <p:nvPr/>
          </p:nvSpPr>
          <p:spPr bwMode="auto">
            <a:xfrm>
              <a:off x="1754375" y="5582612"/>
              <a:ext cx="5953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6" name="Line 30">
              <a:extLst>
                <a:ext uri="{FF2B5EF4-FFF2-40B4-BE49-F238E27FC236}">
                  <a16:creationId xmlns:a16="http://schemas.microsoft.com/office/drawing/2014/main" id="{1C1C4B9A-A2FD-4CB8-A994-B970B3256150}"/>
                </a:ext>
              </a:extLst>
            </p:cNvPr>
            <p:cNvSpPr>
              <a:spLocks noChangeShapeType="1"/>
            </p:cNvSpPr>
            <p:nvPr/>
          </p:nvSpPr>
          <p:spPr bwMode="auto">
            <a:xfrm>
              <a:off x="2889438" y="5563562"/>
              <a:ext cx="566737" cy="6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258DB582-FAB5-4374-B508-C512D063D529}"/>
              </a:ext>
            </a:extLst>
          </p:cNvPr>
          <p:cNvSpPr>
            <a:spLocks noGrp="1"/>
          </p:cNvSpPr>
          <p:nvPr>
            <p:ph type="title"/>
          </p:nvPr>
        </p:nvSpPr>
        <p:spPr/>
        <p:txBody>
          <a:bodyPr/>
          <a:lstStyle/>
          <a:p>
            <a:r>
              <a:rPr lang="en-US" altLang="en-US">
                <a:ea typeface="MS PGothic" panose="020B0600070205080204" pitchFamily="34" charset="-128"/>
              </a:rPr>
              <a:t>Timing Group Names</a:t>
            </a:r>
            <a:endParaRPr lang="en-US" altLang="en-US"/>
          </a:p>
        </p:txBody>
      </p:sp>
      <p:sp>
        <p:nvSpPr>
          <p:cNvPr id="24579" name="Rectangle 2">
            <a:extLst>
              <a:ext uri="{FF2B5EF4-FFF2-40B4-BE49-F238E27FC236}">
                <a16:creationId xmlns:a16="http://schemas.microsoft.com/office/drawing/2014/main" id="{5FC63CF2-492F-4F8C-8416-AFEE247C4671}"/>
              </a:ext>
            </a:extLst>
          </p:cNvPr>
          <p:cNvSpPr>
            <a:spLocks noChangeArrowheads="1"/>
          </p:cNvSpPr>
          <p:nvPr/>
        </p:nvSpPr>
        <p:spPr bwMode="auto">
          <a:xfrm>
            <a:off x="1524001" y="-115416"/>
            <a:ext cx="18473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8" name="Table 7">
            <a:extLst>
              <a:ext uri="{FF2B5EF4-FFF2-40B4-BE49-F238E27FC236}">
                <a16:creationId xmlns:a16="http://schemas.microsoft.com/office/drawing/2014/main" id="{E0CA4A73-387A-4755-A0D2-0250C6AB2502}"/>
              </a:ext>
            </a:extLst>
          </p:cNvPr>
          <p:cNvGraphicFramePr>
            <a:graphicFrameLocks noGrp="1"/>
          </p:cNvGraphicFramePr>
          <p:nvPr>
            <p:extLst>
              <p:ext uri="{D42A27DB-BD31-4B8C-83A1-F6EECF244321}">
                <p14:modId xmlns:p14="http://schemas.microsoft.com/office/powerpoint/2010/main" val="3313622672"/>
              </p:ext>
            </p:extLst>
          </p:nvPr>
        </p:nvGraphicFramePr>
        <p:xfrm>
          <a:off x="2065337" y="1388783"/>
          <a:ext cx="8061326" cy="4570413"/>
        </p:xfrm>
        <a:graphic>
          <a:graphicData uri="http://schemas.openxmlformats.org/drawingml/2006/table">
            <a:tbl>
              <a:tblPr firstRow="1" bandRow="1">
                <a:tableStyleId>{69012ECD-51FC-41F1-AA8D-1B2483CD663E}</a:tableStyleId>
              </a:tblPr>
              <a:tblGrid>
                <a:gridCol w="383470">
                  <a:extLst>
                    <a:ext uri="{9D8B030D-6E8A-4147-A177-3AD203B41FA5}">
                      <a16:colId xmlns:a16="http://schemas.microsoft.com/office/drawing/2014/main" val="20000"/>
                    </a:ext>
                  </a:extLst>
                </a:gridCol>
                <a:gridCol w="1497795">
                  <a:extLst>
                    <a:ext uri="{9D8B030D-6E8A-4147-A177-3AD203B41FA5}">
                      <a16:colId xmlns:a16="http://schemas.microsoft.com/office/drawing/2014/main" val="20001"/>
                    </a:ext>
                  </a:extLst>
                </a:gridCol>
                <a:gridCol w="921720">
                  <a:extLst>
                    <a:ext uri="{9D8B030D-6E8A-4147-A177-3AD203B41FA5}">
                      <a16:colId xmlns:a16="http://schemas.microsoft.com/office/drawing/2014/main" val="20002"/>
                    </a:ext>
                  </a:extLst>
                </a:gridCol>
                <a:gridCol w="844910">
                  <a:extLst>
                    <a:ext uri="{9D8B030D-6E8A-4147-A177-3AD203B41FA5}">
                      <a16:colId xmlns:a16="http://schemas.microsoft.com/office/drawing/2014/main" val="20003"/>
                    </a:ext>
                  </a:extLst>
                </a:gridCol>
                <a:gridCol w="1843440">
                  <a:extLst>
                    <a:ext uri="{9D8B030D-6E8A-4147-A177-3AD203B41FA5}">
                      <a16:colId xmlns:a16="http://schemas.microsoft.com/office/drawing/2014/main" val="20004"/>
                    </a:ext>
                  </a:extLst>
                </a:gridCol>
                <a:gridCol w="2569991">
                  <a:extLst>
                    <a:ext uri="{9D8B030D-6E8A-4147-A177-3AD203B41FA5}">
                      <a16:colId xmlns:a16="http://schemas.microsoft.com/office/drawing/2014/main" val="20005"/>
                    </a:ext>
                  </a:extLst>
                </a:gridCol>
              </a:tblGrid>
              <a:tr h="302589">
                <a:tc>
                  <a:txBody>
                    <a:bodyPr/>
                    <a:lstStyle/>
                    <a:p>
                      <a:r>
                        <a:rPr lang="en-US" sz="1200" b="1" kern="1200" dirty="0">
                          <a:solidFill>
                            <a:schemeClr val="bg1"/>
                          </a:solidFill>
                          <a:latin typeface="+mn-lt"/>
                          <a:ea typeface="+mn-ea"/>
                          <a:cs typeface="+mn-cs"/>
                        </a:rPr>
                        <a:t>N</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1200" b="1" dirty="0">
                          <a:solidFill>
                            <a:schemeClr val="bg1"/>
                          </a:solidFill>
                        </a:rPr>
                        <a:t>Parameter</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1200" b="1" dirty="0">
                          <a:solidFill>
                            <a:schemeClr val="bg1"/>
                          </a:solidFill>
                        </a:rPr>
                        <a:t>Unit</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1200" b="1" dirty="0">
                          <a:solidFill>
                            <a:schemeClr val="bg1"/>
                          </a:solidFill>
                        </a:rPr>
                        <a:t>Symbol</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1200" b="1" dirty="0">
                          <a:solidFill>
                            <a:schemeClr val="bg1"/>
                          </a:solidFill>
                        </a:rPr>
                        <a:t>Figure</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r>
                        <a:rPr lang="en-US" sz="1200" b="1" dirty="0">
                          <a:solidFill>
                            <a:schemeClr val="bg1"/>
                          </a:solidFill>
                        </a:rPr>
                        <a:t>Definition</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964820">
                <a:tc>
                  <a:txBody>
                    <a:bodyPr/>
                    <a:lstStyle/>
                    <a:p>
                      <a:pPr marL="342900" indent="-342900">
                        <a:buFont typeface="+mj-lt"/>
                        <a:buAutoNum type="arabicPeriod"/>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r>
                        <a:rPr lang="en-US" sz="1200" kern="1200" dirty="0">
                          <a:solidFill>
                            <a:schemeClr val="tx1"/>
                          </a:solidFill>
                          <a:latin typeface="+mn-lt"/>
                          <a:ea typeface="+mn-ea"/>
                          <a:cs typeface="+mn-cs"/>
                        </a:rPr>
                        <a:t>Rise transition time</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0000FF"/>
                          </a:solidFill>
                        </a:rPr>
                        <a:t>rise_transition</a:t>
                      </a:r>
                      <a:endParaRPr lang="en-US" sz="1200" b="0" dirty="0">
                        <a:solidFill>
                          <a:srgbClr val="0000FF"/>
                        </a:solidFill>
                      </a:endParaRP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R</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sz="18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l">
                        <a:spcAft>
                          <a:spcPts val="0"/>
                        </a:spcAft>
                        <a:tabLst>
                          <a:tab pos="971550" algn="l"/>
                        </a:tabLst>
                      </a:pPr>
                      <a:r>
                        <a:rPr lang="en-US" sz="1200" dirty="0">
                          <a:latin typeface="Arial"/>
                          <a:ea typeface="MS Mincho"/>
                          <a:cs typeface="Times New Roman"/>
                        </a:rPr>
                        <a:t>The time it takes a driving pin to make a transition from </a:t>
                      </a:r>
                      <a:r>
                        <a:rPr lang="en-US" sz="1200" dirty="0" err="1">
                          <a:latin typeface="Arial"/>
                          <a:ea typeface="MS Mincho"/>
                          <a:cs typeface="Times New Roman"/>
                        </a:rPr>
                        <a:t>kV</a:t>
                      </a:r>
                      <a:r>
                        <a:rPr lang="en-US" sz="1200" baseline="-25000" dirty="0" err="1">
                          <a:latin typeface="Arial"/>
                          <a:ea typeface="MS Mincho"/>
                          <a:cs typeface="Times New Roman"/>
                        </a:rPr>
                        <a:t>DD</a:t>
                      </a:r>
                      <a:r>
                        <a:rPr lang="en-US" sz="1200" dirty="0">
                          <a:latin typeface="Arial"/>
                          <a:ea typeface="MS Mincho"/>
                          <a:cs typeface="Times New Roman"/>
                        </a:rPr>
                        <a:t> to (1-k)V</a:t>
                      </a:r>
                      <a:r>
                        <a:rPr lang="en-US" sz="1200" baseline="-25000" dirty="0">
                          <a:latin typeface="Arial"/>
                          <a:ea typeface="MS Mincho"/>
                          <a:cs typeface="Times New Roman"/>
                        </a:rPr>
                        <a:t>DD</a:t>
                      </a:r>
                      <a:r>
                        <a:rPr lang="en-US" sz="1200" dirty="0">
                          <a:latin typeface="Arial"/>
                          <a:ea typeface="MS Mincho"/>
                          <a:cs typeface="Times New Roman"/>
                        </a:rPr>
                        <a:t> value. Usually k=0.1 (also possible k=0.2, 0.3, etc)</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1"/>
                  </a:ext>
                </a:extLst>
              </a:tr>
              <a:tr h="1139156">
                <a:tc>
                  <a:txBody>
                    <a:bodyPr/>
                    <a:lstStyle/>
                    <a:p>
                      <a:pPr marL="342900" indent="-342900">
                        <a:buFont typeface="+mj-lt"/>
                        <a:buAutoNum type="arabicPeriod" startAt="2"/>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r>
                        <a:rPr lang="en-US" sz="1200" kern="1200" dirty="0">
                          <a:solidFill>
                            <a:schemeClr val="tx1"/>
                          </a:solidFill>
                          <a:latin typeface="+mn-lt"/>
                          <a:ea typeface="+mn-ea"/>
                          <a:cs typeface="+mn-cs"/>
                        </a:rPr>
                        <a:t>Fall transition time</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0000FF"/>
                          </a:solidFill>
                        </a:rPr>
                        <a:t>fall_transition</a:t>
                      </a:r>
                      <a:endParaRPr lang="en-US" sz="1200" b="0" dirty="0">
                        <a:solidFill>
                          <a:srgbClr val="0000FF"/>
                        </a:solidFill>
                      </a:endParaRPr>
                    </a:p>
                    <a:p>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F</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sz="180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l">
                        <a:spcAft>
                          <a:spcPts val="0"/>
                        </a:spcAft>
                      </a:pPr>
                      <a:r>
                        <a:rPr lang="en-US" sz="1200" dirty="0">
                          <a:latin typeface="Arial"/>
                          <a:ea typeface="MS Mincho"/>
                          <a:cs typeface="Times New Roman"/>
                        </a:rPr>
                        <a:t>The time it takes a driving pin to make a transition from (1‑k)V</a:t>
                      </a:r>
                      <a:r>
                        <a:rPr lang="en-US" sz="1200" baseline="-25000" dirty="0">
                          <a:latin typeface="Arial"/>
                          <a:ea typeface="MS Mincho"/>
                          <a:cs typeface="Times New Roman"/>
                        </a:rPr>
                        <a:t>DD</a:t>
                      </a:r>
                      <a:r>
                        <a:rPr lang="en-US" sz="1200" dirty="0">
                          <a:latin typeface="Arial"/>
                          <a:ea typeface="MS Mincho"/>
                          <a:cs typeface="Times New Roman"/>
                        </a:rPr>
                        <a:t> to </a:t>
                      </a:r>
                      <a:r>
                        <a:rPr lang="en-US" sz="1200" dirty="0" err="1">
                          <a:latin typeface="Arial"/>
                          <a:ea typeface="MS Mincho"/>
                          <a:cs typeface="Times New Roman"/>
                        </a:rPr>
                        <a:t>kV</a:t>
                      </a:r>
                      <a:r>
                        <a:rPr lang="en-US" sz="1200" baseline="-25000" dirty="0" err="1">
                          <a:latin typeface="Arial"/>
                          <a:ea typeface="MS Mincho"/>
                          <a:cs typeface="Times New Roman"/>
                        </a:rPr>
                        <a:t>DD</a:t>
                      </a:r>
                      <a:r>
                        <a:rPr lang="en-US" sz="1200" dirty="0">
                          <a:latin typeface="Arial"/>
                          <a:ea typeface="MS Mincho"/>
                          <a:cs typeface="Times New Roman"/>
                        </a:rPr>
                        <a:t> value. Usually k=0.1 (also possible k=0.2, 0.3, etc)</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1081924">
                <a:tc>
                  <a:txBody>
                    <a:bodyPr/>
                    <a:lstStyle/>
                    <a:p>
                      <a:pPr marL="342900" indent="-342900">
                        <a:buFont typeface="+mj-lt"/>
                        <a:buAutoNum type="arabicPeriod" startAt="3"/>
                      </a:pPr>
                      <a:r>
                        <a:rPr lang="en-US" sz="1200" dirty="0"/>
                        <a:t> </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r>
                        <a:rPr lang="en-US" sz="1200" kern="1200" dirty="0">
                          <a:solidFill>
                            <a:schemeClr val="tx1"/>
                          </a:solidFill>
                          <a:latin typeface="+mn-lt"/>
                          <a:ea typeface="+mn-ea"/>
                          <a:cs typeface="+mn-cs"/>
                        </a:rPr>
                        <a:t>Propagation delay</a:t>
                      </a:r>
                    </a:p>
                    <a:p>
                      <a:r>
                        <a:rPr lang="en-US" sz="1200" kern="1200" dirty="0">
                          <a:solidFill>
                            <a:schemeClr val="tx1"/>
                          </a:solidFill>
                          <a:latin typeface="+mn-lt"/>
                          <a:ea typeface="+mn-ea"/>
                          <a:cs typeface="+mn-cs"/>
                        </a:rPr>
                        <a:t>low-to-high</a:t>
                      </a:r>
                      <a:r>
                        <a:rPr lang="en-US" sz="1200" kern="1200" baseline="0" dirty="0">
                          <a:solidFill>
                            <a:schemeClr val="tx1"/>
                          </a:solidFill>
                          <a:latin typeface="+mn-lt"/>
                          <a:ea typeface="+mn-ea"/>
                          <a:cs typeface="+mn-cs"/>
                        </a:rPr>
                        <a:t> </a:t>
                      </a:r>
                      <a:r>
                        <a:rPr lang="en-US" sz="1200" kern="1200" dirty="0">
                          <a:solidFill>
                            <a:schemeClr val="tx1"/>
                          </a:solidFill>
                          <a:latin typeface="+mn-lt"/>
                          <a:ea typeface="+mn-ea"/>
                          <a:cs typeface="+mn-cs"/>
                        </a:rPr>
                        <a:t>(rise)</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0000FF"/>
                          </a:solidFill>
                        </a:rPr>
                        <a:t>cell_rise</a:t>
                      </a:r>
                      <a:endParaRPr lang="en-US" sz="1200" b="0" dirty="0">
                        <a:solidFill>
                          <a:srgbClr val="0000FF"/>
                        </a:solidFill>
                      </a:endParaRPr>
                    </a:p>
                    <a:p>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PLH</a:t>
                      </a:r>
                      <a:endParaRPr lang="en-US" sz="1200" kern="1200" dirty="0">
                        <a:solidFill>
                          <a:schemeClr val="tx1"/>
                        </a:solidFill>
                        <a:latin typeface="+mn-lt"/>
                        <a:ea typeface="+mn-ea"/>
                        <a:cs typeface="+mn-cs"/>
                      </a:endParaRPr>
                    </a:p>
                    <a:p>
                      <a:pPr algn="ct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PR</a:t>
                      </a:r>
                      <a:r>
                        <a:rPr lang="en-US" sz="1200" kern="1200" dirty="0">
                          <a:solidFill>
                            <a:schemeClr val="tx1"/>
                          </a:solidFill>
                          <a:latin typeface="+mn-lt"/>
                          <a:ea typeface="+mn-ea"/>
                          <a:cs typeface="+mn-cs"/>
                        </a:rPr>
                        <a:t>)</a:t>
                      </a:r>
                      <a:endParaRPr lang="en-US" sz="12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sz="180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l">
                        <a:spcAft>
                          <a:spcPts val="0"/>
                        </a:spcAft>
                      </a:pPr>
                      <a:r>
                        <a:rPr lang="en-US" sz="1200" dirty="0">
                          <a:latin typeface="Arial"/>
                          <a:ea typeface="MS Mincho"/>
                          <a:cs typeface="Times New Roman"/>
                        </a:rPr>
                        <a:t>Time difference between the input signal crossing a 0.5V</a:t>
                      </a:r>
                      <a:r>
                        <a:rPr lang="en-US" sz="1200" baseline="-25000" dirty="0">
                          <a:latin typeface="Arial"/>
                          <a:ea typeface="MS Mincho"/>
                          <a:cs typeface="Times New Roman"/>
                        </a:rPr>
                        <a:t>DD</a:t>
                      </a:r>
                      <a:r>
                        <a:rPr lang="en-US" sz="1200" dirty="0">
                          <a:latin typeface="Arial"/>
                          <a:ea typeface="MS Mincho"/>
                          <a:cs typeface="Times New Roman"/>
                        </a:rPr>
                        <a:t> and the output signal crossing its 0.5V</a:t>
                      </a:r>
                      <a:r>
                        <a:rPr lang="en-US" sz="1200" baseline="-25000" dirty="0">
                          <a:latin typeface="Arial"/>
                          <a:ea typeface="MS Mincho"/>
                          <a:cs typeface="Times New Roman"/>
                        </a:rPr>
                        <a:t>DD</a:t>
                      </a:r>
                      <a:r>
                        <a:rPr lang="en-US" sz="1200" dirty="0">
                          <a:latin typeface="Arial"/>
                          <a:ea typeface="MS Mincho"/>
                          <a:cs typeface="Times New Roman"/>
                        </a:rPr>
                        <a:t> when the output signal is changing from low to high</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3"/>
                  </a:ext>
                </a:extLst>
              </a:tr>
              <a:tr h="1081924">
                <a:tc>
                  <a:txBody>
                    <a:bodyPr/>
                    <a:lstStyle/>
                    <a:p>
                      <a:pPr marL="0" indent="0">
                        <a:buFont typeface="+mj-lt"/>
                        <a:buNone/>
                      </a:pPr>
                      <a:r>
                        <a:rPr lang="en-US" sz="1200" dirty="0"/>
                        <a:t>4.</a:t>
                      </a:r>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r>
                        <a:rPr lang="en-US" sz="1200" kern="1200" dirty="0">
                          <a:solidFill>
                            <a:schemeClr val="tx1"/>
                          </a:solidFill>
                          <a:latin typeface="+mn-lt"/>
                          <a:ea typeface="+mn-ea"/>
                          <a:cs typeface="+mn-cs"/>
                        </a:rPr>
                        <a:t>Propagation delay</a:t>
                      </a:r>
                    </a:p>
                    <a:p>
                      <a:r>
                        <a:rPr lang="en-US" sz="1200" kern="1200" dirty="0">
                          <a:solidFill>
                            <a:schemeClr val="tx1"/>
                          </a:solidFill>
                          <a:latin typeface="+mn-lt"/>
                          <a:ea typeface="+mn-ea"/>
                          <a:cs typeface="+mn-cs"/>
                        </a:rPr>
                        <a:t>high-to-low (Fall)</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0000FF"/>
                          </a:solidFill>
                        </a:rPr>
                        <a:t>cell_fall</a:t>
                      </a:r>
                      <a:endParaRPr lang="en-US" sz="1200" b="0" dirty="0">
                        <a:solidFill>
                          <a:srgbClr val="0000FF"/>
                        </a:solidFill>
                      </a:endParaRPr>
                    </a:p>
                    <a:p>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a:solidFill>
                            <a:schemeClr val="tx1"/>
                          </a:solidFill>
                          <a:latin typeface="+mn-lt"/>
                          <a:ea typeface="+mn-ea"/>
                          <a:cs typeface="+mn-cs"/>
                        </a:rPr>
                        <a:t>ns</a:t>
                      </a:r>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algn="ct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PHL</a:t>
                      </a:r>
                      <a:endParaRPr lang="en-US" sz="1200" kern="1200" dirty="0">
                        <a:solidFill>
                          <a:schemeClr val="tx1"/>
                        </a:solidFill>
                        <a:latin typeface="+mn-lt"/>
                        <a:ea typeface="+mn-ea"/>
                        <a:cs typeface="+mn-cs"/>
                      </a:endParaRPr>
                    </a:p>
                    <a:p>
                      <a:pPr algn="ct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a:t>
                      </a:r>
                      <a:r>
                        <a:rPr lang="en-US" sz="1200" kern="1200" baseline="-25000" dirty="0" err="1">
                          <a:solidFill>
                            <a:schemeClr val="tx1"/>
                          </a:solidFill>
                          <a:latin typeface="+mn-lt"/>
                          <a:ea typeface="+mn-ea"/>
                          <a:cs typeface="+mn-cs"/>
                        </a:rPr>
                        <a:t>PF</a:t>
                      </a:r>
                      <a:r>
                        <a:rPr lang="en-US" sz="1200" kern="1200" dirty="0">
                          <a:solidFill>
                            <a:schemeClr val="tx1"/>
                          </a:solidFill>
                          <a:latin typeface="+mn-lt"/>
                          <a:ea typeface="+mn-ea"/>
                          <a:cs typeface="+mn-cs"/>
                        </a:rPr>
                        <a:t>)</a:t>
                      </a:r>
                      <a:endParaRPr lang="en-US" sz="1200" dirty="0"/>
                    </a:p>
                  </a:txBody>
                  <a:tcPr marL="91437" marR="91437" marT="45726" marB="4572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sz="1800" dirty="0"/>
                    </a:p>
                  </a:txBody>
                  <a:tcPr marL="91436" marR="91436"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Time difference between the input signal crossing a 0.5V</a:t>
                      </a:r>
                      <a:r>
                        <a:rPr lang="en-US" sz="1200" kern="1200" baseline="-25000" dirty="0">
                          <a:solidFill>
                            <a:schemeClr val="tx1"/>
                          </a:solidFill>
                          <a:latin typeface="+mn-lt"/>
                          <a:ea typeface="+mn-ea"/>
                          <a:cs typeface="+mn-cs"/>
                        </a:rPr>
                        <a:t>DD</a:t>
                      </a:r>
                      <a:r>
                        <a:rPr lang="en-US" sz="1200" kern="1200" dirty="0">
                          <a:solidFill>
                            <a:schemeClr val="tx1"/>
                          </a:solidFill>
                          <a:latin typeface="+mn-lt"/>
                          <a:ea typeface="+mn-ea"/>
                          <a:cs typeface="+mn-cs"/>
                        </a:rPr>
                        <a:t> and the output signal crossing its 0.5V</a:t>
                      </a:r>
                      <a:r>
                        <a:rPr lang="en-US" sz="1200" kern="1200" baseline="-25000" dirty="0">
                          <a:solidFill>
                            <a:schemeClr val="tx1"/>
                          </a:solidFill>
                          <a:latin typeface="+mn-lt"/>
                          <a:ea typeface="+mn-ea"/>
                          <a:cs typeface="+mn-cs"/>
                        </a:rPr>
                        <a:t>DD</a:t>
                      </a:r>
                      <a:r>
                        <a:rPr lang="en-US" sz="1200" kern="1200" dirty="0">
                          <a:solidFill>
                            <a:schemeClr val="tx1"/>
                          </a:solidFill>
                          <a:latin typeface="+mn-lt"/>
                          <a:ea typeface="+mn-ea"/>
                          <a:cs typeface="+mn-cs"/>
                        </a:rPr>
                        <a:t> when the output signal is changing from high to low</a:t>
                      </a:r>
                      <a:endParaRPr lang="en-US" sz="1200" dirty="0">
                        <a:latin typeface="Times New Roman"/>
                        <a:ea typeface="MS Mincho"/>
                        <a:cs typeface="Times New Roman"/>
                      </a:endParaRPr>
                    </a:p>
                  </a:txBody>
                  <a:tcPr marL="68577" marR="68577"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24625" name="Object 1">
            <a:extLst>
              <a:ext uri="{FF2B5EF4-FFF2-40B4-BE49-F238E27FC236}">
                <a16:creationId xmlns:a16="http://schemas.microsoft.com/office/drawing/2014/main" id="{1F39161B-DDAF-4902-9808-26450092CB0A}"/>
              </a:ext>
            </a:extLst>
          </p:cNvPr>
          <p:cNvGraphicFramePr>
            <a:graphicFrameLocks noChangeAspect="1"/>
          </p:cNvGraphicFramePr>
          <p:nvPr>
            <p:extLst>
              <p:ext uri="{D42A27DB-BD31-4B8C-83A1-F6EECF244321}">
                <p14:modId xmlns:p14="http://schemas.microsoft.com/office/powerpoint/2010/main" val="4003995396"/>
              </p:ext>
            </p:extLst>
          </p:nvPr>
        </p:nvGraphicFramePr>
        <p:xfrm>
          <a:off x="5789612" y="1703108"/>
          <a:ext cx="1476375" cy="1000125"/>
        </p:xfrm>
        <a:graphic>
          <a:graphicData uri="http://schemas.openxmlformats.org/presentationml/2006/ole">
            <mc:AlternateContent xmlns:mc="http://schemas.openxmlformats.org/markup-compatibility/2006">
              <mc:Choice xmlns:v="urn:schemas-microsoft-com:vml" Requires="v">
                <p:oleObj r:id="rId2" imgW="1475232" imgH="996696" progId="Visio.Drawing.6">
                  <p:embed/>
                </p:oleObj>
              </mc:Choice>
              <mc:Fallback>
                <p:oleObj r:id="rId2" imgW="1475232" imgH="996696" progId="Visio.Drawing.6">
                  <p:embed/>
                  <p:pic>
                    <p:nvPicPr>
                      <p:cNvPr id="24625" name="Object 1">
                        <a:extLst>
                          <a:ext uri="{FF2B5EF4-FFF2-40B4-BE49-F238E27FC236}">
                            <a16:creationId xmlns:a16="http://schemas.microsoft.com/office/drawing/2014/main" id="{1F39161B-DDAF-4902-9808-26450092C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12" y="1703108"/>
                        <a:ext cx="14763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26" name="Object 3">
            <a:extLst>
              <a:ext uri="{FF2B5EF4-FFF2-40B4-BE49-F238E27FC236}">
                <a16:creationId xmlns:a16="http://schemas.microsoft.com/office/drawing/2014/main" id="{2155183D-BCCE-42FF-8BCD-3CBD88A7CEF5}"/>
              </a:ext>
            </a:extLst>
          </p:cNvPr>
          <p:cNvGraphicFramePr>
            <a:graphicFrameLocks noChangeAspect="1"/>
          </p:cNvGraphicFramePr>
          <p:nvPr>
            <p:extLst>
              <p:ext uri="{D42A27DB-BD31-4B8C-83A1-F6EECF244321}">
                <p14:modId xmlns:p14="http://schemas.microsoft.com/office/powerpoint/2010/main" val="1822647115"/>
              </p:ext>
            </p:extLst>
          </p:nvPr>
        </p:nvGraphicFramePr>
        <p:xfrm>
          <a:off x="5818186" y="2730220"/>
          <a:ext cx="1676400" cy="1104900"/>
        </p:xfrm>
        <a:graphic>
          <a:graphicData uri="http://schemas.openxmlformats.org/presentationml/2006/ole">
            <mc:AlternateContent xmlns:mc="http://schemas.openxmlformats.org/markup-compatibility/2006">
              <mc:Choice xmlns:v="urn:schemas-microsoft-com:vml" Requires="v">
                <p:oleObj r:id="rId4" imgW="1688592" imgH="1100328" progId="Visio.Drawing.6">
                  <p:embed/>
                </p:oleObj>
              </mc:Choice>
              <mc:Fallback>
                <p:oleObj r:id="rId4" imgW="1688592" imgH="1100328" progId="Visio.Drawing.6">
                  <p:embed/>
                  <p:pic>
                    <p:nvPicPr>
                      <p:cNvPr id="24626" name="Object 3">
                        <a:extLst>
                          <a:ext uri="{FF2B5EF4-FFF2-40B4-BE49-F238E27FC236}">
                            <a16:creationId xmlns:a16="http://schemas.microsoft.com/office/drawing/2014/main" id="{2155183D-BCCE-42FF-8BCD-3CBD88A7CE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8186" y="2730220"/>
                        <a:ext cx="16764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27" name="Object 5">
            <a:extLst>
              <a:ext uri="{FF2B5EF4-FFF2-40B4-BE49-F238E27FC236}">
                <a16:creationId xmlns:a16="http://schemas.microsoft.com/office/drawing/2014/main" id="{9DD655BA-A33A-49FB-81DB-4E3E83AC7F7A}"/>
              </a:ext>
            </a:extLst>
          </p:cNvPr>
          <p:cNvGraphicFramePr>
            <a:graphicFrameLocks noChangeAspect="1"/>
          </p:cNvGraphicFramePr>
          <p:nvPr>
            <p:extLst>
              <p:ext uri="{D42A27DB-BD31-4B8C-83A1-F6EECF244321}">
                <p14:modId xmlns:p14="http://schemas.microsoft.com/office/powerpoint/2010/main" val="3279040782"/>
              </p:ext>
            </p:extLst>
          </p:nvPr>
        </p:nvGraphicFramePr>
        <p:xfrm>
          <a:off x="5837236" y="3811308"/>
          <a:ext cx="1447800" cy="1114425"/>
        </p:xfrm>
        <a:graphic>
          <a:graphicData uri="http://schemas.openxmlformats.org/presentationml/2006/ole">
            <mc:AlternateContent xmlns:mc="http://schemas.openxmlformats.org/markup-compatibility/2006">
              <mc:Choice xmlns:v="urn:schemas-microsoft-com:vml" Requires="v">
                <p:oleObj r:id="rId6" imgW="1441704" imgH="1325880" progId="Visio.Drawing.6">
                  <p:embed/>
                </p:oleObj>
              </mc:Choice>
              <mc:Fallback>
                <p:oleObj r:id="rId6" imgW="1441704" imgH="1325880" progId="Visio.Drawing.6">
                  <p:embed/>
                  <p:pic>
                    <p:nvPicPr>
                      <p:cNvPr id="24627" name="Object 5">
                        <a:extLst>
                          <a:ext uri="{FF2B5EF4-FFF2-40B4-BE49-F238E27FC236}">
                            <a16:creationId xmlns:a16="http://schemas.microsoft.com/office/drawing/2014/main" id="{9DD655BA-A33A-49FB-81DB-4E3E83AC7F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7236" y="3811308"/>
                        <a:ext cx="14478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28" name="Object 5">
            <a:extLst>
              <a:ext uri="{FF2B5EF4-FFF2-40B4-BE49-F238E27FC236}">
                <a16:creationId xmlns:a16="http://schemas.microsoft.com/office/drawing/2014/main" id="{C539B888-3F6D-40E8-A4F2-C067B49851FB}"/>
              </a:ext>
            </a:extLst>
          </p:cNvPr>
          <p:cNvGraphicFramePr>
            <a:graphicFrameLocks noChangeAspect="1"/>
          </p:cNvGraphicFramePr>
          <p:nvPr>
            <p:extLst>
              <p:ext uri="{D42A27DB-BD31-4B8C-83A1-F6EECF244321}">
                <p14:modId xmlns:p14="http://schemas.microsoft.com/office/powerpoint/2010/main" val="1273824850"/>
              </p:ext>
            </p:extLst>
          </p:nvPr>
        </p:nvGraphicFramePr>
        <p:xfrm>
          <a:off x="5943599" y="4933670"/>
          <a:ext cx="1390650" cy="957262"/>
        </p:xfrm>
        <a:graphic>
          <a:graphicData uri="http://schemas.openxmlformats.org/presentationml/2006/ole">
            <mc:AlternateContent xmlns:mc="http://schemas.openxmlformats.org/markup-compatibility/2006">
              <mc:Choice xmlns:v="urn:schemas-microsoft-com:vml" Requires="v">
                <p:oleObj r:id="rId8" imgW="1801368" imgH="1237488" progId="Visio.Drawing.6">
                  <p:embed/>
                </p:oleObj>
              </mc:Choice>
              <mc:Fallback>
                <p:oleObj r:id="rId8" imgW="1801368" imgH="1237488" progId="Visio.Drawing.6">
                  <p:embed/>
                  <p:pic>
                    <p:nvPicPr>
                      <p:cNvPr id="24628" name="Object 5">
                        <a:extLst>
                          <a:ext uri="{FF2B5EF4-FFF2-40B4-BE49-F238E27FC236}">
                            <a16:creationId xmlns:a16="http://schemas.microsoft.com/office/drawing/2014/main" id="{C539B888-3F6D-40E8-A4F2-C067B49851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3599" y="4933670"/>
                        <a:ext cx="139065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D9826338-EB54-4B40-8A39-D14AFC6CD3C2}"/>
              </a:ext>
            </a:extLst>
          </p:cNvPr>
          <p:cNvSpPr>
            <a:spLocks noGrp="1"/>
          </p:cNvSpPr>
          <p:nvPr>
            <p:ph type="title"/>
          </p:nvPr>
        </p:nvSpPr>
        <p:spPr/>
        <p:txBody>
          <a:bodyPr/>
          <a:lstStyle/>
          <a:p>
            <a:r>
              <a:rPr lang="en-US" altLang="en-US"/>
              <a:t>Combinational Timing Arc Syntax</a:t>
            </a:r>
          </a:p>
        </p:txBody>
      </p:sp>
      <p:sp>
        <p:nvSpPr>
          <p:cNvPr id="25603" name="Content Placeholder 2">
            <a:extLst>
              <a:ext uri="{FF2B5EF4-FFF2-40B4-BE49-F238E27FC236}">
                <a16:creationId xmlns:a16="http://schemas.microsoft.com/office/drawing/2014/main" id="{C3004D8F-D32C-4EBB-946C-774DD74850A1}"/>
              </a:ext>
            </a:extLst>
          </p:cNvPr>
          <p:cNvSpPr>
            <a:spLocks noGrp="1"/>
          </p:cNvSpPr>
          <p:nvPr>
            <p:ph type="body" sz="quarter" idx="10"/>
          </p:nvPr>
        </p:nvSpPr>
        <p:spPr/>
        <p:txBody>
          <a:bodyPr/>
          <a:lstStyle/>
          <a:p>
            <a:r>
              <a:rPr lang="en-US" altLang="en-US" sz="2000"/>
              <a:t>Combinational timing arc between input A and output Y, with negative dependence, i.e. When A is rising Y is falling and vice-versa</a:t>
            </a:r>
          </a:p>
          <a:p>
            <a:endParaRPr lang="en-US" altLang="en-US" sz="2000" b="1"/>
          </a:p>
        </p:txBody>
      </p:sp>
      <p:sp>
        <p:nvSpPr>
          <p:cNvPr id="8" name="Rectangle 7">
            <a:extLst>
              <a:ext uri="{FF2B5EF4-FFF2-40B4-BE49-F238E27FC236}">
                <a16:creationId xmlns:a16="http://schemas.microsoft.com/office/drawing/2014/main" id="{C73C8C2C-3BEB-4FB2-A10D-FB587FBA10AC}"/>
              </a:ext>
            </a:extLst>
          </p:cNvPr>
          <p:cNvSpPr/>
          <p:nvPr/>
        </p:nvSpPr>
        <p:spPr bwMode="auto">
          <a:xfrm>
            <a:off x="1981200" y="2628900"/>
            <a:ext cx="8305800" cy="3162300"/>
          </a:xfrm>
          <a:prstGeom prst="rect">
            <a:avLst/>
          </a:prstGeom>
          <a:solidFill>
            <a:schemeClr val="accent1">
              <a:lumMod val="20000"/>
              <a:lumOff val="80000"/>
            </a:schemeClr>
          </a:solidFill>
          <a:ln>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cell (INVX1)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pin (Y) {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timing ()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chemeClr val="tx1"/>
                </a:solidFill>
                <a:latin typeface="Courier New" pitchFamily="49" charset="0"/>
                <a:cs typeface="Courier New" pitchFamily="49" charset="0"/>
              </a:rPr>
              <a:t>related_pin</a:t>
            </a:r>
            <a:r>
              <a:rPr lang="en-US" sz="1100" dirty="0">
                <a:solidFill>
                  <a:schemeClr val="tx1"/>
                </a:solidFill>
                <a:latin typeface="Courier New" pitchFamily="49" charset="0"/>
                <a:cs typeface="Courier New" pitchFamily="49" charset="0"/>
              </a:rPr>
              <a:t> : "A";</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timing_type</a:t>
            </a:r>
            <a:r>
              <a:rPr lang="en-US" sz="1100" dirty="0">
                <a:solidFill>
                  <a:schemeClr val="tx1"/>
                </a:solidFill>
                <a:latin typeface="Courier New" pitchFamily="49" charset="0"/>
                <a:cs typeface="Courier New" pitchFamily="49" charset="0"/>
              </a:rPr>
              <a:t> : "combinational";</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timing_sense</a:t>
            </a:r>
            <a:r>
              <a:rPr lang="en-US" sz="1100" dirty="0">
                <a:solidFill>
                  <a:schemeClr val="tx1"/>
                </a:solidFill>
                <a:latin typeface="Courier New" pitchFamily="49" charset="0"/>
                <a:cs typeface="Courier New" pitchFamily="49" charset="0"/>
              </a:rPr>
              <a:t> : "</a:t>
            </a:r>
            <a:r>
              <a:rPr lang="en-US" sz="1100" dirty="0" err="1">
                <a:solidFill>
                  <a:schemeClr val="tx1"/>
                </a:solidFill>
                <a:latin typeface="Courier New" pitchFamily="49" charset="0"/>
                <a:cs typeface="Courier New" pitchFamily="49" charset="0"/>
              </a:rPr>
              <a:t>negative_unate</a:t>
            </a:r>
            <a:r>
              <a:rPr lang="en-US" sz="11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r>
              <a:rPr lang="en-US" sz="1100" dirty="0" err="1">
                <a:solidFill>
                  <a:srgbClr val="0000FF"/>
                </a:solidFill>
                <a:latin typeface="Courier New" pitchFamily="49" charset="0"/>
                <a:cs typeface="Courier New" pitchFamily="49" charset="0"/>
              </a:rPr>
              <a:t>cell_rise</a:t>
            </a:r>
            <a:r>
              <a:rPr lang="en-US" sz="1100" dirty="0">
                <a:solidFill>
                  <a:schemeClr val="tx1"/>
                </a:solidFill>
                <a:latin typeface="Courier New" pitchFamily="49" charset="0"/>
                <a:cs typeface="Courier New" pitchFamily="49" charset="0"/>
              </a:rPr>
              <a:t> ("del_1_7_7")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index_1("0.016, 0.032, 0.064, 0.128, 0.256, 0.512, 1.024");</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index_2("0.1, 0.25, 0.5, 1, 2, 4, 8");</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values("0.0168610, 0.0179019, 0.0195185, 0.0229259, 0.0296588, 0.0431451, 0.0702328",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"0.0239648, 0.0255491, 0.0279298, 0.0319930, 0.0387540, 0.0520896, 0.0790211",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"0.0342118, 0.0366966, 0.0402223, 0.0462823, 0.0558327, 0.0705154, 0.0967339",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"0.0491695, 0.0524727, 0.0576512, 0.0665647, 0.0810999, 0.1027237, 0.1342571",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"0.0721332, 0.0765389, 0.0836775, 0.0960890, 0.1171612, 0.1497265, 0.1957640",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"0.1111560, 0.1164417, 0.1252609, 0.1422002, 0.1712097, 0.2171862, 0.2847010", \</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"0.1841131, 0.1901881, 0.2010298, 0.2194395, 0.2555983, 0.3182710, 0.4139452");</a:t>
            </a:r>
          </a:p>
          <a:p>
            <a:pPr>
              <a:tabLst>
                <a:tab pos="292100" algn="l"/>
                <a:tab pos="520700" algn="l"/>
                <a:tab pos="685800" algn="l"/>
                <a:tab pos="914400" algn="l"/>
                <a:tab pos="1206500" algn="l"/>
                <a:tab pos="1549400" algn="l"/>
                <a:tab pos="1828800" algn="l"/>
                <a:tab pos="2057400" algn="l"/>
              </a:tabLst>
              <a:defRPr/>
            </a:pPr>
            <a:r>
              <a:rPr lang="en-US" sz="1100" dirty="0">
                <a:solidFill>
                  <a:schemeClr val="tx1"/>
                </a:solidFill>
                <a:latin typeface="Courier New" pitchFamily="49" charset="0"/>
                <a:cs typeface="Courier New" pitchFamily="49"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5A5FFBE4-5587-409B-96A0-12CB01B0C528}"/>
              </a:ext>
            </a:extLst>
          </p:cNvPr>
          <p:cNvSpPr>
            <a:spLocks noGrp="1"/>
          </p:cNvSpPr>
          <p:nvPr>
            <p:ph type="title"/>
          </p:nvPr>
        </p:nvSpPr>
        <p:spPr/>
        <p:txBody>
          <a:bodyPr/>
          <a:lstStyle/>
          <a:p>
            <a:r>
              <a:rPr lang="en-US" altLang="en-US"/>
              <a:t>Delay Analysis</a:t>
            </a:r>
          </a:p>
        </p:txBody>
      </p:sp>
      <p:sp>
        <p:nvSpPr>
          <p:cNvPr id="26627" name="Content Placeholder 2">
            <a:extLst>
              <a:ext uri="{FF2B5EF4-FFF2-40B4-BE49-F238E27FC236}">
                <a16:creationId xmlns:a16="http://schemas.microsoft.com/office/drawing/2014/main" id="{794307F8-C6F2-4834-BFC5-6F3FA441AD49}"/>
              </a:ext>
            </a:extLst>
          </p:cNvPr>
          <p:cNvSpPr>
            <a:spLocks noGrp="1"/>
          </p:cNvSpPr>
          <p:nvPr>
            <p:ph type="body" sz="quarter" idx="10"/>
          </p:nvPr>
        </p:nvSpPr>
        <p:spPr/>
        <p:txBody>
          <a:bodyPr/>
          <a:lstStyle/>
          <a:p>
            <a:r>
              <a:rPr lang="en-US" altLang="en-US" dirty="0"/>
              <a:t>Calculation of each timing arc’s value cell delay or a net delay</a:t>
            </a:r>
          </a:p>
          <a:p>
            <a:pPr lvl="1"/>
            <a:r>
              <a:rPr lang="en-US" altLang="en-US" sz="1800" dirty="0">
                <a:solidFill>
                  <a:srgbClr val="0000FF"/>
                </a:solidFill>
              </a:rPr>
              <a:t>Positive </a:t>
            </a:r>
            <a:r>
              <a:rPr lang="en-US" altLang="en-US" sz="1800" dirty="0" err="1">
                <a:solidFill>
                  <a:srgbClr val="0000FF"/>
                </a:solidFill>
              </a:rPr>
              <a:t>unate</a:t>
            </a:r>
            <a:r>
              <a:rPr lang="en-US" altLang="en-US" sz="1800" dirty="0">
                <a:solidFill>
                  <a:srgbClr val="0000FF"/>
                </a:solidFill>
              </a:rPr>
              <a:t> </a:t>
            </a:r>
            <a:r>
              <a:rPr lang="en-US" altLang="en-US" sz="1800" dirty="0"/>
              <a:t>timing arc combines rise delays with rise delays and fall delays with fall delays</a:t>
            </a:r>
          </a:p>
          <a:p>
            <a:pPr lvl="1"/>
            <a:r>
              <a:rPr lang="en-US" altLang="en-US" sz="1800" dirty="0">
                <a:solidFill>
                  <a:srgbClr val="0000FF"/>
                </a:solidFill>
              </a:rPr>
              <a:t>Negative </a:t>
            </a:r>
            <a:r>
              <a:rPr lang="en-US" altLang="en-US" sz="1800" dirty="0" err="1">
                <a:solidFill>
                  <a:srgbClr val="0000FF"/>
                </a:solidFill>
              </a:rPr>
              <a:t>unate</a:t>
            </a:r>
            <a:r>
              <a:rPr lang="en-US" altLang="en-US" sz="1800" dirty="0">
                <a:solidFill>
                  <a:srgbClr val="0000FF"/>
                </a:solidFill>
              </a:rPr>
              <a:t> </a:t>
            </a:r>
            <a:r>
              <a:rPr lang="en-US" altLang="en-US" sz="1800" dirty="0"/>
              <a:t>timing arc combines incoming rise delays with local fall delays and vice versa</a:t>
            </a:r>
          </a:p>
          <a:p>
            <a:pPr lvl="1"/>
            <a:r>
              <a:rPr lang="en-US" altLang="en-US" sz="1800" dirty="0">
                <a:solidFill>
                  <a:srgbClr val="0000FF"/>
                </a:solidFill>
              </a:rPr>
              <a:t>Non-</a:t>
            </a:r>
            <a:r>
              <a:rPr lang="en-US" altLang="en-US" sz="1800" dirty="0" err="1">
                <a:solidFill>
                  <a:srgbClr val="0000FF"/>
                </a:solidFill>
              </a:rPr>
              <a:t>unate</a:t>
            </a:r>
            <a:r>
              <a:rPr lang="en-US" altLang="en-US" sz="1800" dirty="0"/>
              <a:t> timing arc combines local delay with the worst – case incoming delays logic functions whose output value change cannot be predicted</a:t>
            </a:r>
          </a:p>
        </p:txBody>
      </p:sp>
      <p:grpSp>
        <p:nvGrpSpPr>
          <p:cNvPr id="26628" name="Group 26">
            <a:extLst>
              <a:ext uri="{FF2B5EF4-FFF2-40B4-BE49-F238E27FC236}">
                <a16:creationId xmlns:a16="http://schemas.microsoft.com/office/drawing/2014/main" id="{76CC5503-E4AB-44CD-888F-8803B74C501E}"/>
              </a:ext>
            </a:extLst>
          </p:cNvPr>
          <p:cNvGrpSpPr>
            <a:grpSpLocks/>
          </p:cNvGrpSpPr>
          <p:nvPr/>
        </p:nvGrpSpPr>
        <p:grpSpPr bwMode="auto">
          <a:xfrm>
            <a:off x="5507517" y="3117793"/>
            <a:ext cx="1122363" cy="590550"/>
            <a:chOff x="5930165" y="2834498"/>
            <a:chExt cx="1121681" cy="591451"/>
          </a:xfrm>
        </p:grpSpPr>
        <p:sp>
          <p:nvSpPr>
            <p:cNvPr id="26671" name="TextBox 62">
              <a:extLst>
                <a:ext uri="{FF2B5EF4-FFF2-40B4-BE49-F238E27FC236}">
                  <a16:creationId xmlns:a16="http://schemas.microsoft.com/office/drawing/2014/main" id="{ED24DFAE-7FCD-415F-9729-C3BC1963F4B9}"/>
                </a:ext>
              </a:extLst>
            </p:cNvPr>
            <p:cNvSpPr txBox="1">
              <a:spLocks noChangeArrowheads="1"/>
            </p:cNvSpPr>
            <p:nvPr/>
          </p:nvSpPr>
          <p:spPr bwMode="auto">
            <a:xfrm>
              <a:off x="5930165" y="3195117"/>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sp>
          <p:nvSpPr>
            <p:cNvPr id="26672" name="Flowchart: Delay 53">
              <a:extLst>
                <a:ext uri="{FF2B5EF4-FFF2-40B4-BE49-F238E27FC236}">
                  <a16:creationId xmlns:a16="http://schemas.microsoft.com/office/drawing/2014/main" id="{B5E0CB8E-E106-49C5-A0A3-A0202FCC9CF3}"/>
                </a:ext>
              </a:extLst>
            </p:cNvPr>
            <p:cNvSpPr>
              <a:spLocks noChangeArrowheads="1"/>
            </p:cNvSpPr>
            <p:nvPr/>
          </p:nvSpPr>
          <p:spPr bwMode="auto">
            <a:xfrm>
              <a:off x="6359852" y="2970683"/>
              <a:ext cx="329898" cy="294978"/>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cxnSp>
          <p:nvCxnSpPr>
            <p:cNvPr id="26673" name="Straight Connector 5">
              <a:extLst>
                <a:ext uri="{FF2B5EF4-FFF2-40B4-BE49-F238E27FC236}">
                  <a16:creationId xmlns:a16="http://schemas.microsoft.com/office/drawing/2014/main" id="{0F2D02EC-7DEB-4093-A6A0-F6D24E8BAD38}"/>
                </a:ext>
              </a:extLst>
            </p:cNvPr>
            <p:cNvCxnSpPr>
              <a:cxnSpLocks noChangeShapeType="1"/>
            </p:cNvCxnSpPr>
            <p:nvPr/>
          </p:nvCxnSpPr>
          <p:spPr bwMode="auto">
            <a:xfrm>
              <a:off x="6689750" y="3118172"/>
              <a:ext cx="323822" cy="0"/>
            </a:xfrm>
            <a:prstGeom prst="line">
              <a:avLst/>
            </a:prstGeom>
            <a:noFill/>
            <a:ln w="9525" algn="ctr">
              <a:solidFill>
                <a:schemeClr val="tx1"/>
              </a:solidFill>
              <a:round/>
              <a:headEnd/>
              <a:tailEnd/>
            </a:ln>
          </p:spPr>
        </p:cxnSp>
        <p:cxnSp>
          <p:nvCxnSpPr>
            <p:cNvPr id="26674" name="Straight Connector 6">
              <a:extLst>
                <a:ext uri="{FF2B5EF4-FFF2-40B4-BE49-F238E27FC236}">
                  <a16:creationId xmlns:a16="http://schemas.microsoft.com/office/drawing/2014/main" id="{B0A8896B-F603-4DF0-B5AD-812A26C66159}"/>
                </a:ext>
              </a:extLst>
            </p:cNvPr>
            <p:cNvCxnSpPr>
              <a:cxnSpLocks noChangeShapeType="1"/>
            </p:cNvCxnSpPr>
            <p:nvPr/>
          </p:nvCxnSpPr>
          <p:spPr bwMode="auto">
            <a:xfrm>
              <a:off x="6172631" y="3037431"/>
              <a:ext cx="187221" cy="0"/>
            </a:xfrm>
            <a:prstGeom prst="line">
              <a:avLst/>
            </a:prstGeom>
            <a:noFill/>
            <a:ln w="9525" algn="ctr">
              <a:solidFill>
                <a:schemeClr val="tx1"/>
              </a:solidFill>
              <a:round/>
              <a:headEnd/>
              <a:tailEnd/>
            </a:ln>
          </p:spPr>
        </p:cxnSp>
        <p:cxnSp>
          <p:nvCxnSpPr>
            <p:cNvPr id="26675" name="Straight Connector 7">
              <a:extLst>
                <a:ext uri="{FF2B5EF4-FFF2-40B4-BE49-F238E27FC236}">
                  <a16:creationId xmlns:a16="http://schemas.microsoft.com/office/drawing/2014/main" id="{8ED88AEA-FDB5-46D2-955A-992BA4BF52E5}"/>
                </a:ext>
              </a:extLst>
            </p:cNvPr>
            <p:cNvCxnSpPr>
              <a:cxnSpLocks noChangeShapeType="1"/>
            </p:cNvCxnSpPr>
            <p:nvPr/>
          </p:nvCxnSpPr>
          <p:spPr bwMode="auto">
            <a:xfrm>
              <a:off x="6172631" y="3192212"/>
              <a:ext cx="187221" cy="0"/>
            </a:xfrm>
            <a:prstGeom prst="line">
              <a:avLst/>
            </a:prstGeom>
            <a:noFill/>
            <a:ln w="9525" algn="ctr">
              <a:solidFill>
                <a:schemeClr val="tx1"/>
              </a:solidFill>
              <a:round/>
              <a:headEnd/>
              <a:tailEnd/>
            </a:ln>
          </p:spPr>
        </p:cxnSp>
        <p:cxnSp>
          <p:nvCxnSpPr>
            <p:cNvPr id="26676" name="Straight Connector 8">
              <a:extLst>
                <a:ext uri="{FF2B5EF4-FFF2-40B4-BE49-F238E27FC236}">
                  <a16:creationId xmlns:a16="http://schemas.microsoft.com/office/drawing/2014/main" id="{70D7F091-E85D-4771-8E21-7F01960C3FD9}"/>
                </a:ext>
              </a:extLst>
            </p:cNvPr>
            <p:cNvCxnSpPr>
              <a:cxnSpLocks noChangeShapeType="1"/>
            </p:cNvCxnSpPr>
            <p:nvPr/>
          </p:nvCxnSpPr>
          <p:spPr bwMode="auto">
            <a:xfrm>
              <a:off x="6175012" y="3190625"/>
              <a:ext cx="0" cy="147838"/>
            </a:xfrm>
            <a:prstGeom prst="line">
              <a:avLst/>
            </a:prstGeom>
            <a:noFill/>
            <a:ln w="9525" algn="ctr">
              <a:solidFill>
                <a:schemeClr val="tx1"/>
              </a:solidFill>
              <a:round/>
              <a:headEnd/>
              <a:tailEnd/>
            </a:ln>
          </p:spPr>
        </p:cxnSp>
        <p:grpSp>
          <p:nvGrpSpPr>
            <p:cNvPr id="26677" name="Group 9">
              <a:extLst>
                <a:ext uri="{FF2B5EF4-FFF2-40B4-BE49-F238E27FC236}">
                  <a16:creationId xmlns:a16="http://schemas.microsoft.com/office/drawing/2014/main" id="{7708C750-22F8-4B68-8EFC-F7D1734F2EC6}"/>
                </a:ext>
              </a:extLst>
            </p:cNvPr>
            <p:cNvGrpSpPr>
              <a:grpSpLocks/>
            </p:cNvGrpSpPr>
            <p:nvPr/>
          </p:nvGrpSpPr>
          <p:grpSpPr bwMode="auto">
            <a:xfrm flipH="1">
              <a:off x="6058804" y="2834675"/>
              <a:ext cx="313101" cy="154449"/>
              <a:chOff x="4250060" y="3356992"/>
              <a:chExt cx="308949" cy="152400"/>
            </a:xfrm>
          </p:grpSpPr>
          <p:cxnSp>
            <p:nvCxnSpPr>
              <p:cNvPr id="15" name="Straight Connector 14">
                <a:extLst>
                  <a:ext uri="{FF2B5EF4-FFF2-40B4-BE49-F238E27FC236}">
                    <a16:creationId xmlns:a16="http://schemas.microsoft.com/office/drawing/2014/main" id="{1ACAC840-A99C-46C0-99D9-5B2E52E65A0E}"/>
                  </a:ext>
                </a:extLst>
              </p:cNvPr>
              <p:cNvCxnSpPr/>
              <p:nvPr/>
            </p:nvCxnSpPr>
            <p:spPr bwMode="auto">
              <a:xfrm>
                <a:off x="4250734" y="3356817"/>
                <a:ext cx="10332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CC6A702-C830-4E09-9AA8-0D819AB73AE1}"/>
                  </a:ext>
                </a:extLst>
              </p:cNvPr>
              <p:cNvCxnSpPr/>
              <p:nvPr/>
            </p:nvCxnSpPr>
            <p:spPr bwMode="auto">
              <a:xfrm>
                <a:off x="4455813" y="3507424"/>
                <a:ext cx="10332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0A8D2B4-E7EB-4916-A8FB-DAC787DA7ECB}"/>
                  </a:ext>
                </a:extLst>
              </p:cNvPr>
              <p:cNvCxnSpPr/>
              <p:nvPr/>
            </p:nvCxnSpPr>
            <p:spPr bwMode="auto">
              <a:xfrm>
                <a:off x="4350925" y="3356817"/>
                <a:ext cx="108019" cy="15217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678" name="Group 87">
              <a:extLst>
                <a:ext uri="{FF2B5EF4-FFF2-40B4-BE49-F238E27FC236}">
                  <a16:creationId xmlns:a16="http://schemas.microsoft.com/office/drawing/2014/main" id="{9EB1F170-87D5-4A08-BB0D-64F88EE752C0}"/>
                </a:ext>
              </a:extLst>
            </p:cNvPr>
            <p:cNvGrpSpPr>
              <a:grpSpLocks/>
            </p:cNvGrpSpPr>
            <p:nvPr/>
          </p:nvGrpSpPr>
          <p:grpSpPr bwMode="auto">
            <a:xfrm flipH="1">
              <a:off x="6738755" y="2834498"/>
              <a:ext cx="313091" cy="154449"/>
              <a:chOff x="4226570" y="3356992"/>
              <a:chExt cx="308939" cy="152400"/>
            </a:xfrm>
          </p:grpSpPr>
          <p:cxnSp>
            <p:nvCxnSpPr>
              <p:cNvPr id="89" name="Straight Connector 88">
                <a:extLst>
                  <a:ext uri="{FF2B5EF4-FFF2-40B4-BE49-F238E27FC236}">
                    <a16:creationId xmlns:a16="http://schemas.microsoft.com/office/drawing/2014/main" id="{A474F89C-B539-40B2-BA7E-0F5BE9EBB918}"/>
                  </a:ext>
                </a:extLst>
              </p:cNvPr>
              <p:cNvCxnSpPr/>
              <p:nvPr/>
            </p:nvCxnSpPr>
            <p:spPr bwMode="auto">
              <a:xfrm>
                <a:off x="4226570" y="3356992"/>
                <a:ext cx="10332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B1DADF0C-94ED-44A4-8DC7-2ECE4A056813}"/>
                  </a:ext>
                </a:extLst>
              </p:cNvPr>
              <p:cNvCxnSpPr/>
              <p:nvPr/>
            </p:nvCxnSpPr>
            <p:spPr bwMode="auto">
              <a:xfrm>
                <a:off x="4431651" y="3507599"/>
                <a:ext cx="103323"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46EA7D1E-BA7B-4103-91F3-3724AB97C470}"/>
                  </a:ext>
                </a:extLst>
              </p:cNvPr>
              <p:cNvCxnSpPr/>
              <p:nvPr/>
            </p:nvCxnSpPr>
            <p:spPr bwMode="auto">
              <a:xfrm>
                <a:off x="4326762" y="3356992"/>
                <a:ext cx="108020" cy="152176"/>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grpSp>
        <p:nvGrpSpPr>
          <p:cNvPr id="26629" name="Group 17">
            <a:extLst>
              <a:ext uri="{FF2B5EF4-FFF2-40B4-BE49-F238E27FC236}">
                <a16:creationId xmlns:a16="http://schemas.microsoft.com/office/drawing/2014/main" id="{18EBEF8D-D913-407D-986A-6C3CC18D5911}"/>
              </a:ext>
            </a:extLst>
          </p:cNvPr>
          <p:cNvGrpSpPr>
            <a:grpSpLocks/>
          </p:cNvGrpSpPr>
          <p:nvPr/>
        </p:nvGrpSpPr>
        <p:grpSpPr bwMode="auto">
          <a:xfrm>
            <a:off x="5507517" y="4357630"/>
            <a:ext cx="1122363" cy="592138"/>
            <a:chOff x="5867400" y="3784244"/>
            <a:chExt cx="1121681" cy="591451"/>
          </a:xfrm>
        </p:grpSpPr>
        <p:sp>
          <p:nvSpPr>
            <p:cNvPr id="26657" name="TextBox 128">
              <a:extLst>
                <a:ext uri="{FF2B5EF4-FFF2-40B4-BE49-F238E27FC236}">
                  <a16:creationId xmlns:a16="http://schemas.microsoft.com/office/drawing/2014/main" id="{347B44D0-DE7B-45CC-AD34-B7B83D4DC99E}"/>
                </a:ext>
              </a:extLst>
            </p:cNvPr>
            <p:cNvSpPr txBox="1">
              <a:spLocks noChangeArrowheads="1"/>
            </p:cNvSpPr>
            <p:nvPr/>
          </p:nvSpPr>
          <p:spPr bwMode="auto">
            <a:xfrm>
              <a:off x="5867400" y="41448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sp>
          <p:nvSpPr>
            <p:cNvPr id="26658" name="Flowchart: Delay 53">
              <a:extLst>
                <a:ext uri="{FF2B5EF4-FFF2-40B4-BE49-F238E27FC236}">
                  <a16:creationId xmlns:a16="http://schemas.microsoft.com/office/drawing/2014/main" id="{1BF07CC2-EE81-4E11-9977-B11941C01E97}"/>
                </a:ext>
              </a:extLst>
            </p:cNvPr>
            <p:cNvSpPr>
              <a:spLocks noChangeArrowheads="1"/>
            </p:cNvSpPr>
            <p:nvPr/>
          </p:nvSpPr>
          <p:spPr bwMode="auto">
            <a:xfrm>
              <a:off x="6297087" y="3920429"/>
              <a:ext cx="329898" cy="294978"/>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cxnSp>
          <p:nvCxnSpPr>
            <p:cNvPr id="26659" name="Straight Connector 130">
              <a:extLst>
                <a:ext uri="{FF2B5EF4-FFF2-40B4-BE49-F238E27FC236}">
                  <a16:creationId xmlns:a16="http://schemas.microsoft.com/office/drawing/2014/main" id="{1A186D9D-3990-46F4-9093-01C2F3EDBD45}"/>
                </a:ext>
              </a:extLst>
            </p:cNvPr>
            <p:cNvCxnSpPr>
              <a:cxnSpLocks noChangeShapeType="1"/>
            </p:cNvCxnSpPr>
            <p:nvPr/>
          </p:nvCxnSpPr>
          <p:spPr bwMode="auto">
            <a:xfrm>
              <a:off x="6729946" y="4067918"/>
              <a:ext cx="220861" cy="0"/>
            </a:xfrm>
            <a:prstGeom prst="line">
              <a:avLst/>
            </a:prstGeom>
            <a:noFill/>
            <a:ln w="9525" algn="ctr">
              <a:solidFill>
                <a:schemeClr val="tx1"/>
              </a:solidFill>
              <a:round/>
              <a:headEnd/>
              <a:tailEnd/>
            </a:ln>
          </p:spPr>
        </p:cxnSp>
        <p:cxnSp>
          <p:nvCxnSpPr>
            <p:cNvPr id="26660" name="Straight Connector 131">
              <a:extLst>
                <a:ext uri="{FF2B5EF4-FFF2-40B4-BE49-F238E27FC236}">
                  <a16:creationId xmlns:a16="http://schemas.microsoft.com/office/drawing/2014/main" id="{70F897B2-174C-4562-96E4-282699D39999}"/>
                </a:ext>
              </a:extLst>
            </p:cNvPr>
            <p:cNvCxnSpPr>
              <a:cxnSpLocks noChangeShapeType="1"/>
            </p:cNvCxnSpPr>
            <p:nvPr/>
          </p:nvCxnSpPr>
          <p:spPr bwMode="auto">
            <a:xfrm>
              <a:off x="6109866" y="3987177"/>
              <a:ext cx="187221" cy="0"/>
            </a:xfrm>
            <a:prstGeom prst="line">
              <a:avLst/>
            </a:prstGeom>
            <a:noFill/>
            <a:ln w="9525" algn="ctr">
              <a:solidFill>
                <a:schemeClr val="tx1"/>
              </a:solidFill>
              <a:round/>
              <a:headEnd/>
              <a:tailEnd/>
            </a:ln>
          </p:spPr>
        </p:cxnSp>
        <p:cxnSp>
          <p:nvCxnSpPr>
            <p:cNvPr id="26661" name="Straight Connector 132">
              <a:extLst>
                <a:ext uri="{FF2B5EF4-FFF2-40B4-BE49-F238E27FC236}">
                  <a16:creationId xmlns:a16="http://schemas.microsoft.com/office/drawing/2014/main" id="{86F2C6EE-857B-403A-9A1C-9F54737C90C2}"/>
                </a:ext>
              </a:extLst>
            </p:cNvPr>
            <p:cNvCxnSpPr>
              <a:cxnSpLocks noChangeShapeType="1"/>
            </p:cNvCxnSpPr>
            <p:nvPr/>
          </p:nvCxnSpPr>
          <p:spPr bwMode="auto">
            <a:xfrm>
              <a:off x="6109866" y="4141958"/>
              <a:ext cx="187221" cy="0"/>
            </a:xfrm>
            <a:prstGeom prst="line">
              <a:avLst/>
            </a:prstGeom>
            <a:noFill/>
            <a:ln w="9525" algn="ctr">
              <a:solidFill>
                <a:schemeClr val="tx1"/>
              </a:solidFill>
              <a:round/>
              <a:headEnd/>
              <a:tailEnd/>
            </a:ln>
          </p:spPr>
        </p:cxnSp>
        <p:cxnSp>
          <p:nvCxnSpPr>
            <p:cNvPr id="26662" name="Straight Connector 133">
              <a:extLst>
                <a:ext uri="{FF2B5EF4-FFF2-40B4-BE49-F238E27FC236}">
                  <a16:creationId xmlns:a16="http://schemas.microsoft.com/office/drawing/2014/main" id="{3E07330A-A51C-42A0-9CF9-0CE618FDADB1}"/>
                </a:ext>
              </a:extLst>
            </p:cNvPr>
            <p:cNvCxnSpPr>
              <a:cxnSpLocks noChangeShapeType="1"/>
            </p:cNvCxnSpPr>
            <p:nvPr/>
          </p:nvCxnSpPr>
          <p:spPr bwMode="auto">
            <a:xfrm>
              <a:off x="6112247" y="4137196"/>
              <a:ext cx="0" cy="147838"/>
            </a:xfrm>
            <a:prstGeom prst="line">
              <a:avLst/>
            </a:prstGeom>
            <a:noFill/>
            <a:ln w="9525" algn="ctr">
              <a:solidFill>
                <a:schemeClr val="tx1"/>
              </a:solidFill>
              <a:round/>
              <a:headEnd/>
              <a:tailEnd/>
            </a:ln>
          </p:spPr>
        </p:cxnSp>
        <p:cxnSp>
          <p:nvCxnSpPr>
            <p:cNvPr id="135" name="Straight Connector 134">
              <a:extLst>
                <a:ext uri="{FF2B5EF4-FFF2-40B4-BE49-F238E27FC236}">
                  <a16:creationId xmlns:a16="http://schemas.microsoft.com/office/drawing/2014/main" id="{0A865464-15B8-40E9-9DC4-5205EE2ECCDA}"/>
                </a:ext>
              </a:extLst>
            </p:cNvPr>
            <p:cNvCxnSpPr/>
            <p:nvPr/>
          </p:nvCxnSpPr>
          <p:spPr bwMode="auto">
            <a:xfrm flipH="1">
              <a:off x="6205333" y="3784244"/>
              <a:ext cx="10312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A4F34038-9735-457F-8995-06E2EF28C82B}"/>
                </a:ext>
              </a:extLst>
            </p:cNvPr>
            <p:cNvCxnSpPr/>
            <p:nvPr/>
          </p:nvCxnSpPr>
          <p:spPr bwMode="auto">
            <a:xfrm flipH="1">
              <a:off x="5995910" y="3939639"/>
              <a:ext cx="104711"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9ADB27EB-07E4-4473-B08C-ACC9471036B9}"/>
                </a:ext>
              </a:extLst>
            </p:cNvPr>
            <p:cNvCxnSpPr/>
            <p:nvPr/>
          </p:nvCxnSpPr>
          <p:spPr bwMode="auto">
            <a:xfrm flipH="1">
              <a:off x="6097448" y="3784244"/>
              <a:ext cx="109470" cy="15539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6666" name="Group 142">
              <a:extLst>
                <a:ext uri="{FF2B5EF4-FFF2-40B4-BE49-F238E27FC236}">
                  <a16:creationId xmlns:a16="http://schemas.microsoft.com/office/drawing/2014/main" id="{DFA8C70B-22BD-45B0-9084-4637800A77CD}"/>
                </a:ext>
              </a:extLst>
            </p:cNvPr>
            <p:cNvGrpSpPr>
              <a:grpSpLocks/>
            </p:cNvGrpSpPr>
            <p:nvPr/>
          </p:nvGrpSpPr>
          <p:grpSpPr bwMode="auto">
            <a:xfrm flipV="1">
              <a:off x="6675990" y="3784244"/>
              <a:ext cx="313091" cy="154449"/>
              <a:chOff x="6514065" y="3313799"/>
              <a:chExt cx="313091" cy="154449"/>
            </a:xfrm>
          </p:grpSpPr>
          <p:cxnSp>
            <p:nvCxnSpPr>
              <p:cNvPr id="138" name="Straight Connector 137">
                <a:extLst>
                  <a:ext uri="{FF2B5EF4-FFF2-40B4-BE49-F238E27FC236}">
                    <a16:creationId xmlns:a16="http://schemas.microsoft.com/office/drawing/2014/main" id="{397D7B1D-D6A9-43EF-BCF2-7FD61E0C5777}"/>
                  </a:ext>
                </a:extLst>
              </p:cNvPr>
              <p:cNvCxnSpPr/>
              <p:nvPr/>
            </p:nvCxnSpPr>
            <p:spPr bwMode="auto">
              <a:xfrm flipH="1">
                <a:off x="6722445" y="3314438"/>
                <a:ext cx="104711"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CA33736C-8502-4BBC-BE0E-1BE485F3A75B}"/>
                  </a:ext>
                </a:extLst>
              </p:cNvPr>
              <p:cNvCxnSpPr/>
              <p:nvPr/>
            </p:nvCxnSpPr>
            <p:spPr bwMode="auto">
              <a:xfrm flipH="1">
                <a:off x="6514608" y="3466662"/>
                <a:ext cx="104711"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D254B4E9-92D7-45F0-BAB8-AA37CBC149F5}"/>
                  </a:ext>
                </a:extLst>
              </p:cNvPr>
              <p:cNvCxnSpPr/>
              <p:nvPr/>
            </p:nvCxnSpPr>
            <p:spPr bwMode="auto">
              <a:xfrm flipH="1">
                <a:off x="6616146" y="3314438"/>
                <a:ext cx="109472" cy="15381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26667" name="Oval 140">
              <a:extLst>
                <a:ext uri="{FF2B5EF4-FFF2-40B4-BE49-F238E27FC236}">
                  <a16:creationId xmlns:a16="http://schemas.microsoft.com/office/drawing/2014/main" id="{C423572E-C2BC-4A0B-ABE0-AA125CD53766}"/>
                </a:ext>
              </a:extLst>
            </p:cNvPr>
            <p:cNvSpPr>
              <a:spLocks noChangeArrowheads="1"/>
            </p:cNvSpPr>
            <p:nvPr/>
          </p:nvSpPr>
          <p:spPr bwMode="auto">
            <a:xfrm>
              <a:off x="6627155" y="4017376"/>
              <a:ext cx="101084" cy="101084"/>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grpSp>
        <p:nvGrpSpPr>
          <p:cNvPr id="26630" name="Group 13">
            <a:extLst>
              <a:ext uri="{FF2B5EF4-FFF2-40B4-BE49-F238E27FC236}">
                <a16:creationId xmlns:a16="http://schemas.microsoft.com/office/drawing/2014/main" id="{E507EDF7-765A-4404-B956-2CF52CD6F92F}"/>
              </a:ext>
            </a:extLst>
          </p:cNvPr>
          <p:cNvGrpSpPr>
            <a:grpSpLocks/>
          </p:cNvGrpSpPr>
          <p:nvPr/>
        </p:nvGrpSpPr>
        <p:grpSpPr bwMode="auto">
          <a:xfrm>
            <a:off x="5507516" y="5491106"/>
            <a:ext cx="2738438" cy="619125"/>
            <a:chOff x="5823660" y="4632523"/>
            <a:chExt cx="2737937" cy="619384"/>
          </a:xfrm>
        </p:grpSpPr>
        <p:sp>
          <p:nvSpPr>
            <p:cNvPr id="26631" name="Moon 49">
              <a:extLst>
                <a:ext uri="{FF2B5EF4-FFF2-40B4-BE49-F238E27FC236}">
                  <a16:creationId xmlns:a16="http://schemas.microsoft.com/office/drawing/2014/main" id="{27611851-6F25-4481-B4AC-DBF657C55AEE}"/>
                </a:ext>
              </a:extLst>
            </p:cNvPr>
            <p:cNvSpPr>
              <a:spLocks noChangeArrowheads="1"/>
            </p:cNvSpPr>
            <p:nvPr/>
          </p:nvSpPr>
          <p:spPr bwMode="auto">
            <a:xfrm rot="10800000">
              <a:off x="6286786" y="4784960"/>
              <a:ext cx="399454" cy="305458"/>
            </a:xfrm>
            <a:prstGeom prst="moon">
              <a:avLst>
                <a:gd name="adj" fmla="val 875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51" name="Arc 50">
              <a:extLst>
                <a:ext uri="{FF2B5EF4-FFF2-40B4-BE49-F238E27FC236}">
                  <a16:creationId xmlns:a16="http://schemas.microsoft.com/office/drawing/2014/main" id="{48D221DE-7AF3-46F6-8348-08336B57AF3B}"/>
                </a:ext>
              </a:extLst>
            </p:cNvPr>
            <p:cNvSpPr/>
            <p:nvPr/>
          </p:nvSpPr>
          <p:spPr bwMode="auto">
            <a:xfrm>
              <a:off x="6126818" y="4784987"/>
              <a:ext cx="144436" cy="304928"/>
            </a:xfrm>
            <a:prstGeom prst="arc">
              <a:avLst>
                <a:gd name="adj1" fmla="val 16200000"/>
                <a:gd name="adj2" fmla="val 5420787"/>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26633" name="TextBox 144">
              <a:extLst>
                <a:ext uri="{FF2B5EF4-FFF2-40B4-BE49-F238E27FC236}">
                  <a16:creationId xmlns:a16="http://schemas.microsoft.com/office/drawing/2014/main" id="{C663B6C8-4079-40D3-990B-EB60D2CCA53A}"/>
                </a:ext>
              </a:extLst>
            </p:cNvPr>
            <p:cNvSpPr txBox="1">
              <a:spLocks noChangeArrowheads="1"/>
            </p:cNvSpPr>
            <p:nvPr/>
          </p:nvSpPr>
          <p:spPr bwMode="auto">
            <a:xfrm>
              <a:off x="5823660" y="5021075"/>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cxnSp>
          <p:nvCxnSpPr>
            <p:cNvPr id="26634" name="Straight Connector 145">
              <a:extLst>
                <a:ext uri="{FF2B5EF4-FFF2-40B4-BE49-F238E27FC236}">
                  <a16:creationId xmlns:a16="http://schemas.microsoft.com/office/drawing/2014/main" id="{CB2448BE-6EE7-46B2-A5B2-405261426651}"/>
                </a:ext>
              </a:extLst>
            </p:cNvPr>
            <p:cNvCxnSpPr>
              <a:cxnSpLocks noChangeShapeType="1"/>
            </p:cNvCxnSpPr>
            <p:nvPr/>
          </p:nvCxnSpPr>
          <p:spPr bwMode="auto">
            <a:xfrm>
              <a:off x="6686206" y="4937689"/>
              <a:ext cx="220861" cy="0"/>
            </a:xfrm>
            <a:prstGeom prst="line">
              <a:avLst/>
            </a:prstGeom>
            <a:noFill/>
            <a:ln w="9525" algn="ctr">
              <a:solidFill>
                <a:schemeClr val="tx1"/>
              </a:solidFill>
              <a:round/>
              <a:headEnd/>
              <a:tailEnd/>
            </a:ln>
          </p:spPr>
        </p:cxnSp>
        <p:cxnSp>
          <p:nvCxnSpPr>
            <p:cNvPr id="26635" name="Straight Connector 146">
              <a:extLst>
                <a:ext uri="{FF2B5EF4-FFF2-40B4-BE49-F238E27FC236}">
                  <a16:creationId xmlns:a16="http://schemas.microsoft.com/office/drawing/2014/main" id="{13F04710-6E53-4D85-A8F9-9C523C1FA1E7}"/>
                </a:ext>
              </a:extLst>
            </p:cNvPr>
            <p:cNvCxnSpPr>
              <a:cxnSpLocks noChangeShapeType="1"/>
            </p:cNvCxnSpPr>
            <p:nvPr/>
          </p:nvCxnSpPr>
          <p:spPr bwMode="auto">
            <a:xfrm>
              <a:off x="6068507" y="4863389"/>
              <a:ext cx="187221" cy="0"/>
            </a:xfrm>
            <a:prstGeom prst="line">
              <a:avLst/>
            </a:prstGeom>
            <a:noFill/>
            <a:ln w="9525" algn="ctr">
              <a:solidFill>
                <a:schemeClr val="tx1"/>
              </a:solidFill>
              <a:round/>
              <a:headEnd/>
              <a:tailEnd/>
            </a:ln>
          </p:spPr>
        </p:cxnSp>
        <p:cxnSp>
          <p:nvCxnSpPr>
            <p:cNvPr id="26636" name="Straight Connector 147">
              <a:extLst>
                <a:ext uri="{FF2B5EF4-FFF2-40B4-BE49-F238E27FC236}">
                  <a16:creationId xmlns:a16="http://schemas.microsoft.com/office/drawing/2014/main" id="{DA717CB1-DA88-4E4B-A6D2-D33F7620B1FB}"/>
                </a:ext>
              </a:extLst>
            </p:cNvPr>
            <p:cNvCxnSpPr>
              <a:cxnSpLocks noChangeShapeType="1"/>
            </p:cNvCxnSpPr>
            <p:nvPr/>
          </p:nvCxnSpPr>
          <p:spPr bwMode="auto">
            <a:xfrm>
              <a:off x="6066126" y="5018170"/>
              <a:ext cx="187221" cy="0"/>
            </a:xfrm>
            <a:prstGeom prst="line">
              <a:avLst/>
            </a:prstGeom>
            <a:noFill/>
            <a:ln w="9525" algn="ctr">
              <a:solidFill>
                <a:schemeClr val="tx1"/>
              </a:solidFill>
              <a:round/>
              <a:headEnd/>
              <a:tailEnd/>
            </a:ln>
          </p:spPr>
        </p:cxnSp>
        <p:cxnSp>
          <p:nvCxnSpPr>
            <p:cNvPr id="26637" name="Straight Connector 148">
              <a:extLst>
                <a:ext uri="{FF2B5EF4-FFF2-40B4-BE49-F238E27FC236}">
                  <a16:creationId xmlns:a16="http://schemas.microsoft.com/office/drawing/2014/main" id="{5F1C83E0-AA20-4381-9FF6-3F65E6F7DFE1}"/>
                </a:ext>
              </a:extLst>
            </p:cNvPr>
            <p:cNvCxnSpPr>
              <a:cxnSpLocks noChangeShapeType="1"/>
            </p:cNvCxnSpPr>
            <p:nvPr/>
          </p:nvCxnSpPr>
          <p:spPr bwMode="auto">
            <a:xfrm>
              <a:off x="6068507" y="5013408"/>
              <a:ext cx="0" cy="147838"/>
            </a:xfrm>
            <a:prstGeom prst="line">
              <a:avLst/>
            </a:prstGeom>
            <a:noFill/>
            <a:ln w="9525" algn="ctr">
              <a:solidFill>
                <a:schemeClr val="tx1"/>
              </a:solidFill>
              <a:round/>
              <a:headEnd/>
              <a:tailEnd/>
            </a:ln>
          </p:spPr>
        </p:cxnSp>
        <p:cxnSp>
          <p:nvCxnSpPr>
            <p:cNvPr id="150" name="Straight Connector 149">
              <a:extLst>
                <a:ext uri="{FF2B5EF4-FFF2-40B4-BE49-F238E27FC236}">
                  <a16:creationId xmlns:a16="http://schemas.microsoft.com/office/drawing/2014/main" id="{B02337C1-140F-406D-91B9-5F4674317EEE}"/>
                </a:ext>
              </a:extLst>
            </p:cNvPr>
            <p:cNvCxnSpPr/>
            <p:nvPr/>
          </p:nvCxnSpPr>
          <p:spPr bwMode="auto">
            <a:xfrm flipH="1">
              <a:off x="6160148" y="4661110"/>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2F6C08DB-0D8B-4982-9AF9-0F7740B46E0A}"/>
                </a:ext>
              </a:extLst>
            </p:cNvPr>
            <p:cNvCxnSpPr/>
            <p:nvPr/>
          </p:nvCxnSpPr>
          <p:spPr bwMode="auto">
            <a:xfrm flipH="1">
              <a:off x="5952224" y="4815162"/>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096A49EB-5BE2-4F29-8498-80956EE84726}"/>
                </a:ext>
              </a:extLst>
            </p:cNvPr>
            <p:cNvCxnSpPr/>
            <p:nvPr/>
          </p:nvCxnSpPr>
          <p:spPr bwMode="auto">
            <a:xfrm flipH="1">
              <a:off x="6053806" y="4661110"/>
              <a:ext cx="109517" cy="1540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FDF4E93E-629D-4C8B-B6CF-8BDF8CA38D84}"/>
                </a:ext>
              </a:extLst>
            </p:cNvPr>
            <p:cNvCxnSpPr/>
            <p:nvPr/>
          </p:nvCxnSpPr>
          <p:spPr bwMode="auto">
            <a:xfrm flipH="1" flipV="1">
              <a:off x="6841062" y="4815162"/>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DEFD4C0E-B205-4393-B4F7-7599D91A6F10}"/>
                </a:ext>
              </a:extLst>
            </p:cNvPr>
            <p:cNvCxnSpPr/>
            <p:nvPr/>
          </p:nvCxnSpPr>
          <p:spPr bwMode="auto">
            <a:xfrm flipH="1" flipV="1">
              <a:off x="6631550" y="4662699"/>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3034CB6D-5AFA-4F85-8AA5-90EB0A2A4924}"/>
                </a:ext>
              </a:extLst>
            </p:cNvPr>
            <p:cNvCxnSpPr/>
            <p:nvPr/>
          </p:nvCxnSpPr>
          <p:spPr bwMode="auto">
            <a:xfrm flipH="1" flipV="1">
              <a:off x="6734718" y="4661110"/>
              <a:ext cx="107930" cy="1540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644" name="TextBox 164">
              <a:extLst>
                <a:ext uri="{FF2B5EF4-FFF2-40B4-BE49-F238E27FC236}">
                  <a16:creationId xmlns:a16="http://schemas.microsoft.com/office/drawing/2014/main" id="{80171672-4DEA-4061-AB8A-F860D27D2F51}"/>
                </a:ext>
              </a:extLst>
            </p:cNvPr>
            <p:cNvSpPr txBox="1">
              <a:spLocks noChangeArrowheads="1"/>
            </p:cNvSpPr>
            <p:nvPr/>
          </p:nvSpPr>
          <p:spPr bwMode="auto">
            <a:xfrm>
              <a:off x="7439916" y="50120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sp>
          <p:nvSpPr>
            <p:cNvPr id="26645" name="Moon 175">
              <a:extLst>
                <a:ext uri="{FF2B5EF4-FFF2-40B4-BE49-F238E27FC236}">
                  <a16:creationId xmlns:a16="http://schemas.microsoft.com/office/drawing/2014/main" id="{BDF37635-FC9D-405B-85B1-8C997A3EEC72}"/>
                </a:ext>
              </a:extLst>
            </p:cNvPr>
            <p:cNvSpPr>
              <a:spLocks noChangeArrowheads="1"/>
            </p:cNvSpPr>
            <p:nvPr/>
          </p:nvSpPr>
          <p:spPr bwMode="auto">
            <a:xfrm rot="10800000">
              <a:off x="7903042" y="4757027"/>
              <a:ext cx="399454" cy="305458"/>
            </a:xfrm>
            <a:prstGeom prst="moon">
              <a:avLst>
                <a:gd name="adj" fmla="val 875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77" name="Arc 176">
              <a:extLst>
                <a:ext uri="{FF2B5EF4-FFF2-40B4-BE49-F238E27FC236}">
                  <a16:creationId xmlns:a16="http://schemas.microsoft.com/office/drawing/2014/main" id="{AC014D12-5340-46F3-BBB4-46E0F3C7C52E}"/>
                </a:ext>
              </a:extLst>
            </p:cNvPr>
            <p:cNvSpPr/>
            <p:nvPr/>
          </p:nvSpPr>
          <p:spPr bwMode="auto">
            <a:xfrm>
              <a:off x="7742597" y="4756400"/>
              <a:ext cx="144436" cy="306516"/>
            </a:xfrm>
            <a:prstGeom prst="arc">
              <a:avLst>
                <a:gd name="adj1" fmla="val 16200000"/>
                <a:gd name="adj2" fmla="val 5420787"/>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6647" name="Straight Connector 165">
              <a:extLst>
                <a:ext uri="{FF2B5EF4-FFF2-40B4-BE49-F238E27FC236}">
                  <a16:creationId xmlns:a16="http://schemas.microsoft.com/office/drawing/2014/main" id="{40A5D174-B644-4DB2-9BED-79195CCC5B5A}"/>
                </a:ext>
              </a:extLst>
            </p:cNvPr>
            <p:cNvCxnSpPr>
              <a:cxnSpLocks noChangeShapeType="1"/>
            </p:cNvCxnSpPr>
            <p:nvPr/>
          </p:nvCxnSpPr>
          <p:spPr bwMode="auto">
            <a:xfrm>
              <a:off x="8302462" y="4909756"/>
              <a:ext cx="220861" cy="0"/>
            </a:xfrm>
            <a:prstGeom prst="line">
              <a:avLst/>
            </a:prstGeom>
            <a:noFill/>
            <a:ln w="9525" algn="ctr">
              <a:solidFill>
                <a:schemeClr val="tx1"/>
              </a:solidFill>
              <a:round/>
              <a:headEnd/>
              <a:tailEnd/>
            </a:ln>
          </p:spPr>
        </p:cxnSp>
        <p:cxnSp>
          <p:nvCxnSpPr>
            <p:cNvPr id="26648" name="Straight Connector 166">
              <a:extLst>
                <a:ext uri="{FF2B5EF4-FFF2-40B4-BE49-F238E27FC236}">
                  <a16:creationId xmlns:a16="http://schemas.microsoft.com/office/drawing/2014/main" id="{D9274A1E-1C5A-4200-BE88-54F5E2FCE71F}"/>
                </a:ext>
              </a:extLst>
            </p:cNvPr>
            <p:cNvCxnSpPr>
              <a:cxnSpLocks noChangeShapeType="1"/>
            </p:cNvCxnSpPr>
            <p:nvPr/>
          </p:nvCxnSpPr>
          <p:spPr bwMode="auto">
            <a:xfrm>
              <a:off x="7684763" y="4835456"/>
              <a:ext cx="187221" cy="0"/>
            </a:xfrm>
            <a:prstGeom prst="line">
              <a:avLst/>
            </a:prstGeom>
            <a:noFill/>
            <a:ln w="9525" algn="ctr">
              <a:solidFill>
                <a:schemeClr val="tx1"/>
              </a:solidFill>
              <a:round/>
              <a:headEnd/>
              <a:tailEnd/>
            </a:ln>
          </p:spPr>
        </p:cxnSp>
        <p:cxnSp>
          <p:nvCxnSpPr>
            <p:cNvPr id="26649" name="Straight Connector 167">
              <a:extLst>
                <a:ext uri="{FF2B5EF4-FFF2-40B4-BE49-F238E27FC236}">
                  <a16:creationId xmlns:a16="http://schemas.microsoft.com/office/drawing/2014/main" id="{062206DA-7A33-481E-8142-E6458CCF2492}"/>
                </a:ext>
              </a:extLst>
            </p:cNvPr>
            <p:cNvCxnSpPr>
              <a:cxnSpLocks noChangeShapeType="1"/>
            </p:cNvCxnSpPr>
            <p:nvPr/>
          </p:nvCxnSpPr>
          <p:spPr bwMode="auto">
            <a:xfrm>
              <a:off x="7682382" y="4990237"/>
              <a:ext cx="187221" cy="0"/>
            </a:xfrm>
            <a:prstGeom prst="line">
              <a:avLst/>
            </a:prstGeom>
            <a:noFill/>
            <a:ln w="9525" algn="ctr">
              <a:solidFill>
                <a:schemeClr val="tx1"/>
              </a:solidFill>
              <a:round/>
              <a:headEnd/>
              <a:tailEnd/>
            </a:ln>
          </p:spPr>
        </p:cxnSp>
        <p:cxnSp>
          <p:nvCxnSpPr>
            <p:cNvPr id="26650" name="Straight Connector 168">
              <a:extLst>
                <a:ext uri="{FF2B5EF4-FFF2-40B4-BE49-F238E27FC236}">
                  <a16:creationId xmlns:a16="http://schemas.microsoft.com/office/drawing/2014/main" id="{D3F33D30-5447-48C1-9E5A-9758990B8051}"/>
                </a:ext>
              </a:extLst>
            </p:cNvPr>
            <p:cNvCxnSpPr>
              <a:cxnSpLocks noChangeShapeType="1"/>
            </p:cNvCxnSpPr>
            <p:nvPr/>
          </p:nvCxnSpPr>
          <p:spPr bwMode="auto">
            <a:xfrm>
              <a:off x="7684763" y="4985475"/>
              <a:ext cx="0" cy="147838"/>
            </a:xfrm>
            <a:prstGeom prst="line">
              <a:avLst/>
            </a:prstGeom>
            <a:noFill/>
            <a:ln w="9525" algn="ctr">
              <a:solidFill>
                <a:schemeClr val="tx1"/>
              </a:solidFill>
              <a:round/>
              <a:headEnd/>
              <a:tailEnd/>
            </a:ln>
          </p:spPr>
        </p:cxnSp>
        <p:cxnSp>
          <p:nvCxnSpPr>
            <p:cNvPr id="170" name="Straight Connector 169">
              <a:extLst>
                <a:ext uri="{FF2B5EF4-FFF2-40B4-BE49-F238E27FC236}">
                  <a16:creationId xmlns:a16="http://schemas.microsoft.com/office/drawing/2014/main" id="{616BA24C-11FB-477A-BC05-9B53E5D8ABAA}"/>
                </a:ext>
              </a:extLst>
            </p:cNvPr>
            <p:cNvCxnSpPr/>
            <p:nvPr/>
          </p:nvCxnSpPr>
          <p:spPr bwMode="auto">
            <a:xfrm flipH="1">
              <a:off x="7777515" y="4632523"/>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FDB42440-EF0A-4F91-A8AF-454B87374F24}"/>
                </a:ext>
              </a:extLst>
            </p:cNvPr>
            <p:cNvCxnSpPr/>
            <p:nvPr/>
          </p:nvCxnSpPr>
          <p:spPr bwMode="auto">
            <a:xfrm flipH="1">
              <a:off x="7568004" y="4786575"/>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2E536373-E877-4B82-BC86-E5311D4FAE42}"/>
                </a:ext>
              </a:extLst>
            </p:cNvPr>
            <p:cNvCxnSpPr/>
            <p:nvPr/>
          </p:nvCxnSpPr>
          <p:spPr bwMode="auto">
            <a:xfrm flipH="1">
              <a:off x="7671172" y="4632523"/>
              <a:ext cx="107930" cy="1540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3" name="Straight Connector 172">
              <a:extLst>
                <a:ext uri="{FF2B5EF4-FFF2-40B4-BE49-F238E27FC236}">
                  <a16:creationId xmlns:a16="http://schemas.microsoft.com/office/drawing/2014/main" id="{B459F842-C9D5-41A1-A7D5-109A2282E4F7}"/>
                </a:ext>
              </a:extLst>
            </p:cNvPr>
            <p:cNvCxnSpPr/>
            <p:nvPr/>
          </p:nvCxnSpPr>
          <p:spPr bwMode="auto">
            <a:xfrm flipH="1">
              <a:off x="8456841" y="4632523"/>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4" name="Straight Connector 173">
              <a:extLst>
                <a:ext uri="{FF2B5EF4-FFF2-40B4-BE49-F238E27FC236}">
                  <a16:creationId xmlns:a16="http://schemas.microsoft.com/office/drawing/2014/main" id="{7C52989A-4B1A-4E3D-BBFF-D42447431E20}"/>
                </a:ext>
              </a:extLst>
            </p:cNvPr>
            <p:cNvCxnSpPr/>
            <p:nvPr/>
          </p:nvCxnSpPr>
          <p:spPr bwMode="auto">
            <a:xfrm flipH="1">
              <a:off x="8248916" y="4786575"/>
              <a:ext cx="104756"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5" name="Straight Connector 174">
              <a:extLst>
                <a:ext uri="{FF2B5EF4-FFF2-40B4-BE49-F238E27FC236}">
                  <a16:creationId xmlns:a16="http://schemas.microsoft.com/office/drawing/2014/main" id="{F8EA77B0-003A-4C95-89D5-8221B1DCB75E}"/>
                </a:ext>
              </a:extLst>
            </p:cNvPr>
            <p:cNvCxnSpPr/>
            <p:nvPr/>
          </p:nvCxnSpPr>
          <p:spPr bwMode="auto">
            <a:xfrm flipH="1">
              <a:off x="8350498" y="4632523"/>
              <a:ext cx="109518" cy="154052"/>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2A1209C4-32D2-494A-90E9-27DFF4A01004}"/>
              </a:ext>
            </a:extLst>
          </p:cNvPr>
          <p:cNvSpPr>
            <a:spLocks noGrp="1"/>
          </p:cNvSpPr>
          <p:nvPr>
            <p:ph type="title"/>
          </p:nvPr>
        </p:nvSpPr>
        <p:spPr/>
        <p:txBody>
          <a:bodyPr/>
          <a:lstStyle/>
          <a:p>
            <a:r>
              <a:rPr lang="en-US" altLang="en-US"/>
              <a:t>Timing Constraints: Timing Types</a:t>
            </a:r>
          </a:p>
        </p:txBody>
      </p:sp>
      <p:graphicFrame>
        <p:nvGraphicFramePr>
          <p:cNvPr id="7" name="Table 6">
            <a:extLst>
              <a:ext uri="{FF2B5EF4-FFF2-40B4-BE49-F238E27FC236}">
                <a16:creationId xmlns:a16="http://schemas.microsoft.com/office/drawing/2014/main" id="{D172A68F-1A49-4AC1-AEBD-A3C9673B242A}"/>
              </a:ext>
            </a:extLst>
          </p:cNvPr>
          <p:cNvGraphicFramePr>
            <a:graphicFrameLocks noGrp="1"/>
          </p:cNvGraphicFramePr>
          <p:nvPr>
            <p:extLst>
              <p:ext uri="{D42A27DB-BD31-4B8C-83A1-F6EECF244321}">
                <p14:modId xmlns:p14="http://schemas.microsoft.com/office/powerpoint/2010/main" val="3398956414"/>
              </p:ext>
            </p:extLst>
          </p:nvPr>
        </p:nvGraphicFramePr>
        <p:xfrm>
          <a:off x="1909763" y="1757363"/>
          <a:ext cx="8115300" cy="4030662"/>
        </p:xfrm>
        <a:graphic>
          <a:graphicData uri="http://schemas.openxmlformats.org/drawingml/2006/table">
            <a:tbl>
              <a:tblPr firstRow="1" bandRow="1">
                <a:tableStyleId>{69012ECD-51FC-41F1-AA8D-1B2483CD663E}</a:tableStyleId>
              </a:tblPr>
              <a:tblGrid>
                <a:gridCol w="307240">
                  <a:extLst>
                    <a:ext uri="{9D8B030D-6E8A-4147-A177-3AD203B41FA5}">
                      <a16:colId xmlns:a16="http://schemas.microsoft.com/office/drawing/2014/main" val="20000"/>
                    </a:ext>
                  </a:extLst>
                </a:gridCol>
                <a:gridCol w="2035557">
                  <a:extLst>
                    <a:ext uri="{9D8B030D-6E8A-4147-A177-3AD203B41FA5}">
                      <a16:colId xmlns:a16="http://schemas.microsoft.com/office/drawing/2014/main" val="20001"/>
                    </a:ext>
                  </a:extLst>
                </a:gridCol>
                <a:gridCol w="537670">
                  <a:extLst>
                    <a:ext uri="{9D8B030D-6E8A-4147-A177-3AD203B41FA5}">
                      <a16:colId xmlns:a16="http://schemas.microsoft.com/office/drawing/2014/main" val="20002"/>
                    </a:ext>
                  </a:extLst>
                </a:gridCol>
                <a:gridCol w="774375">
                  <a:extLst>
                    <a:ext uri="{9D8B030D-6E8A-4147-A177-3AD203B41FA5}">
                      <a16:colId xmlns:a16="http://schemas.microsoft.com/office/drawing/2014/main" val="20003"/>
                    </a:ext>
                  </a:extLst>
                </a:gridCol>
                <a:gridCol w="1744992">
                  <a:extLst>
                    <a:ext uri="{9D8B030D-6E8A-4147-A177-3AD203B41FA5}">
                      <a16:colId xmlns:a16="http://schemas.microsoft.com/office/drawing/2014/main" val="20004"/>
                    </a:ext>
                  </a:extLst>
                </a:gridCol>
                <a:gridCol w="2715466">
                  <a:extLst>
                    <a:ext uri="{9D8B030D-6E8A-4147-A177-3AD203B41FA5}">
                      <a16:colId xmlns:a16="http://schemas.microsoft.com/office/drawing/2014/main" val="20005"/>
                    </a:ext>
                  </a:extLst>
                </a:gridCol>
              </a:tblGrid>
              <a:tr h="390770">
                <a:tc>
                  <a:txBody>
                    <a:bodyPr/>
                    <a:lstStyle/>
                    <a:p>
                      <a:r>
                        <a:rPr lang="en-US" sz="1200" b="1" kern="1200" dirty="0">
                          <a:solidFill>
                            <a:schemeClr val="bg1"/>
                          </a:solidFill>
                          <a:latin typeface="+mn-lt"/>
                          <a:ea typeface="+mn-ea"/>
                          <a:cs typeface="+mn-cs"/>
                        </a:rPr>
                        <a:t>N</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dirty="0">
                          <a:solidFill>
                            <a:schemeClr val="bg1"/>
                          </a:solidFill>
                        </a:rPr>
                        <a:t>Parameter</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dirty="0">
                          <a:solidFill>
                            <a:schemeClr val="bg1"/>
                          </a:solidFill>
                        </a:rPr>
                        <a:t>Unit</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dirty="0">
                          <a:solidFill>
                            <a:schemeClr val="bg1"/>
                          </a:solidFill>
                        </a:rPr>
                        <a:t>Symbol</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dirty="0">
                          <a:solidFill>
                            <a:schemeClr val="bg1"/>
                          </a:solidFill>
                        </a:rPr>
                        <a:t>Figure</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dirty="0">
                          <a:solidFill>
                            <a:schemeClr val="bg1"/>
                          </a:solidFill>
                        </a:rPr>
                        <a:t>Definition</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03416">
                <a:tc>
                  <a:txBody>
                    <a:bodyPr/>
                    <a:lstStyle/>
                    <a:p>
                      <a:pPr marL="228600" indent="-228600">
                        <a:buFont typeface="+mj-lt"/>
                        <a:buNone/>
                      </a:pPr>
                      <a:r>
                        <a:rPr lang="en-US" sz="1200" dirty="0"/>
                        <a:t>1</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r>
                        <a:rPr lang="en-US" sz="1100" kern="1200" dirty="0">
                          <a:solidFill>
                            <a:schemeClr val="tx1"/>
                          </a:solidFill>
                          <a:latin typeface="+mn-lt"/>
                          <a:ea typeface="+mn-ea"/>
                          <a:cs typeface="+mn-cs"/>
                        </a:rPr>
                        <a:t>Setup time</a:t>
                      </a:r>
                    </a:p>
                    <a:p>
                      <a:r>
                        <a:rPr lang="en-US" sz="1100" kern="1200" dirty="0">
                          <a:solidFill>
                            <a:schemeClr val="tx1"/>
                          </a:solidFill>
                          <a:latin typeface="+mn-lt"/>
                          <a:ea typeface="+mn-ea"/>
                          <a:cs typeface="+mn-cs"/>
                        </a:rPr>
                        <a:t>(only for flip-flops or latches)</a:t>
                      </a:r>
                      <a:endParaRPr lang="en-US" sz="11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a:solidFill>
                            <a:schemeClr val="tx1"/>
                          </a:solidFill>
                          <a:latin typeface="+mn-lt"/>
                          <a:ea typeface="+mn-ea"/>
                          <a:cs typeface="+mn-cs"/>
                        </a:rPr>
                        <a:t>ns</a:t>
                      </a:r>
                      <a:endParaRPr lang="en-US" sz="11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err="1">
                          <a:solidFill>
                            <a:schemeClr val="tx1"/>
                          </a:solidFill>
                          <a:latin typeface="+mn-lt"/>
                          <a:ea typeface="+mn-ea"/>
                          <a:cs typeface="+mn-cs"/>
                        </a:rPr>
                        <a:t>t</a:t>
                      </a:r>
                      <a:r>
                        <a:rPr lang="en-US" sz="1100" kern="1200" baseline="-25000" dirty="0" err="1">
                          <a:solidFill>
                            <a:schemeClr val="tx1"/>
                          </a:solidFill>
                          <a:latin typeface="+mn-lt"/>
                          <a:ea typeface="+mn-ea"/>
                          <a:cs typeface="+mn-cs"/>
                        </a:rPr>
                        <a:t>SU</a:t>
                      </a:r>
                      <a:endParaRPr lang="en-US" sz="11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1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a:solidFill>
                            <a:schemeClr val="tx1"/>
                          </a:solidFill>
                          <a:latin typeface="+mn-lt"/>
                          <a:ea typeface="+mn-ea"/>
                          <a:cs typeface="+mn-cs"/>
                        </a:rPr>
                        <a:t>The minimum period in which the input data to a flip-flop or a latch must be stable before the active edge of the clock occurs</a:t>
                      </a:r>
                      <a:endParaRPr lang="en-US" sz="1100" dirty="0"/>
                    </a:p>
                  </a:txBody>
                  <a:tcPr marL="91437" marR="91437"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0001"/>
                  </a:ext>
                </a:extLst>
              </a:tr>
              <a:tr h="903416">
                <a:tc>
                  <a:txBody>
                    <a:bodyPr/>
                    <a:lstStyle/>
                    <a:p>
                      <a:pPr marL="228600" indent="-228600">
                        <a:buFont typeface="+mj-lt"/>
                        <a:buNone/>
                      </a:pPr>
                      <a:r>
                        <a:rPr lang="en-US" sz="1200" dirty="0"/>
                        <a:t>2..</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100" kern="1200" dirty="0">
                          <a:solidFill>
                            <a:schemeClr val="tx1"/>
                          </a:solidFill>
                          <a:latin typeface="+mn-lt"/>
                          <a:ea typeface="+mn-ea"/>
                          <a:cs typeface="+mn-cs"/>
                        </a:rPr>
                        <a:t>Hold time</a:t>
                      </a:r>
                    </a:p>
                    <a:p>
                      <a:r>
                        <a:rPr lang="en-US" sz="1100" kern="1200" dirty="0">
                          <a:solidFill>
                            <a:schemeClr val="tx1"/>
                          </a:solidFill>
                          <a:latin typeface="+mn-lt"/>
                          <a:ea typeface="+mn-ea"/>
                          <a:cs typeface="+mn-cs"/>
                        </a:rPr>
                        <a:t>(only for flip-flops or latches)</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a:solidFill>
                            <a:schemeClr val="tx1"/>
                          </a:solidFill>
                          <a:latin typeface="+mn-lt"/>
                          <a:ea typeface="+mn-ea"/>
                          <a:cs typeface="+mn-cs"/>
                        </a:rPr>
                        <a:t>ns</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err="1">
                          <a:solidFill>
                            <a:schemeClr val="tx1"/>
                          </a:solidFill>
                          <a:latin typeface="+mn-lt"/>
                          <a:ea typeface="+mn-ea"/>
                          <a:cs typeface="+mn-cs"/>
                        </a:rPr>
                        <a:t>t</a:t>
                      </a:r>
                      <a:r>
                        <a:rPr lang="en-US" sz="1100" kern="1200" baseline="-25000" dirty="0" err="1">
                          <a:solidFill>
                            <a:schemeClr val="tx1"/>
                          </a:solidFill>
                          <a:latin typeface="+mn-lt"/>
                          <a:ea typeface="+mn-ea"/>
                          <a:cs typeface="+mn-cs"/>
                        </a:rPr>
                        <a:t>H</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a:solidFill>
                            <a:schemeClr val="tx1"/>
                          </a:solidFill>
                          <a:latin typeface="+mn-lt"/>
                          <a:ea typeface="+mn-ea"/>
                          <a:cs typeface="+mn-cs"/>
                        </a:rPr>
                        <a:t>The minimum period in which the input data to a flip-flop or a latch must remain stable after the active edge of the clock has occurred</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2"/>
                  </a:ext>
                </a:extLst>
              </a:tr>
              <a:tr h="929643">
                <a:tc>
                  <a:txBody>
                    <a:bodyPr/>
                    <a:lstStyle/>
                    <a:p>
                      <a:pPr marL="342900" indent="-342900">
                        <a:buFont typeface="+mj-lt"/>
                        <a:buNone/>
                      </a:pPr>
                      <a:r>
                        <a:rPr lang="en-US" sz="1200" dirty="0"/>
                        <a:t>3</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r>
                        <a:rPr lang="en-US" sz="1100" kern="1200" dirty="0">
                          <a:solidFill>
                            <a:schemeClr val="tx1"/>
                          </a:solidFill>
                          <a:latin typeface="+mn-lt"/>
                          <a:ea typeface="+mn-ea"/>
                          <a:cs typeface="+mn-cs"/>
                        </a:rPr>
                        <a:t>Removal time</a:t>
                      </a:r>
                    </a:p>
                    <a:p>
                      <a:r>
                        <a:rPr lang="en-US" sz="1100" kern="1200" dirty="0">
                          <a:solidFill>
                            <a:schemeClr val="tx1"/>
                          </a:solidFill>
                          <a:latin typeface="+mn-lt"/>
                          <a:ea typeface="+mn-ea"/>
                          <a:cs typeface="+mn-cs"/>
                        </a:rPr>
                        <a:t>(only for asynchronous Set or Reset)</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a:solidFill>
                            <a:schemeClr val="tx1"/>
                          </a:solidFill>
                          <a:latin typeface="+mn-lt"/>
                          <a:ea typeface="+mn-ea"/>
                          <a:cs typeface="+mn-cs"/>
                        </a:rPr>
                        <a:t>ns</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err="1">
                          <a:solidFill>
                            <a:schemeClr val="tx1"/>
                          </a:solidFill>
                          <a:latin typeface="+mn-lt"/>
                          <a:ea typeface="+mn-ea"/>
                          <a:cs typeface="+mn-cs"/>
                        </a:rPr>
                        <a:t>t</a:t>
                      </a:r>
                      <a:r>
                        <a:rPr lang="en-US" sz="1100" kern="1200" baseline="-25000" dirty="0" err="1">
                          <a:solidFill>
                            <a:schemeClr val="tx1"/>
                          </a:solidFill>
                          <a:latin typeface="+mn-lt"/>
                          <a:ea typeface="+mn-ea"/>
                          <a:cs typeface="+mn-cs"/>
                        </a:rPr>
                        <a:t>REM</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100" kern="1200" dirty="0">
                          <a:solidFill>
                            <a:schemeClr val="tx1"/>
                          </a:solidFill>
                          <a:latin typeface="+mn-lt"/>
                          <a:ea typeface="+mn-ea"/>
                          <a:cs typeface="+mn-cs"/>
                        </a:rPr>
                        <a:t>The minimum time in which the asynchronous Set or Reset pin to a flip-flop or latch must remain enabled after the active edge of the clock has occurred</a:t>
                      </a:r>
                      <a:endParaRPr lang="en-US" sz="1100" dirty="0"/>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0003"/>
                  </a:ext>
                </a:extLst>
              </a:tr>
              <a:tr h="903416">
                <a:tc>
                  <a:txBody>
                    <a:bodyPr/>
                    <a:lstStyle/>
                    <a:p>
                      <a:pPr marL="342900" indent="-342900">
                        <a:buFont typeface="+mj-lt"/>
                        <a:buNone/>
                      </a:pPr>
                      <a:r>
                        <a:rPr lang="en-US" sz="1200" dirty="0"/>
                        <a:t>4</a:t>
                      </a:r>
                    </a:p>
                  </a:txBody>
                  <a:tcPr marL="91449" marR="91449" marT="45722" marB="4572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Aft>
                          <a:spcPts val="0"/>
                        </a:spcAft>
                        <a:tabLst>
                          <a:tab pos="971550" algn="l"/>
                        </a:tabLst>
                      </a:pPr>
                      <a:r>
                        <a:rPr lang="en-US" sz="1100" dirty="0">
                          <a:latin typeface="Arial"/>
                          <a:ea typeface="MS Mincho"/>
                          <a:cs typeface="Times New Roman"/>
                        </a:rPr>
                        <a:t>Recovery time</a:t>
                      </a:r>
                      <a:endParaRPr lang="en-US" sz="1100" dirty="0">
                        <a:latin typeface="Times New Roman"/>
                        <a:ea typeface="MS Mincho"/>
                        <a:cs typeface="Times New Roman"/>
                      </a:endParaRPr>
                    </a:p>
                    <a:p>
                      <a:pPr algn="l">
                        <a:spcAft>
                          <a:spcPts val="0"/>
                        </a:spcAft>
                        <a:tabLst>
                          <a:tab pos="971550" algn="l"/>
                        </a:tabLst>
                      </a:pPr>
                      <a:r>
                        <a:rPr lang="en-US" sz="1100" dirty="0">
                          <a:latin typeface="Arial"/>
                          <a:ea typeface="MS Mincho"/>
                          <a:cs typeface="Times New Roman"/>
                        </a:rPr>
                        <a:t>(only for asynchronous Set or Reset)</a:t>
                      </a:r>
                      <a:endParaRPr lang="en-US" sz="1100" dirty="0">
                        <a:latin typeface="Times New Roman"/>
                        <a:ea typeface="MS Mincho"/>
                        <a:cs typeface="Times New Roman"/>
                      </a:endParaRPr>
                    </a:p>
                  </a:txBody>
                  <a:tcPr marL="68583" marR="68583"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a:solidFill>
                            <a:schemeClr val="tx1"/>
                          </a:solidFill>
                          <a:latin typeface="+mn-lt"/>
                          <a:ea typeface="+mn-ea"/>
                          <a:cs typeface="+mn-cs"/>
                        </a:rPr>
                        <a:t>ns</a:t>
                      </a:r>
                      <a:endParaRPr lang="en-US" sz="11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err="1">
                          <a:solidFill>
                            <a:schemeClr val="tx1"/>
                          </a:solidFill>
                          <a:latin typeface="+mn-lt"/>
                          <a:ea typeface="+mn-ea"/>
                          <a:cs typeface="+mn-cs"/>
                        </a:rPr>
                        <a:t>t</a:t>
                      </a:r>
                      <a:r>
                        <a:rPr lang="en-US" sz="1100" kern="1200" baseline="-25000" dirty="0" err="1">
                          <a:solidFill>
                            <a:schemeClr val="tx1"/>
                          </a:solidFill>
                          <a:latin typeface="+mn-lt"/>
                          <a:ea typeface="+mn-ea"/>
                          <a:cs typeface="+mn-cs"/>
                        </a:rPr>
                        <a:t>REC</a:t>
                      </a:r>
                      <a:endParaRPr lang="en-US" sz="11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11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kern="1200" dirty="0">
                          <a:solidFill>
                            <a:schemeClr val="tx1"/>
                          </a:solidFill>
                          <a:latin typeface="+mn-lt"/>
                          <a:ea typeface="+mn-ea"/>
                          <a:cs typeface="+mn-cs"/>
                        </a:rPr>
                        <a:t>The minimum time in which Set or Reset must be held stable after being </a:t>
                      </a:r>
                      <a:r>
                        <a:rPr lang="en-US" sz="1100" kern="1200" dirty="0" err="1">
                          <a:solidFill>
                            <a:schemeClr val="tx1"/>
                          </a:solidFill>
                          <a:latin typeface="+mn-lt"/>
                          <a:ea typeface="+mn-ea"/>
                          <a:cs typeface="+mn-cs"/>
                        </a:rPr>
                        <a:t>deasserted</a:t>
                      </a:r>
                      <a:r>
                        <a:rPr lang="en-US" sz="1100" kern="1200" dirty="0">
                          <a:solidFill>
                            <a:schemeClr val="tx1"/>
                          </a:solidFill>
                          <a:latin typeface="+mn-lt"/>
                          <a:ea typeface="+mn-ea"/>
                          <a:cs typeface="+mn-cs"/>
                        </a:rPr>
                        <a:t> before next active edge of the clock occurs</a:t>
                      </a:r>
                      <a:endParaRPr lang="en-US" sz="1100" dirty="0"/>
                    </a:p>
                  </a:txBody>
                  <a:tcPr marL="91444" marR="91444" marT="45713" marB="4571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27695" name="Object 1">
            <a:extLst>
              <a:ext uri="{FF2B5EF4-FFF2-40B4-BE49-F238E27FC236}">
                <a16:creationId xmlns:a16="http://schemas.microsoft.com/office/drawing/2014/main" id="{754D5B3A-6B00-405B-AF52-71C4C3DA28E6}"/>
              </a:ext>
            </a:extLst>
          </p:cNvPr>
          <p:cNvGraphicFramePr>
            <a:graphicFrameLocks noChangeAspect="1"/>
          </p:cNvGraphicFramePr>
          <p:nvPr/>
        </p:nvGraphicFramePr>
        <p:xfrm>
          <a:off x="5673725" y="2986088"/>
          <a:ext cx="1428750" cy="838200"/>
        </p:xfrm>
        <a:graphic>
          <a:graphicData uri="http://schemas.openxmlformats.org/presentationml/2006/ole">
            <mc:AlternateContent xmlns:mc="http://schemas.openxmlformats.org/markup-compatibility/2006">
              <mc:Choice xmlns:v="urn:schemas-microsoft-com:vml" Requires="v">
                <p:oleObj r:id="rId2" imgW="1950720" imgH="1152144" progId="Visio.Drawing.6">
                  <p:embed/>
                </p:oleObj>
              </mc:Choice>
              <mc:Fallback>
                <p:oleObj r:id="rId2" imgW="1950720" imgH="1152144" progId="Visio.Drawing.6">
                  <p:embed/>
                  <p:pic>
                    <p:nvPicPr>
                      <p:cNvPr id="27695" name="Object 1">
                        <a:extLst>
                          <a:ext uri="{FF2B5EF4-FFF2-40B4-BE49-F238E27FC236}">
                            <a16:creationId xmlns:a16="http://schemas.microsoft.com/office/drawing/2014/main" id="{754D5B3A-6B00-405B-AF52-71C4C3DA2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725" y="2986088"/>
                        <a:ext cx="14287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96" name="Object 3">
            <a:extLst>
              <a:ext uri="{FF2B5EF4-FFF2-40B4-BE49-F238E27FC236}">
                <a16:creationId xmlns:a16="http://schemas.microsoft.com/office/drawing/2014/main" id="{E48E6E4D-56D0-4EC9-9E7A-77A961BF390A}"/>
              </a:ext>
            </a:extLst>
          </p:cNvPr>
          <p:cNvGraphicFramePr>
            <a:graphicFrameLocks noChangeAspect="1"/>
          </p:cNvGraphicFramePr>
          <p:nvPr/>
        </p:nvGraphicFramePr>
        <p:xfrm>
          <a:off x="5788026" y="2179639"/>
          <a:ext cx="1109663" cy="757237"/>
        </p:xfrm>
        <a:graphic>
          <a:graphicData uri="http://schemas.openxmlformats.org/presentationml/2006/ole">
            <mc:AlternateContent xmlns:mc="http://schemas.openxmlformats.org/markup-compatibility/2006">
              <mc:Choice xmlns:v="urn:schemas-microsoft-com:vml" Requires="v">
                <p:oleObj r:id="rId4" imgW="1740408" imgH="1203960" progId="Visio.Drawing.6">
                  <p:embed/>
                </p:oleObj>
              </mc:Choice>
              <mc:Fallback>
                <p:oleObj r:id="rId4" imgW="1740408" imgH="1203960" progId="Visio.Drawing.6">
                  <p:embed/>
                  <p:pic>
                    <p:nvPicPr>
                      <p:cNvPr id="27696" name="Object 3">
                        <a:extLst>
                          <a:ext uri="{FF2B5EF4-FFF2-40B4-BE49-F238E27FC236}">
                            <a16:creationId xmlns:a16="http://schemas.microsoft.com/office/drawing/2014/main" id="{E48E6E4D-56D0-4EC9-9E7A-77A961BF39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8026" y="2179639"/>
                        <a:ext cx="1109663"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97" name="Object 2">
            <a:extLst>
              <a:ext uri="{FF2B5EF4-FFF2-40B4-BE49-F238E27FC236}">
                <a16:creationId xmlns:a16="http://schemas.microsoft.com/office/drawing/2014/main" id="{0E58A9B0-064B-447A-8BD8-71F509C095E8}"/>
              </a:ext>
            </a:extLst>
          </p:cNvPr>
          <p:cNvGraphicFramePr>
            <a:graphicFrameLocks noChangeAspect="1"/>
          </p:cNvGraphicFramePr>
          <p:nvPr/>
        </p:nvGraphicFramePr>
        <p:xfrm>
          <a:off x="5481638" y="3840164"/>
          <a:ext cx="2076450" cy="1076325"/>
        </p:xfrm>
        <a:graphic>
          <a:graphicData uri="http://schemas.openxmlformats.org/presentationml/2006/ole">
            <mc:AlternateContent xmlns:mc="http://schemas.openxmlformats.org/markup-compatibility/2006">
              <mc:Choice xmlns:v="urn:schemas-microsoft-com:vml" Requires="v">
                <p:oleObj r:id="rId6" imgW="2157984" imgH="1112520" progId="Visio.Drawing.6">
                  <p:embed/>
                </p:oleObj>
              </mc:Choice>
              <mc:Fallback>
                <p:oleObj r:id="rId6" imgW="2157984" imgH="1112520" progId="Visio.Drawing.6">
                  <p:embed/>
                  <p:pic>
                    <p:nvPicPr>
                      <p:cNvPr id="27697" name="Object 2">
                        <a:extLst>
                          <a:ext uri="{FF2B5EF4-FFF2-40B4-BE49-F238E27FC236}">
                            <a16:creationId xmlns:a16="http://schemas.microsoft.com/office/drawing/2014/main" id="{0E58A9B0-064B-447A-8BD8-71F509C095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1638" y="3840164"/>
                        <a:ext cx="20764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98" name="Object 3">
            <a:extLst>
              <a:ext uri="{FF2B5EF4-FFF2-40B4-BE49-F238E27FC236}">
                <a16:creationId xmlns:a16="http://schemas.microsoft.com/office/drawing/2014/main" id="{DF090712-2A81-4BAD-8C6A-F29FAA1FD8B7}"/>
              </a:ext>
            </a:extLst>
          </p:cNvPr>
          <p:cNvGraphicFramePr>
            <a:graphicFrameLocks noChangeAspect="1"/>
          </p:cNvGraphicFramePr>
          <p:nvPr/>
        </p:nvGraphicFramePr>
        <p:xfrm>
          <a:off x="5597526" y="4914901"/>
          <a:ext cx="1655763" cy="803275"/>
        </p:xfrm>
        <a:graphic>
          <a:graphicData uri="http://schemas.openxmlformats.org/presentationml/2006/ole">
            <mc:AlternateContent xmlns:mc="http://schemas.openxmlformats.org/markup-compatibility/2006">
              <mc:Choice xmlns:v="urn:schemas-microsoft-com:vml" Requires="v">
                <p:oleObj r:id="rId8" imgW="1923288" imgH="926592" progId="Visio.Drawing.6">
                  <p:embed/>
                </p:oleObj>
              </mc:Choice>
              <mc:Fallback>
                <p:oleObj r:id="rId8" imgW="1923288" imgH="926592" progId="Visio.Drawing.6">
                  <p:embed/>
                  <p:pic>
                    <p:nvPicPr>
                      <p:cNvPr id="27698" name="Object 3">
                        <a:extLst>
                          <a:ext uri="{FF2B5EF4-FFF2-40B4-BE49-F238E27FC236}">
                            <a16:creationId xmlns:a16="http://schemas.microsoft.com/office/drawing/2014/main" id="{DF090712-2A81-4BAD-8C6A-F29FAA1FD8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7526" y="4914901"/>
                        <a:ext cx="165576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99" name="Rectangle 1">
            <a:extLst>
              <a:ext uri="{FF2B5EF4-FFF2-40B4-BE49-F238E27FC236}">
                <a16:creationId xmlns:a16="http://schemas.microsoft.com/office/drawing/2014/main" id="{B446F9B1-AD2C-4438-9445-B24343C470FF}"/>
              </a:ext>
            </a:extLst>
          </p:cNvPr>
          <p:cNvSpPr>
            <a:spLocks noChangeArrowheads="1"/>
          </p:cNvSpPr>
          <p:nvPr/>
        </p:nvSpPr>
        <p:spPr bwMode="auto">
          <a:xfrm>
            <a:off x="2063750" y="1352550"/>
            <a:ext cx="795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t>Setup/Hold, Recovery/Removal Constraints</a:t>
            </a:r>
          </a:p>
        </p:txBody>
      </p:sp>
      <p:sp>
        <p:nvSpPr>
          <p:cNvPr id="27700" name="Rectangle 1">
            <a:extLst>
              <a:ext uri="{FF2B5EF4-FFF2-40B4-BE49-F238E27FC236}">
                <a16:creationId xmlns:a16="http://schemas.microsoft.com/office/drawing/2014/main" id="{4E273BF0-7F94-44F9-86DA-4D00413D2991}"/>
              </a:ext>
            </a:extLst>
          </p:cNvPr>
          <p:cNvSpPr>
            <a:spLocks noChangeArrowheads="1"/>
          </p:cNvSpPr>
          <p:nvPr/>
        </p:nvSpPr>
        <p:spPr bwMode="auto">
          <a:xfrm>
            <a:off x="2200275" y="4445001"/>
            <a:ext cx="1314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FF"/>
                </a:solidFill>
              </a:rPr>
              <a:t>removal_rising, </a:t>
            </a:r>
          </a:p>
          <a:p>
            <a:pPr eaLnBrk="1" hangingPunct="1"/>
            <a:r>
              <a:rPr lang="en-US" altLang="en-US" sz="1200">
                <a:solidFill>
                  <a:srgbClr val="0000FF"/>
                </a:solidFill>
              </a:rPr>
              <a:t>removal_falling </a:t>
            </a:r>
          </a:p>
        </p:txBody>
      </p:sp>
      <p:sp>
        <p:nvSpPr>
          <p:cNvPr id="27701" name="Rectangle 2">
            <a:extLst>
              <a:ext uri="{FF2B5EF4-FFF2-40B4-BE49-F238E27FC236}">
                <a16:creationId xmlns:a16="http://schemas.microsoft.com/office/drawing/2014/main" id="{B084B0AE-0AAF-4E95-90A9-AFECC56F16C8}"/>
              </a:ext>
            </a:extLst>
          </p:cNvPr>
          <p:cNvSpPr>
            <a:spLocks noChangeArrowheads="1"/>
          </p:cNvSpPr>
          <p:nvPr/>
        </p:nvSpPr>
        <p:spPr bwMode="auto">
          <a:xfrm>
            <a:off x="2200275" y="2447926"/>
            <a:ext cx="1087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FF"/>
                </a:solidFill>
              </a:rPr>
              <a:t>setup_rising</a:t>
            </a:r>
          </a:p>
          <a:p>
            <a:pPr eaLnBrk="1" hangingPunct="1"/>
            <a:r>
              <a:rPr lang="en-US" altLang="en-US" sz="1200">
                <a:solidFill>
                  <a:srgbClr val="0000FF"/>
                </a:solidFill>
              </a:rPr>
              <a:t>setup_falling </a:t>
            </a:r>
            <a:endParaRPr lang="en-US" altLang="en-US" sz="1200"/>
          </a:p>
        </p:txBody>
      </p:sp>
      <p:sp>
        <p:nvSpPr>
          <p:cNvPr id="27702" name="Rectangle 3">
            <a:extLst>
              <a:ext uri="{FF2B5EF4-FFF2-40B4-BE49-F238E27FC236}">
                <a16:creationId xmlns:a16="http://schemas.microsoft.com/office/drawing/2014/main" id="{8B7CC423-0F90-4538-9816-52B9558C3543}"/>
              </a:ext>
            </a:extLst>
          </p:cNvPr>
          <p:cNvSpPr>
            <a:spLocks noChangeArrowheads="1"/>
          </p:cNvSpPr>
          <p:nvPr/>
        </p:nvSpPr>
        <p:spPr bwMode="auto">
          <a:xfrm>
            <a:off x="2200276" y="3408363"/>
            <a:ext cx="957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FF"/>
                </a:solidFill>
              </a:rPr>
              <a:t>hold_rising</a:t>
            </a:r>
          </a:p>
          <a:p>
            <a:pPr eaLnBrk="1" hangingPunct="1"/>
            <a:r>
              <a:rPr lang="en-US" altLang="en-US" sz="1200">
                <a:solidFill>
                  <a:srgbClr val="0000FF"/>
                </a:solidFill>
              </a:rPr>
              <a:t>hold_falling</a:t>
            </a:r>
            <a:endParaRPr lang="en-US" altLang="en-US" sz="1200"/>
          </a:p>
        </p:txBody>
      </p:sp>
      <p:sp>
        <p:nvSpPr>
          <p:cNvPr id="27703" name="Rectangle 11">
            <a:extLst>
              <a:ext uri="{FF2B5EF4-FFF2-40B4-BE49-F238E27FC236}">
                <a16:creationId xmlns:a16="http://schemas.microsoft.com/office/drawing/2014/main" id="{E5E3051D-81FD-4FBA-B7D6-F870947A039F}"/>
              </a:ext>
            </a:extLst>
          </p:cNvPr>
          <p:cNvSpPr>
            <a:spLocks noChangeArrowheads="1"/>
          </p:cNvSpPr>
          <p:nvPr/>
        </p:nvSpPr>
        <p:spPr bwMode="auto">
          <a:xfrm>
            <a:off x="2200276" y="5329238"/>
            <a:ext cx="2397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0000FF"/>
                </a:solidFill>
              </a:rPr>
              <a:t>recovery_rising, </a:t>
            </a:r>
          </a:p>
          <a:p>
            <a:pPr eaLnBrk="1" hangingPunct="1"/>
            <a:r>
              <a:rPr lang="en-US" altLang="en-US" sz="1200">
                <a:solidFill>
                  <a:srgbClr val="0000FF"/>
                </a:solidFill>
              </a:rPr>
              <a:t>recovery_falling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FFF6147-0E2B-4810-814C-45D8F70C9FF9}"/>
              </a:ext>
            </a:extLst>
          </p:cNvPr>
          <p:cNvSpPr>
            <a:spLocks noGrp="1"/>
          </p:cNvSpPr>
          <p:nvPr>
            <p:ph type="title"/>
          </p:nvPr>
        </p:nvSpPr>
        <p:spPr/>
        <p:txBody>
          <a:bodyPr/>
          <a:lstStyle/>
          <a:p>
            <a:r>
              <a:rPr lang="en-US" altLang="en-US"/>
              <a:t>Hold Timing Example</a:t>
            </a:r>
          </a:p>
        </p:txBody>
      </p:sp>
      <p:sp>
        <p:nvSpPr>
          <p:cNvPr id="3" name="Rectangle 2">
            <a:extLst>
              <a:ext uri="{FF2B5EF4-FFF2-40B4-BE49-F238E27FC236}">
                <a16:creationId xmlns:a16="http://schemas.microsoft.com/office/drawing/2014/main" id="{85F12D4D-DCC4-4A18-82A4-2E9863C1D2F0}"/>
              </a:ext>
            </a:extLst>
          </p:cNvPr>
          <p:cNvSpPr/>
          <p:nvPr/>
        </p:nvSpPr>
        <p:spPr>
          <a:xfrm>
            <a:off x="1947864" y="2008188"/>
            <a:ext cx="8334375" cy="3763962"/>
          </a:xfrm>
          <a:prstGeom prst="rect">
            <a:avLst/>
          </a:prstGeom>
          <a:solidFill>
            <a:schemeClr val="accent1">
              <a:lumMod val="20000"/>
              <a:lumOff val="80000"/>
            </a:schemeClr>
          </a:solidFill>
          <a:ln>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pin(D)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timing ()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r>
              <a:rPr lang="en-US" sz="1200" dirty="0" err="1">
                <a:solidFill>
                  <a:schemeClr val="tx1"/>
                </a:solidFill>
                <a:latin typeface="Courier New" pitchFamily="49" charset="0"/>
                <a:cs typeface="Courier New" pitchFamily="49" charset="0"/>
              </a:rPr>
              <a:t>timing_type</a:t>
            </a:r>
            <a:r>
              <a:rPr lang="en-US" sz="1200" dirty="0">
                <a:solidFill>
                  <a:schemeClr val="tx1"/>
                </a:solidFill>
                <a:latin typeface="Courier New" pitchFamily="49" charset="0"/>
                <a:cs typeface="Courier New" pitchFamily="49" charset="0"/>
              </a:rPr>
              <a:t> : "</a:t>
            </a:r>
            <a:r>
              <a:rPr lang="en-US" sz="1200" dirty="0" err="1">
                <a:solidFill>
                  <a:schemeClr val="tx1"/>
                </a:solidFill>
                <a:latin typeface="Courier New" pitchFamily="49" charset="0"/>
                <a:cs typeface="Courier New" pitchFamily="49" charset="0"/>
              </a:rPr>
              <a:t>hold_rising</a:t>
            </a:r>
            <a:r>
              <a:rPr lang="en-US" sz="12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r>
              <a:rPr lang="en-US" sz="1200" dirty="0" err="1">
                <a:solidFill>
                  <a:schemeClr val="tx1"/>
                </a:solidFill>
                <a:latin typeface="Courier New" pitchFamily="49" charset="0"/>
                <a:cs typeface="Courier New" pitchFamily="49" charset="0"/>
              </a:rPr>
              <a:t>related_pin</a:t>
            </a:r>
            <a:r>
              <a:rPr lang="en-US" sz="1200" dirty="0">
                <a:solidFill>
                  <a:schemeClr val="tx1"/>
                </a:solidFill>
                <a:latin typeface="Courier New" pitchFamily="49" charset="0"/>
                <a:cs typeface="Courier New" pitchFamily="49" charset="0"/>
              </a:rPr>
              <a:t> : "CLK";</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r>
              <a:rPr lang="en-US" sz="1200" dirty="0" err="1">
                <a:solidFill>
                  <a:schemeClr val="tx1"/>
                </a:solidFill>
                <a:latin typeface="Courier New" pitchFamily="49" charset="0"/>
                <a:cs typeface="Courier New" pitchFamily="49" charset="0"/>
              </a:rPr>
              <a:t>rise_constraint</a:t>
            </a:r>
            <a:r>
              <a:rPr lang="en-US" sz="1200" dirty="0">
                <a:solidFill>
                  <a:schemeClr val="tx1"/>
                </a:solidFill>
                <a:latin typeface="Courier New" pitchFamily="49" charset="0"/>
                <a:cs typeface="Courier New" pitchFamily="49" charset="0"/>
              </a:rPr>
              <a:t> ("vio_7_7_1")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index_1("0.016, 0.032, 0.064, 0.128, 0.256, 0.512, 1.024");</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index_2("0.016, 0.032, 0.064, 0.128, 0.256, 0.512, 1.024");</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values("-0.011, -0.011, -0.014, -0.013, -0.003, 0.025, 0.097",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"-0.011, -0.011, -0.015, -0.013, -0.003, 0.028, 0.097",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"-0.015, -0.018, -0.033, -0.063, -0.100, -0.128, -0.228");</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r>
              <a:rPr lang="en-US" sz="1200" dirty="0" err="1">
                <a:solidFill>
                  <a:schemeClr val="tx1"/>
                </a:solidFill>
                <a:latin typeface="Courier New" pitchFamily="49" charset="0"/>
                <a:cs typeface="Courier New" pitchFamily="49" charset="0"/>
              </a:rPr>
              <a:t>fall_constraint</a:t>
            </a:r>
            <a:r>
              <a:rPr lang="en-US" sz="1200" dirty="0">
                <a:solidFill>
                  <a:schemeClr val="tx1"/>
                </a:solidFill>
                <a:latin typeface="Courier New" pitchFamily="49" charset="0"/>
                <a:cs typeface="Courier New" pitchFamily="49" charset="0"/>
              </a:rPr>
              <a:t> ("vio_7_7_1")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a:p>
            <a:pPr>
              <a:tabLst>
                <a:tab pos="292100" algn="l"/>
                <a:tab pos="520700" algn="l"/>
                <a:tab pos="685800" algn="l"/>
                <a:tab pos="914400" algn="l"/>
                <a:tab pos="1206500" algn="l"/>
                <a:tab pos="1549400" algn="l"/>
                <a:tab pos="1828800" algn="l"/>
                <a:tab pos="2057400" algn="l"/>
              </a:tabLst>
              <a:defRPr/>
            </a:pPr>
            <a:endParaRPr lang="en-US" sz="1200" dirty="0">
              <a:solidFill>
                <a:schemeClr val="tx1"/>
              </a:solidFill>
              <a:latin typeface="Courier New" pitchFamily="49" charset="0"/>
              <a:cs typeface="Courier New" pitchFamily="49" charset="0"/>
            </a:endParaRPr>
          </a:p>
        </p:txBody>
      </p:sp>
      <p:sp>
        <p:nvSpPr>
          <p:cNvPr id="4" name="Rectangle 3">
            <a:extLst>
              <a:ext uri="{FF2B5EF4-FFF2-40B4-BE49-F238E27FC236}">
                <a16:creationId xmlns:a16="http://schemas.microsoft.com/office/drawing/2014/main" id="{2FE2905F-9467-46D1-AF25-9FED9AF80AE8}"/>
              </a:ext>
            </a:extLst>
          </p:cNvPr>
          <p:cNvSpPr/>
          <p:nvPr/>
        </p:nvSpPr>
        <p:spPr>
          <a:xfrm>
            <a:off x="3906838" y="1219201"/>
            <a:ext cx="6375400" cy="1420813"/>
          </a:xfrm>
          <a:prstGeom prst="rect">
            <a:avLst/>
          </a:prstGeom>
          <a:solidFill>
            <a:schemeClr val="accent1">
              <a:lumMod val="20000"/>
              <a:lumOff val="80000"/>
            </a:schemeClr>
          </a:solidFill>
          <a:ln>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r>
              <a:rPr lang="en-US" sz="1200" dirty="0" err="1">
                <a:solidFill>
                  <a:schemeClr val="tx1"/>
                </a:solidFill>
                <a:latin typeface="Courier New" pitchFamily="49" charset="0"/>
                <a:cs typeface="Courier New" pitchFamily="49" charset="0"/>
              </a:rPr>
              <a:t>lu_table_template</a:t>
            </a:r>
            <a:r>
              <a:rPr lang="en-US" sz="1200" dirty="0">
                <a:solidFill>
                  <a:schemeClr val="tx1"/>
                </a:solidFill>
                <a:latin typeface="Courier New" pitchFamily="49" charset="0"/>
                <a:cs typeface="Courier New" pitchFamily="49" charset="0"/>
              </a:rPr>
              <a:t> ("vio_7_7_1") {</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variable_1 : "</a:t>
            </a:r>
            <a:r>
              <a:rPr lang="en-US" sz="1200" dirty="0" err="1">
                <a:solidFill>
                  <a:schemeClr val="tx1"/>
                </a:solidFill>
                <a:latin typeface="Courier New" pitchFamily="49" charset="0"/>
                <a:cs typeface="Courier New" pitchFamily="49" charset="0"/>
              </a:rPr>
              <a:t>related_pin_transition</a:t>
            </a:r>
            <a:r>
              <a:rPr lang="en-US" sz="12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index_1("1, 2, 3, 4, 5, 6, 7");</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variable_2 : "</a:t>
            </a:r>
            <a:r>
              <a:rPr lang="en-US" sz="1200" dirty="0" err="1">
                <a:solidFill>
                  <a:schemeClr val="tx1"/>
                </a:solidFill>
                <a:latin typeface="Courier New" pitchFamily="49" charset="0"/>
                <a:cs typeface="Courier New" pitchFamily="49" charset="0"/>
              </a:rPr>
              <a:t>constrained_pin_transition</a:t>
            </a:r>
            <a:r>
              <a:rPr lang="en-US" sz="1200" dirty="0">
                <a:solidFill>
                  <a:schemeClr val="tx1"/>
                </a:solidFill>
                <a:latin typeface="Courier New" pitchFamily="49" charset="0"/>
                <a:cs typeface="Courier New" pitchFamily="49" charset="0"/>
              </a:rPr>
              <a:t>";</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index_2("1, 2, 3, 4, 5, 6, 7");</a:t>
            </a:r>
          </a:p>
          <a:p>
            <a:pPr>
              <a:tabLst>
                <a:tab pos="292100" algn="l"/>
                <a:tab pos="520700" algn="l"/>
                <a:tab pos="685800" algn="l"/>
                <a:tab pos="914400" algn="l"/>
                <a:tab pos="1206500" algn="l"/>
                <a:tab pos="1549400" algn="l"/>
                <a:tab pos="1828800" algn="l"/>
                <a:tab pos="2057400" algn="l"/>
              </a:tabLst>
              <a:defRPr/>
            </a:pPr>
            <a:r>
              <a:rPr lang="en-US" sz="1200" dirty="0">
                <a:solidFill>
                  <a:schemeClr val="tx1"/>
                </a:solidFill>
                <a:latin typeface="Courier New" pitchFamily="49" charset="0"/>
                <a:cs typeface="Courier New" pitchFamily="49"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3366</TotalTime>
  <Words>2405</Words>
  <Application>Microsoft Office PowerPoint</Application>
  <PresentationFormat>Widescreen</PresentationFormat>
  <Paragraphs>439</Paragraphs>
  <Slides>24</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5" baseType="lpstr">
      <vt:lpstr>MS PGothic</vt:lpstr>
      <vt:lpstr>.Lucida Grande UI Regular</vt:lpstr>
      <vt:lpstr>Arial</vt:lpstr>
      <vt:lpstr>Arial Unicode MS</vt:lpstr>
      <vt:lpstr>Cambria Math</vt:lpstr>
      <vt:lpstr>Courier New</vt:lpstr>
      <vt:lpstr>System Font Regular</vt:lpstr>
      <vt:lpstr>Times New Roman</vt:lpstr>
      <vt:lpstr>Wingdings</vt:lpstr>
      <vt:lpstr>2_Synopsys_2019</vt:lpstr>
      <vt:lpstr>Visio.Drawing.6</vt:lpstr>
      <vt:lpstr>Static Timing Analysis</vt:lpstr>
      <vt:lpstr>PowerPoint Presentation</vt:lpstr>
      <vt:lpstr>Course Overview</vt:lpstr>
      <vt:lpstr>2. Delay Modeling </vt:lpstr>
      <vt:lpstr>Path Delay: Basic Approach</vt:lpstr>
      <vt:lpstr>Delay Dependencies </vt:lpstr>
      <vt:lpstr>Path Delay Calculation</vt:lpstr>
      <vt:lpstr>Operating Conditions </vt:lpstr>
      <vt:lpstr>Linear Delay Model </vt:lpstr>
      <vt:lpstr>Delay Calculation (Linear) Example</vt:lpstr>
      <vt:lpstr>Nonlinear Delay Model</vt:lpstr>
      <vt:lpstr>Nonlinear Delay Calculation Example</vt:lpstr>
      <vt:lpstr>Two-dimensional Interpolation</vt:lpstr>
      <vt:lpstr>Non Linear Delay Model (NLDM)</vt:lpstr>
      <vt:lpstr>Composite Current Source Model (CCS)</vt:lpstr>
      <vt:lpstr>Synopsys Liberty Format (.lib)</vt:lpstr>
      <vt:lpstr>Cell Timing Data</vt:lpstr>
      <vt:lpstr>Cell Types: Sequential Cells</vt:lpstr>
      <vt:lpstr>Timing Group Names</vt:lpstr>
      <vt:lpstr>Combinational Timing Arc Syntax</vt:lpstr>
      <vt:lpstr>Delay Analysis</vt:lpstr>
      <vt:lpstr>Timing Constraints: Timing Types</vt:lpstr>
      <vt:lpstr>Hold Timing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329</cp:revision>
  <dcterms:created xsi:type="dcterms:W3CDTF">2020-07-20T16:18:49Z</dcterms:created>
  <dcterms:modified xsi:type="dcterms:W3CDTF">2025-07-31T12:27:57Z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