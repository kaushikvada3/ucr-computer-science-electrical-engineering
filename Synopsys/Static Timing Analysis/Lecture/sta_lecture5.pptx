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47"/>
  </p:notesMasterIdLst>
  <p:handoutMasterIdLst>
    <p:handoutMasterId r:id="rId48"/>
  </p:handoutMasterIdLst>
  <p:sldIdLst>
    <p:sldId id="4743" r:id="rId5"/>
    <p:sldId id="4785" r:id="rId6"/>
    <p:sldId id="406" r:id="rId7"/>
    <p:sldId id="334" r:id="rId8"/>
    <p:sldId id="333" r:id="rId9"/>
    <p:sldId id="346" r:id="rId10"/>
    <p:sldId id="379" r:id="rId11"/>
    <p:sldId id="380" r:id="rId12"/>
    <p:sldId id="381" r:id="rId13"/>
    <p:sldId id="383" r:id="rId14"/>
    <p:sldId id="397" r:id="rId15"/>
    <p:sldId id="396" r:id="rId16"/>
    <p:sldId id="375" r:id="rId17"/>
    <p:sldId id="384" r:id="rId18"/>
    <p:sldId id="376" r:id="rId19"/>
    <p:sldId id="385" r:id="rId20"/>
    <p:sldId id="386" r:id="rId21"/>
    <p:sldId id="353" r:id="rId22"/>
    <p:sldId id="352" r:id="rId23"/>
    <p:sldId id="4789" r:id="rId24"/>
    <p:sldId id="355" r:id="rId25"/>
    <p:sldId id="358" r:id="rId26"/>
    <p:sldId id="359" r:id="rId27"/>
    <p:sldId id="361" r:id="rId28"/>
    <p:sldId id="398" r:id="rId29"/>
    <p:sldId id="399" r:id="rId30"/>
    <p:sldId id="400" r:id="rId31"/>
    <p:sldId id="401" r:id="rId32"/>
    <p:sldId id="402" r:id="rId33"/>
    <p:sldId id="403" r:id="rId34"/>
    <p:sldId id="404" r:id="rId35"/>
    <p:sldId id="387" r:id="rId36"/>
    <p:sldId id="388" r:id="rId37"/>
    <p:sldId id="389" r:id="rId38"/>
    <p:sldId id="390" r:id="rId39"/>
    <p:sldId id="368" r:id="rId40"/>
    <p:sldId id="369" r:id="rId41"/>
    <p:sldId id="377" r:id="rId42"/>
    <p:sldId id="378" r:id="rId43"/>
    <p:sldId id="371" r:id="rId44"/>
    <p:sldId id="372" r:id="rId45"/>
    <p:sldId id="4788" r:id="rId46"/>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406"/>
            <p14:sldId id="334"/>
            <p14:sldId id="333"/>
            <p14:sldId id="346"/>
            <p14:sldId id="379"/>
            <p14:sldId id="380"/>
            <p14:sldId id="381"/>
            <p14:sldId id="383"/>
            <p14:sldId id="397"/>
            <p14:sldId id="396"/>
            <p14:sldId id="375"/>
            <p14:sldId id="384"/>
            <p14:sldId id="376"/>
            <p14:sldId id="385"/>
            <p14:sldId id="386"/>
            <p14:sldId id="353"/>
            <p14:sldId id="352"/>
            <p14:sldId id="4789"/>
            <p14:sldId id="355"/>
            <p14:sldId id="358"/>
            <p14:sldId id="359"/>
            <p14:sldId id="361"/>
            <p14:sldId id="398"/>
            <p14:sldId id="399"/>
            <p14:sldId id="400"/>
            <p14:sldId id="401"/>
            <p14:sldId id="402"/>
            <p14:sldId id="403"/>
            <p14:sldId id="404"/>
            <p14:sldId id="387"/>
            <p14:sldId id="388"/>
            <p14:sldId id="389"/>
            <p14:sldId id="390"/>
            <p14:sldId id="368"/>
            <p14:sldId id="369"/>
            <p14:sldId id="377"/>
            <p14:sldId id="378"/>
            <p14:sldId id="371"/>
            <p14:sldId id="372"/>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94119C-CA41-4AEC-B225-DC9BC045492D}" v="1" dt="2025-07-31T12:30:11.6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varScale="1">
        <p:scale>
          <a:sx n="107" d="100"/>
          <a:sy n="107" d="100"/>
        </p:scale>
        <p:origin x="528" y="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4FC106A8-F0A2-4CEE-B35A-285F124E3057}"/>
    <pc:docChg chg="modMainMaster modNotesMaster">
      <pc:chgData name="Nane Lazaryan" userId="edf0a458-438d-4fc2-9f33-24202edc9cc9" providerId="ADAL" clId="{4FC106A8-F0A2-4CEE-B35A-285F124E3057}" dt="2025-05-23T10:15:08.896" v="0"/>
      <pc:docMkLst>
        <pc:docMk/>
      </pc:docMkLst>
      <pc:sldMasterChg chg="modSp">
        <pc:chgData name="Nane Lazaryan" userId="edf0a458-438d-4fc2-9f33-24202edc9cc9" providerId="ADAL" clId="{4FC106A8-F0A2-4CEE-B35A-285F124E3057}" dt="2025-05-23T10:15:08.896" v="0"/>
        <pc:sldMasterMkLst>
          <pc:docMk/>
          <pc:sldMasterMk cId="1599936984" sldId="2147483728"/>
        </pc:sldMasterMkLst>
        <pc:spChg chg="mod">
          <ac:chgData name="Nane Lazaryan" userId="edf0a458-438d-4fc2-9f33-24202edc9cc9" providerId="ADAL" clId="{4FC106A8-F0A2-4CEE-B35A-285F124E3057}" dt="2025-05-23T10:15:08.896" v="0"/>
          <ac:spMkLst>
            <pc:docMk/>
            <pc:sldMasterMk cId="1599936984" sldId="2147483728"/>
            <ac:spMk id="10" creationId="{0E3FE523-B587-4715-8B86-1BEC0FA2C878}"/>
          </ac:spMkLst>
        </pc:spChg>
      </pc:sldMasterChg>
    </pc:docChg>
  </pc:docChgLst>
  <pc:docChgLst>
    <pc:chgData name="Nane Lazaryan" userId="edf0a458-438d-4fc2-9f33-24202edc9cc9" providerId="ADAL" clId="{FF94119C-CA41-4AEC-B225-DC9BC045492D}"/>
    <pc:docChg chg="modSld">
      <pc:chgData name="Nane Lazaryan" userId="edf0a458-438d-4fc2-9f33-24202edc9cc9" providerId="ADAL" clId="{FF94119C-CA41-4AEC-B225-DC9BC045492D}" dt="2025-07-31T12:30:11.620" v="1" actId="1076"/>
      <pc:docMkLst>
        <pc:docMk/>
      </pc:docMkLst>
      <pc:sldChg chg="modSp">
        <pc:chgData name="Nane Lazaryan" userId="edf0a458-438d-4fc2-9f33-24202edc9cc9" providerId="ADAL" clId="{FF94119C-CA41-4AEC-B225-DC9BC045492D}" dt="2025-07-31T12:30:11.620" v="1" actId="1076"/>
        <pc:sldMkLst>
          <pc:docMk/>
          <pc:sldMk cId="0" sldId="361"/>
        </pc:sldMkLst>
        <pc:spChg chg="mod">
          <ac:chgData name="Nane Lazaryan" userId="edf0a458-438d-4fc2-9f33-24202edc9cc9" providerId="ADAL" clId="{FF94119C-CA41-4AEC-B225-DC9BC045492D}" dt="2025-07-31T12:30:11.620" v="1" actId="1076"/>
          <ac:spMkLst>
            <pc:docMk/>
            <pc:sldMk cId="0" sldId="361"/>
            <ac:spMk id="8" creationId="{7AC17E4C-0803-43F7-A56E-1CAF5229A3BA}"/>
          </ac:spMkLst>
        </pc:spChg>
        <pc:spChg chg="mod">
          <ac:chgData name="Nane Lazaryan" userId="edf0a458-438d-4fc2-9f33-24202edc9cc9" providerId="ADAL" clId="{FF94119C-CA41-4AEC-B225-DC9BC045492D}" dt="2025-07-31T12:30:11.620" v="1" actId="1076"/>
          <ac:spMkLst>
            <pc:docMk/>
            <pc:sldMk cId="0" sldId="361"/>
            <ac:spMk id="138" creationId="{B46B8F22-AA61-4517-BE99-A90A09F1820D}"/>
          </ac:spMkLst>
        </pc:spChg>
        <pc:spChg chg="mod">
          <ac:chgData name="Nane Lazaryan" userId="edf0a458-438d-4fc2-9f33-24202edc9cc9" providerId="ADAL" clId="{FF94119C-CA41-4AEC-B225-DC9BC045492D}" dt="2025-07-31T12:30:11.620" v="1" actId="1076"/>
          <ac:spMkLst>
            <pc:docMk/>
            <pc:sldMk cId="0" sldId="361"/>
            <ac:spMk id="30728" creationId="{939EC666-6877-4DA4-B3BB-42456A2AB897}"/>
          </ac:spMkLst>
        </pc:spChg>
        <pc:spChg chg="mod">
          <ac:chgData name="Nane Lazaryan" userId="edf0a458-438d-4fc2-9f33-24202edc9cc9" providerId="ADAL" clId="{FF94119C-CA41-4AEC-B225-DC9BC045492D}" dt="2025-07-31T12:30:11.620" v="1" actId="1076"/>
          <ac:spMkLst>
            <pc:docMk/>
            <pc:sldMk cId="0" sldId="361"/>
            <ac:spMk id="30731" creationId="{236AEFA6-8D09-49DE-829E-B02FDD6AF216}"/>
          </ac:spMkLst>
        </pc:spChg>
        <pc:spChg chg="mod">
          <ac:chgData name="Nane Lazaryan" userId="edf0a458-438d-4fc2-9f33-24202edc9cc9" providerId="ADAL" clId="{FF94119C-CA41-4AEC-B225-DC9BC045492D}" dt="2025-07-31T12:30:11.620" v="1" actId="1076"/>
          <ac:spMkLst>
            <pc:docMk/>
            <pc:sldMk cId="0" sldId="361"/>
            <ac:spMk id="30735" creationId="{CDCAED5D-3783-4A2D-BCBF-1752E393FF95}"/>
          </ac:spMkLst>
        </pc:spChg>
        <pc:spChg chg="mod">
          <ac:chgData name="Nane Lazaryan" userId="edf0a458-438d-4fc2-9f33-24202edc9cc9" providerId="ADAL" clId="{FF94119C-CA41-4AEC-B225-DC9BC045492D}" dt="2025-07-31T12:30:11.620" v="1" actId="1076"/>
          <ac:spMkLst>
            <pc:docMk/>
            <pc:sldMk cId="0" sldId="361"/>
            <ac:spMk id="30737" creationId="{A68944B3-3CA4-4C88-98A6-9ECD2E542FFF}"/>
          </ac:spMkLst>
        </pc:spChg>
        <pc:spChg chg="mod">
          <ac:chgData name="Nane Lazaryan" userId="edf0a458-438d-4fc2-9f33-24202edc9cc9" providerId="ADAL" clId="{FF94119C-CA41-4AEC-B225-DC9BC045492D}" dt="2025-07-31T12:30:11.620" v="1" actId="1076"/>
          <ac:spMkLst>
            <pc:docMk/>
            <pc:sldMk cId="0" sldId="361"/>
            <ac:spMk id="30748" creationId="{A1B8E0A7-E4B6-42E2-924B-29AC8250106B}"/>
          </ac:spMkLst>
        </pc:spChg>
        <pc:spChg chg="mod">
          <ac:chgData name="Nane Lazaryan" userId="edf0a458-438d-4fc2-9f33-24202edc9cc9" providerId="ADAL" clId="{FF94119C-CA41-4AEC-B225-DC9BC045492D}" dt="2025-07-31T12:30:11.620" v="1" actId="1076"/>
          <ac:spMkLst>
            <pc:docMk/>
            <pc:sldMk cId="0" sldId="361"/>
            <ac:spMk id="30749" creationId="{F7DB906E-3772-4227-931D-6CF1C21ACA31}"/>
          </ac:spMkLst>
        </pc:spChg>
        <pc:spChg chg="mod">
          <ac:chgData name="Nane Lazaryan" userId="edf0a458-438d-4fc2-9f33-24202edc9cc9" providerId="ADAL" clId="{FF94119C-CA41-4AEC-B225-DC9BC045492D}" dt="2025-07-31T12:30:11.620" v="1" actId="1076"/>
          <ac:spMkLst>
            <pc:docMk/>
            <pc:sldMk cId="0" sldId="361"/>
            <ac:spMk id="30750" creationId="{07D011A2-CEAC-4DCA-81CF-5A73606F3E38}"/>
          </ac:spMkLst>
        </pc:spChg>
        <pc:spChg chg="mod">
          <ac:chgData name="Nane Lazaryan" userId="edf0a458-438d-4fc2-9f33-24202edc9cc9" providerId="ADAL" clId="{FF94119C-CA41-4AEC-B225-DC9BC045492D}" dt="2025-07-31T12:30:11.620" v="1" actId="1076"/>
          <ac:spMkLst>
            <pc:docMk/>
            <pc:sldMk cId="0" sldId="361"/>
            <ac:spMk id="30751" creationId="{228297B4-2B5C-4A07-A66F-FC0C73021B94}"/>
          </ac:spMkLst>
        </pc:spChg>
      </pc:sldChg>
      <pc:sldChg chg="modSp mod">
        <pc:chgData name="Nane Lazaryan" userId="edf0a458-438d-4fc2-9f33-24202edc9cc9" providerId="ADAL" clId="{FF94119C-CA41-4AEC-B225-DC9BC045492D}" dt="2025-07-31T12:29:51.240" v="0" actId="14100"/>
        <pc:sldMkLst>
          <pc:docMk/>
          <pc:sldMk cId="0" sldId="383"/>
        </pc:sldMkLst>
        <pc:spChg chg="mod">
          <ac:chgData name="Nane Lazaryan" userId="edf0a458-438d-4fc2-9f33-24202edc9cc9" providerId="ADAL" clId="{FF94119C-CA41-4AEC-B225-DC9BC045492D}" dt="2025-07-31T12:29:51.240" v="0" actId="14100"/>
          <ac:spMkLst>
            <pc:docMk/>
            <pc:sldMk cId="0" sldId="383"/>
            <ac:spMk id="3" creationId="{8A70BF5B-27DA-4F09-A7D8-41F9FAD675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A2A1D80-9AE0-4453-8231-563442C135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19A61CF2-8519-4B83-B415-B496B78454A5}" type="slidenum">
              <a:rPr lang="en-US" altLang="en-US" sz="1200"/>
              <a:pPr/>
              <a:t>4</a:t>
            </a:fld>
            <a:endParaRPr lang="en-US" altLang="en-US" sz="1200"/>
          </a:p>
        </p:txBody>
      </p:sp>
      <p:sp>
        <p:nvSpPr>
          <p:cNvPr id="10243" name="Rectangle 2">
            <a:extLst>
              <a:ext uri="{FF2B5EF4-FFF2-40B4-BE49-F238E27FC236}">
                <a16:creationId xmlns:a16="http://schemas.microsoft.com/office/drawing/2014/main" id="{BB72A6EF-1EC0-4634-922C-DE7E10AC088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FB7ED6A-E049-404F-8ED8-22EC309AED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E960A721-D80E-4B6D-B5FF-90ACD858C6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AB8848C-A6A8-4D12-A932-7994519B3EE9}" type="slidenum">
              <a:rPr lang="en-US" altLang="en-US"/>
              <a:pPr>
                <a:spcBef>
                  <a:spcPct val="0"/>
                </a:spcBef>
              </a:pPr>
              <a:t>11</a:t>
            </a:fld>
            <a:endParaRPr lang="en-US" altLang="en-US"/>
          </a:p>
        </p:txBody>
      </p:sp>
      <p:sp>
        <p:nvSpPr>
          <p:cNvPr id="18435" name="Slide Image Placeholder 1">
            <a:extLst>
              <a:ext uri="{FF2B5EF4-FFF2-40B4-BE49-F238E27FC236}">
                <a16:creationId xmlns:a16="http://schemas.microsoft.com/office/drawing/2014/main" id="{3604811A-8DE2-4077-A76B-EE27410C2992}"/>
              </a:ext>
            </a:extLst>
          </p:cNvPr>
          <p:cNvSpPr>
            <a:spLocks noGrp="1" noRot="1" noChangeAspect="1" noTextEdit="1"/>
          </p:cNvSpPr>
          <p:nvPr>
            <p:ph type="sldImg"/>
          </p:nvPr>
        </p:nvSpPr>
        <p:spPr>
          <a:xfrm>
            <a:off x="2281238" y="525463"/>
            <a:ext cx="4673600" cy="2630487"/>
          </a:xfrm>
          <a:ln/>
        </p:spPr>
      </p:sp>
      <p:sp>
        <p:nvSpPr>
          <p:cNvPr id="18436" name="Notes Placeholder 2">
            <a:extLst>
              <a:ext uri="{FF2B5EF4-FFF2-40B4-BE49-F238E27FC236}">
                <a16:creationId xmlns:a16="http://schemas.microsoft.com/office/drawing/2014/main" id="{716875FE-4FE2-4889-A083-40AAE1C8D292}"/>
              </a:ext>
            </a:extLst>
          </p:cNvPr>
          <p:cNvSpPr>
            <a:spLocks noGrp="1"/>
          </p:cNvSpPr>
          <p:nvPr>
            <p:ph type="body" idx="1"/>
          </p:nvPr>
        </p:nvSpPr>
        <p:spPr>
          <a:xfrm>
            <a:off x="1219200" y="3317875"/>
            <a:ext cx="6753225" cy="31480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Times New Roman" panose="02020603050405020304" pitchFamily="18" charset="0"/>
              <a:cs typeface="Arial" panose="020B0604020202020204" pitchFamily="34" charset="0"/>
            </a:endParaRPr>
          </a:p>
        </p:txBody>
      </p:sp>
      <p:sp>
        <p:nvSpPr>
          <p:cNvPr id="18437" name="Slide Number Placeholder 5">
            <a:extLst>
              <a:ext uri="{FF2B5EF4-FFF2-40B4-BE49-F238E27FC236}">
                <a16:creationId xmlns:a16="http://schemas.microsoft.com/office/drawing/2014/main" id="{010C4647-30F1-41A3-85DB-FCFC5A8268C8}"/>
              </a:ext>
            </a:extLst>
          </p:cNvPr>
          <p:cNvSpPr txBox="1">
            <a:spLocks noGrp="1"/>
          </p:cNvSpPr>
          <p:nvPr/>
        </p:nvSpPr>
        <p:spPr bwMode="auto">
          <a:xfrm>
            <a:off x="5232400" y="6659563"/>
            <a:ext cx="40020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0AADA957-40F0-487E-8A65-8B37343DE088}" type="slidenum">
              <a:rPr lang="en-US" altLang="en-US"/>
              <a:pPr algn="r" eaLnBrk="1" hangingPunct="1">
                <a:spcBef>
                  <a:spcPct val="0"/>
                </a:spcBef>
              </a:pPr>
              <a:t>11</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7A031EC-632F-4AF7-B5AC-17E645323E78}"/>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03264B1E-A360-4D79-B2B8-81851451EEB5}"/>
              </a:ext>
            </a:extLst>
          </p:cNvPr>
          <p:cNvSpPr>
            <a:spLocks noGrp="1" noChangeArrowheads="1"/>
          </p:cNvSpPr>
          <p:nvPr>
            <p:ph type="body" idx="1"/>
          </p:nvPr>
        </p:nvSpPr>
        <p:spPr>
          <a:xfrm rot="10800000">
            <a:off x="411163" y="3829050"/>
            <a:ext cx="8516937" cy="292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50DC86D-FAC5-4FF5-A2B8-B722A70A7C8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4F57CB40-C08B-4019-8E72-682AEE97AD74}"/>
              </a:ext>
            </a:extLst>
          </p:cNvPr>
          <p:cNvSpPr>
            <a:spLocks noGrp="1" noChangeArrowheads="1"/>
          </p:cNvSpPr>
          <p:nvPr>
            <p:ph type="body" idx="1"/>
          </p:nvPr>
        </p:nvSpPr>
        <p:spPr>
          <a:xfrm rot="10800000">
            <a:off x="411163" y="3829050"/>
            <a:ext cx="8516937" cy="292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BE462432-19F6-49CE-8EE0-DE551C972113}"/>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DDC3C8CA-3C13-4D71-9A39-30ACB5F813F5}"/>
              </a:ext>
            </a:extLst>
          </p:cNvPr>
          <p:cNvSpPr>
            <a:spLocks noGrp="1"/>
          </p:cNvSpPr>
          <p:nvPr>
            <p:ph type="body" sz="quarter" idx="10"/>
          </p:nvPr>
        </p:nvSpPr>
        <p:spPr/>
        <p:txBody>
          <a:bodyPr/>
          <a:lstStyle/>
          <a:p>
            <a:r>
              <a:rPr lang="en-US" altLang="en-US" sz="1600" dirty="0"/>
              <a:t>STA Concepts </a:t>
            </a:r>
          </a:p>
          <a:p>
            <a:pPr lvl="1"/>
            <a:r>
              <a:rPr lang="en-US" altLang="en-US" sz="1200" dirty="0"/>
              <a:t>1 lecture</a:t>
            </a:r>
          </a:p>
          <a:p>
            <a:r>
              <a:rPr lang="en-US" altLang="en-US" sz="1600" dirty="0"/>
              <a:t>Delay Modeling</a:t>
            </a:r>
          </a:p>
          <a:p>
            <a:pPr lvl="1"/>
            <a:r>
              <a:rPr lang="en-US" altLang="en-US" sz="1200" dirty="0"/>
              <a:t>1 lecture</a:t>
            </a:r>
          </a:p>
          <a:p>
            <a:r>
              <a:rPr lang="en-US" altLang="en-US" sz="1600" dirty="0"/>
              <a:t>Interconnect </a:t>
            </a:r>
            <a:r>
              <a:rPr lang="en-US" altLang="en-US" sz="1600" dirty="0" err="1"/>
              <a:t>Parasitics</a:t>
            </a:r>
            <a:endParaRPr lang="en-US" altLang="en-US" sz="1600" dirty="0"/>
          </a:p>
          <a:p>
            <a:pPr lvl="1"/>
            <a:r>
              <a:rPr lang="en-US" altLang="en-US" sz="1200" dirty="0"/>
              <a:t>1 lecture</a:t>
            </a:r>
          </a:p>
          <a:p>
            <a:r>
              <a:rPr lang="en-US" altLang="en-US" sz="1600" dirty="0"/>
              <a:t>Delay Calculation</a:t>
            </a:r>
          </a:p>
          <a:p>
            <a:pPr lvl="1"/>
            <a:r>
              <a:rPr lang="en-US" altLang="en-US" sz="1200" dirty="0"/>
              <a:t>1 lecture</a:t>
            </a:r>
          </a:p>
          <a:p>
            <a:r>
              <a:rPr lang="en-US" altLang="en-US" sz="1600" dirty="0">
                <a:solidFill>
                  <a:srgbClr val="0000FF"/>
                </a:solidFill>
              </a:rPr>
              <a:t>Configuring the STA Environment</a:t>
            </a:r>
          </a:p>
          <a:p>
            <a:pPr lvl="1"/>
            <a:r>
              <a:rPr lang="en-US" altLang="en-US" sz="1200" dirty="0">
                <a:solidFill>
                  <a:srgbClr val="0000FF"/>
                </a:solidFill>
              </a:rPr>
              <a:t>1 lecture</a:t>
            </a:r>
          </a:p>
          <a:p>
            <a:r>
              <a:rPr lang="en-US" altLang="en-US" sz="1600" dirty="0"/>
              <a:t>Timing Checks</a:t>
            </a:r>
          </a:p>
          <a:p>
            <a:pPr lvl="1"/>
            <a:r>
              <a:rPr lang="en-US" altLang="en-US" sz="1200" dirty="0"/>
              <a:t>1 lecture</a:t>
            </a:r>
          </a:p>
          <a:p>
            <a:r>
              <a:rPr lang="en-US" altLang="en-US" sz="1600" dirty="0"/>
              <a:t>Crosstalk and Noise</a:t>
            </a:r>
          </a:p>
          <a:p>
            <a:pPr lvl="1"/>
            <a:r>
              <a:rPr lang="en-US" altLang="en-US" sz="1200" dirty="0"/>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7789FF38-F1B4-4184-A5FD-33F9DD12B40B}"/>
              </a:ext>
            </a:extLst>
          </p:cNvPr>
          <p:cNvSpPr>
            <a:spLocks noGrp="1"/>
          </p:cNvSpPr>
          <p:nvPr>
            <p:ph type="title"/>
          </p:nvPr>
        </p:nvSpPr>
        <p:spPr/>
        <p:txBody>
          <a:bodyPr>
            <a:normAutofit/>
          </a:bodyPr>
          <a:lstStyle/>
          <a:p>
            <a:br>
              <a:rPr lang="en-US" altLang="en-US" dirty="0"/>
            </a:br>
            <a:endParaRPr lang="en-US" altLang="en-US" dirty="0"/>
          </a:p>
        </p:txBody>
      </p:sp>
      <p:sp>
        <p:nvSpPr>
          <p:cNvPr id="4" name="Text Placeholder 3">
            <a:extLst>
              <a:ext uri="{FF2B5EF4-FFF2-40B4-BE49-F238E27FC236}">
                <a16:creationId xmlns:a16="http://schemas.microsoft.com/office/drawing/2014/main" id="{EB34858E-2A77-4128-8489-09244447EC4B}"/>
              </a:ext>
            </a:extLst>
          </p:cNvPr>
          <p:cNvSpPr>
            <a:spLocks noGrp="1"/>
          </p:cNvSpPr>
          <p:nvPr>
            <p:ph type="body" sz="quarter" idx="10"/>
          </p:nvPr>
        </p:nvSpPr>
        <p:spPr/>
        <p:txBody>
          <a:bodyPr/>
          <a:lstStyle/>
          <a:p>
            <a:pPr>
              <a:buFont typeface="+mj-lt"/>
              <a:buAutoNum type="arabicPeriod" startAt="5"/>
            </a:pPr>
            <a:r>
              <a:rPr lang="en-US" altLang="en-US" dirty="0"/>
              <a:t>Configuring the STA Environment</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FDA2F62-0512-4B96-A16A-3327D5232702}"/>
              </a:ext>
            </a:extLst>
          </p:cNvPr>
          <p:cNvSpPr>
            <a:spLocks noGrp="1"/>
          </p:cNvSpPr>
          <p:nvPr>
            <p:ph type="title"/>
          </p:nvPr>
        </p:nvSpPr>
        <p:spPr/>
        <p:txBody>
          <a:bodyPr>
            <a:normAutofit/>
          </a:bodyPr>
          <a:lstStyle/>
          <a:p>
            <a:r>
              <a:rPr lang="en-US" altLang="en-US"/>
              <a:t>Getting Ready for STA Tool Usage</a:t>
            </a:r>
          </a:p>
        </p:txBody>
      </p:sp>
      <p:sp>
        <p:nvSpPr>
          <p:cNvPr id="11267" name="Content Placeholder 2">
            <a:extLst>
              <a:ext uri="{FF2B5EF4-FFF2-40B4-BE49-F238E27FC236}">
                <a16:creationId xmlns:a16="http://schemas.microsoft.com/office/drawing/2014/main" id="{DC94E1F2-DB6B-43A8-AD7A-E481DE44EF2A}"/>
              </a:ext>
            </a:extLst>
          </p:cNvPr>
          <p:cNvSpPr>
            <a:spLocks noGrp="1"/>
          </p:cNvSpPr>
          <p:nvPr>
            <p:ph type="body" sz="quarter" idx="10"/>
          </p:nvPr>
        </p:nvSpPr>
        <p:spPr/>
        <p:txBody>
          <a:bodyPr/>
          <a:lstStyle/>
          <a:p>
            <a:r>
              <a:rPr lang="en-US" altLang="en-US"/>
              <a:t>To identify all the timing issues in the gate level design, the following information is required:</a:t>
            </a:r>
          </a:p>
          <a:p>
            <a:pPr lvl="1"/>
            <a:r>
              <a:rPr lang="en-US" altLang="en-US"/>
              <a:t>Clocks</a:t>
            </a:r>
          </a:p>
          <a:p>
            <a:pPr lvl="1"/>
            <a:r>
              <a:rPr lang="en-US" altLang="en-US"/>
              <a:t>I/O timing characteristics</a:t>
            </a:r>
          </a:p>
          <a:p>
            <a:pPr lvl="1"/>
            <a:r>
              <a:rPr lang="en-US" altLang="en-US"/>
              <a:t>False paths</a:t>
            </a:r>
          </a:p>
          <a:p>
            <a:pPr lvl="1"/>
            <a:r>
              <a:rPr lang="en-US" altLang="en-US"/>
              <a:t>Multicycle paths</a:t>
            </a:r>
          </a:p>
          <a:p>
            <a:pPr lvl="1"/>
            <a:r>
              <a:rPr lang="en-US" altLang="en-US"/>
              <a:t>Environment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56739C3-CB78-41E4-AA20-2A368A48BA06}"/>
              </a:ext>
            </a:extLst>
          </p:cNvPr>
          <p:cNvSpPr>
            <a:spLocks noGrp="1"/>
          </p:cNvSpPr>
          <p:nvPr>
            <p:ph type="title"/>
          </p:nvPr>
        </p:nvSpPr>
        <p:spPr/>
        <p:txBody>
          <a:bodyPr/>
          <a:lstStyle/>
          <a:p>
            <a:r>
              <a:rPr lang="en-US" altLang="en-US"/>
              <a:t>Setting Design Environment</a:t>
            </a:r>
          </a:p>
        </p:txBody>
      </p:sp>
      <p:sp>
        <p:nvSpPr>
          <p:cNvPr id="12291" name="Content Placeholder 2">
            <a:extLst>
              <a:ext uri="{FF2B5EF4-FFF2-40B4-BE49-F238E27FC236}">
                <a16:creationId xmlns:a16="http://schemas.microsoft.com/office/drawing/2014/main" id="{0DA618F5-5BDF-4FA3-9F8C-5DEB4C015433}"/>
              </a:ext>
            </a:extLst>
          </p:cNvPr>
          <p:cNvSpPr>
            <a:spLocks noGrp="1"/>
          </p:cNvSpPr>
          <p:nvPr>
            <p:ph type="body" sz="quarter" idx="10"/>
          </p:nvPr>
        </p:nvSpPr>
        <p:spPr/>
        <p:txBody>
          <a:bodyPr/>
          <a:lstStyle/>
          <a:p>
            <a:r>
              <a:rPr lang="en-US" altLang="en-US" sz="2000"/>
              <a:t>To perform STA on this design, it is required to: </a:t>
            </a:r>
          </a:p>
          <a:p>
            <a:pPr lvl="1"/>
            <a:r>
              <a:rPr lang="en-US" altLang="en-US" sz="1600"/>
              <a:t>Specify the clocks </a:t>
            </a:r>
          </a:p>
          <a:p>
            <a:pPr lvl="1"/>
            <a:r>
              <a:rPr lang="en-US" altLang="en-US" sz="1600"/>
              <a:t>Set timing constraints for input and output paths</a:t>
            </a:r>
          </a:p>
          <a:p>
            <a:pPr lvl="1"/>
            <a:r>
              <a:rPr lang="en-US" altLang="en-US" sz="1600"/>
              <a:t>Define driving circuitry</a:t>
            </a:r>
          </a:p>
          <a:p>
            <a:pPr lvl="1"/>
            <a:r>
              <a:rPr lang="en-US" altLang="en-US" sz="1600"/>
              <a:t>Set output loads</a:t>
            </a:r>
          </a:p>
          <a:p>
            <a:endParaRPr lang="en-US" altLang="en-US" sz="2000"/>
          </a:p>
        </p:txBody>
      </p:sp>
      <p:grpSp>
        <p:nvGrpSpPr>
          <p:cNvPr id="12292" name="Group 4">
            <a:extLst>
              <a:ext uri="{FF2B5EF4-FFF2-40B4-BE49-F238E27FC236}">
                <a16:creationId xmlns:a16="http://schemas.microsoft.com/office/drawing/2014/main" id="{09DF956D-4AAD-4DB1-9230-D4561BBBEBBD}"/>
              </a:ext>
            </a:extLst>
          </p:cNvPr>
          <p:cNvGrpSpPr>
            <a:grpSpLocks/>
          </p:cNvGrpSpPr>
          <p:nvPr/>
        </p:nvGrpSpPr>
        <p:grpSpPr bwMode="auto">
          <a:xfrm>
            <a:off x="2895601" y="3430588"/>
            <a:ext cx="5808663" cy="2324100"/>
            <a:chOff x="1524752" y="3124200"/>
            <a:chExt cx="5809174" cy="2706650"/>
          </a:xfrm>
        </p:grpSpPr>
        <p:cxnSp>
          <p:nvCxnSpPr>
            <p:cNvPr id="12293" name="Straight Connector 127">
              <a:extLst>
                <a:ext uri="{FF2B5EF4-FFF2-40B4-BE49-F238E27FC236}">
                  <a16:creationId xmlns:a16="http://schemas.microsoft.com/office/drawing/2014/main" id="{520C8E31-C1D7-4194-89E8-FD538FE28863}"/>
                </a:ext>
              </a:extLst>
            </p:cNvPr>
            <p:cNvCxnSpPr>
              <a:cxnSpLocks noChangeShapeType="1"/>
              <a:stCxn id="12332" idx="6"/>
            </p:cNvCxnSpPr>
            <p:nvPr/>
          </p:nvCxnSpPr>
          <p:spPr bwMode="auto">
            <a:xfrm flipV="1">
              <a:off x="3408977" y="5133147"/>
              <a:ext cx="340653" cy="0"/>
            </a:xfrm>
            <a:prstGeom prst="line">
              <a:avLst/>
            </a:prstGeom>
            <a:noFill/>
            <a:ln w="9525" algn="ctr">
              <a:solidFill>
                <a:schemeClr val="tx1"/>
              </a:solidFill>
              <a:round/>
              <a:headEnd/>
              <a:tailEnd/>
            </a:ln>
          </p:spPr>
        </p:cxnSp>
        <p:sp>
          <p:nvSpPr>
            <p:cNvPr id="12294" name="TextBox 86">
              <a:extLst>
                <a:ext uri="{FF2B5EF4-FFF2-40B4-BE49-F238E27FC236}">
                  <a16:creationId xmlns:a16="http://schemas.microsoft.com/office/drawing/2014/main" id="{5ABC220F-8862-4A40-9D13-7C665E267061}"/>
                </a:ext>
              </a:extLst>
            </p:cNvPr>
            <p:cNvSpPr txBox="1">
              <a:spLocks noChangeArrowheads="1"/>
            </p:cNvSpPr>
            <p:nvPr/>
          </p:nvSpPr>
          <p:spPr bwMode="auto">
            <a:xfrm>
              <a:off x="3607826" y="5508143"/>
              <a:ext cx="2895600" cy="32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Design Under  Analysis (DUA)</a:t>
              </a:r>
            </a:p>
          </p:txBody>
        </p:sp>
        <p:sp>
          <p:nvSpPr>
            <p:cNvPr id="12295" name="Rectangle 73">
              <a:extLst>
                <a:ext uri="{FF2B5EF4-FFF2-40B4-BE49-F238E27FC236}">
                  <a16:creationId xmlns:a16="http://schemas.microsoft.com/office/drawing/2014/main" id="{8191B5A2-5028-47B7-92EC-E8CD4F2CA071}"/>
                </a:ext>
              </a:extLst>
            </p:cNvPr>
            <p:cNvSpPr>
              <a:spLocks noChangeArrowheads="1"/>
            </p:cNvSpPr>
            <p:nvPr/>
          </p:nvSpPr>
          <p:spPr bwMode="auto">
            <a:xfrm>
              <a:off x="1524752" y="3124200"/>
              <a:ext cx="1893536" cy="1840938"/>
            </a:xfrm>
            <a:prstGeom prst="rect">
              <a:avLst/>
            </a:prstGeom>
            <a:noFill/>
            <a:ln w="1905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12296" name="Group 75">
              <a:extLst>
                <a:ext uri="{FF2B5EF4-FFF2-40B4-BE49-F238E27FC236}">
                  <a16:creationId xmlns:a16="http://schemas.microsoft.com/office/drawing/2014/main" id="{CD08E9A3-4413-4C0A-A0E9-49729507EEB5}"/>
                </a:ext>
              </a:extLst>
            </p:cNvPr>
            <p:cNvGrpSpPr>
              <a:grpSpLocks/>
            </p:cNvGrpSpPr>
            <p:nvPr/>
          </p:nvGrpSpPr>
          <p:grpSpPr bwMode="auto">
            <a:xfrm>
              <a:off x="3360815" y="3316855"/>
              <a:ext cx="2079575" cy="1332694"/>
              <a:chOff x="2428158" y="1726904"/>
              <a:chExt cx="3012716" cy="1930696"/>
            </a:xfrm>
          </p:grpSpPr>
          <p:cxnSp>
            <p:nvCxnSpPr>
              <p:cNvPr id="12350" name="Straight Connector 114">
                <a:extLst>
                  <a:ext uri="{FF2B5EF4-FFF2-40B4-BE49-F238E27FC236}">
                    <a16:creationId xmlns:a16="http://schemas.microsoft.com/office/drawing/2014/main" id="{C16DB635-F855-45DF-894A-405061AD5510}"/>
                  </a:ext>
                </a:extLst>
              </p:cNvPr>
              <p:cNvCxnSpPr>
                <a:cxnSpLocks noChangeShapeType="1"/>
              </p:cNvCxnSpPr>
              <p:nvPr/>
            </p:nvCxnSpPr>
            <p:spPr bwMode="auto">
              <a:xfrm flipV="1">
                <a:off x="2428158" y="2197286"/>
                <a:ext cx="3012716" cy="0"/>
              </a:xfrm>
              <a:prstGeom prst="line">
                <a:avLst/>
              </a:prstGeom>
              <a:noFill/>
              <a:ln w="9525" algn="ctr">
                <a:solidFill>
                  <a:schemeClr val="tx1"/>
                </a:solidFill>
                <a:round/>
                <a:headEnd/>
                <a:tailEnd/>
              </a:ln>
            </p:spPr>
          </p:cxnSp>
          <p:cxnSp>
            <p:nvCxnSpPr>
              <p:cNvPr id="12351" name="Straight Connector 115">
                <a:extLst>
                  <a:ext uri="{FF2B5EF4-FFF2-40B4-BE49-F238E27FC236}">
                    <a16:creationId xmlns:a16="http://schemas.microsoft.com/office/drawing/2014/main" id="{FB230C4E-66F6-49ED-9815-EC8A6AF12691}"/>
                  </a:ext>
                </a:extLst>
              </p:cNvPr>
              <p:cNvCxnSpPr>
                <a:cxnSpLocks noChangeShapeType="1"/>
              </p:cNvCxnSpPr>
              <p:nvPr/>
            </p:nvCxnSpPr>
            <p:spPr bwMode="auto">
              <a:xfrm>
                <a:off x="2428158" y="3657600"/>
                <a:ext cx="3012716" cy="0"/>
              </a:xfrm>
              <a:prstGeom prst="line">
                <a:avLst/>
              </a:prstGeom>
              <a:noFill/>
              <a:ln w="9525" algn="ctr">
                <a:solidFill>
                  <a:schemeClr val="tx1"/>
                </a:solidFill>
                <a:round/>
                <a:headEnd/>
                <a:tailEnd/>
              </a:ln>
            </p:spPr>
          </p:cxnSp>
          <p:cxnSp>
            <p:nvCxnSpPr>
              <p:cNvPr id="12352" name="Straight Connector 116">
                <a:extLst>
                  <a:ext uri="{FF2B5EF4-FFF2-40B4-BE49-F238E27FC236}">
                    <a16:creationId xmlns:a16="http://schemas.microsoft.com/office/drawing/2014/main" id="{FE895323-F723-4742-8246-2D14C10909E9}"/>
                  </a:ext>
                </a:extLst>
              </p:cNvPr>
              <p:cNvCxnSpPr>
                <a:cxnSpLocks noChangeShapeType="1"/>
              </p:cNvCxnSpPr>
              <p:nvPr/>
            </p:nvCxnSpPr>
            <p:spPr bwMode="auto">
              <a:xfrm>
                <a:off x="2428158" y="1726904"/>
                <a:ext cx="3012716" cy="0"/>
              </a:xfrm>
              <a:prstGeom prst="line">
                <a:avLst/>
              </a:prstGeom>
              <a:noFill/>
              <a:ln w="9525" algn="ctr">
                <a:solidFill>
                  <a:schemeClr val="tx1"/>
                </a:solidFill>
                <a:round/>
                <a:headEnd/>
                <a:tailEnd/>
              </a:ln>
            </p:spPr>
          </p:cxnSp>
        </p:grpSp>
        <p:sp>
          <p:nvSpPr>
            <p:cNvPr id="12297" name="TextBox 79">
              <a:extLst>
                <a:ext uri="{FF2B5EF4-FFF2-40B4-BE49-F238E27FC236}">
                  <a16:creationId xmlns:a16="http://schemas.microsoft.com/office/drawing/2014/main" id="{865979C2-2C88-4FC0-902D-60BECF4AB9D0}"/>
                </a:ext>
              </a:extLst>
            </p:cNvPr>
            <p:cNvSpPr txBox="1">
              <a:spLocks noChangeArrowheads="1"/>
            </p:cNvSpPr>
            <p:nvPr/>
          </p:nvSpPr>
          <p:spPr bwMode="auto">
            <a:xfrm>
              <a:off x="5698508" y="3663683"/>
              <a:ext cx="1377421" cy="43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Output load</a:t>
              </a:r>
            </a:p>
          </p:txBody>
        </p:sp>
        <p:sp>
          <p:nvSpPr>
            <p:cNvPr id="12298" name="TextBox 80">
              <a:extLst>
                <a:ext uri="{FF2B5EF4-FFF2-40B4-BE49-F238E27FC236}">
                  <a16:creationId xmlns:a16="http://schemas.microsoft.com/office/drawing/2014/main" id="{52F18C8B-7DEF-4FBD-A7DD-801AF282D5BF}"/>
                </a:ext>
              </a:extLst>
            </p:cNvPr>
            <p:cNvSpPr txBox="1">
              <a:spLocks noChangeArrowheads="1"/>
            </p:cNvSpPr>
            <p:nvPr/>
          </p:nvSpPr>
          <p:spPr bwMode="auto">
            <a:xfrm>
              <a:off x="1524752" y="4109070"/>
              <a:ext cx="1096238" cy="60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Driving Circuitry</a:t>
              </a:r>
            </a:p>
          </p:txBody>
        </p:sp>
        <p:sp>
          <p:nvSpPr>
            <p:cNvPr id="90" name="TextBox 89">
              <a:extLst>
                <a:ext uri="{FF2B5EF4-FFF2-40B4-BE49-F238E27FC236}">
                  <a16:creationId xmlns:a16="http://schemas.microsoft.com/office/drawing/2014/main" id="{3D3FB849-1133-47E2-89A4-CF62BD9BBE86}"/>
                </a:ext>
              </a:extLst>
            </p:cNvPr>
            <p:cNvSpPr txBox="1">
              <a:spLocks noRot="1" noChangeAspect="1" noMove="1" noResize="1" noEditPoints="1" noAdjustHandles="1" noChangeArrowheads="1" noChangeShapeType="1" noTextEdit="1"/>
            </p:cNvSpPr>
            <p:nvPr/>
          </p:nvSpPr>
          <p:spPr>
            <a:xfrm>
              <a:off x="2885337" y="3875340"/>
              <a:ext cx="396262" cy="523220"/>
            </a:xfrm>
            <a:prstGeom prst="rect">
              <a:avLst/>
            </a:prstGeom>
            <a:blipFill rotWithShape="0">
              <a:blip r:embed="rId2"/>
              <a:stretch>
                <a:fillRect/>
              </a:stretch>
            </a:blipFill>
          </p:spPr>
          <p:txBody>
            <a:bodyPr/>
            <a:lstStyle/>
            <a:p>
              <a:r>
                <a:rPr lang="en-US">
                  <a:noFill/>
                </a:rPr>
                <a:t> </a:t>
              </a:r>
            </a:p>
          </p:txBody>
        </p:sp>
        <p:sp>
          <p:nvSpPr>
            <p:cNvPr id="91" name="TextBox 90">
              <a:extLst>
                <a:ext uri="{FF2B5EF4-FFF2-40B4-BE49-F238E27FC236}">
                  <a16:creationId xmlns:a16="http://schemas.microsoft.com/office/drawing/2014/main" id="{CAF139BB-4063-4AE1-9715-7553C1DC4480}"/>
                </a:ext>
              </a:extLst>
            </p:cNvPr>
            <p:cNvSpPr txBox="1">
              <a:spLocks noRot="1" noChangeAspect="1" noMove="1" noResize="1" noEditPoints="1" noAdjustHandles="1" noChangeArrowheads="1" noChangeShapeType="1" noTextEdit="1"/>
            </p:cNvSpPr>
            <p:nvPr/>
          </p:nvSpPr>
          <p:spPr>
            <a:xfrm>
              <a:off x="5113474" y="3888255"/>
              <a:ext cx="396262" cy="523220"/>
            </a:xfrm>
            <a:prstGeom prst="rect">
              <a:avLst/>
            </a:prstGeom>
            <a:blipFill rotWithShape="0">
              <a:blip r:embed="rId3"/>
              <a:stretch>
                <a:fillRect/>
              </a:stretch>
            </a:blipFill>
          </p:spPr>
          <p:txBody>
            <a:bodyPr/>
            <a:lstStyle/>
            <a:p>
              <a:r>
                <a:rPr lang="en-US">
                  <a:noFill/>
                </a:rPr>
                <a:t> </a:t>
              </a:r>
            </a:p>
          </p:txBody>
        </p:sp>
        <p:sp>
          <p:nvSpPr>
            <p:cNvPr id="92" name="TextBox 91">
              <a:extLst>
                <a:ext uri="{FF2B5EF4-FFF2-40B4-BE49-F238E27FC236}">
                  <a16:creationId xmlns:a16="http://schemas.microsoft.com/office/drawing/2014/main" id="{757822D8-B787-40AD-9964-3A65626650B2}"/>
                </a:ext>
              </a:extLst>
            </p:cNvPr>
            <p:cNvSpPr txBox="1">
              <a:spLocks noRot="1" noChangeAspect="1" noMove="1" noResize="1" noEditPoints="1" noAdjustHandles="1" noChangeArrowheads="1" noChangeShapeType="1" noTextEdit="1"/>
            </p:cNvSpPr>
            <p:nvPr/>
          </p:nvSpPr>
          <p:spPr>
            <a:xfrm>
              <a:off x="3356151" y="3888255"/>
              <a:ext cx="396262" cy="523220"/>
            </a:xfrm>
            <a:prstGeom prst="rect">
              <a:avLst/>
            </a:prstGeom>
            <a:blipFill rotWithShape="0">
              <a:blip r:embed="rId4"/>
              <a:stretch>
                <a:fillRect/>
              </a:stretch>
            </a:blipFill>
          </p:spPr>
          <p:txBody>
            <a:bodyPr/>
            <a:lstStyle/>
            <a:p>
              <a:r>
                <a:rPr lang="en-US">
                  <a:noFill/>
                </a:rPr>
                <a:t> </a:t>
              </a:r>
            </a:p>
          </p:txBody>
        </p:sp>
        <p:sp>
          <p:nvSpPr>
            <p:cNvPr id="12302" name="Rectangle 92">
              <a:extLst>
                <a:ext uri="{FF2B5EF4-FFF2-40B4-BE49-F238E27FC236}">
                  <a16:creationId xmlns:a16="http://schemas.microsoft.com/office/drawing/2014/main" id="{C64C1D13-5A8B-4F9E-828D-76F47EFDC11A}"/>
                </a:ext>
              </a:extLst>
            </p:cNvPr>
            <p:cNvSpPr>
              <a:spLocks noChangeArrowheads="1"/>
            </p:cNvSpPr>
            <p:nvPr/>
          </p:nvSpPr>
          <p:spPr bwMode="auto">
            <a:xfrm>
              <a:off x="3687116" y="3124200"/>
              <a:ext cx="1472750" cy="228404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nvGrpSpPr>
            <p:cNvPr id="12303" name="Group 93">
              <a:extLst>
                <a:ext uri="{FF2B5EF4-FFF2-40B4-BE49-F238E27FC236}">
                  <a16:creationId xmlns:a16="http://schemas.microsoft.com/office/drawing/2014/main" id="{095FC5F1-2AA4-4739-BC2F-521200797A7B}"/>
                </a:ext>
              </a:extLst>
            </p:cNvPr>
            <p:cNvGrpSpPr>
              <a:grpSpLocks/>
            </p:cNvGrpSpPr>
            <p:nvPr/>
          </p:nvGrpSpPr>
          <p:grpSpPr bwMode="auto">
            <a:xfrm>
              <a:off x="3679610" y="3228395"/>
              <a:ext cx="1528589" cy="2072749"/>
              <a:chOff x="3649420" y="3458949"/>
              <a:chExt cx="1528589" cy="2072749"/>
            </a:xfrm>
          </p:grpSpPr>
          <p:grpSp>
            <p:nvGrpSpPr>
              <p:cNvPr id="12337" name="Group 101">
                <a:extLst>
                  <a:ext uri="{FF2B5EF4-FFF2-40B4-BE49-F238E27FC236}">
                    <a16:creationId xmlns:a16="http://schemas.microsoft.com/office/drawing/2014/main" id="{5192311C-7F0C-4565-B6B1-9E84278C9827}"/>
                  </a:ext>
                </a:extLst>
              </p:cNvPr>
              <p:cNvGrpSpPr>
                <a:grpSpLocks/>
              </p:cNvGrpSpPr>
              <p:nvPr/>
            </p:nvGrpSpPr>
            <p:grpSpPr bwMode="auto">
              <a:xfrm>
                <a:off x="3656928" y="3458949"/>
                <a:ext cx="1521081" cy="2072749"/>
                <a:chOff x="3656928" y="3458949"/>
                <a:chExt cx="1521081" cy="2072749"/>
              </a:xfrm>
            </p:grpSpPr>
            <p:sp>
              <p:nvSpPr>
                <p:cNvPr id="105" name="Isosceles Triangle 104">
                  <a:extLst>
                    <a:ext uri="{FF2B5EF4-FFF2-40B4-BE49-F238E27FC236}">
                      <a16:creationId xmlns:a16="http://schemas.microsoft.com/office/drawing/2014/main" id="{55FFDA03-C3BC-4263-9432-F0BA7B0C6E2A}"/>
                    </a:ext>
                  </a:extLst>
                </p:cNvPr>
                <p:cNvSpPr/>
                <p:nvPr/>
              </p:nvSpPr>
              <p:spPr bwMode="auto">
                <a:xfrm rot="5400000">
                  <a:off x="3603938" y="5300920"/>
                  <a:ext cx="210764" cy="104784"/>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06" name="TextBox 105">
                  <a:extLst>
                    <a:ext uri="{FF2B5EF4-FFF2-40B4-BE49-F238E27FC236}">
                      <a16:creationId xmlns:a16="http://schemas.microsoft.com/office/drawing/2014/main" id="{EBD92F22-5B2E-4509-AC2C-4D49340167C3}"/>
                    </a:ext>
                  </a:extLst>
                </p:cNvPr>
                <p:cNvSpPr txBox="1"/>
                <p:nvPr/>
              </p:nvSpPr>
              <p:spPr>
                <a:xfrm>
                  <a:off x="3798228" y="5209105"/>
                  <a:ext cx="693798" cy="322593"/>
                </a:xfrm>
                <a:prstGeom prst="rect">
                  <a:avLst/>
                </a:prstGeom>
                <a:noFill/>
                <a:ln w="9525">
                  <a:noFill/>
                </a:ln>
              </p:spPr>
              <p:txBody>
                <a:bodyPr>
                  <a:spAutoFit/>
                </a:bodyPr>
                <a:lstStyle/>
                <a:p>
                  <a:pPr eaLnBrk="1" hangingPunct="1">
                    <a:defRPr/>
                  </a:pPr>
                  <a:r>
                    <a:rPr lang="en-US" sz="1200" dirty="0">
                      <a:solidFill>
                        <a:schemeClr val="bg1"/>
                      </a:solidFill>
                      <a:latin typeface="+mj-lt"/>
                      <a:cs typeface="Arial" charset="0"/>
                    </a:rPr>
                    <a:t>clock</a:t>
                  </a:r>
                </a:p>
              </p:txBody>
            </p:sp>
            <p:grpSp>
              <p:nvGrpSpPr>
                <p:cNvPr id="12342" name="Group 106">
                  <a:extLst>
                    <a:ext uri="{FF2B5EF4-FFF2-40B4-BE49-F238E27FC236}">
                      <a16:creationId xmlns:a16="http://schemas.microsoft.com/office/drawing/2014/main" id="{317EB12D-99C9-46F7-97B5-044BD155A3B1}"/>
                    </a:ext>
                  </a:extLst>
                </p:cNvPr>
                <p:cNvGrpSpPr>
                  <a:grpSpLocks/>
                </p:cNvGrpSpPr>
                <p:nvPr/>
              </p:nvGrpSpPr>
              <p:grpSpPr bwMode="auto">
                <a:xfrm>
                  <a:off x="3690105" y="3458949"/>
                  <a:ext cx="364234" cy="1610312"/>
                  <a:chOff x="2943664" y="1522551"/>
                  <a:chExt cx="527672" cy="2332886"/>
                </a:xfrm>
              </p:grpSpPr>
              <p:sp>
                <p:nvSpPr>
                  <p:cNvPr id="12347" name="TextBox 111">
                    <a:extLst>
                      <a:ext uri="{FF2B5EF4-FFF2-40B4-BE49-F238E27FC236}">
                        <a16:creationId xmlns:a16="http://schemas.microsoft.com/office/drawing/2014/main" id="{8FB3439F-0DAF-4805-96BE-31BB6F124A59}"/>
                      </a:ext>
                    </a:extLst>
                  </p:cNvPr>
                  <p:cNvSpPr txBox="1">
                    <a:spLocks noChangeArrowheads="1"/>
                  </p:cNvSpPr>
                  <p:nvPr/>
                </p:nvSpPr>
                <p:spPr bwMode="auto">
                  <a:xfrm>
                    <a:off x="2943664" y="1522551"/>
                    <a:ext cx="527672" cy="38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IN0</a:t>
                    </a:r>
                  </a:p>
                </p:txBody>
              </p:sp>
              <p:sp>
                <p:nvSpPr>
                  <p:cNvPr id="12348" name="TextBox 112">
                    <a:extLst>
                      <a:ext uri="{FF2B5EF4-FFF2-40B4-BE49-F238E27FC236}">
                        <a16:creationId xmlns:a16="http://schemas.microsoft.com/office/drawing/2014/main" id="{2E80CC61-47FD-4B90-B93A-6D9C098E8402}"/>
                      </a:ext>
                    </a:extLst>
                  </p:cNvPr>
                  <p:cNvSpPr txBox="1">
                    <a:spLocks noChangeArrowheads="1"/>
                  </p:cNvSpPr>
                  <p:nvPr/>
                </p:nvSpPr>
                <p:spPr bwMode="auto">
                  <a:xfrm>
                    <a:off x="2943664" y="1941983"/>
                    <a:ext cx="527672" cy="38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IN1</a:t>
                    </a:r>
                  </a:p>
                </p:txBody>
              </p:sp>
              <p:sp>
                <p:nvSpPr>
                  <p:cNvPr id="12349" name="TextBox 113">
                    <a:extLst>
                      <a:ext uri="{FF2B5EF4-FFF2-40B4-BE49-F238E27FC236}">
                        <a16:creationId xmlns:a16="http://schemas.microsoft.com/office/drawing/2014/main" id="{1526DE7E-2595-4CD9-BAC9-638B1D170BB6}"/>
                      </a:ext>
                    </a:extLst>
                  </p:cNvPr>
                  <p:cNvSpPr txBox="1">
                    <a:spLocks noChangeArrowheads="1"/>
                  </p:cNvSpPr>
                  <p:nvPr/>
                </p:nvSpPr>
                <p:spPr bwMode="auto">
                  <a:xfrm>
                    <a:off x="2943664" y="3465983"/>
                    <a:ext cx="527672" cy="38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err="1">
                        <a:solidFill>
                          <a:schemeClr val="bg1"/>
                        </a:solidFill>
                      </a:rPr>
                      <a:t>INn</a:t>
                    </a:r>
                    <a:endParaRPr lang="en-US" altLang="en-US" dirty="0">
                      <a:solidFill>
                        <a:schemeClr val="bg1"/>
                      </a:solidFill>
                    </a:endParaRPr>
                  </a:p>
                </p:txBody>
              </p:sp>
            </p:grpSp>
            <p:grpSp>
              <p:nvGrpSpPr>
                <p:cNvPr id="12343" name="Group 107">
                  <a:extLst>
                    <a:ext uri="{FF2B5EF4-FFF2-40B4-BE49-F238E27FC236}">
                      <a16:creationId xmlns:a16="http://schemas.microsoft.com/office/drawing/2014/main" id="{82ACA20F-18A2-4CC8-843B-49C6B972EF2E}"/>
                    </a:ext>
                  </a:extLst>
                </p:cNvPr>
                <p:cNvGrpSpPr>
                  <a:grpSpLocks/>
                </p:cNvGrpSpPr>
                <p:nvPr/>
              </p:nvGrpSpPr>
              <p:grpSpPr bwMode="auto">
                <a:xfrm>
                  <a:off x="4685522" y="3476533"/>
                  <a:ext cx="492487" cy="1592730"/>
                  <a:chOff x="2943664" y="1548025"/>
                  <a:chExt cx="713475" cy="2307415"/>
                </a:xfrm>
              </p:grpSpPr>
              <p:sp>
                <p:nvSpPr>
                  <p:cNvPr id="12344" name="TextBox 108">
                    <a:extLst>
                      <a:ext uri="{FF2B5EF4-FFF2-40B4-BE49-F238E27FC236}">
                        <a16:creationId xmlns:a16="http://schemas.microsoft.com/office/drawing/2014/main" id="{FE4E1206-5239-4F83-9459-C0B8BE1D141E}"/>
                      </a:ext>
                    </a:extLst>
                  </p:cNvPr>
                  <p:cNvSpPr txBox="1">
                    <a:spLocks noChangeArrowheads="1"/>
                  </p:cNvSpPr>
                  <p:nvPr/>
                </p:nvSpPr>
                <p:spPr bwMode="auto">
                  <a:xfrm>
                    <a:off x="2943664" y="1548025"/>
                    <a:ext cx="713475" cy="38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OUT0</a:t>
                    </a:r>
                  </a:p>
                </p:txBody>
              </p:sp>
              <p:sp>
                <p:nvSpPr>
                  <p:cNvPr id="12345" name="TextBox 109">
                    <a:extLst>
                      <a:ext uri="{FF2B5EF4-FFF2-40B4-BE49-F238E27FC236}">
                        <a16:creationId xmlns:a16="http://schemas.microsoft.com/office/drawing/2014/main" id="{C13C6CA5-37DA-4356-9915-58EF167FF50F}"/>
                      </a:ext>
                    </a:extLst>
                  </p:cNvPr>
                  <p:cNvSpPr txBox="1">
                    <a:spLocks noChangeArrowheads="1"/>
                  </p:cNvSpPr>
                  <p:nvPr/>
                </p:nvSpPr>
                <p:spPr bwMode="auto">
                  <a:xfrm>
                    <a:off x="2943664" y="1941984"/>
                    <a:ext cx="713474" cy="38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OUT1</a:t>
                    </a:r>
                  </a:p>
                </p:txBody>
              </p:sp>
              <p:sp>
                <p:nvSpPr>
                  <p:cNvPr id="12346" name="TextBox 110">
                    <a:extLst>
                      <a:ext uri="{FF2B5EF4-FFF2-40B4-BE49-F238E27FC236}">
                        <a16:creationId xmlns:a16="http://schemas.microsoft.com/office/drawing/2014/main" id="{03D58950-280D-41BF-A416-F35E67A57377}"/>
                      </a:ext>
                    </a:extLst>
                  </p:cNvPr>
                  <p:cNvSpPr txBox="1">
                    <a:spLocks noChangeArrowheads="1"/>
                  </p:cNvSpPr>
                  <p:nvPr/>
                </p:nvSpPr>
                <p:spPr bwMode="auto">
                  <a:xfrm>
                    <a:off x="2943664" y="3465985"/>
                    <a:ext cx="713474" cy="38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err="1">
                        <a:solidFill>
                          <a:schemeClr val="bg1"/>
                        </a:solidFill>
                      </a:rPr>
                      <a:t>OUTn</a:t>
                    </a:r>
                    <a:endParaRPr lang="en-US" altLang="en-US" dirty="0">
                      <a:solidFill>
                        <a:schemeClr val="bg1"/>
                      </a:solidFill>
                    </a:endParaRPr>
                  </a:p>
                </p:txBody>
              </p:sp>
            </p:grpSp>
          </p:grpSp>
          <p:sp>
            <p:nvSpPr>
              <p:cNvPr id="103" name="TextBox 102">
                <a:extLst>
                  <a:ext uri="{FF2B5EF4-FFF2-40B4-BE49-F238E27FC236}">
                    <a16:creationId xmlns:a16="http://schemas.microsoft.com/office/drawing/2014/main" id="{1433773D-B8C8-4167-A55B-DC9AC794E1CB}"/>
                  </a:ext>
                </a:extLst>
              </p:cNvPr>
              <p:cNvSpPr txBox="1">
                <a:spLocks noRot="1" noChangeAspect="1" noMove="1" noResize="1" noEditPoints="1" noAdjustHandles="1" noChangeArrowheads="1" noChangeShapeType="1" noTextEdit="1"/>
              </p:cNvSpPr>
              <p:nvPr/>
            </p:nvSpPr>
            <p:spPr>
              <a:xfrm>
                <a:off x="3649420" y="4118809"/>
                <a:ext cx="396262" cy="523220"/>
              </a:xfrm>
              <a:prstGeom prst="rect">
                <a:avLst/>
              </a:prstGeom>
              <a:blipFill rotWithShape="0">
                <a:blip r:embed="rId5"/>
                <a:stretch>
                  <a:fillRect/>
                </a:stretch>
              </a:blipFill>
            </p:spPr>
            <p:txBody>
              <a:bodyPr/>
              <a:lstStyle/>
              <a:p>
                <a:r>
                  <a:rPr lang="en-US">
                    <a:solidFill>
                      <a:schemeClr val="bg1"/>
                    </a:solidFill>
                  </a:rPr>
                  <a:t> </a:t>
                </a:r>
              </a:p>
            </p:txBody>
          </p:sp>
          <p:sp>
            <p:nvSpPr>
              <p:cNvPr id="104" name="TextBox 103">
                <a:extLst>
                  <a:ext uri="{FF2B5EF4-FFF2-40B4-BE49-F238E27FC236}">
                    <a16:creationId xmlns:a16="http://schemas.microsoft.com/office/drawing/2014/main" id="{E11E8887-A6E0-48E5-824B-5B528E3F2218}"/>
                  </a:ext>
                </a:extLst>
              </p:cNvPr>
              <p:cNvSpPr txBox="1">
                <a:spLocks noRot="1" noChangeAspect="1" noMove="1" noResize="1" noEditPoints="1" noAdjustHandles="1" noChangeArrowheads="1" noChangeShapeType="1" noTextEdit="1"/>
              </p:cNvSpPr>
              <p:nvPr/>
            </p:nvSpPr>
            <p:spPr>
              <a:xfrm>
                <a:off x="4727796" y="4118809"/>
                <a:ext cx="396262" cy="523220"/>
              </a:xfrm>
              <a:prstGeom prst="rect">
                <a:avLst/>
              </a:prstGeom>
              <a:blipFill rotWithShape="0">
                <a:blip r:embed="rId6"/>
                <a:stretch>
                  <a:fillRect/>
                </a:stretch>
              </a:blipFill>
            </p:spPr>
            <p:txBody>
              <a:bodyPr/>
              <a:lstStyle/>
              <a:p>
                <a:r>
                  <a:rPr lang="en-US">
                    <a:noFill/>
                  </a:rPr>
                  <a:t> </a:t>
                </a:r>
              </a:p>
            </p:txBody>
          </p:sp>
        </p:grpSp>
        <p:sp>
          <p:nvSpPr>
            <p:cNvPr id="97" name="TextBox 96">
              <a:extLst>
                <a:ext uri="{FF2B5EF4-FFF2-40B4-BE49-F238E27FC236}">
                  <a16:creationId xmlns:a16="http://schemas.microsoft.com/office/drawing/2014/main" id="{979103F8-8954-48EB-802C-30A3F7D4F068}"/>
                </a:ext>
              </a:extLst>
            </p:cNvPr>
            <p:cNvSpPr txBox="1"/>
            <p:nvPr/>
          </p:nvSpPr>
          <p:spPr>
            <a:xfrm>
              <a:off x="2436057" y="5157885"/>
              <a:ext cx="585840" cy="322593"/>
            </a:xfrm>
            <a:prstGeom prst="rect">
              <a:avLst/>
            </a:prstGeom>
            <a:noFill/>
            <a:ln w="9525">
              <a:noFill/>
            </a:ln>
          </p:spPr>
          <p:txBody>
            <a:bodyPr>
              <a:spAutoFit/>
            </a:bodyPr>
            <a:lstStyle/>
            <a:p>
              <a:pPr eaLnBrk="1" hangingPunct="1">
                <a:defRPr/>
              </a:pPr>
              <a:r>
                <a:rPr lang="en-US" sz="1200" dirty="0">
                  <a:latin typeface="+mj-lt"/>
                  <a:cs typeface="Arial" charset="0"/>
                </a:rPr>
                <a:t>clock</a:t>
              </a:r>
            </a:p>
          </p:txBody>
        </p:sp>
        <p:sp>
          <p:nvSpPr>
            <p:cNvPr id="12305" name="Rectangle 77">
              <a:extLst>
                <a:ext uri="{FF2B5EF4-FFF2-40B4-BE49-F238E27FC236}">
                  <a16:creationId xmlns:a16="http://schemas.microsoft.com/office/drawing/2014/main" id="{964AD01A-CBF7-40FE-A3E9-401802F04AC8}"/>
                </a:ext>
              </a:extLst>
            </p:cNvPr>
            <p:cNvSpPr>
              <a:spLocks noChangeArrowheads="1"/>
            </p:cNvSpPr>
            <p:nvPr/>
          </p:nvSpPr>
          <p:spPr bwMode="auto">
            <a:xfrm>
              <a:off x="5440390" y="3124200"/>
              <a:ext cx="1893536" cy="1840938"/>
            </a:xfrm>
            <a:prstGeom prst="rect">
              <a:avLst/>
            </a:prstGeom>
            <a:noFill/>
            <a:ln w="1905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8" name="Cloud 117">
              <a:extLst>
                <a:ext uri="{FF2B5EF4-FFF2-40B4-BE49-F238E27FC236}">
                  <a16:creationId xmlns:a16="http://schemas.microsoft.com/office/drawing/2014/main" id="{2211DB26-07F5-475D-8712-B6B70F8ADF4B}"/>
                </a:ext>
              </a:extLst>
            </p:cNvPr>
            <p:cNvSpPr/>
            <p:nvPr/>
          </p:nvSpPr>
          <p:spPr bwMode="auto">
            <a:xfrm>
              <a:off x="3018721" y="3179664"/>
              <a:ext cx="376270" cy="256983"/>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119" name="Cloud 118">
              <a:extLst>
                <a:ext uri="{FF2B5EF4-FFF2-40B4-BE49-F238E27FC236}">
                  <a16:creationId xmlns:a16="http://schemas.microsoft.com/office/drawing/2014/main" id="{CE20BD5C-B314-416D-9E2A-C05FB8F3494A}"/>
                </a:ext>
              </a:extLst>
            </p:cNvPr>
            <p:cNvSpPr/>
            <p:nvPr/>
          </p:nvSpPr>
          <p:spPr bwMode="auto">
            <a:xfrm>
              <a:off x="3009196" y="3505054"/>
              <a:ext cx="377858" cy="25513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120" name="Cloud 119">
              <a:extLst>
                <a:ext uri="{FF2B5EF4-FFF2-40B4-BE49-F238E27FC236}">
                  <a16:creationId xmlns:a16="http://schemas.microsoft.com/office/drawing/2014/main" id="{68856565-8C13-4093-9427-62F7058824F1}"/>
                </a:ext>
              </a:extLst>
            </p:cNvPr>
            <p:cNvSpPr/>
            <p:nvPr/>
          </p:nvSpPr>
          <p:spPr bwMode="auto">
            <a:xfrm>
              <a:off x="3040948" y="4521896"/>
              <a:ext cx="377858" cy="25513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grpSp>
          <p:nvGrpSpPr>
            <p:cNvPr id="12309" name="Group 120">
              <a:extLst>
                <a:ext uri="{FF2B5EF4-FFF2-40B4-BE49-F238E27FC236}">
                  <a16:creationId xmlns:a16="http://schemas.microsoft.com/office/drawing/2014/main" id="{5F043F91-50E0-464C-8E8F-7D57FB9CB7E1}"/>
                </a:ext>
              </a:extLst>
            </p:cNvPr>
            <p:cNvGrpSpPr>
              <a:grpSpLocks/>
            </p:cNvGrpSpPr>
            <p:nvPr/>
          </p:nvGrpSpPr>
          <p:grpSpPr bwMode="auto">
            <a:xfrm>
              <a:off x="2974832" y="4957563"/>
              <a:ext cx="434145" cy="441352"/>
              <a:chOff x="1205850" y="3237023"/>
              <a:chExt cx="554618" cy="554618"/>
            </a:xfrm>
          </p:grpSpPr>
          <p:grpSp>
            <p:nvGrpSpPr>
              <p:cNvPr id="12331" name="Группа 16">
                <a:extLst>
                  <a:ext uri="{FF2B5EF4-FFF2-40B4-BE49-F238E27FC236}">
                    <a16:creationId xmlns:a16="http://schemas.microsoft.com/office/drawing/2014/main" id="{1AE87C48-FA4B-4D07-A44F-14DE5281A615}"/>
                  </a:ext>
                </a:extLst>
              </p:cNvPr>
              <p:cNvGrpSpPr>
                <a:grpSpLocks/>
              </p:cNvGrpSpPr>
              <p:nvPr/>
            </p:nvGrpSpPr>
            <p:grpSpPr bwMode="auto">
              <a:xfrm>
                <a:off x="1247190" y="3424237"/>
                <a:ext cx="452971" cy="172631"/>
                <a:chOff x="1656010" y="4149968"/>
                <a:chExt cx="4248113" cy="307732"/>
              </a:xfrm>
            </p:grpSpPr>
            <p:cxnSp>
              <p:nvCxnSpPr>
                <p:cNvPr id="124" name="Elbow Connector 4">
                  <a:extLst>
                    <a:ext uri="{FF2B5EF4-FFF2-40B4-BE49-F238E27FC236}">
                      <a16:creationId xmlns:a16="http://schemas.microsoft.com/office/drawing/2014/main" id="{2EB2E8DE-A7A8-4279-8F16-147DD49CAE9E}"/>
                    </a:ext>
                  </a:extLst>
                </p:cNvPr>
                <p:cNvCxnSpPr/>
                <p:nvPr/>
              </p:nvCxnSpPr>
              <p:spPr bwMode="auto">
                <a:xfrm>
                  <a:off x="2478908" y="4153156"/>
                  <a:ext cx="1692873" cy="302327"/>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5" name="Elbow Connector 5">
                  <a:extLst>
                    <a:ext uri="{FF2B5EF4-FFF2-40B4-BE49-F238E27FC236}">
                      <a16:creationId xmlns:a16="http://schemas.microsoft.com/office/drawing/2014/main" id="{FC1BCDA3-BCAC-4FF0-970F-8E3E642048F2}"/>
                    </a:ext>
                  </a:extLst>
                </p:cNvPr>
                <p:cNvCxnSpPr/>
                <p:nvPr/>
              </p:nvCxnSpPr>
              <p:spPr bwMode="auto">
                <a:xfrm flipV="1">
                  <a:off x="1641979" y="4153156"/>
                  <a:ext cx="1673858" cy="302327"/>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6" name="Elbow Connector 6">
                  <a:extLst>
                    <a:ext uri="{FF2B5EF4-FFF2-40B4-BE49-F238E27FC236}">
                      <a16:creationId xmlns:a16="http://schemas.microsoft.com/office/drawing/2014/main" id="{CD4ABC09-59B6-4AB1-98FA-37A766ED3DD2}"/>
                    </a:ext>
                  </a:extLst>
                </p:cNvPr>
                <p:cNvCxnSpPr/>
                <p:nvPr/>
              </p:nvCxnSpPr>
              <p:spPr bwMode="auto">
                <a:xfrm flipV="1">
                  <a:off x="3334853" y="4153156"/>
                  <a:ext cx="1673858" cy="302327"/>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7" name="Elbow Connector 16">
                  <a:extLst>
                    <a:ext uri="{FF2B5EF4-FFF2-40B4-BE49-F238E27FC236}">
                      <a16:creationId xmlns:a16="http://schemas.microsoft.com/office/drawing/2014/main" id="{1EC1BB1D-AEDB-4835-9300-D394D33C7CEF}"/>
                    </a:ext>
                  </a:extLst>
                </p:cNvPr>
                <p:cNvCxnSpPr/>
                <p:nvPr/>
              </p:nvCxnSpPr>
              <p:spPr bwMode="auto">
                <a:xfrm>
                  <a:off x="4228851" y="4149016"/>
                  <a:ext cx="1673858" cy="302324"/>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12332" name="Oval 122">
                <a:extLst>
                  <a:ext uri="{FF2B5EF4-FFF2-40B4-BE49-F238E27FC236}">
                    <a16:creationId xmlns:a16="http://schemas.microsoft.com/office/drawing/2014/main" id="{A3009F56-8B76-4D50-9FD0-227695366762}"/>
                  </a:ext>
                </a:extLst>
              </p:cNvPr>
              <p:cNvSpPr>
                <a:spLocks noChangeArrowheads="1"/>
              </p:cNvSpPr>
              <p:nvPr/>
            </p:nvSpPr>
            <p:spPr bwMode="auto">
              <a:xfrm>
                <a:off x="1205850" y="3237023"/>
                <a:ext cx="554618" cy="55461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grpSp>
          <p:nvGrpSpPr>
            <p:cNvPr id="12310" name="Group 42">
              <a:extLst>
                <a:ext uri="{FF2B5EF4-FFF2-40B4-BE49-F238E27FC236}">
                  <a16:creationId xmlns:a16="http://schemas.microsoft.com/office/drawing/2014/main" id="{52688DA5-7283-442D-9610-1DD8CED203E2}"/>
                </a:ext>
              </a:extLst>
            </p:cNvPr>
            <p:cNvGrpSpPr>
              <a:grpSpLocks/>
            </p:cNvGrpSpPr>
            <p:nvPr/>
          </p:nvGrpSpPr>
          <p:grpSpPr bwMode="auto">
            <a:xfrm>
              <a:off x="5410200" y="3313586"/>
              <a:ext cx="146070" cy="264912"/>
              <a:chOff x="6929454" y="3282259"/>
              <a:chExt cx="294155" cy="533480"/>
            </a:xfrm>
          </p:grpSpPr>
          <p:cxnSp>
            <p:nvCxnSpPr>
              <p:cNvPr id="12325" name="Straight Connector 56">
                <a:extLst>
                  <a:ext uri="{FF2B5EF4-FFF2-40B4-BE49-F238E27FC236}">
                    <a16:creationId xmlns:a16="http://schemas.microsoft.com/office/drawing/2014/main" id="{923783FD-C71E-4F5A-AB8E-1D869BE73D2C}"/>
                  </a:ext>
                </a:extLst>
              </p:cNvPr>
              <p:cNvCxnSpPr>
                <a:cxnSpLocks noChangeShapeType="1"/>
              </p:cNvCxnSpPr>
              <p:nvPr/>
            </p:nvCxnSpPr>
            <p:spPr bwMode="auto">
              <a:xfrm>
                <a:off x="6929454" y="3286124"/>
                <a:ext cx="214314" cy="1"/>
              </a:xfrm>
              <a:prstGeom prst="line">
                <a:avLst/>
              </a:prstGeom>
              <a:noFill/>
              <a:ln w="9525" algn="ctr">
                <a:solidFill>
                  <a:schemeClr val="tx1"/>
                </a:solidFill>
                <a:round/>
                <a:headEnd/>
                <a:tailEnd/>
              </a:ln>
            </p:spPr>
          </p:cxnSp>
          <p:sp>
            <p:nvSpPr>
              <p:cNvPr id="12326" name="Isosceles Triangle 57">
                <a:extLst>
                  <a:ext uri="{FF2B5EF4-FFF2-40B4-BE49-F238E27FC236}">
                    <a16:creationId xmlns:a16="http://schemas.microsoft.com/office/drawing/2014/main" id="{E7C3675C-5D80-4CA3-9DB4-610CFB5B4369}"/>
                  </a:ext>
                </a:extLst>
              </p:cNvPr>
              <p:cNvSpPr>
                <a:spLocks noChangeArrowheads="1"/>
              </p:cNvSpPr>
              <p:nvPr/>
            </p:nvSpPr>
            <p:spPr bwMode="auto">
              <a:xfrm rot="10800000">
                <a:off x="7095908" y="371014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2327" name="Straight Connector 58">
                <a:extLst>
                  <a:ext uri="{FF2B5EF4-FFF2-40B4-BE49-F238E27FC236}">
                    <a16:creationId xmlns:a16="http://schemas.microsoft.com/office/drawing/2014/main" id="{052B157E-1C3F-4C05-AB40-D5EFAACDDC80}"/>
                  </a:ext>
                </a:extLst>
              </p:cNvPr>
              <p:cNvCxnSpPr>
                <a:cxnSpLocks noChangeShapeType="1"/>
              </p:cNvCxnSpPr>
              <p:nvPr/>
            </p:nvCxnSpPr>
            <p:spPr bwMode="auto">
              <a:xfrm>
                <a:off x="7053280" y="3449457"/>
                <a:ext cx="170329" cy="0"/>
              </a:xfrm>
              <a:prstGeom prst="line">
                <a:avLst/>
              </a:prstGeom>
              <a:noFill/>
              <a:ln w="9525" algn="ctr">
                <a:solidFill>
                  <a:schemeClr val="tx1"/>
                </a:solidFill>
                <a:round/>
                <a:headEnd/>
                <a:tailEnd/>
              </a:ln>
            </p:spPr>
          </p:cxnSp>
          <p:cxnSp>
            <p:nvCxnSpPr>
              <p:cNvPr id="12328" name="Straight Connector 59">
                <a:extLst>
                  <a:ext uri="{FF2B5EF4-FFF2-40B4-BE49-F238E27FC236}">
                    <a16:creationId xmlns:a16="http://schemas.microsoft.com/office/drawing/2014/main" id="{69FDCC1F-D9CD-4FD1-96CE-7A6060473E74}"/>
                  </a:ext>
                </a:extLst>
              </p:cNvPr>
              <p:cNvCxnSpPr>
                <a:cxnSpLocks noChangeShapeType="1"/>
              </p:cNvCxnSpPr>
              <p:nvPr/>
            </p:nvCxnSpPr>
            <p:spPr bwMode="auto">
              <a:xfrm>
                <a:off x="7053280" y="3502255"/>
                <a:ext cx="170329" cy="0"/>
              </a:xfrm>
              <a:prstGeom prst="line">
                <a:avLst/>
              </a:prstGeom>
              <a:noFill/>
              <a:ln w="9525" algn="ctr">
                <a:solidFill>
                  <a:schemeClr val="tx1"/>
                </a:solidFill>
                <a:round/>
                <a:headEnd/>
                <a:tailEnd/>
              </a:ln>
            </p:spPr>
          </p:cxnSp>
          <p:cxnSp>
            <p:nvCxnSpPr>
              <p:cNvPr id="12329" name="Straight Connector 60">
                <a:extLst>
                  <a:ext uri="{FF2B5EF4-FFF2-40B4-BE49-F238E27FC236}">
                    <a16:creationId xmlns:a16="http://schemas.microsoft.com/office/drawing/2014/main" id="{9BD01830-2B70-4761-85A2-73F3F8F13017}"/>
                  </a:ext>
                </a:extLst>
              </p:cNvPr>
              <p:cNvCxnSpPr>
                <a:cxnSpLocks noChangeShapeType="1"/>
              </p:cNvCxnSpPr>
              <p:nvPr/>
            </p:nvCxnSpPr>
            <p:spPr bwMode="auto">
              <a:xfrm flipH="1">
                <a:off x="7138199" y="3507577"/>
                <a:ext cx="246" cy="200112"/>
              </a:xfrm>
              <a:prstGeom prst="line">
                <a:avLst/>
              </a:prstGeom>
              <a:noFill/>
              <a:ln w="9525" algn="ctr">
                <a:solidFill>
                  <a:schemeClr val="tx1"/>
                </a:solidFill>
                <a:round/>
                <a:headEnd/>
                <a:tailEnd/>
              </a:ln>
            </p:spPr>
          </p:cxnSp>
          <p:cxnSp>
            <p:nvCxnSpPr>
              <p:cNvPr id="12330" name="Straight Connector 61">
                <a:extLst>
                  <a:ext uri="{FF2B5EF4-FFF2-40B4-BE49-F238E27FC236}">
                    <a16:creationId xmlns:a16="http://schemas.microsoft.com/office/drawing/2014/main" id="{31B7444E-7455-4391-B2FF-5658E8FEBD36}"/>
                  </a:ext>
                </a:extLst>
              </p:cNvPr>
              <p:cNvCxnSpPr>
                <a:cxnSpLocks noChangeShapeType="1"/>
              </p:cNvCxnSpPr>
              <p:nvPr/>
            </p:nvCxnSpPr>
            <p:spPr bwMode="auto">
              <a:xfrm rot="5400000">
                <a:off x="7053536" y="3368055"/>
                <a:ext cx="171592" cy="0"/>
              </a:xfrm>
              <a:prstGeom prst="line">
                <a:avLst/>
              </a:prstGeom>
              <a:noFill/>
              <a:ln w="9525" algn="ctr">
                <a:solidFill>
                  <a:schemeClr val="tx1"/>
                </a:solidFill>
                <a:round/>
                <a:headEnd/>
                <a:tailEnd/>
              </a:ln>
            </p:spPr>
          </p:cxnSp>
        </p:grpSp>
        <p:grpSp>
          <p:nvGrpSpPr>
            <p:cNvPr id="12311" name="Group 49">
              <a:extLst>
                <a:ext uri="{FF2B5EF4-FFF2-40B4-BE49-F238E27FC236}">
                  <a16:creationId xmlns:a16="http://schemas.microsoft.com/office/drawing/2014/main" id="{00F2F304-4E57-4021-8375-086FBF9237E8}"/>
                </a:ext>
              </a:extLst>
            </p:cNvPr>
            <p:cNvGrpSpPr>
              <a:grpSpLocks/>
            </p:cNvGrpSpPr>
            <p:nvPr/>
          </p:nvGrpSpPr>
          <p:grpSpPr bwMode="auto">
            <a:xfrm>
              <a:off x="5419725" y="3637436"/>
              <a:ext cx="146070" cy="264912"/>
              <a:chOff x="6929454" y="3282259"/>
              <a:chExt cx="294155" cy="533480"/>
            </a:xfrm>
          </p:grpSpPr>
          <p:cxnSp>
            <p:nvCxnSpPr>
              <p:cNvPr id="12319" name="Straight Connector 56">
                <a:extLst>
                  <a:ext uri="{FF2B5EF4-FFF2-40B4-BE49-F238E27FC236}">
                    <a16:creationId xmlns:a16="http://schemas.microsoft.com/office/drawing/2014/main" id="{791D8156-65D4-4C90-B1F1-44ED19650EB6}"/>
                  </a:ext>
                </a:extLst>
              </p:cNvPr>
              <p:cNvCxnSpPr>
                <a:cxnSpLocks noChangeShapeType="1"/>
              </p:cNvCxnSpPr>
              <p:nvPr/>
            </p:nvCxnSpPr>
            <p:spPr bwMode="auto">
              <a:xfrm>
                <a:off x="6929454" y="3286124"/>
                <a:ext cx="214314" cy="1"/>
              </a:xfrm>
              <a:prstGeom prst="line">
                <a:avLst/>
              </a:prstGeom>
              <a:noFill/>
              <a:ln w="9525" algn="ctr">
                <a:solidFill>
                  <a:schemeClr val="tx1"/>
                </a:solidFill>
                <a:round/>
                <a:headEnd/>
                <a:tailEnd/>
              </a:ln>
            </p:spPr>
          </p:cxnSp>
          <p:sp>
            <p:nvSpPr>
              <p:cNvPr id="12320" name="Isosceles Triangle 57">
                <a:extLst>
                  <a:ext uri="{FF2B5EF4-FFF2-40B4-BE49-F238E27FC236}">
                    <a16:creationId xmlns:a16="http://schemas.microsoft.com/office/drawing/2014/main" id="{BAFCB99A-3187-4506-B7EA-643A703C815B}"/>
                  </a:ext>
                </a:extLst>
              </p:cNvPr>
              <p:cNvSpPr>
                <a:spLocks noChangeArrowheads="1"/>
              </p:cNvSpPr>
              <p:nvPr/>
            </p:nvSpPr>
            <p:spPr bwMode="auto">
              <a:xfrm rot="10800000">
                <a:off x="7095908" y="371014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2321" name="Straight Connector 58">
                <a:extLst>
                  <a:ext uri="{FF2B5EF4-FFF2-40B4-BE49-F238E27FC236}">
                    <a16:creationId xmlns:a16="http://schemas.microsoft.com/office/drawing/2014/main" id="{10C08ED6-DE29-4FB0-B3B7-527A97455E31}"/>
                  </a:ext>
                </a:extLst>
              </p:cNvPr>
              <p:cNvCxnSpPr>
                <a:cxnSpLocks noChangeShapeType="1"/>
              </p:cNvCxnSpPr>
              <p:nvPr/>
            </p:nvCxnSpPr>
            <p:spPr bwMode="auto">
              <a:xfrm>
                <a:off x="7053280" y="3449457"/>
                <a:ext cx="170329" cy="0"/>
              </a:xfrm>
              <a:prstGeom prst="line">
                <a:avLst/>
              </a:prstGeom>
              <a:noFill/>
              <a:ln w="9525" algn="ctr">
                <a:solidFill>
                  <a:schemeClr val="tx1"/>
                </a:solidFill>
                <a:round/>
                <a:headEnd/>
                <a:tailEnd/>
              </a:ln>
            </p:spPr>
          </p:cxnSp>
          <p:cxnSp>
            <p:nvCxnSpPr>
              <p:cNvPr id="12322" name="Straight Connector 59">
                <a:extLst>
                  <a:ext uri="{FF2B5EF4-FFF2-40B4-BE49-F238E27FC236}">
                    <a16:creationId xmlns:a16="http://schemas.microsoft.com/office/drawing/2014/main" id="{C306E2DD-9B43-4ABA-A1A9-5402A4CCB536}"/>
                  </a:ext>
                </a:extLst>
              </p:cNvPr>
              <p:cNvCxnSpPr>
                <a:cxnSpLocks noChangeShapeType="1"/>
              </p:cNvCxnSpPr>
              <p:nvPr/>
            </p:nvCxnSpPr>
            <p:spPr bwMode="auto">
              <a:xfrm>
                <a:off x="7053280" y="3502255"/>
                <a:ext cx="170329" cy="0"/>
              </a:xfrm>
              <a:prstGeom prst="line">
                <a:avLst/>
              </a:prstGeom>
              <a:noFill/>
              <a:ln w="9525" algn="ctr">
                <a:solidFill>
                  <a:schemeClr val="tx1"/>
                </a:solidFill>
                <a:round/>
                <a:headEnd/>
                <a:tailEnd/>
              </a:ln>
            </p:spPr>
          </p:cxnSp>
          <p:cxnSp>
            <p:nvCxnSpPr>
              <p:cNvPr id="12323" name="Straight Connector 60">
                <a:extLst>
                  <a:ext uri="{FF2B5EF4-FFF2-40B4-BE49-F238E27FC236}">
                    <a16:creationId xmlns:a16="http://schemas.microsoft.com/office/drawing/2014/main" id="{ADCB1CA8-FF1F-42F7-8F67-DE58D7408B5E}"/>
                  </a:ext>
                </a:extLst>
              </p:cNvPr>
              <p:cNvCxnSpPr>
                <a:cxnSpLocks noChangeShapeType="1"/>
              </p:cNvCxnSpPr>
              <p:nvPr/>
            </p:nvCxnSpPr>
            <p:spPr bwMode="auto">
              <a:xfrm flipH="1">
                <a:off x="7138199" y="3507577"/>
                <a:ext cx="246" cy="200112"/>
              </a:xfrm>
              <a:prstGeom prst="line">
                <a:avLst/>
              </a:prstGeom>
              <a:noFill/>
              <a:ln w="9525" algn="ctr">
                <a:solidFill>
                  <a:schemeClr val="tx1"/>
                </a:solidFill>
                <a:round/>
                <a:headEnd/>
                <a:tailEnd/>
              </a:ln>
            </p:spPr>
          </p:cxnSp>
          <p:cxnSp>
            <p:nvCxnSpPr>
              <p:cNvPr id="12324" name="Straight Connector 61">
                <a:extLst>
                  <a:ext uri="{FF2B5EF4-FFF2-40B4-BE49-F238E27FC236}">
                    <a16:creationId xmlns:a16="http://schemas.microsoft.com/office/drawing/2014/main" id="{4EB4B5DD-F10A-4CE6-B9E1-A6C529EB49CE}"/>
                  </a:ext>
                </a:extLst>
              </p:cNvPr>
              <p:cNvCxnSpPr>
                <a:cxnSpLocks noChangeShapeType="1"/>
              </p:cNvCxnSpPr>
              <p:nvPr/>
            </p:nvCxnSpPr>
            <p:spPr bwMode="auto">
              <a:xfrm rot="5400000">
                <a:off x="7053536" y="3368055"/>
                <a:ext cx="171592" cy="0"/>
              </a:xfrm>
              <a:prstGeom prst="line">
                <a:avLst/>
              </a:prstGeom>
              <a:noFill/>
              <a:ln w="9525" algn="ctr">
                <a:solidFill>
                  <a:schemeClr val="tx1"/>
                </a:solidFill>
                <a:round/>
                <a:headEnd/>
                <a:tailEnd/>
              </a:ln>
            </p:spPr>
          </p:cxnSp>
        </p:grpSp>
        <p:grpSp>
          <p:nvGrpSpPr>
            <p:cNvPr id="12312" name="Group 56">
              <a:extLst>
                <a:ext uri="{FF2B5EF4-FFF2-40B4-BE49-F238E27FC236}">
                  <a16:creationId xmlns:a16="http://schemas.microsoft.com/office/drawing/2014/main" id="{2BE39C97-E87A-4E5B-997B-275D64EC0DFA}"/>
                </a:ext>
              </a:extLst>
            </p:cNvPr>
            <p:cNvGrpSpPr>
              <a:grpSpLocks/>
            </p:cNvGrpSpPr>
            <p:nvPr/>
          </p:nvGrpSpPr>
          <p:grpSpPr bwMode="auto">
            <a:xfrm>
              <a:off x="5443527" y="4644813"/>
              <a:ext cx="146070" cy="264912"/>
              <a:chOff x="6929454" y="3282259"/>
              <a:chExt cx="294155" cy="533480"/>
            </a:xfrm>
          </p:grpSpPr>
          <p:cxnSp>
            <p:nvCxnSpPr>
              <p:cNvPr id="12313" name="Straight Connector 56">
                <a:extLst>
                  <a:ext uri="{FF2B5EF4-FFF2-40B4-BE49-F238E27FC236}">
                    <a16:creationId xmlns:a16="http://schemas.microsoft.com/office/drawing/2014/main" id="{CAE0B80B-F54B-40D1-B236-CBF884F3DA31}"/>
                  </a:ext>
                </a:extLst>
              </p:cNvPr>
              <p:cNvCxnSpPr>
                <a:cxnSpLocks noChangeShapeType="1"/>
              </p:cNvCxnSpPr>
              <p:nvPr/>
            </p:nvCxnSpPr>
            <p:spPr bwMode="auto">
              <a:xfrm>
                <a:off x="6929454" y="3286124"/>
                <a:ext cx="214314" cy="1"/>
              </a:xfrm>
              <a:prstGeom prst="line">
                <a:avLst/>
              </a:prstGeom>
              <a:noFill/>
              <a:ln w="9525" algn="ctr">
                <a:solidFill>
                  <a:schemeClr val="tx1"/>
                </a:solidFill>
                <a:round/>
                <a:headEnd/>
                <a:tailEnd/>
              </a:ln>
            </p:spPr>
          </p:cxnSp>
          <p:sp>
            <p:nvSpPr>
              <p:cNvPr id="12314" name="Isosceles Triangle 57">
                <a:extLst>
                  <a:ext uri="{FF2B5EF4-FFF2-40B4-BE49-F238E27FC236}">
                    <a16:creationId xmlns:a16="http://schemas.microsoft.com/office/drawing/2014/main" id="{5F6E2206-3E81-4E0F-BC88-85B2A1FD6383}"/>
                  </a:ext>
                </a:extLst>
              </p:cNvPr>
              <p:cNvSpPr>
                <a:spLocks noChangeArrowheads="1"/>
              </p:cNvSpPr>
              <p:nvPr/>
            </p:nvSpPr>
            <p:spPr bwMode="auto">
              <a:xfrm rot="10800000">
                <a:off x="7095908" y="371014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2315" name="Straight Connector 58">
                <a:extLst>
                  <a:ext uri="{FF2B5EF4-FFF2-40B4-BE49-F238E27FC236}">
                    <a16:creationId xmlns:a16="http://schemas.microsoft.com/office/drawing/2014/main" id="{C314E46E-1045-46A2-89B2-DCCBC4B184FE}"/>
                  </a:ext>
                </a:extLst>
              </p:cNvPr>
              <p:cNvCxnSpPr>
                <a:cxnSpLocks noChangeShapeType="1"/>
              </p:cNvCxnSpPr>
              <p:nvPr/>
            </p:nvCxnSpPr>
            <p:spPr bwMode="auto">
              <a:xfrm>
                <a:off x="7053280" y="3449457"/>
                <a:ext cx="170329" cy="0"/>
              </a:xfrm>
              <a:prstGeom prst="line">
                <a:avLst/>
              </a:prstGeom>
              <a:noFill/>
              <a:ln w="9525" algn="ctr">
                <a:solidFill>
                  <a:schemeClr val="tx1"/>
                </a:solidFill>
                <a:round/>
                <a:headEnd/>
                <a:tailEnd/>
              </a:ln>
            </p:spPr>
          </p:cxnSp>
          <p:cxnSp>
            <p:nvCxnSpPr>
              <p:cNvPr id="12316" name="Straight Connector 59">
                <a:extLst>
                  <a:ext uri="{FF2B5EF4-FFF2-40B4-BE49-F238E27FC236}">
                    <a16:creationId xmlns:a16="http://schemas.microsoft.com/office/drawing/2014/main" id="{291FCE14-C367-4623-AE30-8BDA6DDD6C33}"/>
                  </a:ext>
                </a:extLst>
              </p:cNvPr>
              <p:cNvCxnSpPr>
                <a:cxnSpLocks noChangeShapeType="1"/>
              </p:cNvCxnSpPr>
              <p:nvPr/>
            </p:nvCxnSpPr>
            <p:spPr bwMode="auto">
              <a:xfrm>
                <a:off x="7053280" y="3502255"/>
                <a:ext cx="170329" cy="0"/>
              </a:xfrm>
              <a:prstGeom prst="line">
                <a:avLst/>
              </a:prstGeom>
              <a:noFill/>
              <a:ln w="9525" algn="ctr">
                <a:solidFill>
                  <a:schemeClr val="tx1"/>
                </a:solidFill>
                <a:round/>
                <a:headEnd/>
                <a:tailEnd/>
              </a:ln>
            </p:spPr>
          </p:cxnSp>
          <p:cxnSp>
            <p:nvCxnSpPr>
              <p:cNvPr id="12317" name="Straight Connector 60">
                <a:extLst>
                  <a:ext uri="{FF2B5EF4-FFF2-40B4-BE49-F238E27FC236}">
                    <a16:creationId xmlns:a16="http://schemas.microsoft.com/office/drawing/2014/main" id="{3ABA5F4D-B762-4751-8E2F-07CFDF15840E}"/>
                  </a:ext>
                </a:extLst>
              </p:cNvPr>
              <p:cNvCxnSpPr>
                <a:cxnSpLocks noChangeShapeType="1"/>
              </p:cNvCxnSpPr>
              <p:nvPr/>
            </p:nvCxnSpPr>
            <p:spPr bwMode="auto">
              <a:xfrm flipH="1">
                <a:off x="7138199" y="3507577"/>
                <a:ext cx="246" cy="200112"/>
              </a:xfrm>
              <a:prstGeom prst="line">
                <a:avLst/>
              </a:prstGeom>
              <a:noFill/>
              <a:ln w="9525" algn="ctr">
                <a:solidFill>
                  <a:schemeClr val="tx1"/>
                </a:solidFill>
                <a:round/>
                <a:headEnd/>
                <a:tailEnd/>
              </a:ln>
            </p:spPr>
          </p:cxnSp>
          <p:cxnSp>
            <p:nvCxnSpPr>
              <p:cNvPr id="12318" name="Straight Connector 61">
                <a:extLst>
                  <a:ext uri="{FF2B5EF4-FFF2-40B4-BE49-F238E27FC236}">
                    <a16:creationId xmlns:a16="http://schemas.microsoft.com/office/drawing/2014/main" id="{D092D8B3-2727-43AB-9AD6-E15F2F182212}"/>
                  </a:ext>
                </a:extLst>
              </p:cNvPr>
              <p:cNvCxnSpPr>
                <a:cxnSpLocks noChangeShapeType="1"/>
              </p:cNvCxnSpPr>
              <p:nvPr/>
            </p:nvCxnSpPr>
            <p:spPr bwMode="auto">
              <a:xfrm rot="5400000">
                <a:off x="7053536" y="3368055"/>
                <a:ext cx="171592" cy="0"/>
              </a:xfrm>
              <a:prstGeom prst="line">
                <a:avLst/>
              </a:prstGeom>
              <a:noFill/>
              <a:ln w="9525" algn="ctr">
                <a:solidFill>
                  <a:schemeClr val="tx1"/>
                </a:solidFill>
                <a:round/>
                <a:headEnd/>
                <a:tailEnd/>
              </a:ln>
            </p:spPr>
          </p:cxn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B18FE5AC-6D83-4D4C-874D-836837422230}"/>
              </a:ext>
            </a:extLst>
          </p:cNvPr>
          <p:cNvSpPr>
            <a:spLocks noGrp="1"/>
          </p:cNvSpPr>
          <p:nvPr>
            <p:ph type="title"/>
          </p:nvPr>
        </p:nvSpPr>
        <p:spPr/>
        <p:txBody>
          <a:bodyPr/>
          <a:lstStyle/>
          <a:p>
            <a:r>
              <a:rPr lang="en-US" altLang="en-US"/>
              <a:t>Basic Clock Details </a:t>
            </a:r>
          </a:p>
        </p:txBody>
      </p:sp>
      <p:sp>
        <p:nvSpPr>
          <p:cNvPr id="13315" name="Content Placeholder 2">
            <a:extLst>
              <a:ext uri="{FF2B5EF4-FFF2-40B4-BE49-F238E27FC236}">
                <a16:creationId xmlns:a16="http://schemas.microsoft.com/office/drawing/2014/main" id="{B4F10696-0FD6-464F-AF4D-72AB756AB5B3}"/>
              </a:ext>
            </a:extLst>
          </p:cNvPr>
          <p:cNvSpPr>
            <a:spLocks noGrp="1"/>
          </p:cNvSpPr>
          <p:nvPr>
            <p:ph type="body" sz="quarter" idx="10"/>
          </p:nvPr>
        </p:nvSpPr>
        <p:spPr/>
        <p:txBody>
          <a:bodyPr/>
          <a:lstStyle/>
          <a:p>
            <a:r>
              <a:rPr lang="en-US" altLang="en-US" sz="2800"/>
              <a:t>Clock Definition Components:</a:t>
            </a:r>
          </a:p>
          <a:p>
            <a:pPr lvl="1"/>
            <a:r>
              <a:rPr lang="en-US" altLang="en-US"/>
              <a:t>Source	</a:t>
            </a:r>
          </a:p>
          <a:p>
            <a:pPr lvl="2"/>
            <a:r>
              <a:rPr lang="en-US" altLang="en-US"/>
              <a:t>Port of a design</a:t>
            </a:r>
          </a:p>
          <a:p>
            <a:pPr lvl="1"/>
            <a:r>
              <a:rPr lang="en-US" altLang="en-US"/>
              <a:t>Period		</a:t>
            </a:r>
          </a:p>
          <a:p>
            <a:pPr lvl="2"/>
            <a:r>
              <a:rPr lang="en-US" altLang="en-US"/>
              <a:t>Time period of the clock (frequency)</a:t>
            </a:r>
          </a:p>
          <a:p>
            <a:pPr lvl="1"/>
            <a:r>
              <a:rPr lang="en-US" altLang="en-US"/>
              <a:t>Duty cycle</a:t>
            </a:r>
          </a:p>
          <a:p>
            <a:pPr lvl="2"/>
            <a:r>
              <a:rPr lang="en-US" altLang="en-US"/>
              <a:t>Positive and negative phase</a:t>
            </a:r>
          </a:p>
          <a:p>
            <a:pPr lvl="1"/>
            <a:r>
              <a:rPr lang="en-US" altLang="en-US"/>
              <a:t>Edge times</a:t>
            </a:r>
          </a:p>
          <a:p>
            <a:pPr lvl="2"/>
            <a:r>
              <a:rPr lang="en-US" altLang="en-US"/>
              <a:t>Rising edge and falling  edge	</a:t>
            </a:r>
          </a:p>
          <a:p>
            <a:pPr lvl="1"/>
            <a:r>
              <a:rPr lang="en-US" altLang="en-US"/>
              <a:t>Variability 	</a:t>
            </a:r>
          </a:p>
          <a:p>
            <a:pPr lvl="2"/>
            <a:r>
              <a:rPr lang="en-US" altLang="en-US"/>
              <a:t>Changes in frequency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5E310694-AC70-4CAD-BA87-FD61FD901191}"/>
              </a:ext>
            </a:extLst>
          </p:cNvPr>
          <p:cNvSpPr>
            <a:spLocks noGrp="1"/>
          </p:cNvSpPr>
          <p:nvPr>
            <p:ph type="title"/>
          </p:nvPr>
        </p:nvSpPr>
        <p:spPr/>
        <p:txBody>
          <a:bodyPr/>
          <a:lstStyle/>
          <a:p>
            <a:r>
              <a:rPr lang="en-US" altLang="en-US"/>
              <a:t>Clock Definition</a:t>
            </a:r>
          </a:p>
        </p:txBody>
      </p:sp>
      <p:sp>
        <p:nvSpPr>
          <p:cNvPr id="3" name="Text Placeholder 2">
            <a:extLst>
              <a:ext uri="{FF2B5EF4-FFF2-40B4-BE49-F238E27FC236}">
                <a16:creationId xmlns:a16="http://schemas.microsoft.com/office/drawing/2014/main" id="{AF877688-AAE7-4D35-9CEF-9E606B2766E7}"/>
              </a:ext>
            </a:extLst>
          </p:cNvPr>
          <p:cNvSpPr>
            <a:spLocks noGrp="1"/>
          </p:cNvSpPr>
          <p:nvPr>
            <p:ph type="body" sz="quarter" idx="10"/>
          </p:nvPr>
        </p:nvSpPr>
        <p:spPr/>
        <p:txBody>
          <a:bodyPr/>
          <a:lstStyle/>
          <a:p>
            <a:endParaRPr lang="en-US"/>
          </a:p>
        </p:txBody>
      </p:sp>
      <p:sp>
        <p:nvSpPr>
          <p:cNvPr id="5" name="Rectangle 4">
            <a:extLst>
              <a:ext uri="{FF2B5EF4-FFF2-40B4-BE49-F238E27FC236}">
                <a16:creationId xmlns:a16="http://schemas.microsoft.com/office/drawing/2014/main" id="{06D38501-265C-462D-B02A-5E1AD7820CD5}"/>
              </a:ext>
            </a:extLst>
          </p:cNvPr>
          <p:cNvSpPr/>
          <p:nvPr/>
        </p:nvSpPr>
        <p:spPr>
          <a:xfrm>
            <a:off x="1984376" y="4929188"/>
            <a:ext cx="8226425" cy="63976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lIns="180000" tIns="180000" rIns="180000" bIns="180000">
            <a:spAutoFit/>
          </a:bodyPr>
          <a:lstStyle/>
          <a:p>
            <a:pPr eaLnBrk="1" hangingPunct="1">
              <a:defRPr/>
            </a:pPr>
            <a:r>
              <a:rPr lang="en-US" dirty="0" err="1">
                <a:latin typeface="Courier New" pitchFamily="49" charset="0"/>
                <a:cs typeface="Courier New" pitchFamily="49" charset="0"/>
              </a:rPr>
              <a:t>create_clock</a:t>
            </a:r>
            <a:r>
              <a:rPr lang="en-US" dirty="0">
                <a:latin typeface="Courier New" pitchFamily="49" charset="0"/>
                <a:cs typeface="Courier New" pitchFamily="49" charset="0"/>
              </a:rPr>
              <a:t>  -name CLK  -period 10  [</a:t>
            </a:r>
            <a:r>
              <a:rPr lang="en-US" dirty="0" err="1">
                <a:latin typeface="Courier New" pitchFamily="49" charset="0"/>
                <a:cs typeface="Courier New" pitchFamily="49" charset="0"/>
              </a:rPr>
              <a:t>get_port</a:t>
            </a:r>
            <a:r>
              <a:rPr lang="en-US" dirty="0">
                <a:latin typeface="Courier New" pitchFamily="49" charset="0"/>
                <a:cs typeface="Courier New" pitchFamily="49" charset="0"/>
              </a:rPr>
              <a:t> CLKB]</a:t>
            </a:r>
          </a:p>
        </p:txBody>
      </p:sp>
      <p:cxnSp>
        <p:nvCxnSpPr>
          <p:cNvPr id="10" name="Straight Connector 9">
            <a:extLst>
              <a:ext uri="{FF2B5EF4-FFF2-40B4-BE49-F238E27FC236}">
                <a16:creationId xmlns:a16="http://schemas.microsoft.com/office/drawing/2014/main" id="{EF66144E-78C0-4286-AF66-0C09759E53F3}"/>
              </a:ext>
            </a:extLst>
          </p:cNvPr>
          <p:cNvCxnSpPr/>
          <p:nvPr/>
        </p:nvCxnSpPr>
        <p:spPr bwMode="auto">
          <a:xfrm rot="5400000">
            <a:off x="5779294" y="2388394"/>
            <a:ext cx="609600"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96495CE-85C4-4929-A049-A7C20ADA06E0}"/>
              </a:ext>
            </a:extLst>
          </p:cNvPr>
          <p:cNvCxnSpPr/>
          <p:nvPr/>
        </p:nvCxnSpPr>
        <p:spPr bwMode="auto">
          <a:xfrm rot="5400000">
            <a:off x="6928644" y="2383631"/>
            <a:ext cx="609600"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EC8C085-108D-4219-AF59-F9F8F62C5F5B}"/>
              </a:ext>
            </a:extLst>
          </p:cNvPr>
          <p:cNvCxnSpPr/>
          <p:nvPr/>
        </p:nvCxnSpPr>
        <p:spPr bwMode="auto">
          <a:xfrm rot="5400000">
            <a:off x="8085932" y="2378870"/>
            <a:ext cx="6096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9B30ACB-0930-4B22-93B2-9BF3BAB6971F}"/>
              </a:ext>
            </a:extLst>
          </p:cNvPr>
          <p:cNvCxnSpPr/>
          <p:nvPr/>
        </p:nvCxnSpPr>
        <p:spPr bwMode="auto">
          <a:xfrm rot="5400000">
            <a:off x="9230519" y="2383631"/>
            <a:ext cx="609600"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287121E-1578-442A-A9B8-45DD16B338B5}"/>
              </a:ext>
            </a:extLst>
          </p:cNvPr>
          <p:cNvCxnSpPr/>
          <p:nvPr/>
        </p:nvCxnSpPr>
        <p:spPr bwMode="auto">
          <a:xfrm flipV="1">
            <a:off x="6084888" y="2078038"/>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345" name="Straight Connector 21">
            <a:extLst>
              <a:ext uri="{FF2B5EF4-FFF2-40B4-BE49-F238E27FC236}">
                <a16:creationId xmlns:a16="http://schemas.microsoft.com/office/drawing/2014/main" id="{F85F74BC-8FA9-4200-A623-ECA0A7DCF42A}"/>
              </a:ext>
            </a:extLst>
          </p:cNvPr>
          <p:cNvCxnSpPr>
            <a:cxnSpLocks noChangeShapeType="1"/>
          </p:cNvCxnSpPr>
          <p:nvPr/>
        </p:nvCxnSpPr>
        <p:spPr bwMode="auto">
          <a:xfrm rot="5400000">
            <a:off x="5776119" y="2997994"/>
            <a:ext cx="609600" cy="1588"/>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4346" name="Straight Connector 23">
            <a:extLst>
              <a:ext uri="{FF2B5EF4-FFF2-40B4-BE49-F238E27FC236}">
                <a16:creationId xmlns:a16="http://schemas.microsoft.com/office/drawing/2014/main" id="{062FDF44-A307-41C2-AC4D-3B7F2BB68B74}"/>
              </a:ext>
            </a:extLst>
          </p:cNvPr>
          <p:cNvCxnSpPr>
            <a:cxnSpLocks noChangeShapeType="1"/>
          </p:cNvCxnSpPr>
          <p:nvPr/>
        </p:nvCxnSpPr>
        <p:spPr bwMode="auto">
          <a:xfrm rot="5400000">
            <a:off x="8093076" y="2986089"/>
            <a:ext cx="608013" cy="1587"/>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4347" name="Straight Arrow Connector 30">
            <a:extLst>
              <a:ext uri="{FF2B5EF4-FFF2-40B4-BE49-F238E27FC236}">
                <a16:creationId xmlns:a16="http://schemas.microsoft.com/office/drawing/2014/main" id="{B6F50550-C38F-4902-8981-ECE806E7BFE6}"/>
              </a:ext>
            </a:extLst>
          </p:cNvPr>
          <p:cNvCxnSpPr>
            <a:cxnSpLocks noChangeShapeType="1"/>
          </p:cNvCxnSpPr>
          <p:nvPr/>
        </p:nvCxnSpPr>
        <p:spPr bwMode="auto">
          <a:xfrm flipV="1">
            <a:off x="6084888" y="3051175"/>
            <a:ext cx="2317750" cy="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348" name="TextBox 31">
            <a:extLst>
              <a:ext uri="{FF2B5EF4-FFF2-40B4-BE49-F238E27FC236}">
                <a16:creationId xmlns:a16="http://schemas.microsoft.com/office/drawing/2014/main" id="{52C057E4-36E7-4850-A4F8-1D052F7E77D1}"/>
              </a:ext>
            </a:extLst>
          </p:cNvPr>
          <p:cNvSpPr txBox="1">
            <a:spLocks noChangeArrowheads="1"/>
          </p:cNvSpPr>
          <p:nvPr/>
        </p:nvSpPr>
        <p:spPr bwMode="auto">
          <a:xfrm>
            <a:off x="7081838" y="3125788"/>
            <a:ext cx="9144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200"/>
              <a:t>T</a:t>
            </a:r>
            <a:r>
              <a:rPr lang="en-US" altLang="en-US" sz="1200"/>
              <a:t>=10</a:t>
            </a:r>
          </a:p>
        </p:txBody>
      </p:sp>
      <p:sp>
        <p:nvSpPr>
          <p:cNvPr id="14349" name="TextBox 33">
            <a:extLst>
              <a:ext uri="{FF2B5EF4-FFF2-40B4-BE49-F238E27FC236}">
                <a16:creationId xmlns:a16="http://schemas.microsoft.com/office/drawing/2014/main" id="{37C45EE1-E211-4E0A-BE73-4E2792686D97}"/>
              </a:ext>
            </a:extLst>
          </p:cNvPr>
          <p:cNvSpPr txBox="1">
            <a:spLocks noChangeArrowheads="1"/>
          </p:cNvSpPr>
          <p:nvPr/>
        </p:nvSpPr>
        <p:spPr bwMode="auto">
          <a:xfrm>
            <a:off x="5295900" y="2400300"/>
            <a:ext cx="838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100"/>
              <a:t>      </a:t>
            </a:r>
            <a:r>
              <a:rPr lang="en-US" altLang="en-US" sz="1100"/>
              <a:t>CLK</a:t>
            </a:r>
          </a:p>
        </p:txBody>
      </p:sp>
      <p:sp>
        <p:nvSpPr>
          <p:cNvPr id="14350" name="TextBox 34">
            <a:extLst>
              <a:ext uri="{FF2B5EF4-FFF2-40B4-BE49-F238E27FC236}">
                <a16:creationId xmlns:a16="http://schemas.microsoft.com/office/drawing/2014/main" id="{96C527EC-B915-4D1F-B65E-9AC5FA943EE0}"/>
              </a:ext>
            </a:extLst>
          </p:cNvPr>
          <p:cNvSpPr txBox="1">
            <a:spLocks noChangeArrowheads="1"/>
          </p:cNvSpPr>
          <p:nvPr/>
        </p:nvSpPr>
        <p:spPr bwMode="auto">
          <a:xfrm>
            <a:off x="6008688" y="2693988"/>
            <a:ext cx="2286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0</a:t>
            </a:r>
            <a:endParaRPr lang="en-US" altLang="en-US"/>
          </a:p>
        </p:txBody>
      </p:sp>
      <p:sp>
        <p:nvSpPr>
          <p:cNvPr id="14351" name="TextBox 35">
            <a:extLst>
              <a:ext uri="{FF2B5EF4-FFF2-40B4-BE49-F238E27FC236}">
                <a16:creationId xmlns:a16="http://schemas.microsoft.com/office/drawing/2014/main" id="{40B6E940-7679-4DC4-A931-BC4CCE239BFB}"/>
              </a:ext>
            </a:extLst>
          </p:cNvPr>
          <p:cNvSpPr txBox="1">
            <a:spLocks noChangeArrowheads="1"/>
          </p:cNvSpPr>
          <p:nvPr/>
        </p:nvSpPr>
        <p:spPr bwMode="auto">
          <a:xfrm>
            <a:off x="7094538" y="2649538"/>
            <a:ext cx="2286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5</a:t>
            </a:r>
            <a:endParaRPr lang="en-US" altLang="en-US"/>
          </a:p>
        </p:txBody>
      </p:sp>
      <p:sp>
        <p:nvSpPr>
          <p:cNvPr id="14352" name="TextBox 36">
            <a:extLst>
              <a:ext uri="{FF2B5EF4-FFF2-40B4-BE49-F238E27FC236}">
                <a16:creationId xmlns:a16="http://schemas.microsoft.com/office/drawing/2014/main" id="{0B8F4F94-CBD0-436D-885F-D8728A72837E}"/>
              </a:ext>
            </a:extLst>
          </p:cNvPr>
          <p:cNvSpPr txBox="1">
            <a:spLocks noChangeArrowheads="1"/>
          </p:cNvSpPr>
          <p:nvPr/>
        </p:nvSpPr>
        <p:spPr bwMode="auto">
          <a:xfrm>
            <a:off x="8153400" y="2632076"/>
            <a:ext cx="381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a:t>10</a:t>
            </a:r>
            <a:endParaRPr lang="en-US" altLang="en-US"/>
          </a:p>
        </p:txBody>
      </p:sp>
      <p:sp>
        <p:nvSpPr>
          <p:cNvPr id="14353" name="TextBox 37">
            <a:extLst>
              <a:ext uri="{FF2B5EF4-FFF2-40B4-BE49-F238E27FC236}">
                <a16:creationId xmlns:a16="http://schemas.microsoft.com/office/drawing/2014/main" id="{67DF33B7-35DC-4BC0-BED1-7453503F0974}"/>
              </a:ext>
            </a:extLst>
          </p:cNvPr>
          <p:cNvSpPr txBox="1">
            <a:spLocks noChangeArrowheads="1"/>
          </p:cNvSpPr>
          <p:nvPr/>
        </p:nvSpPr>
        <p:spPr bwMode="auto">
          <a:xfrm>
            <a:off x="9296400" y="2625725"/>
            <a:ext cx="381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a:t>15</a:t>
            </a:r>
            <a:endParaRPr lang="en-US" altLang="en-US" sz="1000"/>
          </a:p>
        </p:txBody>
      </p:sp>
      <p:cxnSp>
        <p:nvCxnSpPr>
          <p:cNvPr id="46" name="Straight Connector 14">
            <a:extLst>
              <a:ext uri="{FF2B5EF4-FFF2-40B4-BE49-F238E27FC236}">
                <a16:creationId xmlns:a16="http://schemas.microsoft.com/office/drawing/2014/main" id="{B602BE7D-2B27-4161-A66C-80DB41162B5B}"/>
              </a:ext>
            </a:extLst>
          </p:cNvPr>
          <p:cNvCxnSpPr/>
          <p:nvPr/>
        </p:nvCxnSpPr>
        <p:spPr bwMode="auto">
          <a:xfrm flipV="1">
            <a:off x="7235825" y="2684463"/>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Straight Connector 14">
            <a:extLst>
              <a:ext uri="{FF2B5EF4-FFF2-40B4-BE49-F238E27FC236}">
                <a16:creationId xmlns:a16="http://schemas.microsoft.com/office/drawing/2014/main" id="{91A37A6B-23B9-4B5A-BD96-DFBF10E6344A}"/>
              </a:ext>
            </a:extLst>
          </p:cNvPr>
          <p:cNvCxnSpPr/>
          <p:nvPr/>
        </p:nvCxnSpPr>
        <p:spPr bwMode="auto">
          <a:xfrm flipV="1">
            <a:off x="8388350" y="2079625"/>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Straight Connector 14">
            <a:extLst>
              <a:ext uri="{FF2B5EF4-FFF2-40B4-BE49-F238E27FC236}">
                <a16:creationId xmlns:a16="http://schemas.microsoft.com/office/drawing/2014/main" id="{59230577-68DD-477B-9AA8-EB2EED95A232}"/>
              </a:ext>
            </a:extLst>
          </p:cNvPr>
          <p:cNvCxnSpPr/>
          <p:nvPr/>
        </p:nvCxnSpPr>
        <p:spPr bwMode="auto">
          <a:xfrm>
            <a:off x="9540875" y="2687638"/>
            <a:ext cx="1841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4357" name="Group 27">
            <a:extLst>
              <a:ext uri="{FF2B5EF4-FFF2-40B4-BE49-F238E27FC236}">
                <a16:creationId xmlns:a16="http://schemas.microsoft.com/office/drawing/2014/main" id="{0F9C80C8-C5C9-49F4-AD03-F53EB314F234}"/>
              </a:ext>
            </a:extLst>
          </p:cNvPr>
          <p:cNvGrpSpPr>
            <a:grpSpLocks/>
          </p:cNvGrpSpPr>
          <p:nvPr/>
        </p:nvGrpSpPr>
        <p:grpSpPr bwMode="auto">
          <a:xfrm>
            <a:off x="3162301" y="1828801"/>
            <a:ext cx="1941513" cy="1357313"/>
            <a:chOff x="4736518" y="2373015"/>
            <a:chExt cx="922734" cy="762000"/>
          </a:xfrm>
        </p:grpSpPr>
        <p:sp>
          <p:nvSpPr>
            <p:cNvPr id="68" name="Rectangle 28">
              <a:extLst>
                <a:ext uri="{FF2B5EF4-FFF2-40B4-BE49-F238E27FC236}">
                  <a16:creationId xmlns:a16="http://schemas.microsoft.com/office/drawing/2014/main" id="{3E86ADFD-634B-41CC-80AC-82679EFE5AA1}"/>
                </a:ext>
              </a:extLst>
            </p:cNvPr>
            <p:cNvSpPr/>
            <p:nvPr/>
          </p:nvSpPr>
          <p:spPr bwMode="auto">
            <a:xfrm>
              <a:off x="5202035" y="2373015"/>
              <a:ext cx="457217"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69" name="Isosceles Triangle 29">
              <a:extLst>
                <a:ext uri="{FF2B5EF4-FFF2-40B4-BE49-F238E27FC236}">
                  <a16:creationId xmlns:a16="http://schemas.microsoft.com/office/drawing/2014/main" id="{A50EFC91-7402-4FE9-8DE9-B9F839647B58}"/>
                </a:ext>
              </a:extLst>
            </p:cNvPr>
            <p:cNvSpPr/>
            <p:nvPr/>
          </p:nvSpPr>
          <p:spPr bwMode="auto">
            <a:xfrm rot="5400000">
              <a:off x="5163937" y="2944959"/>
              <a:ext cx="152400" cy="76203"/>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mj-lt"/>
                <a:cs typeface="Arial" charset="0"/>
              </a:endParaRPr>
            </a:p>
          </p:txBody>
        </p:sp>
        <p:sp>
          <p:nvSpPr>
            <p:cNvPr id="70" name="TextBox 69">
              <a:extLst>
                <a:ext uri="{FF2B5EF4-FFF2-40B4-BE49-F238E27FC236}">
                  <a16:creationId xmlns:a16="http://schemas.microsoft.com/office/drawing/2014/main" id="{542D0C4E-F8A4-44BF-91C5-03208732446D}"/>
                </a:ext>
              </a:extLst>
            </p:cNvPr>
            <p:cNvSpPr txBox="1"/>
            <p:nvPr/>
          </p:nvSpPr>
          <p:spPr>
            <a:xfrm>
              <a:off x="5241268" y="2493331"/>
              <a:ext cx="390068" cy="189831"/>
            </a:xfrm>
            <a:prstGeom prst="rect">
              <a:avLst/>
            </a:prstGeom>
            <a:noFill/>
            <a:ln w="9525">
              <a:noFill/>
            </a:ln>
          </p:spPr>
          <p:txBody>
            <a:bodyPr wrap="none">
              <a:spAutoFit/>
            </a:bodyPr>
            <a:lstStyle/>
            <a:p>
              <a:pPr eaLnBrk="1" hangingPunct="1">
                <a:defRPr/>
              </a:pPr>
              <a:r>
                <a:rPr lang="ru-RU" sz="1600" dirty="0" err="1">
                  <a:solidFill>
                    <a:schemeClr val="bg1"/>
                  </a:solidFill>
                  <a:latin typeface="+mj-lt"/>
                  <a:cs typeface="Arial" charset="0"/>
                </a:rPr>
                <a:t>Design</a:t>
              </a:r>
              <a:endParaRPr lang="en-US" sz="1600" dirty="0">
                <a:solidFill>
                  <a:schemeClr val="bg1"/>
                </a:solidFill>
                <a:latin typeface="+mj-lt"/>
                <a:cs typeface="Arial" charset="0"/>
              </a:endParaRPr>
            </a:p>
          </p:txBody>
        </p:sp>
        <p:sp>
          <p:nvSpPr>
            <p:cNvPr id="71" name="TextBox 70">
              <a:extLst>
                <a:ext uri="{FF2B5EF4-FFF2-40B4-BE49-F238E27FC236}">
                  <a16:creationId xmlns:a16="http://schemas.microsoft.com/office/drawing/2014/main" id="{89069ED6-316D-4F88-B5D9-5FA303E15A77}"/>
                </a:ext>
              </a:extLst>
            </p:cNvPr>
            <p:cNvSpPr txBox="1"/>
            <p:nvPr/>
          </p:nvSpPr>
          <p:spPr>
            <a:xfrm>
              <a:off x="5241268" y="2894384"/>
              <a:ext cx="278228" cy="155508"/>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r>
                <a:rPr lang="ru-RU" sz="1200" dirty="0">
                  <a:solidFill>
                    <a:schemeClr val="bg1"/>
                  </a:solidFill>
                  <a:latin typeface="+mj-lt"/>
                  <a:cs typeface="Arial" charset="0"/>
                </a:rPr>
                <a:t>B</a:t>
              </a:r>
              <a:endParaRPr lang="en-US" sz="1200" dirty="0">
                <a:solidFill>
                  <a:schemeClr val="bg1"/>
                </a:solidFill>
                <a:latin typeface="+mj-lt"/>
                <a:cs typeface="Arial" charset="0"/>
              </a:endParaRPr>
            </a:p>
          </p:txBody>
        </p:sp>
        <p:cxnSp>
          <p:nvCxnSpPr>
            <p:cNvPr id="14370" name="Straight Connector 32">
              <a:extLst>
                <a:ext uri="{FF2B5EF4-FFF2-40B4-BE49-F238E27FC236}">
                  <a16:creationId xmlns:a16="http://schemas.microsoft.com/office/drawing/2014/main" id="{01D3E49B-D508-4C70-88DD-8097680D16D9}"/>
                </a:ext>
              </a:extLst>
            </p:cNvPr>
            <p:cNvCxnSpPr>
              <a:cxnSpLocks noChangeShapeType="1"/>
            </p:cNvCxnSpPr>
            <p:nvPr/>
          </p:nvCxnSpPr>
          <p:spPr bwMode="auto">
            <a:xfrm>
              <a:off x="4736518" y="2982615"/>
              <a:ext cx="466457" cy="0"/>
            </a:xfrm>
            <a:prstGeom prst="line">
              <a:avLst/>
            </a:prstGeom>
            <a:noFill/>
            <a:ln w="9525" algn="ctr">
              <a:solidFill>
                <a:schemeClr val="tx1"/>
              </a:solidFill>
              <a:round/>
              <a:headEnd/>
              <a:tailEnd/>
            </a:ln>
          </p:spPr>
        </p:cxnSp>
      </p:grpSp>
      <p:sp>
        <p:nvSpPr>
          <p:cNvPr id="60" name="TextBox 59">
            <a:extLst>
              <a:ext uri="{FF2B5EF4-FFF2-40B4-BE49-F238E27FC236}">
                <a16:creationId xmlns:a16="http://schemas.microsoft.com/office/drawing/2014/main" id="{B6AAE1D4-9968-4D9A-A67A-F8F9601A18CB}"/>
              </a:ext>
            </a:extLst>
          </p:cNvPr>
          <p:cNvSpPr txBox="1"/>
          <p:nvPr/>
        </p:nvSpPr>
        <p:spPr>
          <a:xfrm>
            <a:off x="2438400" y="2281239"/>
            <a:ext cx="482824" cy="276999"/>
          </a:xfrm>
          <a:prstGeom prst="rect">
            <a:avLst/>
          </a:prstGeom>
          <a:noFill/>
          <a:ln w="9525">
            <a:noFill/>
          </a:ln>
        </p:spPr>
        <p:txBody>
          <a:bodyPr wrap="none">
            <a:spAutoFit/>
          </a:bodyPr>
          <a:lstStyle/>
          <a:p>
            <a:pPr eaLnBrk="1" hangingPunct="1">
              <a:defRPr/>
            </a:pPr>
            <a:r>
              <a:rPr lang="en-US" sz="1200" dirty="0">
                <a:latin typeface="+mj-lt"/>
                <a:cs typeface="Arial" charset="0"/>
              </a:rPr>
              <a:t>CLK</a:t>
            </a:r>
          </a:p>
        </p:txBody>
      </p:sp>
      <p:grpSp>
        <p:nvGrpSpPr>
          <p:cNvPr id="14359" name="Group 3">
            <a:extLst>
              <a:ext uri="{FF2B5EF4-FFF2-40B4-BE49-F238E27FC236}">
                <a16:creationId xmlns:a16="http://schemas.microsoft.com/office/drawing/2014/main" id="{B61CE2B2-4B49-4097-9A33-7FE1BE0F436E}"/>
              </a:ext>
            </a:extLst>
          </p:cNvPr>
          <p:cNvGrpSpPr>
            <a:grpSpLocks/>
          </p:cNvGrpSpPr>
          <p:nvPr/>
        </p:nvGrpSpPr>
        <p:grpSpPr bwMode="auto">
          <a:xfrm>
            <a:off x="2609850" y="2627314"/>
            <a:ext cx="554038" cy="555625"/>
            <a:chOff x="1205850" y="3237023"/>
            <a:chExt cx="554618" cy="554618"/>
          </a:xfrm>
        </p:grpSpPr>
        <p:grpSp>
          <p:nvGrpSpPr>
            <p:cNvPr id="14360" name="Группа 16">
              <a:extLst>
                <a:ext uri="{FF2B5EF4-FFF2-40B4-BE49-F238E27FC236}">
                  <a16:creationId xmlns:a16="http://schemas.microsoft.com/office/drawing/2014/main" id="{605447D8-D444-4477-B5B7-7379077D6FC8}"/>
                </a:ext>
              </a:extLst>
            </p:cNvPr>
            <p:cNvGrpSpPr>
              <a:grpSpLocks/>
            </p:cNvGrpSpPr>
            <p:nvPr/>
          </p:nvGrpSpPr>
          <p:grpSpPr bwMode="auto">
            <a:xfrm>
              <a:off x="1247190" y="3424237"/>
              <a:ext cx="452971" cy="172631"/>
              <a:chOff x="1656010" y="4149968"/>
              <a:chExt cx="4248113" cy="307732"/>
            </a:xfrm>
          </p:grpSpPr>
          <p:cxnSp>
            <p:nvCxnSpPr>
              <p:cNvPr id="63" name="Elbow Connector 4">
                <a:extLst>
                  <a:ext uri="{FF2B5EF4-FFF2-40B4-BE49-F238E27FC236}">
                    <a16:creationId xmlns:a16="http://schemas.microsoft.com/office/drawing/2014/main" id="{F8F0B7EF-F16A-4017-A04E-0B37631A0782}"/>
                  </a:ext>
                </a:extLst>
              </p:cNvPr>
              <p:cNvCxnSpPr/>
              <p:nvPr/>
            </p:nvCxnSpPr>
            <p:spPr bwMode="auto">
              <a:xfrm>
                <a:off x="2490411" y="4152384"/>
                <a:ext cx="1684123" cy="305074"/>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4" name="Elbow Connector 5">
                <a:extLst>
                  <a:ext uri="{FF2B5EF4-FFF2-40B4-BE49-F238E27FC236}">
                    <a16:creationId xmlns:a16="http://schemas.microsoft.com/office/drawing/2014/main" id="{340C385D-0758-460E-81DE-9570E2C64D3F}"/>
                  </a:ext>
                </a:extLst>
              </p:cNvPr>
              <p:cNvCxnSpPr/>
              <p:nvPr/>
            </p:nvCxnSpPr>
            <p:spPr bwMode="auto">
              <a:xfrm flipV="1">
                <a:off x="1655803" y="4152384"/>
                <a:ext cx="1669214" cy="305074"/>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5" name="Elbow Connector 6">
                <a:extLst>
                  <a:ext uri="{FF2B5EF4-FFF2-40B4-BE49-F238E27FC236}">
                    <a16:creationId xmlns:a16="http://schemas.microsoft.com/office/drawing/2014/main" id="{9CE467C1-2463-43A8-A464-4BE3C55E93FC}"/>
                  </a:ext>
                </a:extLst>
              </p:cNvPr>
              <p:cNvCxnSpPr/>
              <p:nvPr/>
            </p:nvCxnSpPr>
            <p:spPr bwMode="auto">
              <a:xfrm flipV="1">
                <a:off x="3339926" y="4152384"/>
                <a:ext cx="1684113" cy="305074"/>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Elbow Connector 16">
                <a:extLst>
                  <a:ext uri="{FF2B5EF4-FFF2-40B4-BE49-F238E27FC236}">
                    <a16:creationId xmlns:a16="http://schemas.microsoft.com/office/drawing/2014/main" id="{AD9DE899-C0EC-40AD-BD19-48C609C12C8B}"/>
                  </a:ext>
                </a:extLst>
              </p:cNvPr>
              <p:cNvCxnSpPr/>
              <p:nvPr/>
            </p:nvCxnSpPr>
            <p:spPr bwMode="auto">
              <a:xfrm>
                <a:off x="4234148" y="4149561"/>
                <a:ext cx="1669214" cy="305074"/>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14361" name="Oval 2">
              <a:extLst>
                <a:ext uri="{FF2B5EF4-FFF2-40B4-BE49-F238E27FC236}">
                  <a16:creationId xmlns:a16="http://schemas.microsoft.com/office/drawing/2014/main" id="{0D9D9EB3-644A-4ED6-94CA-FC9891CF84C9}"/>
                </a:ext>
              </a:extLst>
            </p:cNvPr>
            <p:cNvSpPr>
              <a:spLocks noChangeArrowheads="1"/>
            </p:cNvSpPr>
            <p:nvPr/>
          </p:nvSpPr>
          <p:spPr bwMode="auto">
            <a:xfrm>
              <a:off x="1205850" y="3237023"/>
              <a:ext cx="554618" cy="55461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70F2DFA-9E84-4C83-8F6B-BEFA070A3274}"/>
              </a:ext>
            </a:extLst>
          </p:cNvPr>
          <p:cNvSpPr>
            <a:spLocks noGrp="1"/>
          </p:cNvSpPr>
          <p:nvPr>
            <p:ph type="title"/>
          </p:nvPr>
        </p:nvSpPr>
        <p:spPr/>
        <p:txBody>
          <a:bodyPr/>
          <a:lstStyle/>
          <a:p>
            <a:r>
              <a:rPr lang="en-US" altLang="en-US"/>
              <a:t>Clock Waveform  </a:t>
            </a:r>
          </a:p>
        </p:txBody>
      </p:sp>
      <p:sp>
        <p:nvSpPr>
          <p:cNvPr id="3" name="Content Placeholder 2">
            <a:extLst>
              <a:ext uri="{FF2B5EF4-FFF2-40B4-BE49-F238E27FC236}">
                <a16:creationId xmlns:a16="http://schemas.microsoft.com/office/drawing/2014/main" id="{0D70DB9F-D8FC-4EBE-B11E-E191F45EEC31}"/>
              </a:ext>
            </a:extLst>
          </p:cNvPr>
          <p:cNvSpPr>
            <a:spLocks noGrp="1"/>
          </p:cNvSpPr>
          <p:nvPr>
            <p:ph type="body" sz="quarter" idx="10"/>
          </p:nvPr>
        </p:nvSpPr>
        <p:spPr>
          <a:xfrm>
            <a:off x="233202" y="1150938"/>
            <a:ext cx="10695531" cy="994458"/>
          </a:xfr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vert="horz" wrap="square" lIns="180000" tIns="180000" rIns="180000" bIns="180000" rtlCol="0">
            <a:spAutoFit/>
          </a:bodyPr>
          <a:lstStyle/>
          <a:p>
            <a:pPr marL="0" indent="0">
              <a:spcBef>
                <a:spcPct val="0"/>
              </a:spcBef>
              <a:buNone/>
              <a:defRPr/>
            </a:pP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create_clock</a:t>
            </a:r>
            <a:r>
              <a:rPr lang="en-US" sz="1800" dirty="0">
                <a:latin typeface="Courier New" pitchFamily="49" charset="0"/>
                <a:cs typeface="Courier New" pitchFamily="49" charset="0"/>
              </a:rPr>
              <a:t>  -period 10 \</a:t>
            </a:r>
          </a:p>
          <a:p>
            <a:pPr marL="0" indent="0">
              <a:spcBef>
                <a:spcPct val="0"/>
              </a:spcBef>
              <a:buNone/>
              <a:defRPr/>
            </a:pPr>
            <a:r>
              <a:rPr lang="en-US" sz="1800" dirty="0">
                <a:latin typeface="Courier New" pitchFamily="49" charset="0"/>
                <a:cs typeface="Courier New" pitchFamily="49" charset="0"/>
              </a:rPr>
              <a:t>		-waveform {3 5 7 9 } [</a:t>
            </a:r>
            <a:r>
              <a:rPr lang="en-US" sz="1800" dirty="0" err="1">
                <a:latin typeface="Courier New" pitchFamily="49" charset="0"/>
                <a:cs typeface="Courier New" pitchFamily="49" charset="0"/>
              </a:rPr>
              <a:t>get_port</a:t>
            </a:r>
            <a:r>
              <a:rPr lang="en-US" sz="1800" dirty="0">
                <a:latin typeface="Courier New" pitchFamily="49" charset="0"/>
                <a:cs typeface="Courier New" pitchFamily="49" charset="0"/>
              </a:rPr>
              <a:t> CLKB]</a:t>
            </a:r>
          </a:p>
        </p:txBody>
      </p:sp>
      <p:cxnSp>
        <p:nvCxnSpPr>
          <p:cNvPr id="6" name="Straight Connector 5">
            <a:extLst>
              <a:ext uri="{FF2B5EF4-FFF2-40B4-BE49-F238E27FC236}">
                <a16:creationId xmlns:a16="http://schemas.microsoft.com/office/drawing/2014/main" id="{C315C31B-D544-4168-96DB-E1FDA3B946C4}"/>
              </a:ext>
            </a:extLst>
          </p:cNvPr>
          <p:cNvCxnSpPr/>
          <p:nvPr/>
        </p:nvCxnSpPr>
        <p:spPr bwMode="auto">
          <a:xfrm>
            <a:off x="3226595" y="5129176"/>
            <a:ext cx="109378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D8BA4D-047A-4EA9-9069-7618912173AA}"/>
              </a:ext>
            </a:extLst>
          </p:cNvPr>
          <p:cNvCxnSpPr/>
          <p:nvPr/>
        </p:nvCxnSpPr>
        <p:spPr bwMode="auto">
          <a:xfrm rot="5400000" flipH="1" flipV="1">
            <a:off x="3956844"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33C4443-F55C-4247-A288-C9034900C84E}"/>
              </a:ext>
            </a:extLst>
          </p:cNvPr>
          <p:cNvCxnSpPr/>
          <p:nvPr/>
        </p:nvCxnSpPr>
        <p:spPr bwMode="auto">
          <a:xfrm>
            <a:off x="4320382" y="4398926"/>
            <a:ext cx="36512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B932617-7DB0-494A-B4E3-DB5F6DF9F9EE}"/>
              </a:ext>
            </a:extLst>
          </p:cNvPr>
          <p:cNvCxnSpPr/>
          <p:nvPr/>
        </p:nvCxnSpPr>
        <p:spPr bwMode="auto">
          <a:xfrm rot="5400000">
            <a:off x="4321969"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D03D626-6B1D-4E17-A693-AFB34AA087A5}"/>
              </a:ext>
            </a:extLst>
          </p:cNvPr>
          <p:cNvCxnSpPr/>
          <p:nvPr/>
        </p:nvCxnSpPr>
        <p:spPr bwMode="auto">
          <a:xfrm>
            <a:off x="4685507" y="5129176"/>
            <a:ext cx="136842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9BC3D30-008D-44B0-A0E5-34CA1D4251F2}"/>
              </a:ext>
            </a:extLst>
          </p:cNvPr>
          <p:cNvCxnSpPr/>
          <p:nvPr/>
        </p:nvCxnSpPr>
        <p:spPr bwMode="auto">
          <a:xfrm rot="5400000" flipH="1" flipV="1">
            <a:off x="5690394"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FFFE24-0A68-4F41-BF37-69B5F5368ABF}"/>
              </a:ext>
            </a:extLst>
          </p:cNvPr>
          <p:cNvCxnSpPr/>
          <p:nvPr/>
        </p:nvCxnSpPr>
        <p:spPr bwMode="auto">
          <a:xfrm>
            <a:off x="6053931" y="4398926"/>
            <a:ext cx="73025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FF12F56-DBAF-4309-BD15-7D5F842ADE46}"/>
              </a:ext>
            </a:extLst>
          </p:cNvPr>
          <p:cNvCxnSpPr/>
          <p:nvPr/>
        </p:nvCxnSpPr>
        <p:spPr bwMode="auto">
          <a:xfrm rot="5400000">
            <a:off x="6420644"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7109FBA-7810-4E54-BA7A-53A00D9671F0}"/>
              </a:ext>
            </a:extLst>
          </p:cNvPr>
          <p:cNvCxnSpPr/>
          <p:nvPr/>
        </p:nvCxnSpPr>
        <p:spPr bwMode="auto">
          <a:xfrm>
            <a:off x="6784181" y="5129176"/>
            <a:ext cx="173355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A464B9-0122-44B5-9626-649EBE07FD55}"/>
              </a:ext>
            </a:extLst>
          </p:cNvPr>
          <p:cNvCxnSpPr/>
          <p:nvPr/>
        </p:nvCxnSpPr>
        <p:spPr bwMode="auto">
          <a:xfrm rot="5400000" flipH="1" flipV="1">
            <a:off x="8154194"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1B73288-A6C1-4C2E-9DA1-0D3B986EC6F5}"/>
              </a:ext>
            </a:extLst>
          </p:cNvPr>
          <p:cNvCxnSpPr/>
          <p:nvPr/>
        </p:nvCxnSpPr>
        <p:spPr bwMode="auto">
          <a:xfrm>
            <a:off x="8517732" y="4398926"/>
            <a:ext cx="36512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94A35DB-43D1-4E34-8FC8-AB44D4909565}"/>
              </a:ext>
            </a:extLst>
          </p:cNvPr>
          <p:cNvCxnSpPr/>
          <p:nvPr/>
        </p:nvCxnSpPr>
        <p:spPr bwMode="auto">
          <a:xfrm rot="5400000">
            <a:off x="8519319" y="4764050"/>
            <a:ext cx="72866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CEAE3C0-A606-494F-A40B-2DC5579F0429}"/>
              </a:ext>
            </a:extLst>
          </p:cNvPr>
          <p:cNvCxnSpPr/>
          <p:nvPr/>
        </p:nvCxnSpPr>
        <p:spPr bwMode="auto">
          <a:xfrm>
            <a:off x="8882856" y="5129176"/>
            <a:ext cx="274638"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77" name="Straight Connector 31">
            <a:extLst>
              <a:ext uri="{FF2B5EF4-FFF2-40B4-BE49-F238E27FC236}">
                <a16:creationId xmlns:a16="http://schemas.microsoft.com/office/drawing/2014/main" id="{1A32F4B6-4674-4665-B748-A5D9E013C4C5}"/>
              </a:ext>
            </a:extLst>
          </p:cNvPr>
          <p:cNvCxnSpPr>
            <a:cxnSpLocks noChangeShapeType="1"/>
          </p:cNvCxnSpPr>
          <p:nvPr/>
        </p:nvCxnSpPr>
        <p:spPr bwMode="auto">
          <a:xfrm rot="5400000">
            <a:off x="6740526" y="4993444"/>
            <a:ext cx="1550987"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78" name="Straight Connector 32">
            <a:extLst>
              <a:ext uri="{FF2B5EF4-FFF2-40B4-BE49-F238E27FC236}">
                <a16:creationId xmlns:a16="http://schemas.microsoft.com/office/drawing/2014/main" id="{49136EB1-8195-4BA5-B032-B51D6E3E74E4}"/>
              </a:ext>
            </a:extLst>
          </p:cNvPr>
          <p:cNvCxnSpPr>
            <a:cxnSpLocks noChangeShapeType="1"/>
          </p:cNvCxnSpPr>
          <p:nvPr/>
        </p:nvCxnSpPr>
        <p:spPr bwMode="auto">
          <a:xfrm rot="5400000">
            <a:off x="2451100" y="4991856"/>
            <a:ext cx="1550988"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79" name="Straight Arrow Connector 34">
            <a:extLst>
              <a:ext uri="{FF2B5EF4-FFF2-40B4-BE49-F238E27FC236}">
                <a16:creationId xmlns:a16="http://schemas.microsoft.com/office/drawing/2014/main" id="{E748BE48-83BE-4003-B921-4F28F5826210}"/>
              </a:ext>
            </a:extLst>
          </p:cNvPr>
          <p:cNvCxnSpPr>
            <a:cxnSpLocks noChangeShapeType="1"/>
          </p:cNvCxnSpPr>
          <p:nvPr/>
        </p:nvCxnSpPr>
        <p:spPr bwMode="auto">
          <a:xfrm>
            <a:off x="3226595" y="5584787"/>
            <a:ext cx="4287837" cy="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5380" name="TextBox 37">
            <a:extLst>
              <a:ext uri="{FF2B5EF4-FFF2-40B4-BE49-F238E27FC236}">
                <a16:creationId xmlns:a16="http://schemas.microsoft.com/office/drawing/2014/main" id="{B11BC7D4-3A3E-4B1E-BE71-26199767C3AA}"/>
              </a:ext>
            </a:extLst>
          </p:cNvPr>
          <p:cNvSpPr txBox="1">
            <a:spLocks noChangeArrowheads="1"/>
          </p:cNvSpPr>
          <p:nvPr/>
        </p:nvSpPr>
        <p:spPr bwMode="auto">
          <a:xfrm>
            <a:off x="5130006" y="5670513"/>
            <a:ext cx="12779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T=10</a:t>
            </a:r>
          </a:p>
        </p:txBody>
      </p:sp>
      <p:sp>
        <p:nvSpPr>
          <p:cNvPr id="15381" name="TextBox 38">
            <a:extLst>
              <a:ext uri="{FF2B5EF4-FFF2-40B4-BE49-F238E27FC236}">
                <a16:creationId xmlns:a16="http://schemas.microsoft.com/office/drawing/2014/main" id="{D9B5E8F3-68C1-407C-A9F5-178191FCB1F1}"/>
              </a:ext>
            </a:extLst>
          </p:cNvPr>
          <p:cNvSpPr txBox="1">
            <a:spLocks noChangeArrowheads="1"/>
          </p:cNvSpPr>
          <p:nvPr/>
        </p:nvSpPr>
        <p:spPr bwMode="auto">
          <a:xfrm>
            <a:off x="2045494" y="4559263"/>
            <a:ext cx="1185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      CLKB</a:t>
            </a:r>
          </a:p>
        </p:txBody>
      </p:sp>
      <p:sp>
        <p:nvSpPr>
          <p:cNvPr id="41" name="TextBox 40">
            <a:extLst>
              <a:ext uri="{FF2B5EF4-FFF2-40B4-BE49-F238E27FC236}">
                <a16:creationId xmlns:a16="http://schemas.microsoft.com/office/drawing/2014/main" id="{AECAFE75-3BC3-4846-8252-6A82BA006C14}"/>
              </a:ext>
            </a:extLst>
          </p:cNvPr>
          <p:cNvSpPr txBox="1"/>
          <p:nvPr/>
        </p:nvSpPr>
        <p:spPr>
          <a:xfrm>
            <a:off x="3185320" y="5065675"/>
            <a:ext cx="274637" cy="253916"/>
          </a:xfrm>
          <a:prstGeom prst="rect">
            <a:avLst/>
          </a:prstGeom>
          <a:noFill/>
        </p:spPr>
        <p:txBody>
          <a:bodyPr>
            <a:spAutoFit/>
          </a:bodyPr>
          <a:lstStyle/>
          <a:p>
            <a:pPr eaLnBrk="1" hangingPunct="1">
              <a:defRPr/>
            </a:pPr>
            <a:r>
              <a:rPr lang="en-US" sz="1050" dirty="0">
                <a:latin typeface="Arial" charset="0"/>
                <a:cs typeface="Arial" charset="0"/>
              </a:rPr>
              <a:t>0</a:t>
            </a:r>
          </a:p>
        </p:txBody>
      </p:sp>
      <p:sp>
        <p:nvSpPr>
          <p:cNvPr id="42" name="TextBox 41">
            <a:extLst>
              <a:ext uri="{FF2B5EF4-FFF2-40B4-BE49-F238E27FC236}">
                <a16:creationId xmlns:a16="http://schemas.microsoft.com/office/drawing/2014/main" id="{1C29B802-6457-4501-815E-DAA279A6F7FE}"/>
              </a:ext>
            </a:extLst>
          </p:cNvPr>
          <p:cNvSpPr txBox="1"/>
          <p:nvPr/>
        </p:nvSpPr>
        <p:spPr>
          <a:xfrm>
            <a:off x="4098131" y="5119650"/>
            <a:ext cx="457200" cy="253916"/>
          </a:xfrm>
          <a:prstGeom prst="rect">
            <a:avLst/>
          </a:prstGeom>
          <a:noFill/>
        </p:spPr>
        <p:txBody>
          <a:bodyPr>
            <a:spAutoFit/>
          </a:bodyPr>
          <a:lstStyle/>
          <a:p>
            <a:pPr eaLnBrk="1" hangingPunct="1">
              <a:defRPr/>
            </a:pPr>
            <a:r>
              <a:rPr lang="en-US" sz="1050" dirty="0">
                <a:latin typeface="Arial" charset="0"/>
                <a:cs typeface="Arial" charset="0"/>
              </a:rPr>
              <a:t>3</a:t>
            </a:r>
          </a:p>
        </p:txBody>
      </p:sp>
      <p:sp>
        <p:nvSpPr>
          <p:cNvPr id="43" name="TextBox 42">
            <a:extLst>
              <a:ext uri="{FF2B5EF4-FFF2-40B4-BE49-F238E27FC236}">
                <a16:creationId xmlns:a16="http://schemas.microsoft.com/office/drawing/2014/main" id="{942A08E0-A40B-4BDF-8888-BC5CD7A9E705}"/>
              </a:ext>
            </a:extLst>
          </p:cNvPr>
          <p:cNvSpPr txBox="1"/>
          <p:nvPr/>
        </p:nvSpPr>
        <p:spPr>
          <a:xfrm>
            <a:off x="6680994" y="5129175"/>
            <a:ext cx="455612" cy="415498"/>
          </a:xfrm>
          <a:prstGeom prst="rect">
            <a:avLst/>
          </a:prstGeom>
          <a:noFill/>
        </p:spPr>
        <p:txBody>
          <a:bodyPr>
            <a:spAutoFit/>
          </a:bodyPr>
          <a:lstStyle/>
          <a:p>
            <a:pPr eaLnBrk="1" hangingPunct="1">
              <a:defRPr/>
            </a:pPr>
            <a:r>
              <a:rPr lang="en-US" sz="1050" dirty="0">
                <a:latin typeface="Arial" charset="0"/>
                <a:cs typeface="Arial" charset="0"/>
              </a:rPr>
              <a:t>9</a:t>
            </a:r>
          </a:p>
          <a:p>
            <a:pPr eaLnBrk="1" hangingPunct="1">
              <a:defRPr/>
            </a:pPr>
            <a:endParaRPr lang="en-US" sz="1050" dirty="0">
              <a:latin typeface="Arial" charset="0"/>
              <a:cs typeface="Arial" charset="0"/>
            </a:endParaRPr>
          </a:p>
        </p:txBody>
      </p:sp>
      <p:sp>
        <p:nvSpPr>
          <p:cNvPr id="44" name="TextBox 43">
            <a:extLst>
              <a:ext uri="{FF2B5EF4-FFF2-40B4-BE49-F238E27FC236}">
                <a16:creationId xmlns:a16="http://schemas.microsoft.com/office/drawing/2014/main" id="{B7FFD3DD-1CC1-4B39-A20F-7CC26468083F}"/>
              </a:ext>
            </a:extLst>
          </p:cNvPr>
          <p:cNvSpPr txBox="1"/>
          <p:nvPr/>
        </p:nvSpPr>
        <p:spPr>
          <a:xfrm>
            <a:off x="5868194" y="5129175"/>
            <a:ext cx="455612" cy="253916"/>
          </a:xfrm>
          <a:prstGeom prst="rect">
            <a:avLst/>
          </a:prstGeom>
          <a:noFill/>
        </p:spPr>
        <p:txBody>
          <a:bodyPr>
            <a:spAutoFit/>
          </a:bodyPr>
          <a:lstStyle/>
          <a:p>
            <a:pPr eaLnBrk="1" hangingPunct="1">
              <a:defRPr/>
            </a:pPr>
            <a:r>
              <a:rPr lang="en-US" sz="1050" dirty="0">
                <a:latin typeface="Arial" charset="0"/>
                <a:cs typeface="Arial" charset="0"/>
              </a:rPr>
              <a:t>7</a:t>
            </a:r>
          </a:p>
        </p:txBody>
      </p:sp>
      <p:sp>
        <p:nvSpPr>
          <p:cNvPr id="45" name="TextBox 44">
            <a:extLst>
              <a:ext uri="{FF2B5EF4-FFF2-40B4-BE49-F238E27FC236}">
                <a16:creationId xmlns:a16="http://schemas.microsoft.com/office/drawing/2014/main" id="{9CB47137-77FA-4601-9153-BBF7C1890AD2}"/>
              </a:ext>
            </a:extLst>
          </p:cNvPr>
          <p:cNvSpPr txBox="1"/>
          <p:nvPr/>
        </p:nvSpPr>
        <p:spPr>
          <a:xfrm>
            <a:off x="4583907" y="5110125"/>
            <a:ext cx="455613" cy="253916"/>
          </a:xfrm>
          <a:prstGeom prst="rect">
            <a:avLst/>
          </a:prstGeom>
          <a:noFill/>
        </p:spPr>
        <p:txBody>
          <a:bodyPr>
            <a:spAutoFit/>
          </a:bodyPr>
          <a:lstStyle/>
          <a:p>
            <a:pPr eaLnBrk="1" hangingPunct="1">
              <a:defRPr/>
            </a:pPr>
            <a:r>
              <a:rPr lang="en-US" sz="1050" dirty="0">
                <a:latin typeface="Arial" charset="0"/>
                <a:cs typeface="Arial" charset="0"/>
              </a:rPr>
              <a:t>5</a:t>
            </a:r>
          </a:p>
        </p:txBody>
      </p:sp>
      <p:sp>
        <p:nvSpPr>
          <p:cNvPr id="46" name="TextBox 45">
            <a:extLst>
              <a:ext uri="{FF2B5EF4-FFF2-40B4-BE49-F238E27FC236}">
                <a16:creationId xmlns:a16="http://schemas.microsoft.com/office/drawing/2014/main" id="{54927CA5-10D0-490D-B0CB-39EA79361109}"/>
              </a:ext>
            </a:extLst>
          </p:cNvPr>
          <p:cNvSpPr txBox="1"/>
          <p:nvPr/>
        </p:nvSpPr>
        <p:spPr>
          <a:xfrm>
            <a:off x="7583410" y="5156292"/>
            <a:ext cx="457200" cy="415498"/>
          </a:xfrm>
          <a:prstGeom prst="rect">
            <a:avLst/>
          </a:prstGeom>
          <a:noFill/>
        </p:spPr>
        <p:txBody>
          <a:bodyPr>
            <a:spAutoFit/>
          </a:bodyPr>
          <a:lstStyle/>
          <a:p>
            <a:pPr eaLnBrk="1" hangingPunct="1">
              <a:defRPr/>
            </a:pPr>
            <a:r>
              <a:rPr lang="en-US" sz="1050" dirty="0">
                <a:latin typeface="Arial" charset="0"/>
                <a:cs typeface="Arial" charset="0"/>
              </a:rPr>
              <a:t>10</a:t>
            </a:r>
          </a:p>
          <a:p>
            <a:pPr eaLnBrk="1" hangingPunct="1">
              <a:defRPr/>
            </a:pPr>
            <a:endParaRPr lang="en-US" sz="1050" dirty="0">
              <a:latin typeface="Arial" charset="0"/>
              <a:cs typeface="Arial" charset="0"/>
            </a:endParaRPr>
          </a:p>
        </p:txBody>
      </p:sp>
      <p:sp>
        <p:nvSpPr>
          <p:cNvPr id="47" name="TextBox 46">
            <a:extLst>
              <a:ext uri="{FF2B5EF4-FFF2-40B4-BE49-F238E27FC236}">
                <a16:creationId xmlns:a16="http://schemas.microsoft.com/office/drawing/2014/main" id="{10247F27-AE86-47A1-898F-28AF18B7DA0D}"/>
              </a:ext>
            </a:extLst>
          </p:cNvPr>
          <p:cNvSpPr txBox="1"/>
          <p:nvPr/>
        </p:nvSpPr>
        <p:spPr>
          <a:xfrm>
            <a:off x="8295481" y="5129175"/>
            <a:ext cx="457200" cy="415498"/>
          </a:xfrm>
          <a:prstGeom prst="rect">
            <a:avLst/>
          </a:prstGeom>
          <a:noFill/>
        </p:spPr>
        <p:txBody>
          <a:bodyPr>
            <a:spAutoFit/>
          </a:bodyPr>
          <a:lstStyle/>
          <a:p>
            <a:pPr eaLnBrk="1" hangingPunct="1">
              <a:defRPr/>
            </a:pPr>
            <a:r>
              <a:rPr lang="en-US" sz="1050" dirty="0">
                <a:latin typeface="Arial" charset="0"/>
                <a:cs typeface="Arial" charset="0"/>
              </a:rPr>
              <a:t>13</a:t>
            </a:r>
          </a:p>
          <a:p>
            <a:pPr eaLnBrk="1" hangingPunct="1">
              <a:defRPr/>
            </a:pPr>
            <a:endParaRPr lang="en-US" sz="1050" dirty="0">
              <a:latin typeface="Arial" charset="0"/>
              <a:cs typeface="Arial" charset="0"/>
            </a:endParaRPr>
          </a:p>
        </p:txBody>
      </p:sp>
      <p:sp>
        <p:nvSpPr>
          <p:cNvPr id="48" name="TextBox 47">
            <a:extLst>
              <a:ext uri="{FF2B5EF4-FFF2-40B4-BE49-F238E27FC236}">
                <a16:creationId xmlns:a16="http://schemas.microsoft.com/office/drawing/2014/main" id="{1B96DCBC-9860-488D-8533-35A6C11BC3A5}"/>
              </a:ext>
            </a:extLst>
          </p:cNvPr>
          <p:cNvSpPr txBox="1"/>
          <p:nvPr/>
        </p:nvSpPr>
        <p:spPr>
          <a:xfrm>
            <a:off x="8774907" y="5097426"/>
            <a:ext cx="455613" cy="577081"/>
          </a:xfrm>
          <a:prstGeom prst="rect">
            <a:avLst/>
          </a:prstGeom>
          <a:noFill/>
        </p:spPr>
        <p:txBody>
          <a:bodyPr>
            <a:spAutoFit/>
          </a:bodyPr>
          <a:lstStyle/>
          <a:p>
            <a:pPr eaLnBrk="1" hangingPunct="1">
              <a:defRPr/>
            </a:pPr>
            <a:r>
              <a:rPr lang="en-US" sz="1050" dirty="0">
                <a:latin typeface="Arial" charset="0"/>
                <a:cs typeface="Arial" charset="0"/>
              </a:rPr>
              <a:t>15</a:t>
            </a:r>
          </a:p>
          <a:p>
            <a:pPr eaLnBrk="1" hangingPunct="1">
              <a:defRPr/>
            </a:pPr>
            <a:endParaRPr lang="en-US" sz="1050" dirty="0">
              <a:latin typeface="Arial" charset="0"/>
              <a:cs typeface="Arial" charset="0"/>
            </a:endParaRPr>
          </a:p>
          <a:p>
            <a:pPr eaLnBrk="1" hangingPunct="1">
              <a:defRPr/>
            </a:pPr>
            <a:endParaRPr lang="en-US" sz="1050" dirty="0">
              <a:latin typeface="Arial" charset="0"/>
              <a:cs typeface="Arial" charset="0"/>
            </a:endParaRPr>
          </a:p>
        </p:txBody>
      </p:sp>
      <p:cxnSp>
        <p:nvCxnSpPr>
          <p:cNvPr id="31" name="Straight Connector 30">
            <a:extLst>
              <a:ext uri="{FF2B5EF4-FFF2-40B4-BE49-F238E27FC236}">
                <a16:creationId xmlns:a16="http://schemas.microsoft.com/office/drawing/2014/main" id="{EEEF0696-69D5-461D-9636-7C06F855AAF9}"/>
              </a:ext>
            </a:extLst>
          </p:cNvPr>
          <p:cNvCxnSpPr/>
          <p:nvPr/>
        </p:nvCxnSpPr>
        <p:spPr bwMode="auto">
          <a:xfrm rot="5400000">
            <a:off x="5957888" y="3090032"/>
            <a:ext cx="6096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18C7C64-FCD0-4E49-BD87-A7CBB23B2C19}"/>
              </a:ext>
            </a:extLst>
          </p:cNvPr>
          <p:cNvCxnSpPr/>
          <p:nvPr/>
        </p:nvCxnSpPr>
        <p:spPr bwMode="auto">
          <a:xfrm rot="5400000">
            <a:off x="7107238" y="3085269"/>
            <a:ext cx="6096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D1524E1-4A15-4DDA-BB4B-987F8B90C540}"/>
              </a:ext>
            </a:extLst>
          </p:cNvPr>
          <p:cNvCxnSpPr/>
          <p:nvPr/>
        </p:nvCxnSpPr>
        <p:spPr bwMode="auto">
          <a:xfrm rot="5400000">
            <a:off x="8264525" y="3080506"/>
            <a:ext cx="609600"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3479466-2A74-45C2-921B-186B48F29EA4}"/>
              </a:ext>
            </a:extLst>
          </p:cNvPr>
          <p:cNvCxnSpPr/>
          <p:nvPr/>
        </p:nvCxnSpPr>
        <p:spPr bwMode="auto">
          <a:xfrm rot="5400000">
            <a:off x="9409113" y="3085269"/>
            <a:ext cx="6096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5EDF1E7C-281C-4DF3-8762-546DB55B33A9}"/>
              </a:ext>
            </a:extLst>
          </p:cNvPr>
          <p:cNvCxnSpPr/>
          <p:nvPr/>
        </p:nvCxnSpPr>
        <p:spPr bwMode="auto">
          <a:xfrm flipV="1">
            <a:off x="6263481" y="2779675"/>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95" name="Straight Connector 48">
            <a:extLst>
              <a:ext uri="{FF2B5EF4-FFF2-40B4-BE49-F238E27FC236}">
                <a16:creationId xmlns:a16="http://schemas.microsoft.com/office/drawing/2014/main" id="{1598BBA1-FF17-4A04-9B8A-68043853C069}"/>
              </a:ext>
            </a:extLst>
          </p:cNvPr>
          <p:cNvCxnSpPr>
            <a:cxnSpLocks noChangeShapeType="1"/>
          </p:cNvCxnSpPr>
          <p:nvPr/>
        </p:nvCxnSpPr>
        <p:spPr bwMode="auto">
          <a:xfrm rot="5400000">
            <a:off x="5955506" y="3700425"/>
            <a:ext cx="609600"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96" name="Straight Connector 49">
            <a:extLst>
              <a:ext uri="{FF2B5EF4-FFF2-40B4-BE49-F238E27FC236}">
                <a16:creationId xmlns:a16="http://schemas.microsoft.com/office/drawing/2014/main" id="{7C254947-A38A-45F5-A565-0808DC258A50}"/>
              </a:ext>
            </a:extLst>
          </p:cNvPr>
          <p:cNvCxnSpPr>
            <a:cxnSpLocks noChangeShapeType="1"/>
          </p:cNvCxnSpPr>
          <p:nvPr/>
        </p:nvCxnSpPr>
        <p:spPr bwMode="auto">
          <a:xfrm rot="5400000">
            <a:off x="8272463" y="3688519"/>
            <a:ext cx="608013"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97" name="Straight Connector 50">
            <a:extLst>
              <a:ext uri="{FF2B5EF4-FFF2-40B4-BE49-F238E27FC236}">
                <a16:creationId xmlns:a16="http://schemas.microsoft.com/office/drawing/2014/main" id="{29D97613-F56B-4DDD-AA3B-437F473267F2}"/>
              </a:ext>
            </a:extLst>
          </p:cNvPr>
          <p:cNvCxnSpPr>
            <a:cxnSpLocks noChangeShapeType="1"/>
          </p:cNvCxnSpPr>
          <p:nvPr/>
        </p:nvCxnSpPr>
        <p:spPr bwMode="auto">
          <a:xfrm rot="5400000" flipH="1" flipV="1">
            <a:off x="5993606" y="2519325"/>
            <a:ext cx="533400"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98" name="Straight Connector 51">
            <a:extLst>
              <a:ext uri="{FF2B5EF4-FFF2-40B4-BE49-F238E27FC236}">
                <a16:creationId xmlns:a16="http://schemas.microsoft.com/office/drawing/2014/main" id="{4EB54AD0-7855-46A1-B645-AEE3BB8BEBB1}"/>
              </a:ext>
            </a:extLst>
          </p:cNvPr>
          <p:cNvCxnSpPr>
            <a:cxnSpLocks noChangeShapeType="1"/>
          </p:cNvCxnSpPr>
          <p:nvPr/>
        </p:nvCxnSpPr>
        <p:spPr bwMode="auto">
          <a:xfrm rot="5400000" flipH="1" flipV="1">
            <a:off x="7147719" y="2519325"/>
            <a:ext cx="533400"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399" name="Straight Connector 52">
            <a:extLst>
              <a:ext uri="{FF2B5EF4-FFF2-40B4-BE49-F238E27FC236}">
                <a16:creationId xmlns:a16="http://schemas.microsoft.com/office/drawing/2014/main" id="{6576326A-20B6-48C0-9291-44C055BBAD78}"/>
              </a:ext>
            </a:extLst>
          </p:cNvPr>
          <p:cNvCxnSpPr>
            <a:cxnSpLocks noChangeShapeType="1"/>
          </p:cNvCxnSpPr>
          <p:nvPr/>
        </p:nvCxnSpPr>
        <p:spPr bwMode="auto">
          <a:xfrm rot="5400000" flipH="1" flipV="1">
            <a:off x="8305006" y="2511387"/>
            <a:ext cx="533400" cy="0"/>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5400" name="Straight Arrow Connector 53">
            <a:extLst>
              <a:ext uri="{FF2B5EF4-FFF2-40B4-BE49-F238E27FC236}">
                <a16:creationId xmlns:a16="http://schemas.microsoft.com/office/drawing/2014/main" id="{64998351-FC25-49B2-A806-D0EE1A3B5FA1}"/>
              </a:ext>
            </a:extLst>
          </p:cNvPr>
          <p:cNvCxnSpPr>
            <a:cxnSpLocks noChangeShapeType="1"/>
          </p:cNvCxnSpPr>
          <p:nvPr/>
        </p:nvCxnSpPr>
        <p:spPr bwMode="auto">
          <a:xfrm flipV="1">
            <a:off x="6263481" y="3752812"/>
            <a:ext cx="2317750" cy="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5401" name="TextBox 54">
            <a:extLst>
              <a:ext uri="{FF2B5EF4-FFF2-40B4-BE49-F238E27FC236}">
                <a16:creationId xmlns:a16="http://schemas.microsoft.com/office/drawing/2014/main" id="{DF00837C-A301-4B2F-BDB5-66A76672DAE6}"/>
              </a:ext>
            </a:extLst>
          </p:cNvPr>
          <p:cNvSpPr txBox="1">
            <a:spLocks noChangeArrowheads="1"/>
          </p:cNvSpPr>
          <p:nvPr/>
        </p:nvSpPr>
        <p:spPr bwMode="auto">
          <a:xfrm>
            <a:off x="7260431" y="3827425"/>
            <a:ext cx="9144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200"/>
              <a:t>T</a:t>
            </a:r>
            <a:r>
              <a:rPr lang="en-US" altLang="en-US" sz="1200"/>
              <a:t>=10</a:t>
            </a:r>
          </a:p>
        </p:txBody>
      </p:sp>
      <p:sp>
        <p:nvSpPr>
          <p:cNvPr id="15402" name="TextBox 55">
            <a:extLst>
              <a:ext uri="{FF2B5EF4-FFF2-40B4-BE49-F238E27FC236}">
                <a16:creationId xmlns:a16="http://schemas.microsoft.com/office/drawing/2014/main" id="{85504E52-203F-4538-841F-D188B90B1E29}"/>
              </a:ext>
            </a:extLst>
          </p:cNvPr>
          <p:cNvSpPr txBox="1">
            <a:spLocks noChangeArrowheads="1"/>
          </p:cNvSpPr>
          <p:nvPr/>
        </p:nvSpPr>
        <p:spPr bwMode="auto">
          <a:xfrm>
            <a:off x="5474494" y="3101937"/>
            <a:ext cx="838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100"/>
              <a:t>      </a:t>
            </a:r>
            <a:r>
              <a:rPr lang="en-US" altLang="en-US" sz="1100"/>
              <a:t>CLK</a:t>
            </a:r>
          </a:p>
        </p:txBody>
      </p:sp>
      <p:sp>
        <p:nvSpPr>
          <p:cNvPr id="15403" name="TextBox 56">
            <a:extLst>
              <a:ext uri="{FF2B5EF4-FFF2-40B4-BE49-F238E27FC236}">
                <a16:creationId xmlns:a16="http://schemas.microsoft.com/office/drawing/2014/main" id="{78BDF9E5-A812-4287-8217-9CA09A151F46}"/>
              </a:ext>
            </a:extLst>
          </p:cNvPr>
          <p:cNvSpPr txBox="1">
            <a:spLocks noChangeArrowheads="1"/>
          </p:cNvSpPr>
          <p:nvPr/>
        </p:nvSpPr>
        <p:spPr bwMode="auto">
          <a:xfrm>
            <a:off x="6187281" y="3395625"/>
            <a:ext cx="2286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0</a:t>
            </a:r>
            <a:endParaRPr lang="en-US" altLang="en-US"/>
          </a:p>
        </p:txBody>
      </p:sp>
      <p:sp>
        <p:nvSpPr>
          <p:cNvPr id="15404" name="TextBox 57">
            <a:extLst>
              <a:ext uri="{FF2B5EF4-FFF2-40B4-BE49-F238E27FC236}">
                <a16:creationId xmlns:a16="http://schemas.microsoft.com/office/drawing/2014/main" id="{349AB690-89C3-4DD9-AD02-1720DD231D8D}"/>
              </a:ext>
            </a:extLst>
          </p:cNvPr>
          <p:cNvSpPr txBox="1">
            <a:spLocks noChangeArrowheads="1"/>
          </p:cNvSpPr>
          <p:nvPr/>
        </p:nvSpPr>
        <p:spPr bwMode="auto">
          <a:xfrm>
            <a:off x="7271544" y="3351175"/>
            <a:ext cx="2286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5</a:t>
            </a:r>
            <a:endParaRPr lang="en-US" altLang="en-US"/>
          </a:p>
        </p:txBody>
      </p:sp>
      <p:sp>
        <p:nvSpPr>
          <p:cNvPr id="15405" name="TextBox 58">
            <a:extLst>
              <a:ext uri="{FF2B5EF4-FFF2-40B4-BE49-F238E27FC236}">
                <a16:creationId xmlns:a16="http://schemas.microsoft.com/office/drawing/2014/main" id="{5C8F3BB8-CEC1-4EC5-A336-733CF69C2BA5}"/>
              </a:ext>
            </a:extLst>
          </p:cNvPr>
          <p:cNvSpPr txBox="1">
            <a:spLocks noChangeArrowheads="1"/>
          </p:cNvSpPr>
          <p:nvPr/>
        </p:nvSpPr>
        <p:spPr bwMode="auto">
          <a:xfrm>
            <a:off x="8331994" y="3333713"/>
            <a:ext cx="381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a:t>10</a:t>
            </a:r>
            <a:endParaRPr lang="en-US" altLang="en-US"/>
          </a:p>
        </p:txBody>
      </p:sp>
      <p:sp>
        <p:nvSpPr>
          <p:cNvPr id="15406" name="TextBox 59">
            <a:extLst>
              <a:ext uri="{FF2B5EF4-FFF2-40B4-BE49-F238E27FC236}">
                <a16:creationId xmlns:a16="http://schemas.microsoft.com/office/drawing/2014/main" id="{97955E34-5018-44CE-8586-2074FFBE99EF}"/>
              </a:ext>
            </a:extLst>
          </p:cNvPr>
          <p:cNvSpPr txBox="1">
            <a:spLocks noChangeArrowheads="1"/>
          </p:cNvSpPr>
          <p:nvPr/>
        </p:nvSpPr>
        <p:spPr bwMode="auto">
          <a:xfrm>
            <a:off x="9474994" y="3327362"/>
            <a:ext cx="381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a:t>15</a:t>
            </a:r>
            <a:endParaRPr lang="en-US" altLang="en-US" sz="1000"/>
          </a:p>
        </p:txBody>
      </p:sp>
      <p:cxnSp>
        <p:nvCxnSpPr>
          <p:cNvPr id="15407" name="Straight Arrow Connector 60">
            <a:extLst>
              <a:ext uri="{FF2B5EF4-FFF2-40B4-BE49-F238E27FC236}">
                <a16:creationId xmlns:a16="http://schemas.microsoft.com/office/drawing/2014/main" id="{9C40B9CC-5842-4694-8AFD-61FE7322C859}"/>
              </a:ext>
            </a:extLst>
          </p:cNvPr>
          <p:cNvCxnSpPr>
            <a:cxnSpLocks noChangeShapeType="1"/>
          </p:cNvCxnSpPr>
          <p:nvPr/>
        </p:nvCxnSpPr>
        <p:spPr bwMode="auto">
          <a:xfrm flipV="1">
            <a:off x="6263482" y="2541550"/>
            <a:ext cx="1133475" cy="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5408" name="TextBox 61">
            <a:extLst>
              <a:ext uri="{FF2B5EF4-FFF2-40B4-BE49-F238E27FC236}">
                <a16:creationId xmlns:a16="http://schemas.microsoft.com/office/drawing/2014/main" id="{15FF9585-B03D-41A1-8543-9AF3C76945CB}"/>
              </a:ext>
            </a:extLst>
          </p:cNvPr>
          <p:cNvSpPr txBox="1">
            <a:spLocks noChangeArrowheads="1"/>
          </p:cNvSpPr>
          <p:nvPr/>
        </p:nvSpPr>
        <p:spPr bwMode="auto">
          <a:xfrm>
            <a:off x="6325394" y="2255801"/>
            <a:ext cx="16383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High duration</a:t>
            </a:r>
          </a:p>
        </p:txBody>
      </p:sp>
      <p:cxnSp>
        <p:nvCxnSpPr>
          <p:cNvPr id="15409" name="Straight Arrow Connector 62">
            <a:extLst>
              <a:ext uri="{FF2B5EF4-FFF2-40B4-BE49-F238E27FC236}">
                <a16:creationId xmlns:a16="http://schemas.microsoft.com/office/drawing/2014/main" id="{96EA5BF7-B55B-487D-AE68-40BD06936370}"/>
              </a:ext>
            </a:extLst>
          </p:cNvPr>
          <p:cNvCxnSpPr>
            <a:cxnSpLocks noChangeShapeType="1"/>
          </p:cNvCxnSpPr>
          <p:nvPr/>
        </p:nvCxnSpPr>
        <p:spPr bwMode="auto">
          <a:xfrm>
            <a:off x="7423945" y="2706650"/>
            <a:ext cx="1157287" cy="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5410" name="TextBox 63">
            <a:extLst>
              <a:ext uri="{FF2B5EF4-FFF2-40B4-BE49-F238E27FC236}">
                <a16:creationId xmlns:a16="http://schemas.microsoft.com/office/drawing/2014/main" id="{74DE4636-09E4-4B72-8DC4-DE53807C9269}"/>
              </a:ext>
            </a:extLst>
          </p:cNvPr>
          <p:cNvSpPr txBox="1">
            <a:spLocks noChangeArrowheads="1"/>
          </p:cNvSpPr>
          <p:nvPr/>
        </p:nvSpPr>
        <p:spPr bwMode="auto">
          <a:xfrm>
            <a:off x="7403306" y="2755862"/>
            <a:ext cx="1219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Low duration</a:t>
            </a:r>
          </a:p>
        </p:txBody>
      </p:sp>
      <p:cxnSp>
        <p:nvCxnSpPr>
          <p:cNvPr id="65" name="Straight Connector 14">
            <a:extLst>
              <a:ext uri="{FF2B5EF4-FFF2-40B4-BE49-F238E27FC236}">
                <a16:creationId xmlns:a16="http://schemas.microsoft.com/office/drawing/2014/main" id="{FD78102F-07A7-4E39-8A12-15EE300229B3}"/>
              </a:ext>
            </a:extLst>
          </p:cNvPr>
          <p:cNvCxnSpPr/>
          <p:nvPr/>
        </p:nvCxnSpPr>
        <p:spPr bwMode="auto">
          <a:xfrm flipV="1">
            <a:off x="7414419" y="3386100"/>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Straight Connector 14">
            <a:extLst>
              <a:ext uri="{FF2B5EF4-FFF2-40B4-BE49-F238E27FC236}">
                <a16:creationId xmlns:a16="http://schemas.microsoft.com/office/drawing/2014/main" id="{5BF47702-4244-48C3-9C9D-A90FB3F94D09}"/>
              </a:ext>
            </a:extLst>
          </p:cNvPr>
          <p:cNvCxnSpPr/>
          <p:nvPr/>
        </p:nvCxnSpPr>
        <p:spPr bwMode="auto">
          <a:xfrm flipV="1">
            <a:off x="8566944" y="2781262"/>
            <a:ext cx="11557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Straight Connector 14">
            <a:extLst>
              <a:ext uri="{FF2B5EF4-FFF2-40B4-BE49-F238E27FC236}">
                <a16:creationId xmlns:a16="http://schemas.microsoft.com/office/drawing/2014/main" id="{A0D9A7B3-A8CC-45AC-956F-27B9F3E87DBF}"/>
              </a:ext>
            </a:extLst>
          </p:cNvPr>
          <p:cNvCxnSpPr/>
          <p:nvPr/>
        </p:nvCxnSpPr>
        <p:spPr bwMode="auto">
          <a:xfrm>
            <a:off x="9719469" y="3389275"/>
            <a:ext cx="1841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5414" name="Group 27">
            <a:extLst>
              <a:ext uri="{FF2B5EF4-FFF2-40B4-BE49-F238E27FC236}">
                <a16:creationId xmlns:a16="http://schemas.microsoft.com/office/drawing/2014/main" id="{FE7F53DB-6102-4C5F-976D-523B3353D2F8}"/>
              </a:ext>
            </a:extLst>
          </p:cNvPr>
          <p:cNvGrpSpPr>
            <a:grpSpLocks/>
          </p:cNvGrpSpPr>
          <p:nvPr/>
        </p:nvGrpSpPr>
        <p:grpSpPr bwMode="auto">
          <a:xfrm>
            <a:off x="3340894" y="2530438"/>
            <a:ext cx="1941512" cy="1357313"/>
            <a:chOff x="4736518" y="2373015"/>
            <a:chExt cx="922734" cy="762000"/>
          </a:xfrm>
        </p:grpSpPr>
        <p:sp>
          <p:nvSpPr>
            <p:cNvPr id="69" name="Rectangle 28">
              <a:extLst>
                <a:ext uri="{FF2B5EF4-FFF2-40B4-BE49-F238E27FC236}">
                  <a16:creationId xmlns:a16="http://schemas.microsoft.com/office/drawing/2014/main" id="{2F0A809A-E555-4D4D-B269-EFFFBB43E8D3}"/>
                </a:ext>
              </a:extLst>
            </p:cNvPr>
            <p:cNvSpPr/>
            <p:nvPr/>
          </p:nvSpPr>
          <p:spPr bwMode="auto">
            <a:xfrm>
              <a:off x="5202035" y="2373015"/>
              <a:ext cx="457217"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70" name="Isosceles Triangle 29">
              <a:extLst>
                <a:ext uri="{FF2B5EF4-FFF2-40B4-BE49-F238E27FC236}">
                  <a16:creationId xmlns:a16="http://schemas.microsoft.com/office/drawing/2014/main" id="{413354D9-AE2B-4E2E-B037-F62634C13D1E}"/>
                </a:ext>
              </a:extLst>
            </p:cNvPr>
            <p:cNvSpPr/>
            <p:nvPr/>
          </p:nvSpPr>
          <p:spPr bwMode="auto">
            <a:xfrm rot="5400000">
              <a:off x="5163936" y="2944959"/>
              <a:ext cx="152400" cy="76203"/>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71" name="TextBox 70">
              <a:extLst>
                <a:ext uri="{FF2B5EF4-FFF2-40B4-BE49-F238E27FC236}">
                  <a16:creationId xmlns:a16="http://schemas.microsoft.com/office/drawing/2014/main" id="{F4D3E44A-ABF7-469E-B20B-908EF31AF8F2}"/>
                </a:ext>
              </a:extLst>
            </p:cNvPr>
            <p:cNvSpPr txBox="1"/>
            <p:nvPr/>
          </p:nvSpPr>
          <p:spPr>
            <a:xfrm>
              <a:off x="5241268" y="2493331"/>
              <a:ext cx="390069" cy="189831"/>
            </a:xfrm>
            <a:prstGeom prst="rect">
              <a:avLst/>
            </a:prstGeom>
            <a:noFill/>
            <a:ln w="9525">
              <a:noFill/>
            </a:ln>
          </p:spPr>
          <p:txBody>
            <a:bodyPr wrap="none">
              <a:spAutoFit/>
            </a:bodyPr>
            <a:lstStyle/>
            <a:p>
              <a:pPr eaLnBrk="1" hangingPunct="1">
                <a:defRPr/>
              </a:pPr>
              <a:r>
                <a:rPr lang="ru-RU" sz="1600" dirty="0" err="1">
                  <a:solidFill>
                    <a:schemeClr val="bg1"/>
                  </a:solidFill>
                  <a:latin typeface="+mj-lt"/>
                  <a:cs typeface="Arial" charset="0"/>
                </a:rPr>
                <a:t>Design</a:t>
              </a:r>
              <a:endParaRPr lang="en-US" sz="1600" dirty="0">
                <a:solidFill>
                  <a:schemeClr val="bg1"/>
                </a:solidFill>
                <a:latin typeface="+mj-lt"/>
                <a:cs typeface="Arial" charset="0"/>
              </a:endParaRPr>
            </a:p>
          </p:txBody>
        </p:sp>
        <p:sp>
          <p:nvSpPr>
            <p:cNvPr id="72" name="TextBox 71">
              <a:extLst>
                <a:ext uri="{FF2B5EF4-FFF2-40B4-BE49-F238E27FC236}">
                  <a16:creationId xmlns:a16="http://schemas.microsoft.com/office/drawing/2014/main" id="{D40917D5-E5FB-4135-930D-557ADEEEAE02}"/>
                </a:ext>
              </a:extLst>
            </p:cNvPr>
            <p:cNvSpPr txBox="1"/>
            <p:nvPr/>
          </p:nvSpPr>
          <p:spPr>
            <a:xfrm>
              <a:off x="5241268" y="2894384"/>
              <a:ext cx="278229" cy="155508"/>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r>
                <a:rPr lang="ru-RU" sz="1200" dirty="0">
                  <a:solidFill>
                    <a:schemeClr val="bg1"/>
                  </a:solidFill>
                  <a:latin typeface="+mj-lt"/>
                  <a:cs typeface="Arial" charset="0"/>
                </a:rPr>
                <a:t>B</a:t>
              </a:r>
              <a:endParaRPr lang="en-US" sz="1200" dirty="0">
                <a:solidFill>
                  <a:schemeClr val="bg1"/>
                </a:solidFill>
                <a:latin typeface="+mj-lt"/>
                <a:cs typeface="Arial" charset="0"/>
              </a:endParaRPr>
            </a:p>
          </p:txBody>
        </p:sp>
        <p:cxnSp>
          <p:nvCxnSpPr>
            <p:cNvPr id="15427" name="Straight Connector 32">
              <a:extLst>
                <a:ext uri="{FF2B5EF4-FFF2-40B4-BE49-F238E27FC236}">
                  <a16:creationId xmlns:a16="http://schemas.microsoft.com/office/drawing/2014/main" id="{4ED76F6E-72DF-4A9C-A7A1-082F710F0F7E}"/>
                </a:ext>
              </a:extLst>
            </p:cNvPr>
            <p:cNvCxnSpPr>
              <a:cxnSpLocks noChangeShapeType="1"/>
            </p:cNvCxnSpPr>
            <p:nvPr/>
          </p:nvCxnSpPr>
          <p:spPr bwMode="auto">
            <a:xfrm>
              <a:off x="4736518" y="2982615"/>
              <a:ext cx="466457" cy="0"/>
            </a:xfrm>
            <a:prstGeom prst="line">
              <a:avLst/>
            </a:prstGeom>
            <a:noFill/>
            <a:ln w="9525" algn="ctr">
              <a:solidFill>
                <a:schemeClr val="tx1"/>
              </a:solidFill>
              <a:round/>
              <a:headEnd/>
              <a:tailEnd/>
            </a:ln>
          </p:spPr>
        </p:cxnSp>
      </p:grpSp>
      <p:sp>
        <p:nvSpPr>
          <p:cNvPr id="74" name="TextBox 73">
            <a:extLst>
              <a:ext uri="{FF2B5EF4-FFF2-40B4-BE49-F238E27FC236}">
                <a16:creationId xmlns:a16="http://schemas.microsoft.com/office/drawing/2014/main" id="{BC5624B2-85C8-4FD4-9B56-3ABF6D897C1F}"/>
              </a:ext>
            </a:extLst>
          </p:cNvPr>
          <p:cNvSpPr txBox="1"/>
          <p:nvPr/>
        </p:nvSpPr>
        <p:spPr>
          <a:xfrm>
            <a:off x="2616994" y="2982876"/>
            <a:ext cx="482824" cy="276999"/>
          </a:xfrm>
          <a:prstGeom prst="rect">
            <a:avLst/>
          </a:prstGeom>
          <a:noFill/>
          <a:ln w="9525">
            <a:noFill/>
          </a:ln>
        </p:spPr>
        <p:txBody>
          <a:bodyPr wrap="none">
            <a:spAutoFit/>
          </a:bodyPr>
          <a:lstStyle/>
          <a:p>
            <a:pPr eaLnBrk="1" hangingPunct="1">
              <a:defRPr/>
            </a:pPr>
            <a:r>
              <a:rPr lang="en-US" sz="1200" dirty="0">
                <a:latin typeface="+mj-lt"/>
                <a:cs typeface="Arial" charset="0"/>
              </a:rPr>
              <a:t>CLK</a:t>
            </a:r>
          </a:p>
        </p:txBody>
      </p:sp>
      <p:grpSp>
        <p:nvGrpSpPr>
          <p:cNvPr id="15416" name="Group 74">
            <a:extLst>
              <a:ext uri="{FF2B5EF4-FFF2-40B4-BE49-F238E27FC236}">
                <a16:creationId xmlns:a16="http://schemas.microsoft.com/office/drawing/2014/main" id="{AB6C89E4-7A67-4C32-9F34-161D37C38340}"/>
              </a:ext>
            </a:extLst>
          </p:cNvPr>
          <p:cNvGrpSpPr>
            <a:grpSpLocks/>
          </p:cNvGrpSpPr>
          <p:nvPr/>
        </p:nvGrpSpPr>
        <p:grpSpPr bwMode="auto">
          <a:xfrm>
            <a:off x="2788445" y="3328951"/>
            <a:ext cx="554037" cy="555625"/>
            <a:chOff x="1205850" y="3237023"/>
            <a:chExt cx="554618" cy="554618"/>
          </a:xfrm>
        </p:grpSpPr>
        <p:grpSp>
          <p:nvGrpSpPr>
            <p:cNvPr id="15417" name="Группа 16">
              <a:extLst>
                <a:ext uri="{FF2B5EF4-FFF2-40B4-BE49-F238E27FC236}">
                  <a16:creationId xmlns:a16="http://schemas.microsoft.com/office/drawing/2014/main" id="{72C1C638-7F96-4F1B-9DBF-4B520D24265C}"/>
                </a:ext>
              </a:extLst>
            </p:cNvPr>
            <p:cNvGrpSpPr>
              <a:grpSpLocks/>
            </p:cNvGrpSpPr>
            <p:nvPr/>
          </p:nvGrpSpPr>
          <p:grpSpPr bwMode="auto">
            <a:xfrm>
              <a:off x="1247190" y="3424237"/>
              <a:ext cx="452971" cy="172631"/>
              <a:chOff x="1656010" y="4149968"/>
              <a:chExt cx="4248113" cy="307732"/>
            </a:xfrm>
          </p:grpSpPr>
          <p:cxnSp>
            <p:nvCxnSpPr>
              <p:cNvPr id="78" name="Elbow Connector 4">
                <a:extLst>
                  <a:ext uri="{FF2B5EF4-FFF2-40B4-BE49-F238E27FC236}">
                    <a16:creationId xmlns:a16="http://schemas.microsoft.com/office/drawing/2014/main" id="{15AAEF17-48C8-4861-84ED-B9D09D0CBABF}"/>
                  </a:ext>
                </a:extLst>
              </p:cNvPr>
              <p:cNvCxnSpPr/>
              <p:nvPr/>
            </p:nvCxnSpPr>
            <p:spPr bwMode="auto">
              <a:xfrm>
                <a:off x="2490412" y="4152384"/>
                <a:ext cx="1684117" cy="305074"/>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9" name="Elbow Connector 5">
                <a:extLst>
                  <a:ext uri="{FF2B5EF4-FFF2-40B4-BE49-F238E27FC236}">
                    <a16:creationId xmlns:a16="http://schemas.microsoft.com/office/drawing/2014/main" id="{BF102555-8C5C-4876-9367-D56AAF715F95}"/>
                  </a:ext>
                </a:extLst>
              </p:cNvPr>
              <p:cNvCxnSpPr/>
              <p:nvPr/>
            </p:nvCxnSpPr>
            <p:spPr bwMode="auto">
              <a:xfrm flipV="1">
                <a:off x="1655803" y="4152384"/>
                <a:ext cx="1669218" cy="305074"/>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Elbow Connector 6">
                <a:extLst>
                  <a:ext uri="{FF2B5EF4-FFF2-40B4-BE49-F238E27FC236}">
                    <a16:creationId xmlns:a16="http://schemas.microsoft.com/office/drawing/2014/main" id="{33534244-44DE-443C-B2E2-D013143A8863}"/>
                  </a:ext>
                </a:extLst>
              </p:cNvPr>
              <p:cNvCxnSpPr/>
              <p:nvPr/>
            </p:nvCxnSpPr>
            <p:spPr bwMode="auto">
              <a:xfrm flipV="1">
                <a:off x="3339921" y="4152384"/>
                <a:ext cx="1684126" cy="305074"/>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1" name="Elbow Connector 16">
                <a:extLst>
                  <a:ext uri="{FF2B5EF4-FFF2-40B4-BE49-F238E27FC236}">
                    <a16:creationId xmlns:a16="http://schemas.microsoft.com/office/drawing/2014/main" id="{3A2D24C5-4D3D-4A75-B557-F7A0E0ACBECC}"/>
                  </a:ext>
                </a:extLst>
              </p:cNvPr>
              <p:cNvCxnSpPr/>
              <p:nvPr/>
            </p:nvCxnSpPr>
            <p:spPr bwMode="auto">
              <a:xfrm>
                <a:off x="4234145" y="4149561"/>
                <a:ext cx="1669218" cy="305074"/>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15418" name="Oval 76">
              <a:extLst>
                <a:ext uri="{FF2B5EF4-FFF2-40B4-BE49-F238E27FC236}">
                  <a16:creationId xmlns:a16="http://schemas.microsoft.com/office/drawing/2014/main" id="{14F0207E-A1C4-4EEF-A12F-FFCB4E153D99}"/>
                </a:ext>
              </a:extLst>
            </p:cNvPr>
            <p:cNvSpPr>
              <a:spLocks noChangeArrowheads="1"/>
            </p:cNvSpPr>
            <p:nvPr/>
          </p:nvSpPr>
          <p:spPr bwMode="auto">
            <a:xfrm>
              <a:off x="1205850" y="3237023"/>
              <a:ext cx="554618" cy="55461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943911D-0AAF-4E3C-A5AA-8AD1355C539E}"/>
              </a:ext>
            </a:extLst>
          </p:cNvPr>
          <p:cNvSpPr>
            <a:spLocks noGrp="1"/>
          </p:cNvSpPr>
          <p:nvPr>
            <p:ph type="title"/>
          </p:nvPr>
        </p:nvSpPr>
        <p:spPr/>
        <p:txBody>
          <a:bodyPr/>
          <a:lstStyle/>
          <a:p>
            <a:r>
              <a:rPr lang="en-US" altLang="en-US"/>
              <a:t>Clock Uncertainty</a:t>
            </a:r>
          </a:p>
        </p:txBody>
      </p:sp>
      <p:sp>
        <p:nvSpPr>
          <p:cNvPr id="3" name="Content Placeholder 2">
            <a:extLst>
              <a:ext uri="{FF2B5EF4-FFF2-40B4-BE49-F238E27FC236}">
                <a16:creationId xmlns:a16="http://schemas.microsoft.com/office/drawing/2014/main" id="{8A70BF5B-27DA-4F09-A7D8-41F9FAD6758D}"/>
              </a:ext>
            </a:extLst>
          </p:cNvPr>
          <p:cNvSpPr>
            <a:spLocks noGrp="1"/>
          </p:cNvSpPr>
          <p:nvPr>
            <p:ph type="body" sz="quarter" idx="10"/>
          </p:nvPr>
        </p:nvSpPr>
        <p:spPr>
          <a:xfrm>
            <a:off x="457199" y="1188720"/>
            <a:ext cx="11152505" cy="1000445"/>
          </a:xfrm>
          <a:solidFill>
            <a:schemeClr val="accent1">
              <a:lumMod val="20000"/>
              <a:lumOff val="80000"/>
            </a:schemeClr>
          </a:solidFill>
          <a:ln w="28575">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vert="horz" wrap="square" lIns="180000" tIns="180000" rIns="180000" bIns="180000" rtlCol="0">
            <a:spAutoFit/>
          </a:bodyPr>
          <a:lstStyle/>
          <a:p>
            <a:pPr marL="0" indent="0">
              <a:spcBef>
                <a:spcPct val="0"/>
              </a:spcBef>
              <a:buNone/>
              <a:defRPr/>
            </a:pPr>
            <a:r>
              <a:rPr lang="en-US" sz="1800" dirty="0" err="1">
                <a:latin typeface="Courier New" pitchFamily="49" charset="0"/>
                <a:cs typeface="Courier New" pitchFamily="49" charset="0"/>
              </a:rPr>
              <a:t>set_clock_uncertainty</a:t>
            </a:r>
            <a:r>
              <a:rPr lang="en-US" sz="1800" dirty="0">
                <a:latin typeface="Courier New" pitchFamily="49" charset="0"/>
                <a:cs typeface="Courier New" pitchFamily="49" charset="0"/>
              </a:rPr>
              <a:t> -setup 0.4 [</a:t>
            </a:r>
            <a:r>
              <a:rPr lang="en-US" sz="1800" dirty="0" err="1">
                <a:latin typeface="Courier New" pitchFamily="49" charset="0"/>
                <a:cs typeface="Courier New" pitchFamily="49" charset="0"/>
              </a:rPr>
              <a:t>get_clocks</a:t>
            </a:r>
            <a:r>
              <a:rPr lang="en-US" sz="1800" dirty="0">
                <a:latin typeface="Courier New" pitchFamily="49" charset="0"/>
                <a:cs typeface="Courier New" pitchFamily="49" charset="0"/>
              </a:rPr>
              <a:t> CLKB]</a:t>
            </a:r>
          </a:p>
          <a:p>
            <a:pPr marL="0" indent="0">
              <a:spcBef>
                <a:spcPct val="0"/>
              </a:spcBef>
              <a:buNone/>
              <a:defRPr/>
            </a:pPr>
            <a:r>
              <a:rPr lang="en-US" sz="1800" dirty="0" err="1">
                <a:latin typeface="Courier New" pitchFamily="49" charset="0"/>
                <a:cs typeface="Courier New" pitchFamily="49" charset="0"/>
              </a:rPr>
              <a:t>set_clock_uncertainty</a:t>
            </a:r>
            <a:r>
              <a:rPr lang="en-US" sz="1800" dirty="0">
                <a:latin typeface="Courier New" pitchFamily="49" charset="0"/>
                <a:cs typeface="Courier New" pitchFamily="49" charset="0"/>
              </a:rPr>
              <a:t> -hold 0.04 [</a:t>
            </a:r>
            <a:r>
              <a:rPr lang="en-US" sz="1800" dirty="0" err="1">
                <a:latin typeface="Courier New" pitchFamily="49" charset="0"/>
                <a:cs typeface="Courier New" pitchFamily="49" charset="0"/>
              </a:rPr>
              <a:t>get_clocks</a:t>
            </a:r>
            <a:r>
              <a:rPr lang="en-US" sz="1800" dirty="0">
                <a:latin typeface="Courier New" pitchFamily="49" charset="0"/>
                <a:cs typeface="Courier New" pitchFamily="49" charset="0"/>
              </a:rPr>
              <a:t> CLKB]</a:t>
            </a:r>
          </a:p>
        </p:txBody>
      </p:sp>
      <p:sp>
        <p:nvSpPr>
          <p:cNvPr id="16388" name="TextBox 32">
            <a:extLst>
              <a:ext uri="{FF2B5EF4-FFF2-40B4-BE49-F238E27FC236}">
                <a16:creationId xmlns:a16="http://schemas.microsoft.com/office/drawing/2014/main" id="{5F522764-FCDF-4725-B7A2-5134F5F9D8F2}"/>
              </a:ext>
            </a:extLst>
          </p:cNvPr>
          <p:cNvSpPr txBox="1">
            <a:spLocks noChangeArrowheads="1"/>
          </p:cNvSpPr>
          <p:nvPr/>
        </p:nvSpPr>
        <p:spPr bwMode="auto">
          <a:xfrm>
            <a:off x="6584702" y="249039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Setup uncertainty</a:t>
            </a:r>
          </a:p>
        </p:txBody>
      </p:sp>
      <p:cxnSp>
        <p:nvCxnSpPr>
          <p:cNvPr id="6" name="Straight Connector 5">
            <a:extLst>
              <a:ext uri="{FF2B5EF4-FFF2-40B4-BE49-F238E27FC236}">
                <a16:creationId xmlns:a16="http://schemas.microsoft.com/office/drawing/2014/main" id="{481603E1-5E72-4646-B442-BCF6CB44C458}"/>
              </a:ext>
            </a:extLst>
          </p:cNvPr>
          <p:cNvCxnSpPr/>
          <p:nvPr/>
        </p:nvCxnSpPr>
        <p:spPr bwMode="auto">
          <a:xfrm rot="5400000" flipH="1" flipV="1">
            <a:off x="3166815" y="3547669"/>
            <a:ext cx="952500"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8880043-280E-4006-958E-319BB48D2DB0}"/>
              </a:ext>
            </a:extLst>
          </p:cNvPr>
          <p:cNvCxnSpPr/>
          <p:nvPr/>
        </p:nvCxnSpPr>
        <p:spPr bwMode="auto">
          <a:xfrm>
            <a:off x="3620839" y="3085707"/>
            <a:ext cx="1917700"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7E67A85-4DFD-4DC6-8A69-F1A3A9E65574}"/>
              </a:ext>
            </a:extLst>
          </p:cNvPr>
          <p:cNvCxnSpPr/>
          <p:nvPr/>
        </p:nvCxnSpPr>
        <p:spPr bwMode="auto">
          <a:xfrm rot="5400000">
            <a:off x="5121028" y="3503220"/>
            <a:ext cx="83343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8E40492-759D-4CBB-97CD-6CBE2E22417D}"/>
              </a:ext>
            </a:extLst>
          </p:cNvPr>
          <p:cNvCxnSpPr/>
          <p:nvPr/>
        </p:nvCxnSpPr>
        <p:spPr bwMode="auto">
          <a:xfrm>
            <a:off x="5538539" y="3919145"/>
            <a:ext cx="19177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A559753-954A-4013-B3F5-B07DA9A844CB}"/>
              </a:ext>
            </a:extLst>
          </p:cNvPr>
          <p:cNvCxnSpPr/>
          <p:nvPr/>
        </p:nvCxnSpPr>
        <p:spPr bwMode="auto">
          <a:xfrm rot="5400000">
            <a:off x="7038728" y="3503220"/>
            <a:ext cx="83343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4F314B4-5BBA-4A78-8A9E-8F38EB48A44B}"/>
              </a:ext>
            </a:extLst>
          </p:cNvPr>
          <p:cNvCxnSpPr/>
          <p:nvPr/>
        </p:nvCxnSpPr>
        <p:spPr bwMode="auto">
          <a:xfrm>
            <a:off x="7456239" y="3085707"/>
            <a:ext cx="915988"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395" name="Straight Arrow Connector 18">
            <a:extLst>
              <a:ext uri="{FF2B5EF4-FFF2-40B4-BE49-F238E27FC236}">
                <a16:creationId xmlns:a16="http://schemas.microsoft.com/office/drawing/2014/main" id="{BE60E848-BBCA-4797-8948-DB4FDBAC6303}"/>
              </a:ext>
            </a:extLst>
          </p:cNvPr>
          <p:cNvCxnSpPr>
            <a:cxnSpLocks noChangeShapeType="1"/>
          </p:cNvCxnSpPr>
          <p:nvPr/>
        </p:nvCxnSpPr>
        <p:spPr bwMode="auto">
          <a:xfrm>
            <a:off x="6956177" y="2847581"/>
            <a:ext cx="500062" cy="0"/>
          </a:xfrm>
          <a:prstGeom prst="straightConnector1">
            <a:avLst/>
          </a:prstGeom>
          <a:noFill/>
          <a:ln w="9525" algn="ctr">
            <a:solidFill>
              <a:srgbClr val="0000FF"/>
            </a:solidFill>
            <a:round/>
            <a:headEnd type="triangle" w="med" len="med"/>
            <a:tailEnd type="triangle" w="med" len="med"/>
          </a:ln>
        </p:spPr>
      </p:cxnSp>
      <p:cxnSp>
        <p:nvCxnSpPr>
          <p:cNvPr id="16396" name="Straight Connector 20">
            <a:extLst>
              <a:ext uri="{FF2B5EF4-FFF2-40B4-BE49-F238E27FC236}">
                <a16:creationId xmlns:a16="http://schemas.microsoft.com/office/drawing/2014/main" id="{09D95659-0F08-4830-AA52-98F2D6F7C1F1}"/>
              </a:ext>
            </a:extLst>
          </p:cNvPr>
          <p:cNvCxnSpPr>
            <a:cxnSpLocks noChangeShapeType="1"/>
          </p:cNvCxnSpPr>
          <p:nvPr/>
        </p:nvCxnSpPr>
        <p:spPr bwMode="auto">
          <a:xfrm rot="5400000" flipH="1" flipV="1">
            <a:off x="6539459" y="3504013"/>
            <a:ext cx="833437"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397" name="Straight Connector 22">
            <a:extLst>
              <a:ext uri="{FF2B5EF4-FFF2-40B4-BE49-F238E27FC236}">
                <a16:creationId xmlns:a16="http://schemas.microsoft.com/office/drawing/2014/main" id="{90D9D63D-233C-4DB8-A358-BAAD75EF8BE0}"/>
              </a:ext>
            </a:extLst>
          </p:cNvPr>
          <p:cNvCxnSpPr>
            <a:cxnSpLocks noChangeShapeType="1"/>
          </p:cNvCxnSpPr>
          <p:nvPr/>
        </p:nvCxnSpPr>
        <p:spPr bwMode="auto">
          <a:xfrm>
            <a:off x="6956178" y="3085706"/>
            <a:ext cx="833437"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398" name="Straight Connector 24">
            <a:extLst>
              <a:ext uri="{FF2B5EF4-FFF2-40B4-BE49-F238E27FC236}">
                <a16:creationId xmlns:a16="http://schemas.microsoft.com/office/drawing/2014/main" id="{265A1BBD-D106-46B0-8DA9-6C28DB04F409}"/>
              </a:ext>
            </a:extLst>
          </p:cNvPr>
          <p:cNvCxnSpPr>
            <a:cxnSpLocks noChangeShapeType="1"/>
          </p:cNvCxnSpPr>
          <p:nvPr/>
        </p:nvCxnSpPr>
        <p:spPr bwMode="auto">
          <a:xfrm rot="5400000">
            <a:off x="7373689" y="3503219"/>
            <a:ext cx="83185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399" name="Straight Connector 27">
            <a:extLst>
              <a:ext uri="{FF2B5EF4-FFF2-40B4-BE49-F238E27FC236}">
                <a16:creationId xmlns:a16="http://schemas.microsoft.com/office/drawing/2014/main" id="{CEA235A0-7053-4E60-BA89-C4AABBBB06C2}"/>
              </a:ext>
            </a:extLst>
          </p:cNvPr>
          <p:cNvCxnSpPr>
            <a:cxnSpLocks noChangeShapeType="1"/>
          </p:cNvCxnSpPr>
          <p:nvPr/>
        </p:nvCxnSpPr>
        <p:spPr bwMode="auto">
          <a:xfrm>
            <a:off x="6956178" y="3919144"/>
            <a:ext cx="833437"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00" name="Straight Arrow Connector 29">
            <a:extLst>
              <a:ext uri="{FF2B5EF4-FFF2-40B4-BE49-F238E27FC236}">
                <a16:creationId xmlns:a16="http://schemas.microsoft.com/office/drawing/2014/main" id="{0D653E02-9D00-4852-8112-942AE9FD0B8B}"/>
              </a:ext>
            </a:extLst>
          </p:cNvPr>
          <p:cNvCxnSpPr>
            <a:cxnSpLocks noChangeShapeType="1"/>
          </p:cNvCxnSpPr>
          <p:nvPr/>
        </p:nvCxnSpPr>
        <p:spPr bwMode="auto">
          <a:xfrm>
            <a:off x="3536703" y="4157269"/>
            <a:ext cx="3335337" cy="0"/>
          </a:xfrm>
          <a:prstGeom prst="straightConnector1">
            <a:avLst/>
          </a:prstGeom>
          <a:noFill/>
          <a:ln w="9525" algn="ctr">
            <a:solidFill>
              <a:srgbClr val="0000FF"/>
            </a:solidFill>
            <a:round/>
            <a:headEnd type="triangle" w="med" len="med"/>
            <a:tailEnd type="triangle" w="med" len="med"/>
          </a:ln>
        </p:spPr>
      </p:cxnSp>
      <p:sp>
        <p:nvSpPr>
          <p:cNvPr id="16401" name="TextBox 30">
            <a:extLst>
              <a:ext uri="{FF2B5EF4-FFF2-40B4-BE49-F238E27FC236}">
                <a16:creationId xmlns:a16="http://schemas.microsoft.com/office/drawing/2014/main" id="{8A97D2E3-B440-4E56-A84F-F8DAEDA3C67C}"/>
              </a:ext>
            </a:extLst>
          </p:cNvPr>
          <p:cNvSpPr txBox="1">
            <a:spLocks noChangeArrowheads="1"/>
          </p:cNvSpPr>
          <p:nvPr/>
        </p:nvSpPr>
        <p:spPr bwMode="auto">
          <a:xfrm>
            <a:off x="4454277" y="4157270"/>
            <a:ext cx="18335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Effective period</a:t>
            </a:r>
          </a:p>
        </p:txBody>
      </p:sp>
      <p:sp>
        <p:nvSpPr>
          <p:cNvPr id="16402" name="TextBox 31">
            <a:extLst>
              <a:ext uri="{FF2B5EF4-FFF2-40B4-BE49-F238E27FC236}">
                <a16:creationId xmlns:a16="http://schemas.microsoft.com/office/drawing/2014/main" id="{39607A4B-EF84-4CD8-999A-110719EA1427}"/>
              </a:ext>
            </a:extLst>
          </p:cNvPr>
          <p:cNvSpPr txBox="1">
            <a:spLocks noChangeArrowheads="1"/>
          </p:cNvSpPr>
          <p:nvPr/>
        </p:nvSpPr>
        <p:spPr bwMode="auto">
          <a:xfrm>
            <a:off x="2727077" y="3419082"/>
            <a:ext cx="13335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CLKB</a:t>
            </a:r>
          </a:p>
        </p:txBody>
      </p:sp>
      <p:cxnSp>
        <p:nvCxnSpPr>
          <p:cNvPr id="16403" name="Straight Arrow Connector 34">
            <a:extLst>
              <a:ext uri="{FF2B5EF4-FFF2-40B4-BE49-F238E27FC236}">
                <a16:creationId xmlns:a16="http://schemas.microsoft.com/office/drawing/2014/main" id="{B87942E8-71D3-49E1-81D5-F24C0DE36D11}"/>
              </a:ext>
            </a:extLst>
          </p:cNvPr>
          <p:cNvCxnSpPr>
            <a:cxnSpLocks noChangeShapeType="1"/>
          </p:cNvCxnSpPr>
          <p:nvPr/>
        </p:nvCxnSpPr>
        <p:spPr bwMode="auto">
          <a:xfrm>
            <a:off x="7456240" y="4157269"/>
            <a:ext cx="415925" cy="0"/>
          </a:xfrm>
          <a:prstGeom prst="straightConnector1">
            <a:avLst/>
          </a:prstGeom>
          <a:noFill/>
          <a:ln w="9525" algn="ctr">
            <a:solidFill>
              <a:srgbClr val="0000FF"/>
            </a:solidFill>
            <a:round/>
            <a:headEnd type="triangle" w="med" len="med"/>
            <a:tailEnd type="triangle" w="med" len="med"/>
          </a:ln>
        </p:spPr>
      </p:cxnSp>
      <p:sp>
        <p:nvSpPr>
          <p:cNvPr id="16404" name="TextBox 35">
            <a:extLst>
              <a:ext uri="{FF2B5EF4-FFF2-40B4-BE49-F238E27FC236}">
                <a16:creationId xmlns:a16="http://schemas.microsoft.com/office/drawing/2014/main" id="{993987B9-9033-4828-9DD7-4072F06AD215}"/>
              </a:ext>
            </a:extLst>
          </p:cNvPr>
          <p:cNvSpPr txBox="1">
            <a:spLocks noChangeArrowheads="1"/>
          </p:cNvSpPr>
          <p:nvPr/>
        </p:nvSpPr>
        <p:spPr bwMode="auto">
          <a:xfrm>
            <a:off x="7156203" y="4200132"/>
            <a:ext cx="1584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Hold uncertainty</a:t>
            </a:r>
          </a:p>
        </p:txBody>
      </p:sp>
      <p:sp>
        <p:nvSpPr>
          <p:cNvPr id="16405" name="Rectangle 3">
            <a:extLst>
              <a:ext uri="{FF2B5EF4-FFF2-40B4-BE49-F238E27FC236}">
                <a16:creationId xmlns:a16="http://schemas.microsoft.com/office/drawing/2014/main" id="{C339C4D7-6E13-4515-891A-1AC5BA65A186}"/>
              </a:ext>
            </a:extLst>
          </p:cNvPr>
          <p:cNvSpPr>
            <a:spLocks noChangeArrowheads="1"/>
          </p:cNvSpPr>
          <p:nvPr/>
        </p:nvSpPr>
        <p:spPr bwMode="auto">
          <a:xfrm>
            <a:off x="2055564" y="4876406"/>
            <a:ext cx="3538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Uncertainty= clock skew + clock jitter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FBC0AA1-0439-4B2F-8BA4-861417E2EE87}"/>
              </a:ext>
            </a:extLst>
          </p:cNvPr>
          <p:cNvSpPr>
            <a:spLocks noGrp="1" noChangeArrowheads="1"/>
          </p:cNvSpPr>
          <p:nvPr>
            <p:ph type="title"/>
          </p:nvPr>
        </p:nvSpPr>
        <p:spPr/>
        <p:txBody>
          <a:bodyPr/>
          <a:lstStyle/>
          <a:p>
            <a:r>
              <a:rPr lang="en-US" altLang="zh-CN">
                <a:ea typeface="SimSun" panose="02010600030101010101" pitchFamily="2" charset="-122"/>
              </a:rPr>
              <a:t>Clock Skew Types</a:t>
            </a:r>
          </a:p>
        </p:txBody>
      </p:sp>
      <p:sp>
        <p:nvSpPr>
          <p:cNvPr id="17411" name="Content Placeholder 1">
            <a:extLst>
              <a:ext uri="{FF2B5EF4-FFF2-40B4-BE49-F238E27FC236}">
                <a16:creationId xmlns:a16="http://schemas.microsoft.com/office/drawing/2014/main" id="{E1022E14-7092-4578-BD33-7B384F8F39EA}"/>
              </a:ext>
            </a:extLst>
          </p:cNvPr>
          <p:cNvSpPr>
            <a:spLocks noGrp="1"/>
          </p:cNvSpPr>
          <p:nvPr>
            <p:ph type="body" sz="quarter" idx="10"/>
          </p:nvPr>
        </p:nvSpPr>
        <p:spPr/>
        <p:txBody>
          <a:bodyPr/>
          <a:lstStyle/>
          <a:p>
            <a:r>
              <a:rPr lang="en-US" altLang="en-US">
                <a:solidFill>
                  <a:srgbClr val="0000FF"/>
                </a:solidFill>
              </a:rPr>
              <a:t>Global</a:t>
            </a:r>
          </a:p>
          <a:p>
            <a:pPr lvl="1"/>
            <a:r>
              <a:rPr lang="en-US" altLang="en-US"/>
              <a:t>Clock difference between any pair of sequential elements of the whole design</a:t>
            </a:r>
          </a:p>
          <a:p>
            <a:r>
              <a:rPr lang="en-US" altLang="en-US">
                <a:solidFill>
                  <a:srgbClr val="0000FF"/>
                </a:solidFill>
              </a:rPr>
              <a:t>Local</a:t>
            </a:r>
            <a:endParaRPr lang="en-US" altLang="en-US"/>
          </a:p>
          <a:p>
            <a:pPr lvl="1"/>
            <a:r>
              <a:rPr lang="en-US" altLang="en-US"/>
              <a:t>Clock difference between any pair of sequential elements that have a datapath in between </a:t>
            </a:r>
          </a:p>
          <a:p>
            <a:r>
              <a:rPr lang="en-US" altLang="en-US">
                <a:solidFill>
                  <a:srgbClr val="0000FF"/>
                </a:solidFill>
              </a:rPr>
              <a:t>Useful</a:t>
            </a:r>
            <a:endParaRPr lang="en-US" altLang="en-US"/>
          </a:p>
          <a:p>
            <a:pPr lvl="1"/>
            <a:r>
              <a:rPr lang="en-US" altLang="en-US"/>
              <a:t>Can be used to fix timing violations</a:t>
            </a:r>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105F0721-3EE7-4182-BB98-82967B6673D7}"/>
              </a:ext>
            </a:extLst>
          </p:cNvPr>
          <p:cNvSpPr>
            <a:spLocks noGrp="1"/>
          </p:cNvSpPr>
          <p:nvPr>
            <p:ph type="title"/>
          </p:nvPr>
        </p:nvSpPr>
        <p:spPr/>
        <p:txBody>
          <a:bodyPr/>
          <a:lstStyle/>
          <a:p>
            <a:r>
              <a:rPr lang="en-US" altLang="en-US"/>
              <a:t>Clock Jitter</a:t>
            </a:r>
          </a:p>
        </p:txBody>
      </p:sp>
      <p:sp>
        <p:nvSpPr>
          <p:cNvPr id="3" name="Text Placeholder 2">
            <a:extLst>
              <a:ext uri="{FF2B5EF4-FFF2-40B4-BE49-F238E27FC236}">
                <a16:creationId xmlns:a16="http://schemas.microsoft.com/office/drawing/2014/main" id="{A9BD5B7E-68B3-4F06-A90F-3B27031592AE}"/>
              </a:ext>
            </a:extLst>
          </p:cNvPr>
          <p:cNvSpPr>
            <a:spLocks noGrp="1"/>
          </p:cNvSpPr>
          <p:nvPr>
            <p:ph type="body" sz="quarter" idx="10"/>
          </p:nvPr>
        </p:nvSpPr>
        <p:spPr/>
        <p:txBody>
          <a:bodyPr/>
          <a:lstStyle/>
          <a:p>
            <a:endParaRPr lang="en-US"/>
          </a:p>
        </p:txBody>
      </p:sp>
      <p:cxnSp>
        <p:nvCxnSpPr>
          <p:cNvPr id="12326" name="Straight Connector 11">
            <a:extLst>
              <a:ext uri="{FF2B5EF4-FFF2-40B4-BE49-F238E27FC236}">
                <a16:creationId xmlns:a16="http://schemas.microsoft.com/office/drawing/2014/main" id="{8ADF75CB-7F85-4030-BD9B-8DAE947D936C}"/>
              </a:ext>
            </a:extLst>
          </p:cNvPr>
          <p:cNvCxnSpPr>
            <a:cxnSpLocks noChangeShapeType="1"/>
          </p:cNvCxnSpPr>
          <p:nvPr/>
        </p:nvCxnSpPr>
        <p:spPr bwMode="auto">
          <a:xfrm flipV="1">
            <a:off x="3998913" y="2897188"/>
            <a:ext cx="1778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27" name="Straight Connector 12">
            <a:extLst>
              <a:ext uri="{FF2B5EF4-FFF2-40B4-BE49-F238E27FC236}">
                <a16:creationId xmlns:a16="http://schemas.microsoft.com/office/drawing/2014/main" id="{7ED1F4A2-69F1-42AC-9BB4-3F9E25B321EC}"/>
              </a:ext>
            </a:extLst>
          </p:cNvPr>
          <p:cNvCxnSpPr>
            <a:cxnSpLocks noChangeShapeType="1"/>
          </p:cNvCxnSpPr>
          <p:nvPr/>
        </p:nvCxnSpPr>
        <p:spPr bwMode="auto">
          <a:xfrm>
            <a:off x="4176713" y="2530475"/>
            <a:ext cx="8810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28" name="Straight Connector 24">
            <a:extLst>
              <a:ext uri="{FF2B5EF4-FFF2-40B4-BE49-F238E27FC236}">
                <a16:creationId xmlns:a16="http://schemas.microsoft.com/office/drawing/2014/main" id="{8452C319-A332-4112-8A78-11554D227B06}"/>
              </a:ext>
            </a:extLst>
          </p:cNvPr>
          <p:cNvCxnSpPr>
            <a:cxnSpLocks noChangeShapeType="1"/>
          </p:cNvCxnSpPr>
          <p:nvPr/>
        </p:nvCxnSpPr>
        <p:spPr bwMode="auto">
          <a:xfrm>
            <a:off x="4176713"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29" name="Straight Connector 28">
            <a:extLst>
              <a:ext uri="{FF2B5EF4-FFF2-40B4-BE49-F238E27FC236}">
                <a16:creationId xmlns:a16="http://schemas.microsoft.com/office/drawing/2014/main" id="{ADC81570-1060-42E9-AB46-3CAA1D5A4AB1}"/>
              </a:ext>
            </a:extLst>
          </p:cNvPr>
          <p:cNvCxnSpPr>
            <a:cxnSpLocks noChangeShapeType="1"/>
          </p:cNvCxnSpPr>
          <p:nvPr/>
        </p:nvCxnSpPr>
        <p:spPr bwMode="auto">
          <a:xfrm>
            <a:off x="5059363"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330" name="TextBox 124">
            <a:extLst>
              <a:ext uri="{FF2B5EF4-FFF2-40B4-BE49-F238E27FC236}">
                <a16:creationId xmlns:a16="http://schemas.microsoft.com/office/drawing/2014/main" id="{1AB3125E-E6FF-4637-8CD6-ECE7E548DDA9}"/>
              </a:ext>
            </a:extLst>
          </p:cNvPr>
          <p:cNvSpPr txBox="1">
            <a:spLocks noChangeArrowheads="1"/>
          </p:cNvSpPr>
          <p:nvPr/>
        </p:nvSpPr>
        <p:spPr bwMode="auto">
          <a:xfrm>
            <a:off x="2743200" y="2435226"/>
            <a:ext cx="1092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dirty="0">
                <a:latin typeface="+mj-lt"/>
              </a:rPr>
              <a:t>Ideal</a:t>
            </a:r>
          </a:p>
          <a:p>
            <a:pPr eaLnBrk="1" hangingPunct="1">
              <a:defRPr/>
            </a:pPr>
            <a:r>
              <a:rPr lang="en-US" sz="1200" dirty="0">
                <a:latin typeface="+mj-lt"/>
              </a:rPr>
              <a:t>Reference</a:t>
            </a:r>
          </a:p>
        </p:txBody>
      </p:sp>
      <p:cxnSp>
        <p:nvCxnSpPr>
          <p:cNvPr id="12331" name="Straight Connector 12">
            <a:extLst>
              <a:ext uri="{FF2B5EF4-FFF2-40B4-BE49-F238E27FC236}">
                <a16:creationId xmlns:a16="http://schemas.microsoft.com/office/drawing/2014/main" id="{82DB5D60-4111-403A-BA68-8D2D7234CA82}"/>
              </a:ext>
            </a:extLst>
          </p:cNvPr>
          <p:cNvCxnSpPr>
            <a:cxnSpLocks noChangeShapeType="1"/>
          </p:cNvCxnSpPr>
          <p:nvPr/>
        </p:nvCxnSpPr>
        <p:spPr bwMode="auto">
          <a:xfrm>
            <a:off x="5056188" y="2895600"/>
            <a:ext cx="8810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2" name="Straight Connector 12">
            <a:extLst>
              <a:ext uri="{FF2B5EF4-FFF2-40B4-BE49-F238E27FC236}">
                <a16:creationId xmlns:a16="http://schemas.microsoft.com/office/drawing/2014/main" id="{94E23F75-6BE5-4701-902B-618E0E107F62}"/>
              </a:ext>
            </a:extLst>
          </p:cNvPr>
          <p:cNvCxnSpPr>
            <a:cxnSpLocks noChangeShapeType="1"/>
          </p:cNvCxnSpPr>
          <p:nvPr/>
        </p:nvCxnSpPr>
        <p:spPr bwMode="auto">
          <a:xfrm>
            <a:off x="5932488" y="2530475"/>
            <a:ext cx="8826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3" name="Straight Connector 24">
            <a:extLst>
              <a:ext uri="{FF2B5EF4-FFF2-40B4-BE49-F238E27FC236}">
                <a16:creationId xmlns:a16="http://schemas.microsoft.com/office/drawing/2014/main" id="{5F6DC5EE-1A26-4A7A-83CA-CBA835A4D2E4}"/>
              </a:ext>
            </a:extLst>
          </p:cNvPr>
          <p:cNvCxnSpPr>
            <a:cxnSpLocks noChangeShapeType="1"/>
          </p:cNvCxnSpPr>
          <p:nvPr/>
        </p:nvCxnSpPr>
        <p:spPr bwMode="auto">
          <a:xfrm>
            <a:off x="5932488"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4" name="Straight Connector 28">
            <a:extLst>
              <a:ext uri="{FF2B5EF4-FFF2-40B4-BE49-F238E27FC236}">
                <a16:creationId xmlns:a16="http://schemas.microsoft.com/office/drawing/2014/main" id="{7DFB2263-F2CA-4996-A126-665C88A9D83F}"/>
              </a:ext>
            </a:extLst>
          </p:cNvPr>
          <p:cNvCxnSpPr>
            <a:cxnSpLocks noChangeShapeType="1"/>
          </p:cNvCxnSpPr>
          <p:nvPr/>
        </p:nvCxnSpPr>
        <p:spPr bwMode="auto">
          <a:xfrm>
            <a:off x="6816725"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5" name="Straight Connector 12">
            <a:extLst>
              <a:ext uri="{FF2B5EF4-FFF2-40B4-BE49-F238E27FC236}">
                <a16:creationId xmlns:a16="http://schemas.microsoft.com/office/drawing/2014/main" id="{E70461DB-39D3-4240-9897-37A30EF57142}"/>
              </a:ext>
            </a:extLst>
          </p:cNvPr>
          <p:cNvCxnSpPr>
            <a:cxnSpLocks noChangeShapeType="1"/>
          </p:cNvCxnSpPr>
          <p:nvPr/>
        </p:nvCxnSpPr>
        <p:spPr bwMode="auto">
          <a:xfrm>
            <a:off x="6811963" y="2895600"/>
            <a:ext cx="8826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6" name="Straight Connector 12">
            <a:extLst>
              <a:ext uri="{FF2B5EF4-FFF2-40B4-BE49-F238E27FC236}">
                <a16:creationId xmlns:a16="http://schemas.microsoft.com/office/drawing/2014/main" id="{750DE583-5556-4566-A20C-71119A671879}"/>
              </a:ext>
            </a:extLst>
          </p:cNvPr>
          <p:cNvCxnSpPr>
            <a:cxnSpLocks noChangeShapeType="1"/>
          </p:cNvCxnSpPr>
          <p:nvPr/>
        </p:nvCxnSpPr>
        <p:spPr bwMode="auto">
          <a:xfrm>
            <a:off x="7689851" y="2530475"/>
            <a:ext cx="88106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7" name="Straight Connector 24">
            <a:extLst>
              <a:ext uri="{FF2B5EF4-FFF2-40B4-BE49-F238E27FC236}">
                <a16:creationId xmlns:a16="http://schemas.microsoft.com/office/drawing/2014/main" id="{463E61D0-4A69-4F9E-ADB3-D67C9F7F8DF3}"/>
              </a:ext>
            </a:extLst>
          </p:cNvPr>
          <p:cNvCxnSpPr>
            <a:cxnSpLocks noChangeShapeType="1"/>
          </p:cNvCxnSpPr>
          <p:nvPr/>
        </p:nvCxnSpPr>
        <p:spPr bwMode="auto">
          <a:xfrm>
            <a:off x="7689850"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8" name="Straight Connector 28">
            <a:extLst>
              <a:ext uri="{FF2B5EF4-FFF2-40B4-BE49-F238E27FC236}">
                <a16:creationId xmlns:a16="http://schemas.microsoft.com/office/drawing/2014/main" id="{AB09F17C-17E3-41E4-A7EA-5BA80DC1AAD1}"/>
              </a:ext>
            </a:extLst>
          </p:cNvPr>
          <p:cNvCxnSpPr>
            <a:cxnSpLocks noChangeShapeType="1"/>
          </p:cNvCxnSpPr>
          <p:nvPr/>
        </p:nvCxnSpPr>
        <p:spPr bwMode="auto">
          <a:xfrm>
            <a:off x="8574088" y="2525714"/>
            <a:ext cx="0" cy="371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39" name="Straight Connector 12">
            <a:extLst>
              <a:ext uri="{FF2B5EF4-FFF2-40B4-BE49-F238E27FC236}">
                <a16:creationId xmlns:a16="http://schemas.microsoft.com/office/drawing/2014/main" id="{5CE578E9-0C88-46AA-AD32-1D35C58BC23E}"/>
              </a:ext>
            </a:extLst>
          </p:cNvPr>
          <p:cNvCxnSpPr>
            <a:cxnSpLocks noChangeShapeType="1"/>
          </p:cNvCxnSpPr>
          <p:nvPr/>
        </p:nvCxnSpPr>
        <p:spPr bwMode="auto">
          <a:xfrm>
            <a:off x="8569325" y="2895600"/>
            <a:ext cx="35083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296" name="Straight Connector 11">
            <a:extLst>
              <a:ext uri="{FF2B5EF4-FFF2-40B4-BE49-F238E27FC236}">
                <a16:creationId xmlns:a16="http://schemas.microsoft.com/office/drawing/2014/main" id="{29055FEE-CE31-404A-9E39-EBA1A56E0061}"/>
              </a:ext>
            </a:extLst>
          </p:cNvPr>
          <p:cNvCxnSpPr>
            <a:cxnSpLocks noChangeShapeType="1"/>
          </p:cNvCxnSpPr>
          <p:nvPr/>
        </p:nvCxnSpPr>
        <p:spPr bwMode="auto">
          <a:xfrm flipV="1">
            <a:off x="3998913" y="3509963"/>
            <a:ext cx="1778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297" name="Straight Connector 12">
            <a:extLst>
              <a:ext uri="{FF2B5EF4-FFF2-40B4-BE49-F238E27FC236}">
                <a16:creationId xmlns:a16="http://schemas.microsoft.com/office/drawing/2014/main" id="{82706E36-F0ED-4084-8C57-F451E6555354}"/>
              </a:ext>
            </a:extLst>
          </p:cNvPr>
          <p:cNvCxnSpPr>
            <a:cxnSpLocks noChangeShapeType="1"/>
          </p:cNvCxnSpPr>
          <p:nvPr/>
        </p:nvCxnSpPr>
        <p:spPr bwMode="auto">
          <a:xfrm>
            <a:off x="4170363" y="3143250"/>
            <a:ext cx="8175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298" name="Straight Connector 24">
            <a:extLst>
              <a:ext uri="{FF2B5EF4-FFF2-40B4-BE49-F238E27FC236}">
                <a16:creationId xmlns:a16="http://schemas.microsoft.com/office/drawing/2014/main" id="{FC2F3FF3-9E24-45DC-A319-1C875D4AF5C6}"/>
              </a:ext>
            </a:extLst>
          </p:cNvPr>
          <p:cNvCxnSpPr>
            <a:cxnSpLocks noChangeShapeType="1"/>
          </p:cNvCxnSpPr>
          <p:nvPr/>
        </p:nvCxnSpPr>
        <p:spPr bwMode="auto">
          <a:xfrm>
            <a:off x="4176713"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299" name="Straight Connector 28">
            <a:extLst>
              <a:ext uri="{FF2B5EF4-FFF2-40B4-BE49-F238E27FC236}">
                <a16:creationId xmlns:a16="http://schemas.microsoft.com/office/drawing/2014/main" id="{1E03058C-4180-4A35-AF17-D506F604F930}"/>
              </a:ext>
            </a:extLst>
          </p:cNvPr>
          <p:cNvCxnSpPr>
            <a:cxnSpLocks noChangeShapeType="1"/>
          </p:cNvCxnSpPr>
          <p:nvPr/>
        </p:nvCxnSpPr>
        <p:spPr bwMode="auto">
          <a:xfrm>
            <a:off x="4989513"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0" name="Straight Connector 12">
            <a:extLst>
              <a:ext uri="{FF2B5EF4-FFF2-40B4-BE49-F238E27FC236}">
                <a16:creationId xmlns:a16="http://schemas.microsoft.com/office/drawing/2014/main" id="{88198FFE-03BF-4D56-984E-17783EAC6A09}"/>
              </a:ext>
            </a:extLst>
          </p:cNvPr>
          <p:cNvCxnSpPr>
            <a:cxnSpLocks noChangeShapeType="1"/>
          </p:cNvCxnSpPr>
          <p:nvPr/>
        </p:nvCxnSpPr>
        <p:spPr bwMode="auto">
          <a:xfrm>
            <a:off x="4986338" y="3509963"/>
            <a:ext cx="8810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1" name="Straight Connector 12">
            <a:extLst>
              <a:ext uri="{FF2B5EF4-FFF2-40B4-BE49-F238E27FC236}">
                <a16:creationId xmlns:a16="http://schemas.microsoft.com/office/drawing/2014/main" id="{D9CA423D-F8FB-43F3-ACF5-54A70B28FA7E}"/>
              </a:ext>
            </a:extLst>
          </p:cNvPr>
          <p:cNvCxnSpPr>
            <a:cxnSpLocks noChangeShapeType="1"/>
          </p:cNvCxnSpPr>
          <p:nvPr/>
        </p:nvCxnSpPr>
        <p:spPr bwMode="auto">
          <a:xfrm>
            <a:off x="5862639" y="3143250"/>
            <a:ext cx="95567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2" name="Straight Connector 24">
            <a:extLst>
              <a:ext uri="{FF2B5EF4-FFF2-40B4-BE49-F238E27FC236}">
                <a16:creationId xmlns:a16="http://schemas.microsoft.com/office/drawing/2014/main" id="{5F9859AD-2ADF-4FBE-8B42-92F67EBCEC26}"/>
              </a:ext>
            </a:extLst>
          </p:cNvPr>
          <p:cNvCxnSpPr>
            <a:cxnSpLocks noChangeShapeType="1"/>
          </p:cNvCxnSpPr>
          <p:nvPr/>
        </p:nvCxnSpPr>
        <p:spPr bwMode="auto">
          <a:xfrm>
            <a:off x="5862638"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3" name="Straight Connector 28">
            <a:extLst>
              <a:ext uri="{FF2B5EF4-FFF2-40B4-BE49-F238E27FC236}">
                <a16:creationId xmlns:a16="http://schemas.microsoft.com/office/drawing/2014/main" id="{96CF2947-5691-462C-80A6-4741F26E62A3}"/>
              </a:ext>
            </a:extLst>
          </p:cNvPr>
          <p:cNvCxnSpPr>
            <a:cxnSpLocks noChangeShapeType="1"/>
          </p:cNvCxnSpPr>
          <p:nvPr/>
        </p:nvCxnSpPr>
        <p:spPr bwMode="auto">
          <a:xfrm>
            <a:off x="6816725"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4" name="Straight Connector 12">
            <a:extLst>
              <a:ext uri="{FF2B5EF4-FFF2-40B4-BE49-F238E27FC236}">
                <a16:creationId xmlns:a16="http://schemas.microsoft.com/office/drawing/2014/main" id="{A9B25601-8C1B-4356-8B48-EF871E90DB09}"/>
              </a:ext>
            </a:extLst>
          </p:cNvPr>
          <p:cNvCxnSpPr>
            <a:cxnSpLocks noChangeShapeType="1"/>
          </p:cNvCxnSpPr>
          <p:nvPr/>
        </p:nvCxnSpPr>
        <p:spPr bwMode="auto">
          <a:xfrm>
            <a:off x="6811964" y="3509963"/>
            <a:ext cx="771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5" name="Straight Connector 12">
            <a:extLst>
              <a:ext uri="{FF2B5EF4-FFF2-40B4-BE49-F238E27FC236}">
                <a16:creationId xmlns:a16="http://schemas.microsoft.com/office/drawing/2014/main" id="{69DBE1DF-23A6-4D3F-BA70-96200E14FBDB}"/>
              </a:ext>
            </a:extLst>
          </p:cNvPr>
          <p:cNvCxnSpPr>
            <a:cxnSpLocks noChangeShapeType="1"/>
          </p:cNvCxnSpPr>
          <p:nvPr/>
        </p:nvCxnSpPr>
        <p:spPr bwMode="auto">
          <a:xfrm>
            <a:off x="7573963" y="3143250"/>
            <a:ext cx="9969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6" name="Straight Connector 28">
            <a:extLst>
              <a:ext uri="{FF2B5EF4-FFF2-40B4-BE49-F238E27FC236}">
                <a16:creationId xmlns:a16="http://schemas.microsoft.com/office/drawing/2014/main" id="{CF62AF52-4B78-499A-9FF3-789725F0A5BF}"/>
              </a:ext>
            </a:extLst>
          </p:cNvPr>
          <p:cNvCxnSpPr>
            <a:cxnSpLocks noChangeShapeType="1"/>
          </p:cNvCxnSpPr>
          <p:nvPr/>
        </p:nvCxnSpPr>
        <p:spPr bwMode="auto">
          <a:xfrm>
            <a:off x="8574088"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07" name="Straight Connector 12">
            <a:extLst>
              <a:ext uri="{FF2B5EF4-FFF2-40B4-BE49-F238E27FC236}">
                <a16:creationId xmlns:a16="http://schemas.microsoft.com/office/drawing/2014/main" id="{0B1BB962-DABF-41E9-A323-F0376EB9EDDA}"/>
              </a:ext>
            </a:extLst>
          </p:cNvPr>
          <p:cNvCxnSpPr>
            <a:cxnSpLocks noChangeShapeType="1"/>
          </p:cNvCxnSpPr>
          <p:nvPr/>
        </p:nvCxnSpPr>
        <p:spPr bwMode="auto">
          <a:xfrm>
            <a:off x="8569325" y="3509963"/>
            <a:ext cx="35083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485" name="Rectangle 109">
            <a:extLst>
              <a:ext uri="{FF2B5EF4-FFF2-40B4-BE49-F238E27FC236}">
                <a16:creationId xmlns:a16="http://schemas.microsoft.com/office/drawing/2014/main" id="{5124B54F-EE66-4D41-9A9D-3607A8609F9C}"/>
              </a:ext>
            </a:extLst>
          </p:cNvPr>
          <p:cNvSpPr>
            <a:spLocks noChangeArrowheads="1"/>
          </p:cNvSpPr>
          <p:nvPr/>
        </p:nvSpPr>
        <p:spPr bwMode="auto">
          <a:xfrm>
            <a:off x="4432300" y="3638551"/>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p>
        </p:txBody>
      </p:sp>
      <p:cxnSp>
        <p:nvCxnSpPr>
          <p:cNvPr id="12309" name="Straight Connector 24">
            <a:extLst>
              <a:ext uri="{FF2B5EF4-FFF2-40B4-BE49-F238E27FC236}">
                <a16:creationId xmlns:a16="http://schemas.microsoft.com/office/drawing/2014/main" id="{0CA7F3E3-A93A-4558-A2D4-687F159F14F6}"/>
              </a:ext>
            </a:extLst>
          </p:cNvPr>
          <p:cNvCxnSpPr>
            <a:cxnSpLocks noChangeShapeType="1"/>
          </p:cNvCxnSpPr>
          <p:nvPr/>
        </p:nvCxnSpPr>
        <p:spPr bwMode="auto">
          <a:xfrm>
            <a:off x="7578725" y="3138488"/>
            <a:ext cx="0" cy="373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487" name="Straight Connector 24">
            <a:extLst>
              <a:ext uri="{FF2B5EF4-FFF2-40B4-BE49-F238E27FC236}">
                <a16:creationId xmlns:a16="http://schemas.microsoft.com/office/drawing/2014/main" id="{0D5FDE9C-CD47-41CD-9BC5-65ED9F37560F}"/>
              </a:ext>
            </a:extLst>
          </p:cNvPr>
          <p:cNvCxnSpPr>
            <a:cxnSpLocks noChangeShapeType="1"/>
          </p:cNvCxnSpPr>
          <p:nvPr/>
        </p:nvCxnSpPr>
        <p:spPr bwMode="auto">
          <a:xfrm>
            <a:off x="4176713" y="3313113"/>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88" name="Straight Connector 28">
            <a:extLst>
              <a:ext uri="{FF2B5EF4-FFF2-40B4-BE49-F238E27FC236}">
                <a16:creationId xmlns:a16="http://schemas.microsoft.com/office/drawing/2014/main" id="{F4B2962A-EC17-4044-8253-436CDE9F6A4C}"/>
              </a:ext>
            </a:extLst>
          </p:cNvPr>
          <p:cNvCxnSpPr>
            <a:cxnSpLocks noChangeShapeType="1"/>
          </p:cNvCxnSpPr>
          <p:nvPr/>
        </p:nvCxnSpPr>
        <p:spPr bwMode="auto">
          <a:xfrm>
            <a:off x="4989513" y="3306763"/>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89" name="Straight Connector 24">
            <a:extLst>
              <a:ext uri="{FF2B5EF4-FFF2-40B4-BE49-F238E27FC236}">
                <a16:creationId xmlns:a16="http://schemas.microsoft.com/office/drawing/2014/main" id="{FBA29600-8BEE-4EFC-A576-F7C4ECE8FCCD}"/>
              </a:ext>
            </a:extLst>
          </p:cNvPr>
          <p:cNvCxnSpPr>
            <a:cxnSpLocks noChangeShapeType="1"/>
          </p:cNvCxnSpPr>
          <p:nvPr/>
        </p:nvCxnSpPr>
        <p:spPr bwMode="auto">
          <a:xfrm>
            <a:off x="5862638" y="3287713"/>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90" name="Straight Connector 28">
            <a:extLst>
              <a:ext uri="{FF2B5EF4-FFF2-40B4-BE49-F238E27FC236}">
                <a16:creationId xmlns:a16="http://schemas.microsoft.com/office/drawing/2014/main" id="{1FDD0AD9-7D30-48D6-9F29-D11CEAB017B1}"/>
              </a:ext>
            </a:extLst>
          </p:cNvPr>
          <p:cNvCxnSpPr>
            <a:cxnSpLocks noChangeShapeType="1"/>
          </p:cNvCxnSpPr>
          <p:nvPr/>
        </p:nvCxnSpPr>
        <p:spPr bwMode="auto">
          <a:xfrm>
            <a:off x="6816725" y="3284538"/>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91" name="Straight Connector 24">
            <a:extLst>
              <a:ext uri="{FF2B5EF4-FFF2-40B4-BE49-F238E27FC236}">
                <a16:creationId xmlns:a16="http://schemas.microsoft.com/office/drawing/2014/main" id="{DBF9745A-754A-46B1-BFFF-41D1CD6870A4}"/>
              </a:ext>
            </a:extLst>
          </p:cNvPr>
          <p:cNvCxnSpPr>
            <a:cxnSpLocks noChangeShapeType="1"/>
          </p:cNvCxnSpPr>
          <p:nvPr/>
        </p:nvCxnSpPr>
        <p:spPr bwMode="auto">
          <a:xfrm>
            <a:off x="7578725" y="3287713"/>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92" name="Straight Connector 28">
            <a:extLst>
              <a:ext uri="{FF2B5EF4-FFF2-40B4-BE49-F238E27FC236}">
                <a16:creationId xmlns:a16="http://schemas.microsoft.com/office/drawing/2014/main" id="{2C63E146-02FC-4FD1-B2EB-26375D8D19D8}"/>
              </a:ext>
            </a:extLst>
          </p:cNvPr>
          <p:cNvCxnSpPr>
            <a:cxnSpLocks noChangeShapeType="1"/>
          </p:cNvCxnSpPr>
          <p:nvPr/>
        </p:nvCxnSpPr>
        <p:spPr bwMode="auto">
          <a:xfrm>
            <a:off x="8574088" y="3265488"/>
            <a:ext cx="0" cy="37306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9493" name="Straight Arrow Connector 116">
            <a:extLst>
              <a:ext uri="{FF2B5EF4-FFF2-40B4-BE49-F238E27FC236}">
                <a16:creationId xmlns:a16="http://schemas.microsoft.com/office/drawing/2014/main" id="{C320F7A0-0BFA-4D21-B66E-78BEEE92CB86}"/>
              </a:ext>
            </a:extLst>
          </p:cNvPr>
          <p:cNvCxnSpPr>
            <a:cxnSpLocks noChangeShapeType="1"/>
          </p:cNvCxnSpPr>
          <p:nvPr/>
        </p:nvCxnSpPr>
        <p:spPr bwMode="auto">
          <a:xfrm>
            <a:off x="4170364" y="3638550"/>
            <a:ext cx="815975" cy="0"/>
          </a:xfrm>
          <a:prstGeom prst="straightConnector1">
            <a:avLst/>
          </a:prstGeom>
          <a:noFill/>
          <a:ln w="9525" algn="ctr">
            <a:solidFill>
              <a:srgbClr val="0000FF"/>
            </a:solidFill>
            <a:round/>
            <a:headEnd type="triangle" w="med" len="med"/>
            <a:tailEnd type="triangle" w="med" len="med"/>
          </a:ln>
        </p:spPr>
      </p:cxnSp>
      <p:cxnSp>
        <p:nvCxnSpPr>
          <p:cNvPr id="19494" name="Straight Arrow Connector 126">
            <a:extLst>
              <a:ext uri="{FF2B5EF4-FFF2-40B4-BE49-F238E27FC236}">
                <a16:creationId xmlns:a16="http://schemas.microsoft.com/office/drawing/2014/main" id="{840EE307-D1BA-402C-828A-5E3C87586A7A}"/>
              </a:ext>
            </a:extLst>
          </p:cNvPr>
          <p:cNvCxnSpPr>
            <a:cxnSpLocks noChangeShapeType="1"/>
          </p:cNvCxnSpPr>
          <p:nvPr/>
        </p:nvCxnSpPr>
        <p:spPr bwMode="auto">
          <a:xfrm>
            <a:off x="4999039" y="3638550"/>
            <a:ext cx="854075" cy="0"/>
          </a:xfrm>
          <a:prstGeom prst="straightConnector1">
            <a:avLst/>
          </a:prstGeom>
          <a:noFill/>
          <a:ln w="9525" algn="ctr">
            <a:solidFill>
              <a:srgbClr val="0000FF"/>
            </a:solidFill>
            <a:round/>
            <a:headEnd type="triangle" w="med" len="med"/>
            <a:tailEnd type="triangle" w="med" len="med"/>
          </a:ln>
        </p:spPr>
      </p:cxnSp>
      <p:cxnSp>
        <p:nvCxnSpPr>
          <p:cNvPr id="19495" name="Straight Arrow Connector 127">
            <a:extLst>
              <a:ext uri="{FF2B5EF4-FFF2-40B4-BE49-F238E27FC236}">
                <a16:creationId xmlns:a16="http://schemas.microsoft.com/office/drawing/2014/main" id="{6B5A2C6D-B588-4683-981D-72FBCDEDBA4B}"/>
              </a:ext>
            </a:extLst>
          </p:cNvPr>
          <p:cNvCxnSpPr>
            <a:cxnSpLocks noChangeShapeType="1"/>
          </p:cNvCxnSpPr>
          <p:nvPr/>
        </p:nvCxnSpPr>
        <p:spPr bwMode="auto">
          <a:xfrm>
            <a:off x="5862638" y="3638550"/>
            <a:ext cx="946150" cy="0"/>
          </a:xfrm>
          <a:prstGeom prst="straightConnector1">
            <a:avLst/>
          </a:prstGeom>
          <a:noFill/>
          <a:ln w="9525" algn="ctr">
            <a:solidFill>
              <a:srgbClr val="0000FF"/>
            </a:solidFill>
            <a:round/>
            <a:headEnd type="triangle" w="med" len="med"/>
            <a:tailEnd type="triangle" w="med" len="med"/>
          </a:ln>
        </p:spPr>
      </p:cxnSp>
      <p:cxnSp>
        <p:nvCxnSpPr>
          <p:cNvPr id="19496" name="Straight Arrow Connector 128">
            <a:extLst>
              <a:ext uri="{FF2B5EF4-FFF2-40B4-BE49-F238E27FC236}">
                <a16:creationId xmlns:a16="http://schemas.microsoft.com/office/drawing/2014/main" id="{2947E33C-CFD3-4ACC-9EC7-2ED95D013ABC}"/>
              </a:ext>
            </a:extLst>
          </p:cNvPr>
          <p:cNvCxnSpPr>
            <a:cxnSpLocks noChangeShapeType="1"/>
          </p:cNvCxnSpPr>
          <p:nvPr/>
        </p:nvCxnSpPr>
        <p:spPr bwMode="auto">
          <a:xfrm>
            <a:off x="6821489" y="3638550"/>
            <a:ext cx="758825" cy="0"/>
          </a:xfrm>
          <a:prstGeom prst="straightConnector1">
            <a:avLst/>
          </a:prstGeom>
          <a:noFill/>
          <a:ln w="9525" algn="ctr">
            <a:solidFill>
              <a:srgbClr val="0000FF"/>
            </a:solidFill>
            <a:round/>
            <a:headEnd type="triangle" w="med" len="med"/>
            <a:tailEnd type="triangle" w="med" len="med"/>
          </a:ln>
        </p:spPr>
      </p:cxnSp>
      <p:cxnSp>
        <p:nvCxnSpPr>
          <p:cNvPr id="19497" name="Straight Arrow Connector 130">
            <a:extLst>
              <a:ext uri="{FF2B5EF4-FFF2-40B4-BE49-F238E27FC236}">
                <a16:creationId xmlns:a16="http://schemas.microsoft.com/office/drawing/2014/main" id="{A4960DE2-F73D-43A6-9F6E-2984A9B4EF97}"/>
              </a:ext>
            </a:extLst>
          </p:cNvPr>
          <p:cNvCxnSpPr>
            <a:cxnSpLocks noChangeShapeType="1"/>
          </p:cNvCxnSpPr>
          <p:nvPr/>
        </p:nvCxnSpPr>
        <p:spPr bwMode="auto">
          <a:xfrm>
            <a:off x="7580314" y="3638550"/>
            <a:ext cx="987425" cy="0"/>
          </a:xfrm>
          <a:prstGeom prst="straightConnector1">
            <a:avLst/>
          </a:prstGeom>
          <a:noFill/>
          <a:ln w="9525" algn="ctr">
            <a:solidFill>
              <a:srgbClr val="0000FF"/>
            </a:solidFill>
            <a:round/>
            <a:headEnd type="triangle" w="med" len="med"/>
            <a:tailEnd type="triangle" w="med" len="med"/>
          </a:ln>
        </p:spPr>
      </p:cxnSp>
      <p:sp>
        <p:nvSpPr>
          <p:cNvPr id="19498" name="Rectangle 135">
            <a:extLst>
              <a:ext uri="{FF2B5EF4-FFF2-40B4-BE49-F238E27FC236}">
                <a16:creationId xmlns:a16="http://schemas.microsoft.com/office/drawing/2014/main" id="{78CA4E91-685B-4208-98D6-3A0F991BB68C}"/>
              </a:ext>
            </a:extLst>
          </p:cNvPr>
          <p:cNvSpPr>
            <a:spLocks noChangeArrowheads="1"/>
          </p:cNvSpPr>
          <p:nvPr/>
        </p:nvSpPr>
        <p:spPr bwMode="auto">
          <a:xfrm>
            <a:off x="6049963" y="3638550"/>
            <a:ext cx="546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t>T+</a:t>
            </a:r>
            <a:r>
              <a:rPr lang="en-US" altLang="en-US" sz="1100" dirty="0"/>
              <a:t> </a:t>
            </a:r>
            <a:r>
              <a:rPr lang="en-US" altLang="en-US" dirty="0"/>
              <a:t>∆T</a:t>
            </a:r>
            <a:r>
              <a:rPr lang="en-US" altLang="en-US" sz="600" dirty="0"/>
              <a:t>2</a:t>
            </a:r>
            <a:endParaRPr lang="en-US" altLang="en-US" dirty="0"/>
          </a:p>
        </p:txBody>
      </p:sp>
      <p:sp>
        <p:nvSpPr>
          <p:cNvPr id="19499" name="Rectangle 138">
            <a:extLst>
              <a:ext uri="{FF2B5EF4-FFF2-40B4-BE49-F238E27FC236}">
                <a16:creationId xmlns:a16="http://schemas.microsoft.com/office/drawing/2014/main" id="{19628D93-2EC9-434C-862C-557428A43552}"/>
              </a:ext>
            </a:extLst>
          </p:cNvPr>
          <p:cNvSpPr>
            <a:spLocks noChangeArrowheads="1"/>
          </p:cNvSpPr>
          <p:nvPr/>
        </p:nvSpPr>
        <p:spPr bwMode="auto">
          <a:xfrm>
            <a:off x="5102225" y="3638550"/>
            <a:ext cx="546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1100"/>
              <a:t> </a:t>
            </a:r>
            <a:r>
              <a:rPr lang="en-US" altLang="en-US"/>
              <a:t>∆T</a:t>
            </a:r>
            <a:r>
              <a:rPr lang="en-US" altLang="en-US" sz="600"/>
              <a:t>1</a:t>
            </a:r>
            <a:endParaRPr lang="en-US" altLang="en-US"/>
          </a:p>
        </p:txBody>
      </p:sp>
      <p:sp>
        <p:nvSpPr>
          <p:cNvPr id="19500" name="Rectangle 139">
            <a:extLst>
              <a:ext uri="{FF2B5EF4-FFF2-40B4-BE49-F238E27FC236}">
                <a16:creationId xmlns:a16="http://schemas.microsoft.com/office/drawing/2014/main" id="{04988004-1733-4268-87DC-E4C4FBF344D1}"/>
              </a:ext>
            </a:extLst>
          </p:cNvPr>
          <p:cNvSpPr>
            <a:spLocks noChangeArrowheads="1"/>
          </p:cNvSpPr>
          <p:nvPr/>
        </p:nvSpPr>
        <p:spPr bwMode="auto">
          <a:xfrm>
            <a:off x="6873875" y="3638550"/>
            <a:ext cx="546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1100"/>
              <a:t> </a:t>
            </a:r>
            <a:r>
              <a:rPr lang="en-US" altLang="en-US"/>
              <a:t>∆T</a:t>
            </a:r>
            <a:r>
              <a:rPr lang="en-US" altLang="en-US" sz="600"/>
              <a:t>3</a:t>
            </a:r>
            <a:endParaRPr lang="en-US" altLang="en-US"/>
          </a:p>
        </p:txBody>
      </p:sp>
      <p:sp>
        <p:nvSpPr>
          <p:cNvPr id="19501" name="Rectangle 140">
            <a:extLst>
              <a:ext uri="{FF2B5EF4-FFF2-40B4-BE49-F238E27FC236}">
                <a16:creationId xmlns:a16="http://schemas.microsoft.com/office/drawing/2014/main" id="{680688F8-DBE6-4945-8F04-D220BF0E7EA0}"/>
              </a:ext>
            </a:extLst>
          </p:cNvPr>
          <p:cNvSpPr>
            <a:spLocks noChangeArrowheads="1"/>
          </p:cNvSpPr>
          <p:nvPr/>
        </p:nvSpPr>
        <p:spPr bwMode="auto">
          <a:xfrm>
            <a:off x="7750175" y="3638550"/>
            <a:ext cx="546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1100"/>
              <a:t> </a:t>
            </a:r>
            <a:r>
              <a:rPr lang="en-US" altLang="en-US"/>
              <a:t>∆T</a:t>
            </a:r>
            <a:r>
              <a:rPr lang="en-US" altLang="en-US" sz="600"/>
              <a:t>4</a:t>
            </a:r>
            <a:endParaRPr lang="en-US" altLang="en-US"/>
          </a:p>
        </p:txBody>
      </p:sp>
      <p:sp>
        <p:nvSpPr>
          <p:cNvPr id="73" name="TextBox 124">
            <a:extLst>
              <a:ext uri="{FF2B5EF4-FFF2-40B4-BE49-F238E27FC236}">
                <a16:creationId xmlns:a16="http://schemas.microsoft.com/office/drawing/2014/main" id="{0F1C5AD9-7113-45A3-A2C6-35D76FDFBB5F}"/>
              </a:ext>
            </a:extLst>
          </p:cNvPr>
          <p:cNvSpPr txBox="1">
            <a:spLocks noChangeArrowheads="1"/>
          </p:cNvSpPr>
          <p:nvPr/>
        </p:nvSpPr>
        <p:spPr bwMode="auto">
          <a:xfrm>
            <a:off x="2743201" y="3094038"/>
            <a:ext cx="1116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dirty="0">
                <a:latin typeface="+mj-lt"/>
              </a:rPr>
              <a:t>Actual Waveform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ounded Rectangle 55">
            <a:extLst>
              <a:ext uri="{FF2B5EF4-FFF2-40B4-BE49-F238E27FC236}">
                <a16:creationId xmlns:a16="http://schemas.microsoft.com/office/drawing/2014/main" id="{4BE6BCE0-2407-4E65-953A-17F9C8D0B5AE}"/>
              </a:ext>
            </a:extLst>
          </p:cNvPr>
          <p:cNvSpPr/>
          <p:nvPr/>
        </p:nvSpPr>
        <p:spPr bwMode="auto">
          <a:xfrm>
            <a:off x="3962401" y="1560514"/>
            <a:ext cx="4568825" cy="1411287"/>
          </a:xfrm>
          <a:prstGeom prst="roundRect">
            <a:avLst>
              <a:gd name="adj" fmla="val 3788"/>
            </a:avLst>
          </a:prstGeom>
          <a:solidFill>
            <a:schemeClr val="accent1">
              <a:lumMod val="20000"/>
              <a:lumOff val="80000"/>
            </a:schemeClr>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endParaRPr lang="en-US" sz="1400">
              <a:solidFill>
                <a:schemeClr val="tx1"/>
              </a:solidFill>
            </a:endParaRPr>
          </a:p>
        </p:txBody>
      </p:sp>
      <p:sp>
        <p:nvSpPr>
          <p:cNvPr id="20483" name="Title 1">
            <a:extLst>
              <a:ext uri="{FF2B5EF4-FFF2-40B4-BE49-F238E27FC236}">
                <a16:creationId xmlns:a16="http://schemas.microsoft.com/office/drawing/2014/main" id="{0FD422A4-35C8-4CC3-A65C-0BD38785A6B2}"/>
              </a:ext>
            </a:extLst>
          </p:cNvPr>
          <p:cNvSpPr>
            <a:spLocks noGrp="1"/>
          </p:cNvSpPr>
          <p:nvPr>
            <p:ph type="title"/>
          </p:nvPr>
        </p:nvSpPr>
        <p:spPr/>
        <p:txBody>
          <a:bodyPr>
            <a:normAutofit/>
          </a:bodyPr>
          <a:lstStyle/>
          <a:p>
            <a:r>
              <a:rPr lang="en-US" altLang="en-US"/>
              <a:t>Clock Uncertainty Modeling Example</a:t>
            </a:r>
          </a:p>
        </p:txBody>
      </p:sp>
      <p:sp>
        <p:nvSpPr>
          <p:cNvPr id="14" name="Rectangle 14">
            <a:extLst>
              <a:ext uri="{FF2B5EF4-FFF2-40B4-BE49-F238E27FC236}">
                <a16:creationId xmlns:a16="http://schemas.microsoft.com/office/drawing/2014/main" id="{80DDE8BB-9D20-4BF4-BE45-F28219D68A50}"/>
              </a:ext>
            </a:extLst>
          </p:cNvPr>
          <p:cNvSpPr>
            <a:spLocks noChangeArrowheads="1"/>
          </p:cNvSpPr>
          <p:nvPr/>
        </p:nvSpPr>
        <p:spPr bwMode="gray">
          <a:xfrm>
            <a:off x="8229600" y="3505201"/>
            <a:ext cx="1752600" cy="25876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lIns="92075" tIns="46038" rIns="92075" bIns="46038">
            <a:spAutoFit/>
          </a:bodyPr>
          <a:lstStyle/>
          <a:p>
            <a:pPr algn="ctr">
              <a:lnSpc>
                <a:spcPct val="90000"/>
              </a:lnSpc>
              <a:defRPr/>
            </a:pPr>
            <a:r>
              <a:rPr lang="en-US" sz="1200" dirty="0"/>
              <a:t>Setup = 2ns</a:t>
            </a:r>
            <a:endParaRPr lang="en-US" sz="2800" dirty="0"/>
          </a:p>
        </p:txBody>
      </p:sp>
      <p:sp>
        <p:nvSpPr>
          <p:cNvPr id="20485" name="Rectangle 15">
            <a:extLst>
              <a:ext uri="{FF2B5EF4-FFF2-40B4-BE49-F238E27FC236}">
                <a16:creationId xmlns:a16="http://schemas.microsoft.com/office/drawing/2014/main" id="{E4CB18D5-4288-481E-BDC1-55A772946D51}"/>
              </a:ext>
            </a:extLst>
          </p:cNvPr>
          <p:cNvSpPr>
            <a:spLocks noChangeArrowheads="1"/>
          </p:cNvSpPr>
          <p:nvPr/>
        </p:nvSpPr>
        <p:spPr bwMode="gray">
          <a:xfrm>
            <a:off x="5410201" y="4724401"/>
            <a:ext cx="2714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85788">
              <a:defRPr sz="900">
                <a:solidFill>
                  <a:schemeClr val="tx1"/>
                </a:solidFill>
                <a:latin typeface="Arial" panose="020B0604020202020204" pitchFamily="34" charset="0"/>
                <a:cs typeface="Arial" panose="020B0604020202020204" pitchFamily="34" charset="0"/>
              </a:defRPr>
            </a:lvl1pPr>
            <a:lvl2pPr marL="742950" indent="-285750" defTabSz="585788">
              <a:defRPr sz="900">
                <a:solidFill>
                  <a:schemeClr val="tx1"/>
                </a:solidFill>
                <a:latin typeface="Arial" panose="020B0604020202020204" pitchFamily="34" charset="0"/>
                <a:cs typeface="Arial" panose="020B0604020202020204" pitchFamily="34" charset="0"/>
              </a:defRPr>
            </a:lvl2pPr>
            <a:lvl3pPr marL="1143000" indent="-228600" defTabSz="585788">
              <a:defRPr sz="900">
                <a:solidFill>
                  <a:schemeClr val="tx1"/>
                </a:solidFill>
                <a:latin typeface="Arial" panose="020B0604020202020204" pitchFamily="34" charset="0"/>
                <a:cs typeface="Arial" panose="020B0604020202020204" pitchFamily="34" charset="0"/>
              </a:defRPr>
            </a:lvl3pPr>
            <a:lvl4pPr marL="1600200" indent="-228600" defTabSz="585788">
              <a:defRPr sz="900">
                <a:solidFill>
                  <a:schemeClr val="tx1"/>
                </a:solidFill>
                <a:latin typeface="Arial" panose="020B0604020202020204" pitchFamily="34" charset="0"/>
                <a:cs typeface="Arial" panose="020B0604020202020204" pitchFamily="34" charset="0"/>
              </a:defRPr>
            </a:lvl4pPr>
            <a:lvl5pPr marL="2057400" indent="-228600" defTabSz="585788">
              <a:defRPr sz="900">
                <a:solidFill>
                  <a:schemeClr val="tx1"/>
                </a:solidFill>
                <a:latin typeface="Arial" panose="020B0604020202020204" pitchFamily="34" charset="0"/>
                <a:cs typeface="Arial" panose="020B0604020202020204" pitchFamily="34" charset="0"/>
              </a:defRPr>
            </a:lvl5pPr>
            <a:lvl6pPr marL="25146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nSpc>
                <a:spcPct val="90000"/>
              </a:lnSpc>
            </a:pPr>
            <a:r>
              <a:rPr lang="en-US" altLang="en-US" sz="1600">
                <a:latin typeface="Courier New" panose="02070309020205020404" pitchFamily="49" charset="0"/>
              </a:rPr>
              <a:t>0</a:t>
            </a:r>
          </a:p>
        </p:txBody>
      </p:sp>
      <p:sp>
        <p:nvSpPr>
          <p:cNvPr id="16" name="Rectangle 17">
            <a:extLst>
              <a:ext uri="{FF2B5EF4-FFF2-40B4-BE49-F238E27FC236}">
                <a16:creationId xmlns:a16="http://schemas.microsoft.com/office/drawing/2014/main" id="{5547FC51-363C-4F1F-BD89-241205917AEC}"/>
              </a:ext>
            </a:extLst>
          </p:cNvPr>
          <p:cNvSpPr>
            <a:spLocks noChangeArrowheads="1"/>
          </p:cNvSpPr>
          <p:nvPr/>
        </p:nvSpPr>
        <p:spPr bwMode="gray">
          <a:xfrm>
            <a:off x="8710613" y="4227513"/>
            <a:ext cx="368300" cy="450850"/>
          </a:xfrm>
          <a:prstGeom prst="rect">
            <a:avLst/>
          </a:prstGeom>
          <a:ln>
            <a:noFill/>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eaLnBrk="1" hangingPunct="1">
              <a:defRPr/>
            </a:pPr>
            <a:endParaRPr lang="en-US"/>
          </a:p>
        </p:txBody>
      </p:sp>
      <p:sp>
        <p:nvSpPr>
          <p:cNvPr id="20487" name="Rectangle 19">
            <a:extLst>
              <a:ext uri="{FF2B5EF4-FFF2-40B4-BE49-F238E27FC236}">
                <a16:creationId xmlns:a16="http://schemas.microsoft.com/office/drawing/2014/main" id="{B5B1700E-C479-4840-8FE5-115C93E7830F}"/>
              </a:ext>
            </a:extLst>
          </p:cNvPr>
          <p:cNvSpPr>
            <a:spLocks noChangeArrowheads="1"/>
          </p:cNvSpPr>
          <p:nvPr/>
        </p:nvSpPr>
        <p:spPr bwMode="gray">
          <a:xfrm>
            <a:off x="6953251" y="4745039"/>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85788">
              <a:defRPr sz="900">
                <a:solidFill>
                  <a:schemeClr val="tx1"/>
                </a:solidFill>
                <a:latin typeface="Arial" panose="020B0604020202020204" pitchFamily="34" charset="0"/>
                <a:cs typeface="Arial" panose="020B0604020202020204" pitchFamily="34" charset="0"/>
              </a:defRPr>
            </a:lvl1pPr>
            <a:lvl2pPr marL="742950" indent="-285750" defTabSz="585788">
              <a:defRPr sz="900">
                <a:solidFill>
                  <a:schemeClr val="tx1"/>
                </a:solidFill>
                <a:latin typeface="Arial" panose="020B0604020202020204" pitchFamily="34" charset="0"/>
                <a:cs typeface="Arial" panose="020B0604020202020204" pitchFamily="34" charset="0"/>
              </a:defRPr>
            </a:lvl2pPr>
            <a:lvl3pPr marL="1143000" indent="-228600" defTabSz="585788">
              <a:defRPr sz="900">
                <a:solidFill>
                  <a:schemeClr val="tx1"/>
                </a:solidFill>
                <a:latin typeface="Arial" panose="020B0604020202020204" pitchFamily="34" charset="0"/>
                <a:cs typeface="Arial" panose="020B0604020202020204" pitchFamily="34" charset="0"/>
              </a:defRPr>
            </a:lvl3pPr>
            <a:lvl4pPr marL="1600200" indent="-228600" defTabSz="585788">
              <a:defRPr sz="900">
                <a:solidFill>
                  <a:schemeClr val="tx1"/>
                </a:solidFill>
                <a:latin typeface="Arial" panose="020B0604020202020204" pitchFamily="34" charset="0"/>
                <a:cs typeface="Arial" panose="020B0604020202020204" pitchFamily="34" charset="0"/>
              </a:defRPr>
            </a:lvl4pPr>
            <a:lvl5pPr marL="2057400" indent="-228600" defTabSz="585788">
              <a:defRPr sz="900">
                <a:solidFill>
                  <a:schemeClr val="tx1"/>
                </a:solidFill>
                <a:latin typeface="Arial" panose="020B0604020202020204" pitchFamily="34" charset="0"/>
                <a:cs typeface="Arial" panose="020B0604020202020204" pitchFamily="34" charset="0"/>
              </a:defRPr>
            </a:lvl5pPr>
            <a:lvl6pPr marL="25146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nSpc>
                <a:spcPct val="90000"/>
              </a:lnSpc>
            </a:pPr>
            <a:r>
              <a:rPr lang="en-US" altLang="en-US" sz="1600">
                <a:latin typeface="Courier New" panose="02070309020205020404" pitchFamily="49" charset="0"/>
              </a:rPr>
              <a:t>5</a:t>
            </a:r>
          </a:p>
        </p:txBody>
      </p:sp>
      <p:sp>
        <p:nvSpPr>
          <p:cNvPr id="22" name="Freeform 24">
            <a:extLst>
              <a:ext uri="{FF2B5EF4-FFF2-40B4-BE49-F238E27FC236}">
                <a16:creationId xmlns:a16="http://schemas.microsoft.com/office/drawing/2014/main" id="{BAD7649C-6FC3-4BF1-B977-61B9F50D2478}"/>
              </a:ext>
            </a:extLst>
          </p:cNvPr>
          <p:cNvSpPr>
            <a:spLocks/>
          </p:cNvSpPr>
          <p:nvPr/>
        </p:nvSpPr>
        <p:spPr bwMode="auto">
          <a:xfrm>
            <a:off x="4953001" y="4229101"/>
            <a:ext cx="4981575" cy="460375"/>
          </a:xfrm>
          <a:custGeom>
            <a:avLst/>
            <a:gdLst>
              <a:gd name="connsiteX0" fmla="*/ 0 w 3909"/>
              <a:gd name="connsiteY0" fmla="*/ 384 h 384"/>
              <a:gd name="connsiteX1" fmla="*/ 1125 w 3909"/>
              <a:gd name="connsiteY1" fmla="*/ 384 h 384"/>
              <a:gd name="connsiteX2" fmla="*/ 1125 w 3909"/>
              <a:gd name="connsiteY2" fmla="*/ 0 h 384"/>
              <a:gd name="connsiteX3" fmla="*/ 1653 w 3909"/>
              <a:gd name="connsiteY3" fmla="*/ 0 h 384"/>
              <a:gd name="connsiteX4" fmla="*/ 1653 w 3909"/>
              <a:gd name="connsiteY4" fmla="*/ 384 h 384"/>
              <a:gd name="connsiteX5" fmla="*/ 3237 w 3909"/>
              <a:gd name="connsiteY5" fmla="*/ 384 h 384"/>
              <a:gd name="connsiteX6" fmla="*/ 3237 w 3909"/>
              <a:gd name="connsiteY6" fmla="*/ 0 h 384"/>
              <a:gd name="connsiteX7" fmla="*/ 3909 w 3909"/>
              <a:gd name="connsiteY7" fmla="*/ 0 h 384"/>
              <a:gd name="connsiteX0" fmla="*/ 0 w 3909"/>
              <a:gd name="connsiteY0" fmla="*/ 384 h 384"/>
              <a:gd name="connsiteX1" fmla="*/ 1125 w 3909"/>
              <a:gd name="connsiteY1" fmla="*/ 384 h 384"/>
              <a:gd name="connsiteX2" fmla="*/ 468 w 3909"/>
              <a:gd name="connsiteY2" fmla="*/ 382 h 384"/>
              <a:gd name="connsiteX3" fmla="*/ 1125 w 3909"/>
              <a:gd name="connsiteY3" fmla="*/ 0 h 384"/>
              <a:gd name="connsiteX4" fmla="*/ 1653 w 3909"/>
              <a:gd name="connsiteY4" fmla="*/ 0 h 384"/>
              <a:gd name="connsiteX5" fmla="*/ 1653 w 3909"/>
              <a:gd name="connsiteY5" fmla="*/ 384 h 384"/>
              <a:gd name="connsiteX6" fmla="*/ 3237 w 3909"/>
              <a:gd name="connsiteY6" fmla="*/ 384 h 384"/>
              <a:gd name="connsiteX7" fmla="*/ 3237 w 3909"/>
              <a:gd name="connsiteY7" fmla="*/ 0 h 384"/>
              <a:gd name="connsiteX8" fmla="*/ 3909 w 3909"/>
              <a:gd name="connsiteY8" fmla="*/ 0 h 384"/>
              <a:gd name="connsiteX0" fmla="*/ 0 w 3909"/>
              <a:gd name="connsiteY0" fmla="*/ 384 h 384"/>
              <a:gd name="connsiteX1" fmla="*/ 1125 w 3909"/>
              <a:gd name="connsiteY1" fmla="*/ 384 h 384"/>
              <a:gd name="connsiteX2" fmla="*/ 468 w 3909"/>
              <a:gd name="connsiteY2" fmla="*/ 382 h 384"/>
              <a:gd name="connsiteX3" fmla="*/ 467 w 3909"/>
              <a:gd name="connsiteY3" fmla="*/ 0 h 384"/>
              <a:gd name="connsiteX4" fmla="*/ 1653 w 3909"/>
              <a:gd name="connsiteY4" fmla="*/ 0 h 384"/>
              <a:gd name="connsiteX5" fmla="*/ 1653 w 3909"/>
              <a:gd name="connsiteY5" fmla="*/ 384 h 384"/>
              <a:gd name="connsiteX6" fmla="*/ 3237 w 3909"/>
              <a:gd name="connsiteY6" fmla="*/ 384 h 384"/>
              <a:gd name="connsiteX7" fmla="*/ 3237 w 3909"/>
              <a:gd name="connsiteY7" fmla="*/ 0 h 384"/>
              <a:gd name="connsiteX8" fmla="*/ 3909 w 3909"/>
              <a:gd name="connsiteY8" fmla="*/ 0 h 384"/>
              <a:gd name="connsiteX0" fmla="*/ 0 w 3909"/>
              <a:gd name="connsiteY0" fmla="*/ 384 h 384"/>
              <a:gd name="connsiteX1" fmla="*/ 467 w 3909"/>
              <a:gd name="connsiteY1" fmla="*/ 384 h 384"/>
              <a:gd name="connsiteX2" fmla="*/ 468 w 3909"/>
              <a:gd name="connsiteY2" fmla="*/ 382 h 384"/>
              <a:gd name="connsiteX3" fmla="*/ 467 w 3909"/>
              <a:gd name="connsiteY3" fmla="*/ 0 h 384"/>
              <a:gd name="connsiteX4" fmla="*/ 1653 w 3909"/>
              <a:gd name="connsiteY4" fmla="*/ 0 h 384"/>
              <a:gd name="connsiteX5" fmla="*/ 1653 w 3909"/>
              <a:gd name="connsiteY5" fmla="*/ 384 h 384"/>
              <a:gd name="connsiteX6" fmla="*/ 3237 w 3909"/>
              <a:gd name="connsiteY6" fmla="*/ 384 h 384"/>
              <a:gd name="connsiteX7" fmla="*/ 3237 w 3909"/>
              <a:gd name="connsiteY7" fmla="*/ 0 h 384"/>
              <a:gd name="connsiteX8" fmla="*/ 3909 w 3909"/>
              <a:gd name="connsiteY8" fmla="*/ 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9" h="384">
                <a:moveTo>
                  <a:pt x="0" y="384"/>
                </a:moveTo>
                <a:lnTo>
                  <a:pt x="467" y="384"/>
                </a:lnTo>
                <a:cubicBezTo>
                  <a:pt x="467" y="383"/>
                  <a:pt x="468" y="383"/>
                  <a:pt x="468" y="382"/>
                </a:cubicBezTo>
                <a:cubicBezTo>
                  <a:pt x="468" y="255"/>
                  <a:pt x="467" y="127"/>
                  <a:pt x="467" y="0"/>
                </a:cubicBezTo>
                <a:lnTo>
                  <a:pt x="1653" y="0"/>
                </a:lnTo>
                <a:lnTo>
                  <a:pt x="1653" y="384"/>
                </a:lnTo>
                <a:lnTo>
                  <a:pt x="3237" y="384"/>
                </a:lnTo>
                <a:lnTo>
                  <a:pt x="3237" y="0"/>
                </a:lnTo>
                <a:lnTo>
                  <a:pt x="3909" y="0"/>
                </a:lnTo>
              </a:path>
            </a:pathLst>
          </a:custGeom>
          <a:ln>
            <a:headEnd type="none" w="sm" len="sm"/>
            <a:tailEnd type="none" w="sm" len="sm"/>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20489" name="Rectangle 25">
            <a:extLst>
              <a:ext uri="{FF2B5EF4-FFF2-40B4-BE49-F238E27FC236}">
                <a16:creationId xmlns:a16="http://schemas.microsoft.com/office/drawing/2014/main" id="{A48D23F2-2B0F-4EEA-9D00-A1938D2121D2}"/>
              </a:ext>
            </a:extLst>
          </p:cNvPr>
          <p:cNvSpPr>
            <a:spLocks noChangeArrowheads="1"/>
          </p:cNvSpPr>
          <p:nvPr/>
        </p:nvSpPr>
        <p:spPr bwMode="gray">
          <a:xfrm>
            <a:off x="9034463" y="4745039"/>
            <a:ext cx="3937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85788">
              <a:defRPr sz="900">
                <a:solidFill>
                  <a:schemeClr val="tx1"/>
                </a:solidFill>
                <a:latin typeface="Arial" panose="020B0604020202020204" pitchFamily="34" charset="0"/>
                <a:cs typeface="Arial" panose="020B0604020202020204" pitchFamily="34" charset="0"/>
              </a:defRPr>
            </a:lvl1pPr>
            <a:lvl2pPr marL="742950" indent="-285750" defTabSz="585788">
              <a:defRPr sz="900">
                <a:solidFill>
                  <a:schemeClr val="tx1"/>
                </a:solidFill>
                <a:latin typeface="Arial" panose="020B0604020202020204" pitchFamily="34" charset="0"/>
                <a:cs typeface="Arial" panose="020B0604020202020204" pitchFamily="34" charset="0"/>
              </a:defRPr>
            </a:lvl2pPr>
            <a:lvl3pPr marL="1143000" indent="-228600" defTabSz="585788">
              <a:defRPr sz="900">
                <a:solidFill>
                  <a:schemeClr val="tx1"/>
                </a:solidFill>
                <a:latin typeface="Arial" panose="020B0604020202020204" pitchFamily="34" charset="0"/>
                <a:cs typeface="Arial" panose="020B0604020202020204" pitchFamily="34" charset="0"/>
              </a:defRPr>
            </a:lvl3pPr>
            <a:lvl4pPr marL="1600200" indent="-228600" defTabSz="585788">
              <a:defRPr sz="900">
                <a:solidFill>
                  <a:schemeClr val="tx1"/>
                </a:solidFill>
                <a:latin typeface="Arial" panose="020B0604020202020204" pitchFamily="34" charset="0"/>
                <a:cs typeface="Arial" panose="020B0604020202020204" pitchFamily="34" charset="0"/>
              </a:defRPr>
            </a:lvl4pPr>
            <a:lvl5pPr marL="2057400" indent="-228600" defTabSz="585788">
              <a:defRPr sz="900">
                <a:solidFill>
                  <a:schemeClr val="tx1"/>
                </a:solidFill>
                <a:latin typeface="Arial" panose="020B0604020202020204" pitchFamily="34" charset="0"/>
                <a:cs typeface="Arial" panose="020B0604020202020204" pitchFamily="34" charset="0"/>
              </a:defRPr>
            </a:lvl5pPr>
            <a:lvl6pPr marL="25146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585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nSpc>
                <a:spcPct val="90000"/>
              </a:lnSpc>
            </a:pPr>
            <a:r>
              <a:rPr lang="en-US" altLang="en-US" sz="1600">
                <a:latin typeface="Courier New" panose="02070309020205020404" pitchFamily="49" charset="0"/>
              </a:rPr>
              <a:t>10</a:t>
            </a:r>
          </a:p>
        </p:txBody>
      </p:sp>
      <p:sp>
        <p:nvSpPr>
          <p:cNvPr id="32" name="Cloud 31">
            <a:extLst>
              <a:ext uri="{FF2B5EF4-FFF2-40B4-BE49-F238E27FC236}">
                <a16:creationId xmlns:a16="http://schemas.microsoft.com/office/drawing/2014/main" id="{B7804D27-6C05-4EEC-B568-6AECC86E92F8}"/>
              </a:ext>
            </a:extLst>
          </p:cNvPr>
          <p:cNvSpPr/>
          <p:nvPr/>
        </p:nvSpPr>
        <p:spPr bwMode="auto">
          <a:xfrm>
            <a:off x="5978525" y="1900239"/>
            <a:ext cx="704850"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cxnSp>
        <p:nvCxnSpPr>
          <p:cNvPr id="33" name="Straight Connector 32">
            <a:extLst>
              <a:ext uri="{FF2B5EF4-FFF2-40B4-BE49-F238E27FC236}">
                <a16:creationId xmlns:a16="http://schemas.microsoft.com/office/drawing/2014/main" id="{9487B955-7B5E-474E-8F2F-B69C06DCA70B}"/>
              </a:ext>
            </a:extLst>
          </p:cNvPr>
          <p:cNvCxnSpPr>
            <a:endCxn id="32" idx="2"/>
          </p:cNvCxnSpPr>
          <p:nvPr/>
        </p:nvCxnSpPr>
        <p:spPr bwMode="auto">
          <a:xfrm flipV="1">
            <a:off x="5741989" y="2127250"/>
            <a:ext cx="238125"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D47AFBB-C763-4DE8-9BBF-740BB73A4A34}"/>
              </a:ext>
            </a:extLst>
          </p:cNvPr>
          <p:cNvCxnSpPr>
            <a:stCxn id="32" idx="0"/>
          </p:cNvCxnSpPr>
          <p:nvPr/>
        </p:nvCxnSpPr>
        <p:spPr bwMode="auto">
          <a:xfrm>
            <a:off x="6683376" y="2127250"/>
            <a:ext cx="220663"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hape 68">
            <a:extLst>
              <a:ext uri="{FF2B5EF4-FFF2-40B4-BE49-F238E27FC236}">
                <a16:creationId xmlns:a16="http://schemas.microsoft.com/office/drawing/2014/main" id="{E067414E-6BAA-49CE-9DF9-450E5B53308C}"/>
              </a:ext>
            </a:extLst>
          </p:cNvPr>
          <p:cNvCxnSpPr/>
          <p:nvPr/>
        </p:nvCxnSpPr>
        <p:spPr bwMode="auto">
          <a:xfrm flipV="1">
            <a:off x="1600201" y="2552701"/>
            <a:ext cx="3590925" cy="777875"/>
          </a:xfrm>
          <a:prstGeom prst="bentConnector3">
            <a:avLst>
              <a:gd name="adj1" fmla="val 90425"/>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grpSp>
        <p:nvGrpSpPr>
          <p:cNvPr id="20494" name="Group 39">
            <a:extLst>
              <a:ext uri="{FF2B5EF4-FFF2-40B4-BE49-F238E27FC236}">
                <a16:creationId xmlns:a16="http://schemas.microsoft.com/office/drawing/2014/main" id="{A37023A7-8DD4-43B2-ACC7-99B66AD0929C}"/>
              </a:ext>
            </a:extLst>
          </p:cNvPr>
          <p:cNvGrpSpPr>
            <a:grpSpLocks/>
          </p:cNvGrpSpPr>
          <p:nvPr/>
        </p:nvGrpSpPr>
        <p:grpSpPr bwMode="auto">
          <a:xfrm>
            <a:off x="6904039" y="1911351"/>
            <a:ext cx="661987" cy="790575"/>
            <a:chOff x="3352800" y="3429000"/>
            <a:chExt cx="1120068" cy="1341110"/>
          </a:xfrm>
        </p:grpSpPr>
        <p:sp>
          <p:nvSpPr>
            <p:cNvPr id="20539" name="Rectangle 40">
              <a:extLst>
                <a:ext uri="{FF2B5EF4-FFF2-40B4-BE49-F238E27FC236}">
                  <a16:creationId xmlns:a16="http://schemas.microsoft.com/office/drawing/2014/main" id="{C69023DE-9A05-4488-A647-D561D82AF1A8}"/>
                </a:ext>
              </a:extLst>
            </p:cNvPr>
            <p:cNvSpPr>
              <a:spLocks noChangeArrowheads="1"/>
            </p:cNvSpPr>
            <p:nvPr/>
          </p:nvSpPr>
          <p:spPr bwMode="auto">
            <a:xfrm>
              <a:off x="3352800" y="3429000"/>
              <a:ext cx="914400" cy="12954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solidFill>
                  <a:schemeClr val="bg1"/>
                </a:solidFill>
              </a:endParaRPr>
            </a:p>
          </p:txBody>
        </p:sp>
        <p:sp>
          <p:nvSpPr>
            <p:cNvPr id="20540" name="Isosceles Triangle 41">
              <a:extLst>
                <a:ext uri="{FF2B5EF4-FFF2-40B4-BE49-F238E27FC236}">
                  <a16:creationId xmlns:a16="http://schemas.microsoft.com/office/drawing/2014/main" id="{5A288842-8A15-4C6D-813A-CCAF9EB8BA19}"/>
                </a:ext>
              </a:extLst>
            </p:cNvPr>
            <p:cNvSpPr>
              <a:spLocks noChangeArrowheads="1"/>
            </p:cNvSpPr>
            <p:nvPr/>
          </p:nvSpPr>
          <p:spPr bwMode="auto">
            <a:xfrm rot="5400000">
              <a:off x="3390900" y="4381500"/>
              <a:ext cx="152400" cy="2286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solidFill>
                  <a:schemeClr val="bg1"/>
                </a:solidFill>
              </a:endParaRPr>
            </a:p>
          </p:txBody>
        </p:sp>
        <p:sp>
          <p:nvSpPr>
            <p:cNvPr id="20541" name="TextBox 42">
              <a:extLst>
                <a:ext uri="{FF2B5EF4-FFF2-40B4-BE49-F238E27FC236}">
                  <a16:creationId xmlns:a16="http://schemas.microsoft.com/office/drawing/2014/main" id="{4663701F-2EE8-4840-8FE1-85771D387BF2}"/>
                </a:ext>
              </a:extLst>
            </p:cNvPr>
            <p:cNvSpPr txBox="1">
              <a:spLocks noChangeArrowheads="1"/>
            </p:cNvSpPr>
            <p:nvPr/>
          </p:nvSpPr>
          <p:spPr bwMode="auto">
            <a:xfrm>
              <a:off x="3352801" y="3581400"/>
              <a:ext cx="228601" cy="43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000">
                  <a:solidFill>
                    <a:schemeClr val="bg1"/>
                  </a:solidFill>
                </a:rPr>
                <a:t>D</a:t>
              </a:r>
            </a:p>
          </p:txBody>
        </p:sp>
        <p:sp>
          <p:nvSpPr>
            <p:cNvPr id="20542" name="TextBox 43">
              <a:extLst>
                <a:ext uri="{FF2B5EF4-FFF2-40B4-BE49-F238E27FC236}">
                  <a16:creationId xmlns:a16="http://schemas.microsoft.com/office/drawing/2014/main" id="{B96AFA47-7AFC-411A-ADD7-F62F4FA28995}"/>
                </a:ext>
              </a:extLst>
            </p:cNvPr>
            <p:cNvSpPr txBox="1">
              <a:spLocks noChangeArrowheads="1"/>
            </p:cNvSpPr>
            <p:nvPr/>
          </p:nvSpPr>
          <p:spPr bwMode="auto">
            <a:xfrm>
              <a:off x="3870136" y="3581400"/>
              <a:ext cx="440120" cy="426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solidFill>
                    <a:schemeClr val="bg1"/>
                  </a:solidFill>
                </a:rPr>
                <a:t>Q</a:t>
              </a:r>
            </a:p>
          </p:txBody>
        </p:sp>
        <p:sp>
          <p:nvSpPr>
            <p:cNvPr id="20543" name="TextBox 44">
              <a:extLst>
                <a:ext uri="{FF2B5EF4-FFF2-40B4-BE49-F238E27FC236}">
                  <a16:creationId xmlns:a16="http://schemas.microsoft.com/office/drawing/2014/main" id="{EA35A433-47F9-41CB-BC2A-BD9FE28B849C}"/>
                </a:ext>
              </a:extLst>
            </p:cNvPr>
            <p:cNvSpPr txBox="1">
              <a:spLocks noChangeArrowheads="1"/>
            </p:cNvSpPr>
            <p:nvPr/>
          </p:nvSpPr>
          <p:spPr bwMode="auto">
            <a:xfrm>
              <a:off x="3439613" y="4352772"/>
              <a:ext cx="904098" cy="41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solidFill>
                    <a:schemeClr val="bg1"/>
                  </a:solidFill>
                </a:rPr>
                <a:t>CLK</a:t>
              </a:r>
            </a:p>
          </p:txBody>
        </p:sp>
        <p:sp>
          <p:nvSpPr>
            <p:cNvPr id="46" name="TextBox 45">
              <a:extLst>
                <a:ext uri="{FF2B5EF4-FFF2-40B4-BE49-F238E27FC236}">
                  <a16:creationId xmlns:a16="http://schemas.microsoft.com/office/drawing/2014/main" id="{8C2F1C0D-0F32-4095-B30F-93E402C3DDC5}"/>
                </a:ext>
              </a:extLst>
            </p:cNvPr>
            <p:cNvSpPr txBox="1"/>
            <p:nvPr/>
          </p:nvSpPr>
          <p:spPr>
            <a:xfrm>
              <a:off x="3433380" y="3867959"/>
              <a:ext cx="1039488" cy="430879"/>
            </a:xfrm>
            <a:prstGeom prst="rect">
              <a:avLst/>
            </a:prstGeom>
            <a:noFill/>
          </p:spPr>
          <p:txBody>
            <a:bodyPr>
              <a:spAutoFit/>
            </a:bodyPr>
            <a:lstStyle/>
            <a:p>
              <a:pPr eaLnBrk="1" hangingPunct="1">
                <a:defRPr/>
              </a:pPr>
              <a:r>
                <a:rPr lang="en-US" sz="1050" dirty="0">
                  <a:solidFill>
                    <a:schemeClr val="bg1"/>
                  </a:solidFill>
                  <a:latin typeface="Arial" charset="0"/>
                  <a:cs typeface="Arial" charset="0"/>
                </a:rPr>
                <a:t>DFF</a:t>
              </a:r>
            </a:p>
          </p:txBody>
        </p:sp>
      </p:grpSp>
      <p:grpSp>
        <p:nvGrpSpPr>
          <p:cNvPr id="3" name="Group 327">
            <a:extLst>
              <a:ext uri="{FF2B5EF4-FFF2-40B4-BE49-F238E27FC236}">
                <a16:creationId xmlns:a16="http://schemas.microsoft.com/office/drawing/2014/main" id="{4AF6374F-CE15-40E0-B29F-63294F8BC3CF}"/>
              </a:ext>
            </a:extLst>
          </p:cNvPr>
          <p:cNvGrpSpPr/>
          <p:nvPr/>
        </p:nvGrpSpPr>
        <p:grpSpPr>
          <a:xfrm>
            <a:off x="2247363" y="2011125"/>
            <a:ext cx="539479" cy="803841"/>
            <a:chOff x="3352800" y="3429000"/>
            <a:chExt cx="914400" cy="1362489"/>
          </a:xfrm>
          <a:noFill/>
        </p:grpSpPr>
        <p:sp>
          <p:nvSpPr>
            <p:cNvPr id="48" name="Rectangle 47">
              <a:extLst>
                <a:ext uri="{FF2B5EF4-FFF2-40B4-BE49-F238E27FC236}">
                  <a16:creationId xmlns:a16="http://schemas.microsoft.com/office/drawing/2014/main" id="{50DE4CE3-CDF4-478C-BB60-B9612844930C}"/>
                </a:ext>
              </a:extLst>
            </p:cNvPr>
            <p:cNvSpPr/>
            <p:nvPr/>
          </p:nvSpPr>
          <p:spPr bwMode="auto">
            <a:xfrm>
              <a:off x="3352800" y="3429000"/>
              <a:ext cx="914400" cy="1295400"/>
            </a:xfrm>
            <a:prstGeom prst="rect">
              <a:avLst/>
            </a:prstGeom>
            <a:grpFill/>
            <a:ln w="9525" cap="flat" cmpd="sng" algn="ctr">
              <a:solidFill>
                <a:schemeClr val="tx1"/>
              </a:solidFill>
              <a:prstDash val="dash"/>
              <a:round/>
              <a:headEnd type="none" w="med" len="med"/>
              <a:tailEnd type="none" w="med" len="med"/>
            </a:ln>
            <a:effectLst/>
          </p:spPr>
          <p:txBody>
            <a:bodyPr anchor="ctr"/>
            <a:lstStyle/>
            <a:p>
              <a:pPr eaLnBrk="1" hangingPunct="1">
                <a:defRPr/>
              </a:pPr>
              <a:endParaRPr lang="en-US" sz="1200">
                <a:latin typeface="Arial" charset="0"/>
                <a:cs typeface="Arial" charset="0"/>
              </a:endParaRPr>
            </a:p>
          </p:txBody>
        </p:sp>
        <p:sp>
          <p:nvSpPr>
            <p:cNvPr id="49" name="Isosceles Triangle 48">
              <a:extLst>
                <a:ext uri="{FF2B5EF4-FFF2-40B4-BE49-F238E27FC236}">
                  <a16:creationId xmlns:a16="http://schemas.microsoft.com/office/drawing/2014/main" id="{EF57CC08-36CE-4FE7-ADA5-7551E3EFAF55}"/>
                </a:ext>
              </a:extLst>
            </p:cNvPr>
            <p:cNvSpPr/>
            <p:nvPr/>
          </p:nvSpPr>
          <p:spPr bwMode="auto">
            <a:xfrm rot="5400000">
              <a:off x="3390900" y="4381500"/>
              <a:ext cx="152400" cy="2286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200" dirty="0">
                <a:latin typeface="Arial" charset="0"/>
                <a:cs typeface="Arial" charset="0"/>
              </a:endParaRPr>
            </a:p>
          </p:txBody>
        </p:sp>
        <p:sp>
          <p:nvSpPr>
            <p:cNvPr id="50" name="TextBox 49">
              <a:extLst>
                <a:ext uri="{FF2B5EF4-FFF2-40B4-BE49-F238E27FC236}">
                  <a16:creationId xmlns:a16="http://schemas.microsoft.com/office/drawing/2014/main" id="{DA15754D-F5E8-46F7-9460-5827554DB382}"/>
                </a:ext>
              </a:extLst>
            </p:cNvPr>
            <p:cNvSpPr txBox="1"/>
            <p:nvPr/>
          </p:nvSpPr>
          <p:spPr>
            <a:xfrm>
              <a:off x="3352801" y="3581400"/>
              <a:ext cx="228601" cy="430381"/>
            </a:xfrm>
            <a:prstGeom prst="rect">
              <a:avLst/>
            </a:prstGeom>
            <a:grpFill/>
          </p:spPr>
          <p:txBody>
            <a:bodyPr>
              <a:spAutoFit/>
            </a:bodyPr>
            <a:lstStyle/>
            <a:p>
              <a:pPr algn="ctr" eaLnBrk="1" hangingPunct="1">
                <a:defRPr/>
              </a:pPr>
              <a:r>
                <a:rPr lang="en-US" sz="1000" dirty="0">
                  <a:latin typeface="Arial" charset="0"/>
                  <a:cs typeface="Arial" charset="0"/>
                </a:rPr>
                <a:t>D</a:t>
              </a:r>
            </a:p>
          </p:txBody>
        </p:sp>
        <p:sp>
          <p:nvSpPr>
            <p:cNvPr id="51" name="TextBox 50">
              <a:extLst>
                <a:ext uri="{FF2B5EF4-FFF2-40B4-BE49-F238E27FC236}">
                  <a16:creationId xmlns:a16="http://schemas.microsoft.com/office/drawing/2014/main" id="{676D10B5-613E-4D92-8354-5ADAF048A6BF}"/>
                </a:ext>
              </a:extLst>
            </p:cNvPr>
            <p:cNvSpPr txBox="1"/>
            <p:nvPr/>
          </p:nvSpPr>
          <p:spPr>
            <a:xfrm>
              <a:off x="3974018" y="3565259"/>
              <a:ext cx="228600" cy="430381"/>
            </a:xfrm>
            <a:prstGeom prst="rect">
              <a:avLst/>
            </a:prstGeom>
            <a:grpFill/>
          </p:spPr>
          <p:txBody>
            <a:bodyPr>
              <a:spAutoFit/>
            </a:bodyPr>
            <a:lstStyle/>
            <a:p>
              <a:pPr eaLnBrk="1" hangingPunct="1">
                <a:defRPr/>
              </a:pPr>
              <a:r>
                <a:rPr lang="en-US" sz="1000" dirty="0">
                  <a:latin typeface="Arial" charset="0"/>
                  <a:cs typeface="Arial" charset="0"/>
                </a:rPr>
                <a:t>Q</a:t>
              </a:r>
            </a:p>
          </p:txBody>
        </p:sp>
        <p:sp>
          <p:nvSpPr>
            <p:cNvPr id="52" name="TextBox 51">
              <a:extLst>
                <a:ext uri="{FF2B5EF4-FFF2-40B4-BE49-F238E27FC236}">
                  <a16:creationId xmlns:a16="http://schemas.microsoft.com/office/drawing/2014/main" id="{ACEF084C-25C0-4C20-9B68-6F39FFEDC7AE}"/>
                </a:ext>
              </a:extLst>
            </p:cNvPr>
            <p:cNvSpPr txBox="1"/>
            <p:nvPr/>
          </p:nvSpPr>
          <p:spPr>
            <a:xfrm>
              <a:off x="3412029" y="4361108"/>
              <a:ext cx="851547" cy="430381"/>
            </a:xfrm>
            <a:prstGeom prst="rect">
              <a:avLst/>
            </a:prstGeom>
            <a:grpFill/>
          </p:spPr>
          <p:txBody>
            <a:bodyPr>
              <a:spAutoFit/>
            </a:bodyPr>
            <a:lstStyle/>
            <a:p>
              <a:pPr eaLnBrk="1" hangingPunct="1">
                <a:defRPr/>
              </a:pPr>
              <a:r>
                <a:rPr lang="en-US" sz="1000" dirty="0">
                  <a:latin typeface="Arial" charset="0"/>
                  <a:cs typeface="Arial" charset="0"/>
                </a:rPr>
                <a:t>CLK</a:t>
              </a:r>
            </a:p>
          </p:txBody>
        </p:sp>
        <p:sp>
          <p:nvSpPr>
            <p:cNvPr id="53" name="TextBox 52">
              <a:extLst>
                <a:ext uri="{FF2B5EF4-FFF2-40B4-BE49-F238E27FC236}">
                  <a16:creationId xmlns:a16="http://schemas.microsoft.com/office/drawing/2014/main" id="{22086B73-D9A7-4CC0-AF5D-BDE3BF4B0FB8}"/>
                </a:ext>
              </a:extLst>
            </p:cNvPr>
            <p:cNvSpPr txBox="1"/>
            <p:nvPr/>
          </p:nvSpPr>
          <p:spPr>
            <a:xfrm>
              <a:off x="3455088" y="3867986"/>
              <a:ext cx="766394" cy="430381"/>
            </a:xfrm>
            <a:prstGeom prst="rect">
              <a:avLst/>
            </a:prstGeom>
            <a:grpFill/>
          </p:spPr>
          <p:txBody>
            <a:bodyPr>
              <a:spAutoFit/>
            </a:bodyPr>
            <a:lstStyle/>
            <a:p>
              <a:pPr eaLnBrk="1" hangingPunct="1">
                <a:defRPr/>
              </a:pPr>
              <a:r>
                <a:rPr lang="en-US" sz="1050" dirty="0">
                  <a:latin typeface="Arial" charset="0"/>
                  <a:cs typeface="Arial" charset="0"/>
                </a:rPr>
                <a:t>DFF</a:t>
              </a:r>
            </a:p>
          </p:txBody>
        </p:sp>
      </p:grpSp>
      <p:sp>
        <p:nvSpPr>
          <p:cNvPr id="54" name="Cloud 53">
            <a:extLst>
              <a:ext uri="{FF2B5EF4-FFF2-40B4-BE49-F238E27FC236}">
                <a16:creationId xmlns:a16="http://schemas.microsoft.com/office/drawing/2014/main" id="{9DDB6ED5-57EA-4C92-BE6F-FD8BE50ABB3E}"/>
              </a:ext>
            </a:extLst>
          </p:cNvPr>
          <p:cNvSpPr/>
          <p:nvPr/>
        </p:nvSpPr>
        <p:spPr bwMode="auto">
          <a:xfrm>
            <a:off x="3022601" y="1905000"/>
            <a:ext cx="646113" cy="452438"/>
          </a:xfrm>
          <a:prstGeom prst="cloud">
            <a:avLst/>
          </a:prstGeom>
          <a:noFill/>
          <a:ln w="9525" cap="flat" cmpd="sng" algn="ctr">
            <a:solidFill>
              <a:schemeClr val="tx1"/>
            </a:solidFill>
            <a:prstDash val="dash"/>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cxnSp>
        <p:nvCxnSpPr>
          <p:cNvPr id="55" name="Straight Connector 54">
            <a:extLst>
              <a:ext uri="{FF2B5EF4-FFF2-40B4-BE49-F238E27FC236}">
                <a16:creationId xmlns:a16="http://schemas.microsoft.com/office/drawing/2014/main" id="{4B3E749C-7B37-4202-BA29-2EFF701C617F}"/>
              </a:ext>
            </a:extLst>
          </p:cNvPr>
          <p:cNvCxnSpPr>
            <a:endCxn id="54" idx="2"/>
          </p:cNvCxnSpPr>
          <p:nvPr/>
        </p:nvCxnSpPr>
        <p:spPr bwMode="auto">
          <a:xfrm flipV="1">
            <a:off x="2786064" y="2132014"/>
            <a:ext cx="238125" cy="3175"/>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498" name="Rectangle 56">
            <a:extLst>
              <a:ext uri="{FF2B5EF4-FFF2-40B4-BE49-F238E27FC236}">
                <a16:creationId xmlns:a16="http://schemas.microsoft.com/office/drawing/2014/main" id="{70E57B93-5A9B-49E7-9CA8-8C4929B82028}"/>
              </a:ext>
            </a:extLst>
          </p:cNvPr>
          <p:cNvSpPr>
            <a:spLocks noChangeArrowheads="1"/>
          </p:cNvSpPr>
          <p:nvPr/>
        </p:nvSpPr>
        <p:spPr bwMode="auto">
          <a:xfrm>
            <a:off x="3903664" y="2068514"/>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0499" name="Rectangle 57">
            <a:extLst>
              <a:ext uri="{FF2B5EF4-FFF2-40B4-BE49-F238E27FC236}">
                <a16:creationId xmlns:a16="http://schemas.microsoft.com/office/drawing/2014/main" id="{D56FA2AB-4762-4426-AB7D-6899AEF17842}"/>
              </a:ext>
            </a:extLst>
          </p:cNvPr>
          <p:cNvSpPr>
            <a:spLocks noChangeArrowheads="1"/>
          </p:cNvSpPr>
          <p:nvPr/>
        </p:nvSpPr>
        <p:spPr bwMode="auto">
          <a:xfrm>
            <a:off x="8455026" y="2068514"/>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cxnSp>
        <p:nvCxnSpPr>
          <p:cNvPr id="59" name="Straight Connector 58">
            <a:extLst>
              <a:ext uri="{FF2B5EF4-FFF2-40B4-BE49-F238E27FC236}">
                <a16:creationId xmlns:a16="http://schemas.microsoft.com/office/drawing/2014/main" id="{82368BD4-7397-4B9A-A382-710339E76F2E}"/>
              </a:ext>
            </a:extLst>
          </p:cNvPr>
          <p:cNvCxnSpPr>
            <a:endCxn id="67" idx="0"/>
          </p:cNvCxnSpPr>
          <p:nvPr/>
        </p:nvCxnSpPr>
        <p:spPr bwMode="auto">
          <a:xfrm rot="10800000">
            <a:off x="4935539" y="2128838"/>
            <a:ext cx="268287"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501" name="Right Bracket 59">
            <a:extLst>
              <a:ext uri="{FF2B5EF4-FFF2-40B4-BE49-F238E27FC236}">
                <a16:creationId xmlns:a16="http://schemas.microsoft.com/office/drawing/2014/main" id="{D34C0EF7-07F8-4DE6-9637-69F19BA5422D}"/>
              </a:ext>
            </a:extLst>
          </p:cNvPr>
          <p:cNvSpPr>
            <a:spLocks/>
          </p:cNvSpPr>
          <p:nvPr/>
        </p:nvSpPr>
        <p:spPr bwMode="auto">
          <a:xfrm>
            <a:off x="2054226" y="1524000"/>
            <a:ext cx="1704975" cy="1436688"/>
          </a:xfrm>
          <a:prstGeom prst="rightBracket">
            <a:avLst>
              <a:gd name="adj" fmla="val 1000"/>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cxnSp>
        <p:nvCxnSpPr>
          <p:cNvPr id="61" name="Straight Connector 60">
            <a:extLst>
              <a:ext uri="{FF2B5EF4-FFF2-40B4-BE49-F238E27FC236}">
                <a16:creationId xmlns:a16="http://schemas.microsoft.com/office/drawing/2014/main" id="{F8C54C87-8FE8-4A3D-9F06-159D49DF971F}"/>
              </a:ext>
            </a:extLst>
          </p:cNvPr>
          <p:cNvCxnSpPr>
            <a:stCxn id="54" idx="0"/>
            <a:endCxn id="20498" idx="1"/>
          </p:cNvCxnSpPr>
          <p:nvPr/>
        </p:nvCxnSpPr>
        <p:spPr bwMode="auto">
          <a:xfrm flipV="1">
            <a:off x="3668713" y="2127251"/>
            <a:ext cx="234950" cy="4763"/>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2" name="Shape 68">
            <a:extLst>
              <a:ext uri="{FF2B5EF4-FFF2-40B4-BE49-F238E27FC236}">
                <a16:creationId xmlns:a16="http://schemas.microsoft.com/office/drawing/2014/main" id="{A81D31F3-5083-4C39-8343-A609FE3F6B29}"/>
              </a:ext>
            </a:extLst>
          </p:cNvPr>
          <p:cNvCxnSpPr/>
          <p:nvPr/>
        </p:nvCxnSpPr>
        <p:spPr bwMode="auto">
          <a:xfrm flipV="1">
            <a:off x="1600200" y="2640013"/>
            <a:ext cx="647700" cy="690562"/>
          </a:xfrm>
          <a:prstGeom prst="bentConnector3">
            <a:avLst>
              <a:gd name="adj1" fmla="val 50000"/>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3" name="Shape 68">
            <a:extLst>
              <a:ext uri="{FF2B5EF4-FFF2-40B4-BE49-F238E27FC236}">
                <a16:creationId xmlns:a16="http://schemas.microsoft.com/office/drawing/2014/main" id="{345426C0-6D76-4B7F-84E5-AAFD4D994E81}"/>
              </a:ext>
            </a:extLst>
          </p:cNvPr>
          <p:cNvCxnSpPr/>
          <p:nvPr/>
        </p:nvCxnSpPr>
        <p:spPr bwMode="auto">
          <a:xfrm flipV="1">
            <a:off x="1600200" y="2540001"/>
            <a:ext cx="5303838" cy="790575"/>
          </a:xfrm>
          <a:prstGeom prst="bentConnector3">
            <a:avLst>
              <a:gd name="adj1" fmla="val 92412"/>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64" name="Cloud 63">
            <a:extLst>
              <a:ext uri="{FF2B5EF4-FFF2-40B4-BE49-F238E27FC236}">
                <a16:creationId xmlns:a16="http://schemas.microsoft.com/office/drawing/2014/main" id="{30838023-9469-49BA-85B0-654E524B4BEE}"/>
              </a:ext>
            </a:extLst>
          </p:cNvPr>
          <p:cNvSpPr/>
          <p:nvPr/>
        </p:nvSpPr>
        <p:spPr bwMode="auto">
          <a:xfrm>
            <a:off x="8899525" y="1900239"/>
            <a:ext cx="647700" cy="454025"/>
          </a:xfrm>
          <a:prstGeom prst="cloud">
            <a:avLst/>
          </a:prstGeom>
          <a:noFill/>
          <a:ln w="9525" cap="flat" cmpd="sng" algn="ctr">
            <a:solidFill>
              <a:schemeClr val="tx1"/>
            </a:solidFill>
            <a:prstDash val="dash"/>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
        <p:nvSpPr>
          <p:cNvPr id="65" name="Cloud 64">
            <a:extLst>
              <a:ext uri="{FF2B5EF4-FFF2-40B4-BE49-F238E27FC236}">
                <a16:creationId xmlns:a16="http://schemas.microsoft.com/office/drawing/2014/main" id="{E2FABECB-ECBE-4830-B142-AB8DB7AD24BE}"/>
              </a:ext>
            </a:extLst>
          </p:cNvPr>
          <p:cNvSpPr/>
          <p:nvPr/>
        </p:nvSpPr>
        <p:spPr bwMode="auto">
          <a:xfrm>
            <a:off x="7672389" y="1900239"/>
            <a:ext cx="706437"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cxnSp>
        <p:nvCxnSpPr>
          <p:cNvPr id="66" name="Straight Connector 65">
            <a:extLst>
              <a:ext uri="{FF2B5EF4-FFF2-40B4-BE49-F238E27FC236}">
                <a16:creationId xmlns:a16="http://schemas.microsoft.com/office/drawing/2014/main" id="{122348AF-7CB8-4E20-84CC-C68664671D03}"/>
              </a:ext>
            </a:extLst>
          </p:cNvPr>
          <p:cNvCxnSpPr>
            <a:endCxn id="65" idx="2"/>
          </p:cNvCxnSpPr>
          <p:nvPr/>
        </p:nvCxnSpPr>
        <p:spPr bwMode="auto">
          <a:xfrm flipV="1">
            <a:off x="7469189" y="2127250"/>
            <a:ext cx="206375"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7" name="Cloud 66">
            <a:extLst>
              <a:ext uri="{FF2B5EF4-FFF2-40B4-BE49-F238E27FC236}">
                <a16:creationId xmlns:a16="http://schemas.microsoft.com/office/drawing/2014/main" id="{963D7CFD-5818-4904-95D4-6E20F7AA1834}"/>
              </a:ext>
            </a:extLst>
          </p:cNvPr>
          <p:cNvSpPr/>
          <p:nvPr/>
        </p:nvSpPr>
        <p:spPr bwMode="auto">
          <a:xfrm>
            <a:off x="4230688" y="1900239"/>
            <a:ext cx="704850"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
        <p:nvSpPr>
          <p:cNvPr id="20509" name="Right Bracket 67">
            <a:extLst>
              <a:ext uri="{FF2B5EF4-FFF2-40B4-BE49-F238E27FC236}">
                <a16:creationId xmlns:a16="http://schemas.microsoft.com/office/drawing/2014/main" id="{A3312C06-DAF5-4FDF-8875-69435152C2D2}"/>
              </a:ext>
            </a:extLst>
          </p:cNvPr>
          <p:cNvSpPr>
            <a:spLocks/>
          </p:cNvSpPr>
          <p:nvPr/>
        </p:nvSpPr>
        <p:spPr bwMode="auto">
          <a:xfrm flipH="1">
            <a:off x="8683626" y="1600200"/>
            <a:ext cx="1647825" cy="1360488"/>
          </a:xfrm>
          <a:prstGeom prst="rightBracket">
            <a:avLst>
              <a:gd name="adj" fmla="val 1000"/>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cxnSp>
        <p:nvCxnSpPr>
          <p:cNvPr id="69" name="Straight Connector 68">
            <a:extLst>
              <a:ext uri="{FF2B5EF4-FFF2-40B4-BE49-F238E27FC236}">
                <a16:creationId xmlns:a16="http://schemas.microsoft.com/office/drawing/2014/main" id="{DF3692AD-0956-4E9F-A6B2-41874DF48638}"/>
              </a:ext>
            </a:extLst>
          </p:cNvPr>
          <p:cNvCxnSpPr>
            <a:stCxn id="65" idx="0"/>
            <a:endCxn id="20499" idx="1"/>
          </p:cNvCxnSpPr>
          <p:nvPr/>
        </p:nvCxnSpPr>
        <p:spPr bwMode="auto">
          <a:xfrm>
            <a:off x="8377239" y="2127250"/>
            <a:ext cx="77787" cy="1588"/>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E776F158-548B-4200-A701-354831EADBAA}"/>
              </a:ext>
            </a:extLst>
          </p:cNvPr>
          <p:cNvCxnSpPr>
            <a:stCxn id="67" idx="2"/>
            <a:endCxn id="20498" idx="3"/>
          </p:cNvCxnSpPr>
          <p:nvPr/>
        </p:nvCxnSpPr>
        <p:spPr bwMode="auto">
          <a:xfrm rot="10800000">
            <a:off x="4021139" y="2127250"/>
            <a:ext cx="211137" cy="1588"/>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0512" name="Group 752">
            <a:extLst>
              <a:ext uri="{FF2B5EF4-FFF2-40B4-BE49-F238E27FC236}">
                <a16:creationId xmlns:a16="http://schemas.microsoft.com/office/drawing/2014/main" id="{4E493249-A887-4B4D-A9A8-39C528719F18}"/>
              </a:ext>
            </a:extLst>
          </p:cNvPr>
          <p:cNvGrpSpPr>
            <a:grpSpLocks/>
          </p:cNvGrpSpPr>
          <p:nvPr/>
        </p:nvGrpSpPr>
        <p:grpSpPr bwMode="auto">
          <a:xfrm>
            <a:off x="5191125" y="1922463"/>
            <a:ext cx="660400" cy="792162"/>
            <a:chOff x="3352800" y="3429000"/>
            <a:chExt cx="1120068" cy="1341110"/>
          </a:xfrm>
        </p:grpSpPr>
        <p:sp>
          <p:nvSpPr>
            <p:cNvPr id="20533" name="Rectangle 71">
              <a:extLst>
                <a:ext uri="{FF2B5EF4-FFF2-40B4-BE49-F238E27FC236}">
                  <a16:creationId xmlns:a16="http://schemas.microsoft.com/office/drawing/2014/main" id="{02531CF5-7996-44D3-9299-54E4DC2697BF}"/>
                </a:ext>
              </a:extLst>
            </p:cNvPr>
            <p:cNvSpPr>
              <a:spLocks noChangeArrowheads="1"/>
            </p:cNvSpPr>
            <p:nvPr/>
          </p:nvSpPr>
          <p:spPr bwMode="auto">
            <a:xfrm>
              <a:off x="3352800" y="3429000"/>
              <a:ext cx="914400" cy="12954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solidFill>
                  <a:schemeClr val="bg1"/>
                </a:solidFill>
              </a:endParaRPr>
            </a:p>
          </p:txBody>
        </p:sp>
        <p:sp>
          <p:nvSpPr>
            <p:cNvPr id="20534" name="Isosceles Triangle 72">
              <a:extLst>
                <a:ext uri="{FF2B5EF4-FFF2-40B4-BE49-F238E27FC236}">
                  <a16:creationId xmlns:a16="http://schemas.microsoft.com/office/drawing/2014/main" id="{3388DCA6-C6F9-4ED2-9719-196863C9090D}"/>
                </a:ext>
              </a:extLst>
            </p:cNvPr>
            <p:cNvSpPr>
              <a:spLocks noChangeArrowheads="1"/>
            </p:cNvSpPr>
            <p:nvPr/>
          </p:nvSpPr>
          <p:spPr bwMode="auto">
            <a:xfrm rot="5400000">
              <a:off x="3390900" y="4381500"/>
              <a:ext cx="152400" cy="2286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solidFill>
                  <a:schemeClr val="bg1"/>
                </a:solidFill>
              </a:endParaRPr>
            </a:p>
          </p:txBody>
        </p:sp>
        <p:sp>
          <p:nvSpPr>
            <p:cNvPr id="20535" name="TextBox 73">
              <a:extLst>
                <a:ext uri="{FF2B5EF4-FFF2-40B4-BE49-F238E27FC236}">
                  <a16:creationId xmlns:a16="http://schemas.microsoft.com/office/drawing/2014/main" id="{86B28ABC-37F3-4446-9A2F-0E35F9B67708}"/>
                </a:ext>
              </a:extLst>
            </p:cNvPr>
            <p:cNvSpPr txBox="1">
              <a:spLocks noChangeArrowheads="1"/>
            </p:cNvSpPr>
            <p:nvPr/>
          </p:nvSpPr>
          <p:spPr bwMode="auto">
            <a:xfrm>
              <a:off x="3352801" y="3581400"/>
              <a:ext cx="228601" cy="43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000" dirty="0">
                  <a:solidFill>
                    <a:schemeClr val="bg1"/>
                  </a:solidFill>
                </a:rPr>
                <a:t>D</a:t>
              </a:r>
            </a:p>
          </p:txBody>
        </p:sp>
        <p:sp>
          <p:nvSpPr>
            <p:cNvPr id="20536" name="TextBox 74">
              <a:extLst>
                <a:ext uri="{FF2B5EF4-FFF2-40B4-BE49-F238E27FC236}">
                  <a16:creationId xmlns:a16="http://schemas.microsoft.com/office/drawing/2014/main" id="{DF129BC4-D763-4CCE-B379-C693161D0C2F}"/>
                </a:ext>
              </a:extLst>
            </p:cNvPr>
            <p:cNvSpPr txBox="1">
              <a:spLocks noChangeArrowheads="1"/>
            </p:cNvSpPr>
            <p:nvPr/>
          </p:nvSpPr>
          <p:spPr bwMode="auto">
            <a:xfrm>
              <a:off x="3870136" y="3581400"/>
              <a:ext cx="440120" cy="426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solidFill>
                    <a:schemeClr val="bg1"/>
                  </a:solidFill>
                </a:rPr>
                <a:t>Q</a:t>
              </a:r>
            </a:p>
          </p:txBody>
        </p:sp>
        <p:sp>
          <p:nvSpPr>
            <p:cNvPr id="20537" name="TextBox 75">
              <a:extLst>
                <a:ext uri="{FF2B5EF4-FFF2-40B4-BE49-F238E27FC236}">
                  <a16:creationId xmlns:a16="http://schemas.microsoft.com/office/drawing/2014/main" id="{9E920F48-16BF-4572-BCF2-9BE0E0CAC2CC}"/>
                </a:ext>
              </a:extLst>
            </p:cNvPr>
            <p:cNvSpPr txBox="1">
              <a:spLocks noChangeArrowheads="1"/>
            </p:cNvSpPr>
            <p:nvPr/>
          </p:nvSpPr>
          <p:spPr bwMode="auto">
            <a:xfrm>
              <a:off x="3439613" y="4352772"/>
              <a:ext cx="904098" cy="41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dirty="0">
                  <a:solidFill>
                    <a:schemeClr val="bg1"/>
                  </a:solidFill>
                </a:rPr>
                <a:t>CLK</a:t>
              </a:r>
            </a:p>
          </p:txBody>
        </p:sp>
        <p:sp>
          <p:nvSpPr>
            <p:cNvPr id="77" name="TextBox 76">
              <a:extLst>
                <a:ext uri="{FF2B5EF4-FFF2-40B4-BE49-F238E27FC236}">
                  <a16:creationId xmlns:a16="http://schemas.microsoft.com/office/drawing/2014/main" id="{FB1487DE-496C-4AE4-BB86-98F930194BD3}"/>
                </a:ext>
              </a:extLst>
            </p:cNvPr>
            <p:cNvSpPr txBox="1"/>
            <p:nvPr/>
          </p:nvSpPr>
          <p:spPr>
            <a:xfrm>
              <a:off x="3433574" y="3867077"/>
              <a:ext cx="1039294" cy="430016"/>
            </a:xfrm>
            <a:prstGeom prst="rect">
              <a:avLst/>
            </a:prstGeom>
            <a:noFill/>
          </p:spPr>
          <p:txBody>
            <a:bodyPr>
              <a:spAutoFit/>
            </a:bodyPr>
            <a:lstStyle/>
            <a:p>
              <a:pPr eaLnBrk="1" hangingPunct="1">
                <a:defRPr/>
              </a:pPr>
              <a:r>
                <a:rPr lang="en-US" sz="1050" dirty="0">
                  <a:solidFill>
                    <a:schemeClr val="bg1"/>
                  </a:solidFill>
                  <a:latin typeface="Arial" charset="0"/>
                  <a:cs typeface="Arial" charset="0"/>
                </a:rPr>
                <a:t>DFF</a:t>
              </a:r>
            </a:p>
          </p:txBody>
        </p:sp>
      </p:grpSp>
      <p:grpSp>
        <p:nvGrpSpPr>
          <p:cNvPr id="5" name="Group 760">
            <a:extLst>
              <a:ext uri="{FF2B5EF4-FFF2-40B4-BE49-F238E27FC236}">
                <a16:creationId xmlns:a16="http://schemas.microsoft.com/office/drawing/2014/main" id="{6B9CDBF0-EB5A-4810-A4A5-F9E1DCD9EF68}"/>
              </a:ext>
            </a:extLst>
          </p:cNvPr>
          <p:cNvGrpSpPr/>
          <p:nvPr/>
        </p:nvGrpSpPr>
        <p:grpSpPr>
          <a:xfrm>
            <a:off x="9775308" y="1906350"/>
            <a:ext cx="539479" cy="803841"/>
            <a:chOff x="3352800" y="3429000"/>
            <a:chExt cx="914400" cy="1362489"/>
          </a:xfrm>
          <a:noFill/>
        </p:grpSpPr>
        <p:sp>
          <p:nvSpPr>
            <p:cNvPr id="79" name="Rectangle 78">
              <a:extLst>
                <a:ext uri="{FF2B5EF4-FFF2-40B4-BE49-F238E27FC236}">
                  <a16:creationId xmlns:a16="http://schemas.microsoft.com/office/drawing/2014/main" id="{953D5F6E-C2F8-4AD1-A776-E3EA9BB50299}"/>
                </a:ext>
              </a:extLst>
            </p:cNvPr>
            <p:cNvSpPr/>
            <p:nvPr/>
          </p:nvSpPr>
          <p:spPr bwMode="auto">
            <a:xfrm>
              <a:off x="3352800" y="3429000"/>
              <a:ext cx="914400" cy="1295400"/>
            </a:xfrm>
            <a:prstGeom prst="rect">
              <a:avLst/>
            </a:prstGeom>
            <a:grpFill/>
            <a:ln w="9525" cap="flat" cmpd="sng" algn="ctr">
              <a:solidFill>
                <a:schemeClr val="tx1"/>
              </a:solidFill>
              <a:prstDash val="dash"/>
              <a:round/>
              <a:headEnd type="none" w="med" len="med"/>
              <a:tailEnd type="none" w="med" len="med"/>
            </a:ln>
            <a:effectLst/>
          </p:spPr>
          <p:txBody>
            <a:bodyPr anchor="ctr"/>
            <a:lstStyle/>
            <a:p>
              <a:pPr eaLnBrk="1" hangingPunct="1">
                <a:defRPr/>
              </a:pPr>
              <a:endParaRPr lang="en-US" sz="1200">
                <a:latin typeface="Arial" charset="0"/>
                <a:cs typeface="Arial" charset="0"/>
              </a:endParaRPr>
            </a:p>
          </p:txBody>
        </p:sp>
        <p:sp>
          <p:nvSpPr>
            <p:cNvPr id="80" name="Isosceles Triangle 79">
              <a:extLst>
                <a:ext uri="{FF2B5EF4-FFF2-40B4-BE49-F238E27FC236}">
                  <a16:creationId xmlns:a16="http://schemas.microsoft.com/office/drawing/2014/main" id="{90661ED7-4A9D-4F5C-B2AA-B55F3FD26125}"/>
                </a:ext>
              </a:extLst>
            </p:cNvPr>
            <p:cNvSpPr/>
            <p:nvPr/>
          </p:nvSpPr>
          <p:spPr bwMode="auto">
            <a:xfrm rot="5400000">
              <a:off x="3390900" y="4381500"/>
              <a:ext cx="152400" cy="2286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200" dirty="0">
                <a:latin typeface="Arial" charset="0"/>
                <a:cs typeface="Arial" charset="0"/>
              </a:endParaRPr>
            </a:p>
          </p:txBody>
        </p:sp>
        <p:sp>
          <p:nvSpPr>
            <p:cNvPr id="81" name="TextBox 80">
              <a:extLst>
                <a:ext uri="{FF2B5EF4-FFF2-40B4-BE49-F238E27FC236}">
                  <a16:creationId xmlns:a16="http://schemas.microsoft.com/office/drawing/2014/main" id="{16297573-77C4-4331-BDF7-5991BCB4DF0D}"/>
                </a:ext>
              </a:extLst>
            </p:cNvPr>
            <p:cNvSpPr txBox="1"/>
            <p:nvPr/>
          </p:nvSpPr>
          <p:spPr>
            <a:xfrm>
              <a:off x="3352801" y="3581400"/>
              <a:ext cx="228601" cy="430381"/>
            </a:xfrm>
            <a:prstGeom prst="rect">
              <a:avLst/>
            </a:prstGeom>
            <a:grpFill/>
          </p:spPr>
          <p:txBody>
            <a:bodyPr>
              <a:spAutoFit/>
            </a:bodyPr>
            <a:lstStyle/>
            <a:p>
              <a:pPr algn="ctr" eaLnBrk="1" hangingPunct="1">
                <a:defRPr/>
              </a:pPr>
              <a:r>
                <a:rPr lang="en-US" sz="1000" dirty="0">
                  <a:latin typeface="Arial" charset="0"/>
                  <a:cs typeface="Arial" charset="0"/>
                </a:rPr>
                <a:t>D</a:t>
              </a:r>
            </a:p>
          </p:txBody>
        </p:sp>
        <p:sp>
          <p:nvSpPr>
            <p:cNvPr id="82" name="TextBox 81">
              <a:extLst>
                <a:ext uri="{FF2B5EF4-FFF2-40B4-BE49-F238E27FC236}">
                  <a16:creationId xmlns:a16="http://schemas.microsoft.com/office/drawing/2014/main" id="{FAFCD05F-56AF-4CBB-A097-BAB4D94C440D}"/>
                </a:ext>
              </a:extLst>
            </p:cNvPr>
            <p:cNvSpPr txBox="1"/>
            <p:nvPr/>
          </p:nvSpPr>
          <p:spPr>
            <a:xfrm>
              <a:off x="3974018" y="3565259"/>
              <a:ext cx="228600" cy="430381"/>
            </a:xfrm>
            <a:prstGeom prst="rect">
              <a:avLst/>
            </a:prstGeom>
            <a:grpFill/>
          </p:spPr>
          <p:txBody>
            <a:bodyPr>
              <a:spAutoFit/>
            </a:bodyPr>
            <a:lstStyle/>
            <a:p>
              <a:pPr eaLnBrk="1" hangingPunct="1">
                <a:defRPr/>
              </a:pPr>
              <a:r>
                <a:rPr lang="en-US" sz="1000" dirty="0">
                  <a:latin typeface="Arial" charset="0"/>
                  <a:cs typeface="Arial" charset="0"/>
                </a:rPr>
                <a:t>Q</a:t>
              </a:r>
            </a:p>
          </p:txBody>
        </p:sp>
        <p:sp>
          <p:nvSpPr>
            <p:cNvPr id="83" name="TextBox 82">
              <a:extLst>
                <a:ext uri="{FF2B5EF4-FFF2-40B4-BE49-F238E27FC236}">
                  <a16:creationId xmlns:a16="http://schemas.microsoft.com/office/drawing/2014/main" id="{846348CC-6C02-4D79-8137-BA7BF8EAE759}"/>
                </a:ext>
              </a:extLst>
            </p:cNvPr>
            <p:cNvSpPr txBox="1"/>
            <p:nvPr/>
          </p:nvSpPr>
          <p:spPr>
            <a:xfrm>
              <a:off x="3412029" y="4361108"/>
              <a:ext cx="851547" cy="430381"/>
            </a:xfrm>
            <a:prstGeom prst="rect">
              <a:avLst/>
            </a:prstGeom>
            <a:grpFill/>
          </p:spPr>
          <p:txBody>
            <a:bodyPr>
              <a:spAutoFit/>
            </a:bodyPr>
            <a:lstStyle/>
            <a:p>
              <a:pPr eaLnBrk="1" hangingPunct="1">
                <a:defRPr/>
              </a:pPr>
              <a:r>
                <a:rPr lang="en-US" sz="1000" dirty="0">
                  <a:latin typeface="Arial" charset="0"/>
                  <a:cs typeface="Arial" charset="0"/>
                </a:rPr>
                <a:t>CLK</a:t>
              </a:r>
            </a:p>
          </p:txBody>
        </p:sp>
        <p:sp>
          <p:nvSpPr>
            <p:cNvPr id="84" name="TextBox 83">
              <a:extLst>
                <a:ext uri="{FF2B5EF4-FFF2-40B4-BE49-F238E27FC236}">
                  <a16:creationId xmlns:a16="http://schemas.microsoft.com/office/drawing/2014/main" id="{E1F28C8C-D6DF-4189-9A40-9EC7BAE7A38E}"/>
                </a:ext>
              </a:extLst>
            </p:cNvPr>
            <p:cNvSpPr txBox="1"/>
            <p:nvPr/>
          </p:nvSpPr>
          <p:spPr>
            <a:xfrm>
              <a:off x="3455088" y="3867986"/>
              <a:ext cx="766394" cy="430381"/>
            </a:xfrm>
            <a:prstGeom prst="rect">
              <a:avLst/>
            </a:prstGeom>
            <a:grpFill/>
          </p:spPr>
          <p:txBody>
            <a:bodyPr>
              <a:spAutoFit/>
            </a:bodyPr>
            <a:lstStyle/>
            <a:p>
              <a:pPr eaLnBrk="1" hangingPunct="1">
                <a:defRPr/>
              </a:pPr>
              <a:r>
                <a:rPr lang="en-US" sz="1050" b="1" dirty="0">
                  <a:latin typeface="Arial" charset="0"/>
                  <a:cs typeface="Arial" charset="0"/>
                </a:rPr>
                <a:t>DFF</a:t>
              </a:r>
            </a:p>
          </p:txBody>
        </p:sp>
      </p:grpSp>
      <p:cxnSp>
        <p:nvCxnSpPr>
          <p:cNvPr id="85" name="Straight Connector 84">
            <a:extLst>
              <a:ext uri="{FF2B5EF4-FFF2-40B4-BE49-F238E27FC236}">
                <a16:creationId xmlns:a16="http://schemas.microsoft.com/office/drawing/2014/main" id="{EFE0D924-F7AD-4AC7-8A26-91D0EDAA270B}"/>
              </a:ext>
            </a:extLst>
          </p:cNvPr>
          <p:cNvCxnSpPr>
            <a:stCxn id="20499" idx="3"/>
            <a:endCxn id="64" idx="2"/>
          </p:cNvCxnSpPr>
          <p:nvPr/>
        </p:nvCxnSpPr>
        <p:spPr bwMode="auto">
          <a:xfrm>
            <a:off x="8572500" y="2127250"/>
            <a:ext cx="330200"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9AC7F60C-8492-48FF-A021-EE0D29DE5F7F}"/>
              </a:ext>
            </a:extLst>
          </p:cNvPr>
          <p:cNvCxnSpPr>
            <a:stCxn id="64" idx="0"/>
          </p:cNvCxnSpPr>
          <p:nvPr/>
        </p:nvCxnSpPr>
        <p:spPr bwMode="auto">
          <a:xfrm flipV="1">
            <a:off x="9545639" y="2122488"/>
            <a:ext cx="230187" cy="4762"/>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hape 68">
            <a:extLst>
              <a:ext uri="{FF2B5EF4-FFF2-40B4-BE49-F238E27FC236}">
                <a16:creationId xmlns:a16="http://schemas.microsoft.com/office/drawing/2014/main" id="{062267F3-C231-4AA4-8C7B-06CDACA9034C}"/>
              </a:ext>
            </a:extLst>
          </p:cNvPr>
          <p:cNvCxnSpPr/>
          <p:nvPr/>
        </p:nvCxnSpPr>
        <p:spPr bwMode="auto">
          <a:xfrm flipV="1">
            <a:off x="1600201" y="2535239"/>
            <a:ext cx="8175625" cy="795337"/>
          </a:xfrm>
          <a:prstGeom prst="bentConnector3">
            <a:avLst>
              <a:gd name="adj1" fmla="val 95806"/>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grpSp>
        <p:nvGrpSpPr>
          <p:cNvPr id="20517" name="Group 780">
            <a:extLst>
              <a:ext uri="{FF2B5EF4-FFF2-40B4-BE49-F238E27FC236}">
                <a16:creationId xmlns:a16="http://schemas.microsoft.com/office/drawing/2014/main" id="{2A63D976-EEC9-495D-9878-CD05F69E742E}"/>
              </a:ext>
            </a:extLst>
          </p:cNvPr>
          <p:cNvGrpSpPr>
            <a:grpSpLocks/>
          </p:cNvGrpSpPr>
          <p:nvPr/>
        </p:nvGrpSpPr>
        <p:grpSpPr bwMode="auto">
          <a:xfrm>
            <a:off x="5562600" y="4038600"/>
            <a:ext cx="2743200" cy="228600"/>
            <a:chOff x="2868594" y="1513126"/>
            <a:chExt cx="1707339" cy="529103"/>
          </a:xfrm>
        </p:grpSpPr>
        <p:cxnSp>
          <p:nvCxnSpPr>
            <p:cNvPr id="20530" name="Straight Connector 102">
              <a:extLst>
                <a:ext uri="{FF2B5EF4-FFF2-40B4-BE49-F238E27FC236}">
                  <a16:creationId xmlns:a16="http://schemas.microsoft.com/office/drawing/2014/main" id="{9ED5B8B0-1DD8-431F-9B7E-8E75972BAC04}"/>
                </a:ext>
              </a:extLst>
            </p:cNvPr>
            <p:cNvCxnSpPr>
              <a:cxnSpLocks noChangeShapeType="1"/>
            </p:cNvCxnSpPr>
            <p:nvPr/>
          </p:nvCxnSpPr>
          <p:spPr bwMode="auto">
            <a:xfrm rot="5400000">
              <a:off x="2604655"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531" name="Straight Connector 103">
              <a:extLst>
                <a:ext uri="{FF2B5EF4-FFF2-40B4-BE49-F238E27FC236}">
                  <a16:creationId xmlns:a16="http://schemas.microsoft.com/office/drawing/2014/main" id="{5DCC4D57-EA24-47BF-BE91-3107FB703E3E}"/>
                </a:ext>
              </a:extLst>
            </p:cNvPr>
            <p:cNvCxnSpPr>
              <a:cxnSpLocks noChangeShapeType="1"/>
            </p:cNvCxnSpPr>
            <p:nvPr/>
          </p:nvCxnSpPr>
          <p:spPr bwMode="auto">
            <a:xfrm rot="5400000">
              <a:off x="4310769"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532" name="Straight Arrow Connector 104">
              <a:extLst>
                <a:ext uri="{FF2B5EF4-FFF2-40B4-BE49-F238E27FC236}">
                  <a16:creationId xmlns:a16="http://schemas.microsoft.com/office/drawing/2014/main" id="{397725A1-03A8-4A3C-B48E-EF043275E149}"/>
                </a:ext>
              </a:extLst>
            </p:cNvPr>
            <p:cNvCxnSpPr>
              <a:cxnSpLocks noChangeShapeType="1"/>
            </p:cNvCxnSpPr>
            <p:nvPr/>
          </p:nvCxnSpPr>
          <p:spPr bwMode="auto">
            <a:xfrm>
              <a:off x="2869820" y="1688880"/>
              <a:ext cx="1704888"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116" name="TextBox 115">
            <a:extLst>
              <a:ext uri="{FF2B5EF4-FFF2-40B4-BE49-F238E27FC236}">
                <a16:creationId xmlns:a16="http://schemas.microsoft.com/office/drawing/2014/main" id="{63DED8EC-AA5D-442A-8929-361CA3E41AC8}"/>
              </a:ext>
            </a:extLst>
          </p:cNvPr>
          <p:cNvSpPr txBox="1"/>
          <p:nvPr/>
        </p:nvSpPr>
        <p:spPr>
          <a:xfrm>
            <a:off x="1905000" y="3733800"/>
            <a:ext cx="3124200" cy="5842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eaLnBrk="1" hangingPunct="1">
              <a:defRPr/>
            </a:pPr>
            <a:r>
              <a:rPr lang="en-US" sz="1600" dirty="0">
                <a:solidFill>
                  <a:schemeClr val="tx1"/>
                </a:solidFill>
              </a:rPr>
              <a:t>Clock period: 	</a:t>
            </a:r>
            <a:r>
              <a:rPr lang="en-US" sz="1600" dirty="0" err="1">
                <a:solidFill>
                  <a:schemeClr val="tx1"/>
                </a:solidFill>
              </a:rPr>
              <a:t>T</a:t>
            </a:r>
            <a:r>
              <a:rPr lang="en-US" sz="1600" baseline="-25000" dirty="0" err="1">
                <a:solidFill>
                  <a:schemeClr val="tx1"/>
                </a:solidFill>
              </a:rPr>
              <a:t>clk</a:t>
            </a:r>
            <a:r>
              <a:rPr lang="en-US" sz="1600" dirty="0">
                <a:solidFill>
                  <a:schemeClr val="tx1"/>
                </a:solidFill>
              </a:rPr>
              <a:t> = 10ns</a:t>
            </a:r>
          </a:p>
          <a:p>
            <a:pPr eaLnBrk="1" hangingPunct="1">
              <a:defRPr/>
            </a:pPr>
            <a:r>
              <a:rPr lang="en-US" sz="1600" dirty="0">
                <a:solidFill>
                  <a:schemeClr val="tx1"/>
                </a:solidFill>
              </a:rPr>
              <a:t>DFF Setup time:	</a:t>
            </a:r>
            <a:r>
              <a:rPr lang="en-US" sz="1600" dirty="0" err="1">
                <a:solidFill>
                  <a:schemeClr val="tx1"/>
                </a:solidFill>
              </a:rPr>
              <a:t>t</a:t>
            </a:r>
            <a:r>
              <a:rPr lang="en-US" sz="1600" baseline="-25000" dirty="0" err="1">
                <a:solidFill>
                  <a:schemeClr val="tx1"/>
                </a:solidFill>
              </a:rPr>
              <a:t>setup</a:t>
            </a:r>
            <a:r>
              <a:rPr lang="en-US" sz="1600" baseline="-25000" dirty="0">
                <a:solidFill>
                  <a:schemeClr val="tx1"/>
                </a:solidFill>
              </a:rPr>
              <a:t> </a:t>
            </a:r>
            <a:r>
              <a:rPr lang="en-US" sz="1600" dirty="0">
                <a:solidFill>
                  <a:schemeClr val="tx1"/>
                </a:solidFill>
              </a:rPr>
              <a:t>=2ns</a:t>
            </a:r>
          </a:p>
        </p:txBody>
      </p:sp>
      <p:cxnSp>
        <p:nvCxnSpPr>
          <p:cNvPr id="117" name="Straight Arrow Connector 116">
            <a:extLst>
              <a:ext uri="{FF2B5EF4-FFF2-40B4-BE49-F238E27FC236}">
                <a16:creationId xmlns:a16="http://schemas.microsoft.com/office/drawing/2014/main" id="{9B57BC09-AA81-4FBC-B620-5AA5BCD6A9A8}"/>
              </a:ext>
            </a:extLst>
          </p:cNvPr>
          <p:cNvCxnSpPr>
            <a:stCxn id="14" idx="2"/>
            <a:endCxn id="16" idx="0"/>
          </p:cNvCxnSpPr>
          <p:nvPr/>
        </p:nvCxnSpPr>
        <p:spPr bwMode="auto">
          <a:xfrm flipH="1">
            <a:off x="8894764" y="3763963"/>
            <a:ext cx="211137" cy="46355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23" name="Rectangle 17">
            <a:extLst>
              <a:ext uri="{FF2B5EF4-FFF2-40B4-BE49-F238E27FC236}">
                <a16:creationId xmlns:a16="http://schemas.microsoft.com/office/drawing/2014/main" id="{FEE88A49-6B9C-4AB1-8503-440B6648ADC1}"/>
              </a:ext>
            </a:extLst>
          </p:cNvPr>
          <p:cNvSpPr>
            <a:spLocks noChangeArrowheads="1"/>
          </p:cNvSpPr>
          <p:nvPr/>
        </p:nvSpPr>
        <p:spPr bwMode="gray">
          <a:xfrm>
            <a:off x="8343901" y="4229101"/>
            <a:ext cx="366713" cy="449263"/>
          </a:xfrm>
          <a:prstGeom prst="rect">
            <a:avLst/>
          </a:prstGeom>
          <a:solidFill>
            <a:schemeClr val="accent1">
              <a:lumMod val="40000"/>
              <a:lumOff val="60000"/>
            </a:schemeClr>
          </a:solidFill>
          <a:ln>
            <a:noFill/>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eaLnBrk="1" hangingPunct="1">
              <a:defRPr/>
            </a:pPr>
            <a:endParaRPr lang="en-US"/>
          </a:p>
        </p:txBody>
      </p:sp>
      <p:sp>
        <p:nvSpPr>
          <p:cNvPr id="124" name="Rectangle 14">
            <a:extLst>
              <a:ext uri="{FF2B5EF4-FFF2-40B4-BE49-F238E27FC236}">
                <a16:creationId xmlns:a16="http://schemas.microsoft.com/office/drawing/2014/main" id="{3166DFEB-DC68-4E6A-ABAB-0B0A60C9CF25}"/>
              </a:ext>
            </a:extLst>
          </p:cNvPr>
          <p:cNvSpPr>
            <a:spLocks noChangeArrowheads="1"/>
          </p:cNvSpPr>
          <p:nvPr/>
        </p:nvSpPr>
        <p:spPr bwMode="gray">
          <a:xfrm>
            <a:off x="4724400" y="5105400"/>
            <a:ext cx="2362200" cy="42545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lIns="92075" tIns="46038" rIns="92075" bIns="46038">
            <a:spAutoFit/>
          </a:bodyPr>
          <a:lstStyle/>
          <a:p>
            <a:pPr algn="ctr">
              <a:lnSpc>
                <a:spcPct val="90000"/>
              </a:lnSpc>
              <a:defRPr/>
            </a:pPr>
            <a:r>
              <a:rPr lang="en-US" sz="1200" dirty="0"/>
              <a:t>Minimum delay for combinational logic</a:t>
            </a:r>
            <a:endParaRPr lang="en-US" sz="2800" dirty="0"/>
          </a:p>
        </p:txBody>
      </p:sp>
      <p:cxnSp>
        <p:nvCxnSpPr>
          <p:cNvPr id="125" name="Straight Arrow Connector 124">
            <a:extLst>
              <a:ext uri="{FF2B5EF4-FFF2-40B4-BE49-F238E27FC236}">
                <a16:creationId xmlns:a16="http://schemas.microsoft.com/office/drawing/2014/main" id="{15A883C2-1B1D-4BDA-92C6-944BA9ED402D}"/>
              </a:ext>
            </a:extLst>
          </p:cNvPr>
          <p:cNvCxnSpPr>
            <a:stCxn id="124" idx="0"/>
          </p:cNvCxnSpPr>
          <p:nvPr/>
        </p:nvCxnSpPr>
        <p:spPr bwMode="auto">
          <a:xfrm flipV="1">
            <a:off x="5905500" y="4114800"/>
            <a:ext cx="1333500" cy="99060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28" name="Rectangle 14">
            <a:extLst>
              <a:ext uri="{FF2B5EF4-FFF2-40B4-BE49-F238E27FC236}">
                <a16:creationId xmlns:a16="http://schemas.microsoft.com/office/drawing/2014/main" id="{27308E39-0052-4261-B119-0B194FA477C4}"/>
              </a:ext>
            </a:extLst>
          </p:cNvPr>
          <p:cNvSpPr>
            <a:spLocks noChangeArrowheads="1"/>
          </p:cNvSpPr>
          <p:nvPr/>
        </p:nvSpPr>
        <p:spPr bwMode="gray">
          <a:xfrm>
            <a:off x="8077200" y="5410201"/>
            <a:ext cx="2057400" cy="25876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lIns="92075" tIns="46038" rIns="92075" bIns="46038">
            <a:spAutoFit/>
          </a:bodyPr>
          <a:lstStyle/>
          <a:p>
            <a:pPr algn="ctr">
              <a:lnSpc>
                <a:spcPct val="90000"/>
              </a:lnSpc>
              <a:defRPr/>
            </a:pPr>
            <a:r>
              <a:rPr lang="en-US" sz="1200" dirty="0"/>
              <a:t>Clock uncertainty</a:t>
            </a:r>
            <a:endParaRPr lang="en-US" sz="2800" dirty="0"/>
          </a:p>
        </p:txBody>
      </p:sp>
      <p:cxnSp>
        <p:nvCxnSpPr>
          <p:cNvPr id="129" name="Straight Arrow Connector 128">
            <a:extLst>
              <a:ext uri="{FF2B5EF4-FFF2-40B4-BE49-F238E27FC236}">
                <a16:creationId xmlns:a16="http://schemas.microsoft.com/office/drawing/2014/main" id="{2D86603D-B21D-4D73-B39A-4CD5204B8F1B}"/>
              </a:ext>
            </a:extLst>
          </p:cNvPr>
          <p:cNvCxnSpPr>
            <a:stCxn id="128" idx="0"/>
          </p:cNvCxnSpPr>
          <p:nvPr/>
        </p:nvCxnSpPr>
        <p:spPr bwMode="auto">
          <a:xfrm flipH="1" flipV="1">
            <a:off x="8534400" y="4419600"/>
            <a:ext cx="571500" cy="99060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7CFAC83-C663-4C37-A97B-D35243AFEEB0}"/>
              </a:ext>
            </a:extLst>
          </p:cNvPr>
          <p:cNvCxnSpPr/>
          <p:nvPr/>
        </p:nvCxnSpPr>
        <p:spPr bwMode="auto">
          <a:xfrm rot="16200000" flipV="1">
            <a:off x="5410200" y="3200400"/>
            <a:ext cx="1600200" cy="76200"/>
          </a:xfrm>
          <a:prstGeom prst="straightConnector1">
            <a:avLst/>
          </a:prstGeom>
          <a:ln>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20526" name="Group 780">
            <a:extLst>
              <a:ext uri="{FF2B5EF4-FFF2-40B4-BE49-F238E27FC236}">
                <a16:creationId xmlns:a16="http://schemas.microsoft.com/office/drawing/2014/main" id="{3AB7C78A-FD48-4D57-8E3B-B43DCC4514B5}"/>
              </a:ext>
            </a:extLst>
          </p:cNvPr>
          <p:cNvGrpSpPr>
            <a:grpSpLocks/>
          </p:cNvGrpSpPr>
          <p:nvPr/>
        </p:nvGrpSpPr>
        <p:grpSpPr bwMode="auto">
          <a:xfrm>
            <a:off x="5867400" y="2286000"/>
            <a:ext cx="914400" cy="304800"/>
            <a:chOff x="2868594" y="1513126"/>
            <a:chExt cx="1707339" cy="529103"/>
          </a:xfrm>
        </p:grpSpPr>
        <p:cxnSp>
          <p:nvCxnSpPr>
            <p:cNvPr id="20527" name="Straight Connector 139">
              <a:extLst>
                <a:ext uri="{FF2B5EF4-FFF2-40B4-BE49-F238E27FC236}">
                  <a16:creationId xmlns:a16="http://schemas.microsoft.com/office/drawing/2014/main" id="{60F777CF-D919-435C-A307-B5FD71874F3E}"/>
                </a:ext>
              </a:extLst>
            </p:cNvPr>
            <p:cNvCxnSpPr>
              <a:cxnSpLocks noChangeShapeType="1"/>
            </p:cNvCxnSpPr>
            <p:nvPr/>
          </p:nvCxnSpPr>
          <p:spPr bwMode="auto">
            <a:xfrm rot="5400000">
              <a:off x="2604655"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528" name="Straight Connector 140">
              <a:extLst>
                <a:ext uri="{FF2B5EF4-FFF2-40B4-BE49-F238E27FC236}">
                  <a16:creationId xmlns:a16="http://schemas.microsoft.com/office/drawing/2014/main" id="{EB031CCB-4937-4F0F-8DF1-966D1B201714}"/>
                </a:ext>
              </a:extLst>
            </p:cNvPr>
            <p:cNvCxnSpPr>
              <a:cxnSpLocks noChangeShapeType="1"/>
            </p:cNvCxnSpPr>
            <p:nvPr/>
          </p:nvCxnSpPr>
          <p:spPr bwMode="auto">
            <a:xfrm rot="5400000">
              <a:off x="4310769"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529" name="Straight Arrow Connector 141">
              <a:extLst>
                <a:ext uri="{FF2B5EF4-FFF2-40B4-BE49-F238E27FC236}">
                  <a16:creationId xmlns:a16="http://schemas.microsoft.com/office/drawing/2014/main" id="{99717037-8811-4191-85D2-E91050735E02}"/>
                </a:ext>
              </a:extLst>
            </p:cNvPr>
            <p:cNvCxnSpPr>
              <a:cxnSpLocks noChangeShapeType="1"/>
            </p:cNvCxnSpPr>
            <p:nvPr/>
          </p:nvCxnSpPr>
          <p:spPr bwMode="auto">
            <a:xfrm>
              <a:off x="2869820" y="1688881"/>
              <a:ext cx="1704888" cy="1225"/>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8F97763-C970-46DC-BB51-4654B592CBEE}"/>
              </a:ext>
            </a:extLst>
          </p:cNvPr>
          <p:cNvSpPr>
            <a:spLocks noGrp="1"/>
          </p:cNvSpPr>
          <p:nvPr>
            <p:ph type="title"/>
          </p:nvPr>
        </p:nvSpPr>
        <p:spPr/>
        <p:txBody>
          <a:bodyPr/>
          <a:lstStyle/>
          <a:p>
            <a:r>
              <a:rPr lang="en-US" altLang="en-US"/>
              <a:t>Inter-Clock Uncertainty</a:t>
            </a:r>
          </a:p>
        </p:txBody>
      </p:sp>
      <p:sp>
        <p:nvSpPr>
          <p:cNvPr id="3" name="Content Placeholder 2">
            <a:extLst>
              <a:ext uri="{FF2B5EF4-FFF2-40B4-BE49-F238E27FC236}">
                <a16:creationId xmlns:a16="http://schemas.microsoft.com/office/drawing/2014/main" id="{B5702E11-0BA6-4BDA-97E7-B3222381976E}"/>
              </a:ext>
            </a:extLst>
          </p:cNvPr>
          <p:cNvSpPr>
            <a:spLocks noGrp="1"/>
          </p:cNvSpPr>
          <p:nvPr>
            <p:ph type="body" sz="quarter" idx="10"/>
          </p:nvPr>
        </p:nvSpPr>
        <p:spPr>
          <a:xfrm>
            <a:off x="457200" y="1188720"/>
            <a:ext cx="10989325" cy="1269291"/>
          </a:xfrm>
          <a:solidFill>
            <a:schemeClr val="accent1">
              <a:lumMod val="20000"/>
              <a:lumOff val="80000"/>
            </a:schemeClr>
          </a:solidFill>
          <a:ln w="28575">
            <a:solidFill>
              <a:schemeClr val="accent1">
                <a:lumMod val="75000"/>
              </a:schemeClr>
            </a:solidFill>
          </a:ln>
        </p:spPr>
        <p:txBody>
          <a:bodyPr/>
          <a:lstStyle/>
          <a:p>
            <a:pPr marL="0" indent="0">
              <a:buNone/>
              <a:defRPr/>
            </a:pPr>
            <a:r>
              <a:rPr lang="en-US" sz="1800" dirty="0" err="1">
                <a:solidFill>
                  <a:srgbClr val="0000FF"/>
                </a:solidFill>
                <a:latin typeface="Courier New" pitchFamily="49" charset="0"/>
                <a:cs typeface="Courier New" pitchFamily="49" charset="0"/>
              </a:rPr>
              <a:t>set_clock_uncertainty</a:t>
            </a:r>
            <a:r>
              <a:rPr lang="en-US" sz="1800" dirty="0">
                <a:latin typeface="Courier New" pitchFamily="49" charset="0"/>
                <a:cs typeface="Courier New" pitchFamily="49" charset="0"/>
              </a:rPr>
              <a:t> -</a:t>
            </a:r>
            <a:r>
              <a:rPr lang="en-US" sz="1800" dirty="0">
                <a:solidFill>
                  <a:srgbClr val="0000FF"/>
                </a:solidFill>
                <a:latin typeface="Courier New" pitchFamily="49" charset="0"/>
                <a:cs typeface="Courier New" pitchFamily="49" charset="0"/>
              </a:rPr>
              <a:t>from </a:t>
            </a:r>
            <a:r>
              <a:rPr lang="en-US" sz="1800" dirty="0">
                <a:latin typeface="Courier New" pitchFamily="49" charset="0"/>
                <a:cs typeface="Courier New" pitchFamily="49" charset="0"/>
              </a:rPr>
              <a:t>CLKA -</a:t>
            </a:r>
            <a:r>
              <a:rPr lang="en-US" sz="1800" dirty="0">
                <a:solidFill>
                  <a:srgbClr val="0000FF"/>
                </a:solidFill>
                <a:latin typeface="Courier New" pitchFamily="49" charset="0"/>
                <a:cs typeface="Courier New" pitchFamily="49" charset="0"/>
              </a:rPr>
              <a:t>to</a:t>
            </a:r>
            <a:r>
              <a:rPr lang="en-US" sz="1800" dirty="0">
                <a:latin typeface="Courier New" pitchFamily="49" charset="0"/>
                <a:cs typeface="Courier New" pitchFamily="49" charset="0"/>
              </a:rPr>
              <a:t> CLKB -</a:t>
            </a:r>
            <a:r>
              <a:rPr lang="en-US" sz="1800" dirty="0">
                <a:solidFill>
                  <a:srgbClr val="0000FF"/>
                </a:solidFill>
                <a:latin typeface="Courier New" pitchFamily="49" charset="0"/>
                <a:cs typeface="Courier New" pitchFamily="49" charset="0"/>
              </a:rPr>
              <a:t>hold </a:t>
            </a:r>
            <a:r>
              <a:rPr lang="en-US" sz="1800" dirty="0">
                <a:latin typeface="Courier New" pitchFamily="49" charset="0"/>
                <a:cs typeface="Courier New" pitchFamily="49" charset="0"/>
              </a:rPr>
              <a:t>0.3</a:t>
            </a:r>
          </a:p>
          <a:p>
            <a:pPr marL="0" indent="0">
              <a:buNone/>
              <a:defRPr/>
            </a:pPr>
            <a:r>
              <a:rPr lang="en-US" sz="1800" dirty="0" err="1">
                <a:solidFill>
                  <a:srgbClr val="0000FF"/>
                </a:solidFill>
                <a:latin typeface="Courier New" pitchFamily="49" charset="0"/>
                <a:cs typeface="Courier New" pitchFamily="49" charset="0"/>
              </a:rPr>
              <a:t>set_clock_uncertainty</a:t>
            </a:r>
            <a:r>
              <a:rPr lang="en-US" sz="1800" dirty="0">
                <a:latin typeface="Courier New" pitchFamily="49" charset="0"/>
                <a:cs typeface="Courier New" pitchFamily="49" charset="0"/>
              </a:rPr>
              <a:t> -</a:t>
            </a:r>
            <a:r>
              <a:rPr lang="en-US" sz="1800" dirty="0">
                <a:solidFill>
                  <a:srgbClr val="0000FF"/>
                </a:solidFill>
                <a:latin typeface="Courier New" pitchFamily="49" charset="0"/>
                <a:cs typeface="Courier New" pitchFamily="49" charset="0"/>
              </a:rPr>
              <a:t>from</a:t>
            </a:r>
            <a:r>
              <a:rPr lang="en-US" sz="1800" dirty="0">
                <a:latin typeface="Courier New" pitchFamily="49" charset="0"/>
                <a:cs typeface="Courier New" pitchFamily="49" charset="0"/>
              </a:rPr>
              <a:t> CLKA -</a:t>
            </a:r>
            <a:r>
              <a:rPr lang="en-US" sz="1800" dirty="0">
                <a:solidFill>
                  <a:srgbClr val="0000FF"/>
                </a:solidFill>
                <a:latin typeface="Courier New" pitchFamily="49" charset="0"/>
                <a:cs typeface="Courier New" pitchFamily="49" charset="0"/>
              </a:rPr>
              <a:t>to</a:t>
            </a:r>
            <a:r>
              <a:rPr lang="en-US" sz="1800" dirty="0">
                <a:latin typeface="Courier New" pitchFamily="49" charset="0"/>
                <a:cs typeface="Courier New" pitchFamily="49" charset="0"/>
              </a:rPr>
              <a:t> CLKB -</a:t>
            </a:r>
            <a:r>
              <a:rPr lang="en-US" sz="1800" dirty="0">
                <a:solidFill>
                  <a:srgbClr val="0000FF"/>
                </a:solidFill>
                <a:latin typeface="Courier New" pitchFamily="49" charset="0"/>
                <a:cs typeface="Courier New" pitchFamily="49" charset="0"/>
              </a:rPr>
              <a:t>setup</a:t>
            </a:r>
            <a:r>
              <a:rPr lang="en-US" sz="1800" dirty="0">
                <a:latin typeface="Courier New" pitchFamily="49" charset="0"/>
                <a:cs typeface="Courier New" pitchFamily="49" charset="0"/>
              </a:rPr>
              <a:t> 0.6</a:t>
            </a:r>
          </a:p>
        </p:txBody>
      </p:sp>
      <p:grpSp>
        <p:nvGrpSpPr>
          <p:cNvPr id="21508" name="Группа 30">
            <a:extLst>
              <a:ext uri="{FF2B5EF4-FFF2-40B4-BE49-F238E27FC236}">
                <a16:creationId xmlns:a16="http://schemas.microsoft.com/office/drawing/2014/main" id="{C5EB5632-4CB0-4B39-985E-37F86ABF2B5C}"/>
              </a:ext>
            </a:extLst>
          </p:cNvPr>
          <p:cNvGrpSpPr>
            <a:grpSpLocks/>
          </p:cNvGrpSpPr>
          <p:nvPr/>
        </p:nvGrpSpPr>
        <p:grpSpPr bwMode="auto">
          <a:xfrm>
            <a:off x="2545815" y="3703871"/>
            <a:ext cx="5897563" cy="1392237"/>
            <a:chOff x="1142976" y="3357318"/>
            <a:chExt cx="5897444" cy="1392247"/>
          </a:xfrm>
        </p:grpSpPr>
        <p:grpSp>
          <p:nvGrpSpPr>
            <p:cNvPr id="21509" name="Группа 26">
              <a:extLst>
                <a:ext uri="{FF2B5EF4-FFF2-40B4-BE49-F238E27FC236}">
                  <a16:creationId xmlns:a16="http://schemas.microsoft.com/office/drawing/2014/main" id="{B757113A-F767-48D7-A7FC-22D56B7045F2}"/>
                </a:ext>
              </a:extLst>
            </p:cNvPr>
            <p:cNvGrpSpPr>
              <a:grpSpLocks/>
            </p:cNvGrpSpPr>
            <p:nvPr/>
          </p:nvGrpSpPr>
          <p:grpSpPr bwMode="auto">
            <a:xfrm>
              <a:off x="1142976" y="3357318"/>
              <a:ext cx="5897444" cy="1392247"/>
              <a:chOff x="1879629" y="3810000"/>
              <a:chExt cx="4196106" cy="990601"/>
            </a:xfrm>
          </p:grpSpPr>
          <p:grpSp>
            <p:nvGrpSpPr>
              <p:cNvPr id="21513" name="Group 39">
                <a:extLst>
                  <a:ext uri="{FF2B5EF4-FFF2-40B4-BE49-F238E27FC236}">
                    <a16:creationId xmlns:a16="http://schemas.microsoft.com/office/drawing/2014/main" id="{CDEA83CF-4E6A-4417-8262-45EE77D9350F}"/>
                  </a:ext>
                </a:extLst>
              </p:cNvPr>
              <p:cNvGrpSpPr>
                <a:grpSpLocks/>
              </p:cNvGrpSpPr>
              <p:nvPr/>
            </p:nvGrpSpPr>
            <p:grpSpPr bwMode="auto">
              <a:xfrm>
                <a:off x="1879629" y="3810000"/>
                <a:ext cx="4196106" cy="990601"/>
                <a:chOff x="426075" y="3810000"/>
                <a:chExt cx="3721075" cy="990601"/>
              </a:xfrm>
            </p:grpSpPr>
            <p:sp>
              <p:nvSpPr>
                <p:cNvPr id="21516" name="TextBox 19">
                  <a:extLst>
                    <a:ext uri="{FF2B5EF4-FFF2-40B4-BE49-F238E27FC236}">
                      <a16:creationId xmlns:a16="http://schemas.microsoft.com/office/drawing/2014/main" id="{4D6AA5A5-494E-4FE6-9361-E3EC7BC072F8}"/>
                    </a:ext>
                  </a:extLst>
                </p:cNvPr>
                <p:cNvSpPr txBox="1">
                  <a:spLocks noChangeArrowheads="1"/>
                </p:cNvSpPr>
                <p:nvPr/>
              </p:nvSpPr>
              <p:spPr bwMode="auto">
                <a:xfrm>
                  <a:off x="426075" y="4420123"/>
                  <a:ext cx="838200" cy="1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t>CLKA</a:t>
                  </a:r>
                </a:p>
              </p:txBody>
            </p:sp>
            <p:grpSp>
              <p:nvGrpSpPr>
                <p:cNvPr id="21517" name="Group 38">
                  <a:extLst>
                    <a:ext uri="{FF2B5EF4-FFF2-40B4-BE49-F238E27FC236}">
                      <a16:creationId xmlns:a16="http://schemas.microsoft.com/office/drawing/2014/main" id="{4AD34753-ACF6-4DE9-806B-E22FB55C5038}"/>
                    </a:ext>
                  </a:extLst>
                </p:cNvPr>
                <p:cNvGrpSpPr>
                  <a:grpSpLocks/>
                </p:cNvGrpSpPr>
                <p:nvPr/>
              </p:nvGrpSpPr>
              <p:grpSpPr bwMode="auto">
                <a:xfrm>
                  <a:off x="762000" y="3810000"/>
                  <a:ext cx="3385150" cy="990601"/>
                  <a:chOff x="762000" y="3810000"/>
                  <a:chExt cx="3385150" cy="990601"/>
                </a:xfrm>
              </p:grpSpPr>
              <p:sp>
                <p:nvSpPr>
                  <p:cNvPr id="21518" name="Rectangle 4">
                    <a:extLst>
                      <a:ext uri="{FF2B5EF4-FFF2-40B4-BE49-F238E27FC236}">
                        <a16:creationId xmlns:a16="http://schemas.microsoft.com/office/drawing/2014/main" id="{1D2253C1-A18E-4463-A3D7-641E9F652A3F}"/>
                      </a:ext>
                    </a:extLst>
                  </p:cNvPr>
                  <p:cNvSpPr>
                    <a:spLocks noChangeArrowheads="1"/>
                  </p:cNvSpPr>
                  <p:nvPr/>
                </p:nvSpPr>
                <p:spPr bwMode="auto">
                  <a:xfrm>
                    <a:off x="1143000" y="3810000"/>
                    <a:ext cx="609600" cy="990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21519" name="Rectangle 5">
                    <a:extLst>
                      <a:ext uri="{FF2B5EF4-FFF2-40B4-BE49-F238E27FC236}">
                        <a16:creationId xmlns:a16="http://schemas.microsoft.com/office/drawing/2014/main" id="{DF3665DD-76CD-49E0-8050-8FFE9C8B1FF0}"/>
                      </a:ext>
                    </a:extLst>
                  </p:cNvPr>
                  <p:cNvSpPr>
                    <a:spLocks noChangeArrowheads="1"/>
                  </p:cNvSpPr>
                  <p:nvPr/>
                </p:nvSpPr>
                <p:spPr bwMode="auto">
                  <a:xfrm>
                    <a:off x="3352800" y="3810001"/>
                    <a:ext cx="609600" cy="990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1520" name="Straight Connector 7">
                    <a:extLst>
                      <a:ext uri="{FF2B5EF4-FFF2-40B4-BE49-F238E27FC236}">
                        <a16:creationId xmlns:a16="http://schemas.microsoft.com/office/drawing/2014/main" id="{5881618B-FD28-4752-B018-44A3F7C4973F}"/>
                      </a:ext>
                    </a:extLst>
                  </p:cNvPr>
                  <p:cNvCxnSpPr>
                    <a:cxnSpLocks noChangeShapeType="1"/>
                  </p:cNvCxnSpPr>
                  <p:nvPr/>
                </p:nvCxnSpPr>
                <p:spPr bwMode="auto">
                  <a:xfrm>
                    <a:off x="2514600" y="4152900"/>
                    <a:ext cx="838200" cy="0"/>
                  </a:xfrm>
                  <a:prstGeom prst="line">
                    <a:avLst/>
                  </a:prstGeom>
                  <a:noFill/>
                  <a:ln w="9525" algn="ctr">
                    <a:solidFill>
                      <a:schemeClr val="tx1"/>
                    </a:solidFill>
                    <a:round/>
                    <a:headEnd/>
                    <a:tailEnd/>
                  </a:ln>
                </p:spPr>
              </p:cxnSp>
              <p:cxnSp>
                <p:nvCxnSpPr>
                  <p:cNvPr id="21521" name="Straight Connector 8">
                    <a:extLst>
                      <a:ext uri="{FF2B5EF4-FFF2-40B4-BE49-F238E27FC236}">
                        <a16:creationId xmlns:a16="http://schemas.microsoft.com/office/drawing/2014/main" id="{6C5644CB-CB7C-4DBD-94E9-F2105E8E8B57}"/>
                      </a:ext>
                    </a:extLst>
                  </p:cNvPr>
                  <p:cNvCxnSpPr>
                    <a:cxnSpLocks noChangeShapeType="1"/>
                  </p:cNvCxnSpPr>
                  <p:nvPr/>
                </p:nvCxnSpPr>
                <p:spPr bwMode="auto">
                  <a:xfrm flipV="1">
                    <a:off x="1752600" y="4143380"/>
                    <a:ext cx="680945" cy="0"/>
                  </a:xfrm>
                  <a:prstGeom prst="line">
                    <a:avLst/>
                  </a:prstGeom>
                  <a:noFill/>
                  <a:ln w="9525" algn="ctr">
                    <a:solidFill>
                      <a:schemeClr val="tx1"/>
                    </a:solidFill>
                    <a:round/>
                    <a:headEnd/>
                    <a:tailEnd/>
                  </a:ln>
                </p:spPr>
              </p:cxnSp>
              <p:cxnSp>
                <p:nvCxnSpPr>
                  <p:cNvPr id="21522" name="Straight Connector 9">
                    <a:extLst>
                      <a:ext uri="{FF2B5EF4-FFF2-40B4-BE49-F238E27FC236}">
                        <a16:creationId xmlns:a16="http://schemas.microsoft.com/office/drawing/2014/main" id="{D0667FA5-D40C-45B6-B6B7-1676A0051BF4}"/>
                      </a:ext>
                    </a:extLst>
                  </p:cNvPr>
                  <p:cNvCxnSpPr>
                    <a:cxnSpLocks noChangeShapeType="1"/>
                  </p:cNvCxnSpPr>
                  <p:nvPr/>
                </p:nvCxnSpPr>
                <p:spPr bwMode="auto">
                  <a:xfrm rot="10800000">
                    <a:off x="838200" y="4040188"/>
                    <a:ext cx="304800" cy="0"/>
                  </a:xfrm>
                  <a:prstGeom prst="line">
                    <a:avLst/>
                  </a:prstGeom>
                  <a:noFill/>
                  <a:ln w="9525" algn="ctr">
                    <a:solidFill>
                      <a:schemeClr val="tx1"/>
                    </a:solidFill>
                    <a:round/>
                    <a:headEnd/>
                    <a:tailEnd/>
                  </a:ln>
                </p:spPr>
              </p:cxnSp>
              <p:sp>
                <p:nvSpPr>
                  <p:cNvPr id="21523" name="TextBox 14">
                    <a:extLst>
                      <a:ext uri="{FF2B5EF4-FFF2-40B4-BE49-F238E27FC236}">
                        <a16:creationId xmlns:a16="http://schemas.microsoft.com/office/drawing/2014/main" id="{1ABB1357-6761-480D-893C-9DFABEF9D2AE}"/>
                      </a:ext>
                    </a:extLst>
                  </p:cNvPr>
                  <p:cNvSpPr txBox="1">
                    <a:spLocks noChangeArrowheads="1"/>
                  </p:cNvSpPr>
                  <p:nvPr/>
                </p:nvSpPr>
                <p:spPr bwMode="auto">
                  <a:xfrm>
                    <a:off x="3355937" y="3911832"/>
                    <a:ext cx="791213" cy="24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D      Q</a:t>
                    </a:r>
                  </a:p>
                </p:txBody>
              </p:sp>
              <p:cxnSp>
                <p:nvCxnSpPr>
                  <p:cNvPr id="21524" name="Straight Connector 16">
                    <a:extLst>
                      <a:ext uri="{FF2B5EF4-FFF2-40B4-BE49-F238E27FC236}">
                        <a16:creationId xmlns:a16="http://schemas.microsoft.com/office/drawing/2014/main" id="{87FA7D91-A591-41EC-A0E8-D108C6120DB6}"/>
                      </a:ext>
                    </a:extLst>
                  </p:cNvPr>
                  <p:cNvCxnSpPr>
                    <a:cxnSpLocks noChangeShapeType="1"/>
                  </p:cNvCxnSpPr>
                  <p:nvPr/>
                </p:nvCxnSpPr>
                <p:spPr bwMode="auto">
                  <a:xfrm>
                    <a:off x="762000" y="4572000"/>
                    <a:ext cx="381000" cy="0"/>
                  </a:xfrm>
                  <a:prstGeom prst="line">
                    <a:avLst/>
                  </a:prstGeom>
                  <a:noFill/>
                  <a:ln w="9525" algn="ctr">
                    <a:solidFill>
                      <a:schemeClr val="tx1"/>
                    </a:solidFill>
                    <a:round/>
                    <a:headEnd/>
                    <a:tailEnd/>
                  </a:ln>
                </p:spPr>
              </p:cxnSp>
              <p:cxnSp>
                <p:nvCxnSpPr>
                  <p:cNvPr id="21525" name="Straight Connector 17">
                    <a:extLst>
                      <a:ext uri="{FF2B5EF4-FFF2-40B4-BE49-F238E27FC236}">
                        <a16:creationId xmlns:a16="http://schemas.microsoft.com/office/drawing/2014/main" id="{3B269ECF-4C13-45EF-B39C-16A939E382C2}"/>
                      </a:ext>
                    </a:extLst>
                  </p:cNvPr>
                  <p:cNvCxnSpPr>
                    <a:cxnSpLocks noChangeShapeType="1"/>
                  </p:cNvCxnSpPr>
                  <p:nvPr/>
                </p:nvCxnSpPr>
                <p:spPr bwMode="auto">
                  <a:xfrm>
                    <a:off x="2971800" y="4572000"/>
                    <a:ext cx="381000" cy="0"/>
                  </a:xfrm>
                  <a:prstGeom prst="line">
                    <a:avLst/>
                  </a:prstGeom>
                  <a:noFill/>
                  <a:ln w="9525" algn="ctr">
                    <a:solidFill>
                      <a:schemeClr val="tx1"/>
                    </a:solidFill>
                    <a:round/>
                    <a:headEnd/>
                    <a:tailEnd/>
                  </a:ln>
                </p:spPr>
              </p:cxnSp>
              <p:sp>
                <p:nvSpPr>
                  <p:cNvPr id="21526" name="TextBox 20">
                    <a:extLst>
                      <a:ext uri="{FF2B5EF4-FFF2-40B4-BE49-F238E27FC236}">
                        <a16:creationId xmlns:a16="http://schemas.microsoft.com/office/drawing/2014/main" id="{11FE8E91-E708-4F1D-8FC8-95E798988E76}"/>
                      </a:ext>
                    </a:extLst>
                  </p:cNvPr>
                  <p:cNvSpPr txBox="1">
                    <a:spLocks noChangeArrowheads="1"/>
                  </p:cNvSpPr>
                  <p:nvPr/>
                </p:nvSpPr>
                <p:spPr bwMode="auto">
                  <a:xfrm>
                    <a:off x="2637745" y="4465539"/>
                    <a:ext cx="838200" cy="18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CLKB</a:t>
                    </a:r>
                  </a:p>
                </p:txBody>
              </p:sp>
              <p:sp>
                <p:nvSpPr>
                  <p:cNvPr id="21527" name="Isosceles Triangle 24">
                    <a:extLst>
                      <a:ext uri="{FF2B5EF4-FFF2-40B4-BE49-F238E27FC236}">
                        <a16:creationId xmlns:a16="http://schemas.microsoft.com/office/drawing/2014/main" id="{A56C49C4-494A-4C2D-B62C-96452ED0DFB3}"/>
                      </a:ext>
                    </a:extLst>
                  </p:cNvPr>
                  <p:cNvSpPr>
                    <a:spLocks noChangeArrowheads="1"/>
                  </p:cNvSpPr>
                  <p:nvPr/>
                </p:nvSpPr>
                <p:spPr bwMode="auto">
                  <a:xfrm rot="-1976860">
                    <a:off x="3324427" y="4512315"/>
                    <a:ext cx="117932" cy="98666"/>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21528" name="Isosceles Triangle 36">
                    <a:extLst>
                      <a:ext uri="{FF2B5EF4-FFF2-40B4-BE49-F238E27FC236}">
                        <a16:creationId xmlns:a16="http://schemas.microsoft.com/office/drawing/2014/main" id="{B2C6B644-3C8B-4A5C-9EF5-62BAA20C5667}"/>
                      </a:ext>
                    </a:extLst>
                  </p:cNvPr>
                  <p:cNvSpPr>
                    <a:spLocks noChangeArrowheads="1"/>
                  </p:cNvSpPr>
                  <p:nvPr/>
                </p:nvSpPr>
                <p:spPr bwMode="auto">
                  <a:xfrm rot="-1976860">
                    <a:off x="1114627" y="4519935"/>
                    <a:ext cx="117932" cy="98666"/>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grpSp>
          <p:sp>
            <p:nvSpPr>
              <p:cNvPr id="21514" name="TextBox 22">
                <a:extLst>
                  <a:ext uri="{FF2B5EF4-FFF2-40B4-BE49-F238E27FC236}">
                    <a16:creationId xmlns:a16="http://schemas.microsoft.com/office/drawing/2014/main" id="{DE39CCBF-3678-430C-ADDB-71538B3AE8EF}"/>
                  </a:ext>
                </a:extLst>
              </p:cNvPr>
              <p:cNvSpPr txBox="1">
                <a:spLocks noChangeArrowheads="1"/>
              </p:cNvSpPr>
              <p:nvPr/>
            </p:nvSpPr>
            <p:spPr bwMode="auto">
              <a:xfrm>
                <a:off x="2679649" y="3914070"/>
                <a:ext cx="749343" cy="24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D      Q</a:t>
                </a:r>
              </a:p>
            </p:txBody>
          </p:sp>
          <p:sp>
            <p:nvSpPr>
              <p:cNvPr id="24" name="Cloud 4">
                <a:extLst>
                  <a:ext uri="{FF2B5EF4-FFF2-40B4-BE49-F238E27FC236}">
                    <a16:creationId xmlns:a16="http://schemas.microsoft.com/office/drawing/2014/main" id="{45ABEFFC-12A5-452B-92E6-39EFF16FFA7E}"/>
                  </a:ext>
                </a:extLst>
              </p:cNvPr>
              <p:cNvSpPr/>
              <p:nvPr/>
            </p:nvSpPr>
            <p:spPr bwMode="auto">
              <a:xfrm>
                <a:off x="3928548" y="3928601"/>
                <a:ext cx="668666" cy="452944"/>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solidFill>
                    <a:schemeClr val="bg1"/>
                  </a:solidFill>
                  <a:latin typeface="Arial" charset="0"/>
                  <a:cs typeface="Arial" charset="0"/>
                </a:endParaRPr>
              </a:p>
              <a:p>
                <a:pPr algn="ctr" eaLnBrk="1" hangingPunct="1">
                  <a:defRPr/>
                </a:pPr>
                <a:endParaRPr lang="en-US" sz="1000" dirty="0">
                  <a:solidFill>
                    <a:schemeClr val="bg1"/>
                  </a:solidFill>
                  <a:latin typeface="Arial" charset="0"/>
                  <a:cs typeface="Arial" charset="0"/>
                </a:endParaRPr>
              </a:p>
            </p:txBody>
          </p:sp>
        </p:grpSp>
        <p:sp>
          <p:nvSpPr>
            <p:cNvPr id="21510" name="TextBox 27">
              <a:extLst>
                <a:ext uri="{FF2B5EF4-FFF2-40B4-BE49-F238E27FC236}">
                  <a16:creationId xmlns:a16="http://schemas.microsoft.com/office/drawing/2014/main" id="{4827790F-F836-49B7-AD1A-DD642B040300}"/>
                </a:ext>
              </a:extLst>
            </p:cNvPr>
            <p:cNvSpPr txBox="1">
              <a:spLocks noChangeArrowheads="1"/>
            </p:cNvSpPr>
            <p:nvPr/>
          </p:nvSpPr>
          <p:spPr bwMode="auto">
            <a:xfrm>
              <a:off x="4286060" y="3643314"/>
              <a:ext cx="13284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C</a:t>
              </a:r>
              <a:r>
                <a:rPr lang="en-US" altLang="en-US" sz="1600" baseline="-25000">
                  <a:solidFill>
                    <a:schemeClr val="bg1"/>
                  </a:solidFill>
                </a:rPr>
                <a:t>1</a:t>
              </a:r>
            </a:p>
          </p:txBody>
        </p:sp>
        <p:sp>
          <p:nvSpPr>
            <p:cNvPr id="29" name="TextBox 28">
              <a:extLst>
                <a:ext uri="{FF2B5EF4-FFF2-40B4-BE49-F238E27FC236}">
                  <a16:creationId xmlns:a16="http://schemas.microsoft.com/office/drawing/2014/main" id="{1A331A0E-B794-431E-AC37-143FE37A7E53}"/>
                </a:ext>
              </a:extLst>
            </p:cNvPr>
            <p:cNvSpPr txBox="1"/>
            <p:nvPr/>
          </p:nvSpPr>
          <p:spPr>
            <a:xfrm>
              <a:off x="5905380" y="4251086"/>
              <a:ext cx="534977" cy="307977"/>
            </a:xfrm>
            <a:prstGeom prst="rect">
              <a:avLst/>
            </a:prstGeom>
            <a:noFill/>
            <a:ln w="9525">
              <a:noFill/>
            </a:ln>
          </p:spPr>
          <p:txBody>
            <a:bodyPr wrap="none">
              <a:spAutoFit/>
            </a:bodyPr>
            <a:lstStyle/>
            <a:p>
              <a:pPr eaLnBrk="1" hangingPunct="1">
                <a:defRPr/>
              </a:pPr>
              <a:r>
                <a:rPr lang="en-US" sz="1400" dirty="0">
                  <a:solidFill>
                    <a:schemeClr val="bg1"/>
                  </a:solidFill>
                  <a:latin typeface="+mj-lt"/>
                  <a:cs typeface="Arial" charset="0"/>
                </a:rPr>
                <a:t>CLK</a:t>
              </a:r>
            </a:p>
          </p:txBody>
        </p:sp>
        <p:sp>
          <p:nvSpPr>
            <p:cNvPr id="30" name="TextBox 29">
              <a:extLst>
                <a:ext uri="{FF2B5EF4-FFF2-40B4-BE49-F238E27FC236}">
                  <a16:creationId xmlns:a16="http://schemas.microsoft.com/office/drawing/2014/main" id="{74D779FC-35B0-429D-93E6-78E14CA335BC}"/>
                </a:ext>
              </a:extLst>
            </p:cNvPr>
            <p:cNvSpPr txBox="1"/>
            <p:nvPr/>
          </p:nvSpPr>
          <p:spPr>
            <a:xfrm>
              <a:off x="2370089" y="4286012"/>
              <a:ext cx="533389" cy="307977"/>
            </a:xfrm>
            <a:prstGeom prst="rect">
              <a:avLst/>
            </a:prstGeom>
            <a:noFill/>
            <a:ln w="9525">
              <a:noFill/>
            </a:ln>
          </p:spPr>
          <p:txBody>
            <a:bodyPr wrap="none">
              <a:spAutoFit/>
            </a:bodyPr>
            <a:lstStyle/>
            <a:p>
              <a:pPr eaLnBrk="1" hangingPunct="1">
                <a:defRPr/>
              </a:pPr>
              <a:r>
                <a:rPr lang="en-US" sz="1400" dirty="0">
                  <a:solidFill>
                    <a:schemeClr val="bg1"/>
                  </a:solidFill>
                  <a:latin typeface="+mj-lt"/>
                  <a:cs typeface="Arial" charset="0"/>
                </a:rPr>
                <a:t>CLK</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a:extLst>
              <a:ext uri="{FF2B5EF4-FFF2-40B4-BE49-F238E27FC236}">
                <a16:creationId xmlns:a16="http://schemas.microsoft.com/office/drawing/2014/main" id="{E9461329-7756-4E0E-87BE-48F8DBDD9202}"/>
              </a:ext>
            </a:extLst>
          </p:cNvPr>
          <p:cNvSpPr>
            <a:spLocks noGrp="1"/>
          </p:cNvSpPr>
          <p:nvPr>
            <p:ph type="title"/>
          </p:nvPr>
        </p:nvSpPr>
        <p:spPr/>
        <p:txBody>
          <a:bodyPr/>
          <a:lstStyle/>
          <a:p>
            <a:r>
              <a:rPr lang="en-US" altLang="en-US"/>
              <a:t>Modeling Clock Latency</a:t>
            </a:r>
          </a:p>
        </p:txBody>
      </p:sp>
      <p:sp>
        <p:nvSpPr>
          <p:cNvPr id="22530" name="Content Placeholder 29">
            <a:extLst>
              <a:ext uri="{FF2B5EF4-FFF2-40B4-BE49-F238E27FC236}">
                <a16:creationId xmlns:a16="http://schemas.microsoft.com/office/drawing/2014/main" id="{DE8AFADC-C684-4820-ADC0-F59FD876040D}"/>
              </a:ext>
            </a:extLst>
          </p:cNvPr>
          <p:cNvSpPr>
            <a:spLocks noGrp="1"/>
          </p:cNvSpPr>
          <p:nvPr>
            <p:ph type="body" sz="quarter" idx="10"/>
          </p:nvPr>
        </p:nvSpPr>
        <p:spPr/>
        <p:txBody>
          <a:bodyPr/>
          <a:lstStyle/>
          <a:p>
            <a:r>
              <a:rPr lang="en-US" altLang="en-US"/>
              <a:t>Clock latency can be of two types:</a:t>
            </a:r>
          </a:p>
          <a:p>
            <a:pPr lvl="1"/>
            <a:r>
              <a:rPr lang="en-US" altLang="en-US" sz="1800">
                <a:solidFill>
                  <a:srgbClr val="0000FF"/>
                </a:solidFill>
              </a:rPr>
              <a:t>Source latency: </a:t>
            </a:r>
            <a:r>
              <a:rPr lang="en-US" altLang="en-US" sz="1800"/>
              <a:t>the delay of clock signal from its source to designs input port (useful when clock generation circuitry is not part of the design)</a:t>
            </a:r>
          </a:p>
          <a:p>
            <a:pPr lvl="1"/>
            <a:r>
              <a:rPr lang="en-US" altLang="en-US" sz="1800">
                <a:solidFill>
                  <a:srgbClr val="0000FF"/>
                </a:solidFill>
              </a:rPr>
              <a:t>Network latency:</a:t>
            </a:r>
            <a:r>
              <a:rPr lang="en-US" altLang="en-US" sz="1800"/>
              <a:t> average propagation delay of clock signal inside the design itself</a:t>
            </a:r>
          </a:p>
        </p:txBody>
      </p:sp>
      <p:sp>
        <p:nvSpPr>
          <p:cNvPr id="4" name="Rectangle 2">
            <a:extLst>
              <a:ext uri="{FF2B5EF4-FFF2-40B4-BE49-F238E27FC236}">
                <a16:creationId xmlns:a16="http://schemas.microsoft.com/office/drawing/2014/main" id="{999D9E10-3A4E-4679-AE12-ADF50F3ED7EA}"/>
              </a:ext>
            </a:extLst>
          </p:cNvPr>
          <p:cNvSpPr>
            <a:spLocks noChangeArrowheads="1"/>
          </p:cNvSpPr>
          <p:nvPr/>
        </p:nvSpPr>
        <p:spPr bwMode="auto">
          <a:xfrm>
            <a:off x="6065839" y="3449638"/>
            <a:ext cx="3476625" cy="1822450"/>
          </a:xfrm>
          <a:prstGeom prst="rect">
            <a:avLst/>
          </a:prstGeom>
          <a:solidFill>
            <a:schemeClr val="accent1">
              <a:lumMod val="20000"/>
              <a:lumOff val="80000"/>
            </a:schemeClr>
          </a:solidFill>
          <a:ln>
            <a:headEnd type="none" w="sm" len="sm"/>
            <a:tailEnd type="none" w="sm" len="sm"/>
          </a:ln>
          <a:effectLst/>
        </p:spPr>
        <p:style>
          <a:lnRef idx="1">
            <a:schemeClr val="accent1"/>
          </a:lnRef>
          <a:fillRef idx="2">
            <a:schemeClr val="accent1"/>
          </a:fillRef>
          <a:effectRef idx="1">
            <a:schemeClr val="accent1"/>
          </a:effectRef>
          <a:fontRef idx="minor">
            <a:schemeClr val="dk1"/>
          </a:fontRef>
        </p:style>
        <p:txBody>
          <a:bodyPr wrap="none" anchor="ctr"/>
          <a:lstStyle/>
          <a:p>
            <a:pPr eaLnBrk="1" hangingPunct="1">
              <a:defRPr/>
            </a:pPr>
            <a:endParaRPr lang="en-US"/>
          </a:p>
        </p:txBody>
      </p:sp>
      <p:grpSp>
        <p:nvGrpSpPr>
          <p:cNvPr id="22533" name="Group 3">
            <a:extLst>
              <a:ext uri="{FF2B5EF4-FFF2-40B4-BE49-F238E27FC236}">
                <a16:creationId xmlns:a16="http://schemas.microsoft.com/office/drawing/2014/main" id="{41595BFB-8BC2-46E3-A67E-64B24BA85BE5}"/>
              </a:ext>
            </a:extLst>
          </p:cNvPr>
          <p:cNvGrpSpPr>
            <a:grpSpLocks/>
          </p:cNvGrpSpPr>
          <p:nvPr/>
        </p:nvGrpSpPr>
        <p:grpSpPr bwMode="auto">
          <a:xfrm>
            <a:off x="8545516" y="3657600"/>
            <a:ext cx="962749" cy="1304369"/>
            <a:chOff x="4055" y="2614"/>
            <a:chExt cx="833" cy="1075"/>
          </a:xfrm>
        </p:grpSpPr>
        <p:sp>
          <p:nvSpPr>
            <p:cNvPr id="22550" name="Rectangle 4">
              <a:extLst>
                <a:ext uri="{FF2B5EF4-FFF2-40B4-BE49-F238E27FC236}">
                  <a16:creationId xmlns:a16="http://schemas.microsoft.com/office/drawing/2014/main" id="{5B7F1A6E-E545-4E7D-A6BD-A97FE1794A7B}"/>
                </a:ext>
              </a:extLst>
            </p:cNvPr>
            <p:cNvSpPr>
              <a:spLocks noChangeArrowheads="1"/>
            </p:cNvSpPr>
            <p:nvPr/>
          </p:nvSpPr>
          <p:spPr bwMode="auto">
            <a:xfrm>
              <a:off x="4248" y="2614"/>
              <a:ext cx="143" cy="18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1956" tIns="40306" rIns="81956" bIns="40306">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51" name="Line 5">
              <a:extLst>
                <a:ext uri="{FF2B5EF4-FFF2-40B4-BE49-F238E27FC236}">
                  <a16:creationId xmlns:a16="http://schemas.microsoft.com/office/drawing/2014/main" id="{1B734DC3-BD3F-4435-9BAA-C4C4448B57D2}"/>
                </a:ext>
              </a:extLst>
            </p:cNvPr>
            <p:cNvSpPr>
              <a:spLocks noChangeShapeType="1"/>
            </p:cNvSpPr>
            <p:nvPr/>
          </p:nvSpPr>
          <p:spPr bwMode="auto">
            <a:xfrm>
              <a:off x="4240" y="3460"/>
              <a:ext cx="84" cy="9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81956" tIns="40306" rIns="81956" bIns="40306">
              <a:spAutoFit/>
            </a:bodyPr>
            <a:lstStyle/>
            <a:p>
              <a:endParaRPr lang="en-US"/>
            </a:p>
          </p:txBody>
        </p:sp>
        <p:sp>
          <p:nvSpPr>
            <p:cNvPr id="22552" name="Line 6">
              <a:extLst>
                <a:ext uri="{FF2B5EF4-FFF2-40B4-BE49-F238E27FC236}">
                  <a16:creationId xmlns:a16="http://schemas.microsoft.com/office/drawing/2014/main" id="{879A00FB-8930-4A7F-AC48-782004E74C5F}"/>
                </a:ext>
              </a:extLst>
            </p:cNvPr>
            <p:cNvSpPr>
              <a:spLocks noChangeShapeType="1"/>
            </p:cNvSpPr>
            <p:nvPr/>
          </p:nvSpPr>
          <p:spPr bwMode="auto">
            <a:xfrm flipH="1">
              <a:off x="4242" y="3547"/>
              <a:ext cx="88" cy="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81956" tIns="40306" rIns="81956" bIns="40306">
              <a:spAutoFit/>
            </a:bodyPr>
            <a:lstStyle/>
            <a:p>
              <a:endParaRPr lang="en-US"/>
            </a:p>
          </p:txBody>
        </p:sp>
        <p:sp>
          <p:nvSpPr>
            <p:cNvPr id="22553" name="Rectangle 7">
              <a:extLst>
                <a:ext uri="{FF2B5EF4-FFF2-40B4-BE49-F238E27FC236}">
                  <a16:creationId xmlns:a16="http://schemas.microsoft.com/office/drawing/2014/main" id="{E2ACE145-3A88-4C8B-9D3A-79EF03AFC3E2}"/>
                </a:ext>
              </a:extLst>
            </p:cNvPr>
            <p:cNvSpPr>
              <a:spLocks noChangeArrowheads="1"/>
            </p:cNvSpPr>
            <p:nvPr/>
          </p:nvSpPr>
          <p:spPr bwMode="auto">
            <a:xfrm>
              <a:off x="4327" y="3419"/>
              <a:ext cx="48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1956" tIns="40306" rIns="81956" bIns="40306">
              <a:spAutoFit/>
            </a:bodyPr>
            <a:lstStyle>
              <a:lvl1pPr defTabSz="954088">
                <a:defRPr sz="900">
                  <a:solidFill>
                    <a:schemeClr val="tx1"/>
                  </a:solidFill>
                  <a:latin typeface="Arial" panose="020B0604020202020204" pitchFamily="34" charset="0"/>
                  <a:cs typeface="Arial" panose="020B0604020202020204" pitchFamily="34" charset="0"/>
                </a:defRPr>
              </a:lvl1pPr>
              <a:lvl2pPr marL="742950" indent="-285750" defTabSz="954088">
                <a:defRPr sz="900">
                  <a:solidFill>
                    <a:schemeClr val="tx1"/>
                  </a:solidFill>
                  <a:latin typeface="Arial" panose="020B0604020202020204" pitchFamily="34" charset="0"/>
                  <a:cs typeface="Arial" panose="020B0604020202020204" pitchFamily="34" charset="0"/>
                </a:defRPr>
              </a:lvl2pPr>
              <a:lvl3pPr marL="1143000" indent="-228600" defTabSz="954088">
                <a:defRPr sz="900">
                  <a:solidFill>
                    <a:schemeClr val="tx1"/>
                  </a:solidFill>
                  <a:latin typeface="Arial" panose="020B0604020202020204" pitchFamily="34" charset="0"/>
                  <a:cs typeface="Arial" panose="020B0604020202020204" pitchFamily="34" charset="0"/>
                </a:defRPr>
              </a:lvl3pPr>
              <a:lvl4pPr marL="1600200" indent="-228600" defTabSz="954088">
                <a:defRPr sz="900">
                  <a:solidFill>
                    <a:schemeClr val="tx1"/>
                  </a:solidFill>
                  <a:latin typeface="Arial" panose="020B0604020202020204" pitchFamily="34" charset="0"/>
                  <a:cs typeface="Arial" panose="020B0604020202020204" pitchFamily="34" charset="0"/>
                </a:defRPr>
              </a:lvl4pPr>
              <a:lvl5pPr marL="2057400" indent="-228600" defTabSz="954088">
                <a:defRPr sz="900">
                  <a:solidFill>
                    <a:schemeClr val="tx1"/>
                  </a:solidFill>
                  <a:latin typeface="Arial" panose="020B0604020202020204" pitchFamily="34" charset="0"/>
                  <a:cs typeface="Arial" panose="020B0604020202020204" pitchFamily="34" charset="0"/>
                </a:defRPr>
              </a:lvl5pPr>
              <a:lvl6pPr marL="25146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r>
                <a:rPr lang="en-US" altLang="en-US" sz="1600"/>
                <a:t>CLK</a:t>
              </a:r>
            </a:p>
          </p:txBody>
        </p:sp>
        <p:sp>
          <p:nvSpPr>
            <p:cNvPr id="22554" name="Line 8">
              <a:extLst>
                <a:ext uri="{FF2B5EF4-FFF2-40B4-BE49-F238E27FC236}">
                  <a16:creationId xmlns:a16="http://schemas.microsoft.com/office/drawing/2014/main" id="{A023802D-638C-4486-9B4C-089BD26617AB}"/>
                </a:ext>
              </a:extLst>
            </p:cNvPr>
            <p:cNvSpPr>
              <a:spLocks noChangeShapeType="1"/>
            </p:cNvSpPr>
            <p:nvPr/>
          </p:nvSpPr>
          <p:spPr bwMode="auto">
            <a:xfrm flipH="1">
              <a:off x="4055" y="3012"/>
              <a:ext cx="17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81956" tIns="40306" rIns="81956" bIns="40306">
              <a:spAutoFit/>
            </a:bodyPr>
            <a:lstStyle/>
            <a:p>
              <a:endParaRPr lang="en-US"/>
            </a:p>
          </p:txBody>
        </p:sp>
        <p:sp>
          <p:nvSpPr>
            <p:cNvPr id="22555" name="Rectangle 9">
              <a:extLst>
                <a:ext uri="{FF2B5EF4-FFF2-40B4-BE49-F238E27FC236}">
                  <a16:creationId xmlns:a16="http://schemas.microsoft.com/office/drawing/2014/main" id="{B160ADEC-F123-4021-9901-94F072FC1184}"/>
                </a:ext>
              </a:extLst>
            </p:cNvPr>
            <p:cNvSpPr>
              <a:spLocks noChangeArrowheads="1"/>
            </p:cNvSpPr>
            <p:nvPr/>
          </p:nvSpPr>
          <p:spPr bwMode="auto">
            <a:xfrm>
              <a:off x="4260" y="2891"/>
              <a:ext cx="2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1956" tIns="40306" rIns="81956" bIns="40306">
              <a:spAutoFit/>
            </a:bodyPr>
            <a:lstStyle>
              <a:lvl1pPr defTabSz="954088">
                <a:defRPr sz="900">
                  <a:solidFill>
                    <a:schemeClr val="tx1"/>
                  </a:solidFill>
                  <a:latin typeface="Arial" panose="020B0604020202020204" pitchFamily="34" charset="0"/>
                  <a:cs typeface="Arial" panose="020B0604020202020204" pitchFamily="34" charset="0"/>
                </a:defRPr>
              </a:lvl1pPr>
              <a:lvl2pPr marL="742950" indent="-285750" defTabSz="954088">
                <a:defRPr sz="900">
                  <a:solidFill>
                    <a:schemeClr val="tx1"/>
                  </a:solidFill>
                  <a:latin typeface="Arial" panose="020B0604020202020204" pitchFamily="34" charset="0"/>
                  <a:cs typeface="Arial" panose="020B0604020202020204" pitchFamily="34" charset="0"/>
                </a:defRPr>
              </a:lvl2pPr>
              <a:lvl3pPr marL="1143000" indent="-228600" defTabSz="954088">
                <a:defRPr sz="900">
                  <a:solidFill>
                    <a:schemeClr val="tx1"/>
                  </a:solidFill>
                  <a:latin typeface="Arial" panose="020B0604020202020204" pitchFamily="34" charset="0"/>
                  <a:cs typeface="Arial" panose="020B0604020202020204" pitchFamily="34" charset="0"/>
                </a:defRPr>
              </a:lvl3pPr>
              <a:lvl4pPr marL="1600200" indent="-228600" defTabSz="954088">
                <a:defRPr sz="900">
                  <a:solidFill>
                    <a:schemeClr val="tx1"/>
                  </a:solidFill>
                  <a:latin typeface="Arial" panose="020B0604020202020204" pitchFamily="34" charset="0"/>
                  <a:cs typeface="Arial" panose="020B0604020202020204" pitchFamily="34" charset="0"/>
                </a:defRPr>
              </a:lvl4pPr>
              <a:lvl5pPr marL="2057400" indent="-228600" defTabSz="954088">
                <a:defRPr sz="900">
                  <a:solidFill>
                    <a:schemeClr val="tx1"/>
                  </a:solidFill>
                  <a:latin typeface="Arial" panose="020B0604020202020204" pitchFamily="34" charset="0"/>
                  <a:cs typeface="Arial" panose="020B0604020202020204" pitchFamily="34" charset="0"/>
                </a:defRPr>
              </a:lvl5pPr>
              <a:lvl6pPr marL="25146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r>
                <a:rPr lang="en-US" altLang="en-US" sz="1600"/>
                <a:t>D</a:t>
              </a:r>
            </a:p>
          </p:txBody>
        </p:sp>
        <p:sp>
          <p:nvSpPr>
            <p:cNvPr id="22556" name="Rectangle 10">
              <a:extLst>
                <a:ext uri="{FF2B5EF4-FFF2-40B4-BE49-F238E27FC236}">
                  <a16:creationId xmlns:a16="http://schemas.microsoft.com/office/drawing/2014/main" id="{8B856543-216E-4719-824A-BDACFE569906}"/>
                </a:ext>
              </a:extLst>
            </p:cNvPr>
            <p:cNvSpPr>
              <a:spLocks noChangeArrowheads="1"/>
            </p:cNvSpPr>
            <p:nvPr/>
          </p:nvSpPr>
          <p:spPr bwMode="auto">
            <a:xfrm>
              <a:off x="4606" y="2891"/>
              <a:ext cx="28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1956" tIns="40306" rIns="81956" bIns="40306">
              <a:spAutoFit/>
            </a:bodyPr>
            <a:lstStyle>
              <a:lvl1pPr defTabSz="954088">
                <a:defRPr sz="900">
                  <a:solidFill>
                    <a:schemeClr val="tx1"/>
                  </a:solidFill>
                  <a:latin typeface="Arial" panose="020B0604020202020204" pitchFamily="34" charset="0"/>
                  <a:cs typeface="Arial" panose="020B0604020202020204" pitchFamily="34" charset="0"/>
                </a:defRPr>
              </a:lvl1pPr>
              <a:lvl2pPr marL="742950" indent="-285750" defTabSz="954088">
                <a:defRPr sz="900">
                  <a:solidFill>
                    <a:schemeClr val="tx1"/>
                  </a:solidFill>
                  <a:latin typeface="Arial" panose="020B0604020202020204" pitchFamily="34" charset="0"/>
                  <a:cs typeface="Arial" panose="020B0604020202020204" pitchFamily="34" charset="0"/>
                </a:defRPr>
              </a:lvl2pPr>
              <a:lvl3pPr marL="1143000" indent="-228600" defTabSz="954088">
                <a:defRPr sz="900">
                  <a:solidFill>
                    <a:schemeClr val="tx1"/>
                  </a:solidFill>
                  <a:latin typeface="Arial" panose="020B0604020202020204" pitchFamily="34" charset="0"/>
                  <a:cs typeface="Arial" panose="020B0604020202020204" pitchFamily="34" charset="0"/>
                </a:defRPr>
              </a:lvl3pPr>
              <a:lvl4pPr marL="1600200" indent="-228600" defTabSz="954088">
                <a:defRPr sz="900">
                  <a:solidFill>
                    <a:schemeClr val="tx1"/>
                  </a:solidFill>
                  <a:latin typeface="Arial" panose="020B0604020202020204" pitchFamily="34" charset="0"/>
                  <a:cs typeface="Arial" panose="020B0604020202020204" pitchFamily="34" charset="0"/>
                </a:defRPr>
              </a:lvl4pPr>
              <a:lvl5pPr marL="2057400" indent="-228600" defTabSz="954088">
                <a:defRPr sz="900">
                  <a:solidFill>
                    <a:schemeClr val="tx1"/>
                  </a:solidFill>
                  <a:latin typeface="Arial" panose="020B0604020202020204" pitchFamily="34" charset="0"/>
                  <a:cs typeface="Arial" panose="020B0604020202020204" pitchFamily="34" charset="0"/>
                </a:defRPr>
              </a:lvl5pPr>
              <a:lvl6pPr marL="25146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540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r>
                <a:rPr lang="en-US" altLang="en-US" sz="1600"/>
                <a:t>Q</a:t>
              </a:r>
            </a:p>
          </p:txBody>
        </p:sp>
      </p:grpSp>
      <p:sp>
        <p:nvSpPr>
          <p:cNvPr id="13" name="Oval 11">
            <a:extLst>
              <a:ext uri="{FF2B5EF4-FFF2-40B4-BE49-F238E27FC236}">
                <a16:creationId xmlns:a16="http://schemas.microsoft.com/office/drawing/2014/main" id="{991172BA-AB63-417A-B65C-083BE25E6D21}"/>
              </a:ext>
            </a:extLst>
          </p:cNvPr>
          <p:cNvSpPr>
            <a:spLocks noChangeArrowheads="1"/>
          </p:cNvSpPr>
          <p:nvPr/>
        </p:nvSpPr>
        <p:spPr bwMode="auto">
          <a:xfrm>
            <a:off x="6394451" y="4578351"/>
            <a:ext cx="1082675" cy="447675"/>
          </a:xfrm>
          <a:prstGeom prst="ellipse">
            <a:avLst/>
          </a:prstGeom>
          <a:ln>
            <a:headEnd type="none" w="sm" len="sm"/>
            <a:tailEnd type="none" w="sm" len="sm"/>
          </a:ln>
          <a:effectLst/>
        </p:spPr>
        <p:style>
          <a:lnRef idx="1">
            <a:schemeClr val="accent1"/>
          </a:lnRef>
          <a:fillRef idx="2">
            <a:schemeClr val="accent1"/>
          </a:fillRef>
          <a:effectRef idx="1">
            <a:schemeClr val="accent1"/>
          </a:effectRef>
          <a:fontRef idx="minor">
            <a:schemeClr val="dk1"/>
          </a:fontRef>
        </p:style>
        <p:txBody>
          <a:bodyPr wrap="none" anchor="ctr"/>
          <a:lstStyle/>
          <a:p>
            <a:pPr algn="ctr" eaLnBrk="1" hangingPunct="1">
              <a:defRPr/>
            </a:pPr>
            <a:r>
              <a:rPr lang="en-US" sz="1700"/>
              <a:t>1ns</a:t>
            </a:r>
          </a:p>
        </p:txBody>
      </p:sp>
      <p:sp>
        <p:nvSpPr>
          <p:cNvPr id="22535" name="Line 12">
            <a:extLst>
              <a:ext uri="{FF2B5EF4-FFF2-40B4-BE49-F238E27FC236}">
                <a16:creationId xmlns:a16="http://schemas.microsoft.com/office/drawing/2014/main" id="{4661D675-A6EB-44AD-9CCD-FDDCCDF70780}"/>
              </a:ext>
            </a:extLst>
          </p:cNvPr>
          <p:cNvSpPr>
            <a:spLocks noChangeShapeType="1"/>
          </p:cNvSpPr>
          <p:nvPr/>
        </p:nvSpPr>
        <p:spPr bwMode="auto">
          <a:xfrm>
            <a:off x="7477126" y="4789488"/>
            <a:ext cx="12985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36" name="Line 13">
            <a:extLst>
              <a:ext uri="{FF2B5EF4-FFF2-40B4-BE49-F238E27FC236}">
                <a16:creationId xmlns:a16="http://schemas.microsoft.com/office/drawing/2014/main" id="{30AA2576-C7F0-456E-882E-C1047181895C}"/>
              </a:ext>
            </a:extLst>
          </p:cNvPr>
          <p:cNvSpPr>
            <a:spLocks noChangeShapeType="1"/>
          </p:cNvSpPr>
          <p:nvPr/>
        </p:nvSpPr>
        <p:spPr bwMode="auto">
          <a:xfrm flipH="1">
            <a:off x="5713414" y="4814888"/>
            <a:ext cx="681037" cy="0"/>
          </a:xfrm>
          <a:prstGeom prst="line">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 name="Oval 14">
            <a:extLst>
              <a:ext uri="{FF2B5EF4-FFF2-40B4-BE49-F238E27FC236}">
                <a16:creationId xmlns:a16="http://schemas.microsoft.com/office/drawing/2014/main" id="{EFDA4DB2-A7FF-4526-AB55-56797ADDCCA5}"/>
              </a:ext>
            </a:extLst>
          </p:cNvPr>
          <p:cNvSpPr>
            <a:spLocks noChangeArrowheads="1"/>
          </p:cNvSpPr>
          <p:nvPr/>
        </p:nvSpPr>
        <p:spPr bwMode="auto">
          <a:xfrm>
            <a:off x="4624389" y="4597400"/>
            <a:ext cx="1082675" cy="446088"/>
          </a:xfrm>
          <a:prstGeom prst="ellipse">
            <a:avLst/>
          </a:prstGeom>
          <a:ln>
            <a:headEnd type="none" w="sm" len="sm"/>
            <a:tailEnd type="none" w="sm" len="sm"/>
          </a:ln>
          <a:effectLst/>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defRPr/>
            </a:pPr>
            <a:r>
              <a:rPr lang="en-US" sz="1700" dirty="0"/>
              <a:t>3ns</a:t>
            </a:r>
            <a:endParaRPr lang="en-US" dirty="0"/>
          </a:p>
        </p:txBody>
      </p:sp>
      <p:sp>
        <p:nvSpPr>
          <p:cNvPr id="22538" name="Line 15">
            <a:extLst>
              <a:ext uri="{FF2B5EF4-FFF2-40B4-BE49-F238E27FC236}">
                <a16:creationId xmlns:a16="http://schemas.microsoft.com/office/drawing/2014/main" id="{AF517717-183D-401F-854B-C9F6897C7342}"/>
              </a:ext>
            </a:extLst>
          </p:cNvPr>
          <p:cNvSpPr>
            <a:spLocks noChangeShapeType="1"/>
          </p:cNvSpPr>
          <p:nvPr/>
        </p:nvSpPr>
        <p:spPr bwMode="auto">
          <a:xfrm flipH="1">
            <a:off x="3943350" y="4819650"/>
            <a:ext cx="679450" cy="0"/>
          </a:xfrm>
          <a:prstGeom prst="line">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39" name="Text Box 16">
            <a:extLst>
              <a:ext uri="{FF2B5EF4-FFF2-40B4-BE49-F238E27FC236}">
                <a16:creationId xmlns:a16="http://schemas.microsoft.com/office/drawing/2014/main" id="{44308E28-183D-4C05-97AE-4F0ABBDFEFDE}"/>
              </a:ext>
            </a:extLst>
          </p:cNvPr>
          <p:cNvSpPr txBox="1">
            <a:spLocks noChangeArrowheads="1"/>
          </p:cNvSpPr>
          <p:nvPr/>
        </p:nvSpPr>
        <p:spPr bwMode="auto">
          <a:xfrm>
            <a:off x="5084763" y="4095751"/>
            <a:ext cx="881062" cy="348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6493" tIns="43247" rIns="86493" bIns="43247">
            <a:spAutoFit/>
          </a:bodyPr>
          <a:lstStyle>
            <a:lvl1pPr defTabSz="865188">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defTabSz="86518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defTabSz="86518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defTabSz="865188">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defTabSz="865188">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en-US" altLang="en-US" sz="1700" b="1">
                <a:latin typeface="Courier New" panose="02070309020205020404" pitchFamily="49" charset="0"/>
              </a:rPr>
              <a:t>CLK</a:t>
            </a:r>
            <a:endParaRPr lang="en-US" altLang="en-US" sz="1700"/>
          </a:p>
        </p:txBody>
      </p:sp>
      <p:sp>
        <p:nvSpPr>
          <p:cNvPr id="22540" name="Line 17">
            <a:extLst>
              <a:ext uri="{FF2B5EF4-FFF2-40B4-BE49-F238E27FC236}">
                <a16:creationId xmlns:a16="http://schemas.microsoft.com/office/drawing/2014/main" id="{9DD26E78-B83F-49FB-B8CB-46C356461C7E}"/>
              </a:ext>
            </a:extLst>
          </p:cNvPr>
          <p:cNvSpPr>
            <a:spLocks noChangeShapeType="1"/>
          </p:cNvSpPr>
          <p:nvPr/>
        </p:nvSpPr>
        <p:spPr bwMode="auto">
          <a:xfrm>
            <a:off x="5737226" y="4416425"/>
            <a:ext cx="265113" cy="298450"/>
          </a:xfrm>
          <a:prstGeom prst="line">
            <a:avLst/>
          </a:prstGeom>
          <a:noFill/>
          <a:ln w="19050">
            <a:solidFill>
              <a:schemeClr val="tx1"/>
            </a:solidFill>
            <a:round/>
            <a:headEnd type="none" w="sm"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22541" name="Rectangle 18">
            <a:extLst>
              <a:ext uri="{FF2B5EF4-FFF2-40B4-BE49-F238E27FC236}">
                <a16:creationId xmlns:a16="http://schemas.microsoft.com/office/drawing/2014/main" id="{1B02EDDC-F547-453B-91B4-0A7C8DA24A6E}"/>
              </a:ext>
            </a:extLst>
          </p:cNvPr>
          <p:cNvSpPr>
            <a:spLocks noChangeArrowheads="1"/>
          </p:cNvSpPr>
          <p:nvPr/>
        </p:nvSpPr>
        <p:spPr bwMode="auto">
          <a:xfrm>
            <a:off x="6016625" y="4776788"/>
            <a:ext cx="69850" cy="69850"/>
          </a:xfrm>
          <a:prstGeom prst="rect">
            <a:avLst/>
          </a:prstGeom>
          <a:solidFill>
            <a:schemeClr val="tx1"/>
          </a:solidFill>
          <a:ln w="12700">
            <a:solidFill>
              <a:schemeClr val="tx1"/>
            </a:solidFill>
            <a:miter lim="800000"/>
            <a:headEnd type="none" w="sm" len="sm"/>
            <a:tailEnd type="none" w="sm" len="sm"/>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42" name="Text Box 19">
            <a:extLst>
              <a:ext uri="{FF2B5EF4-FFF2-40B4-BE49-F238E27FC236}">
                <a16:creationId xmlns:a16="http://schemas.microsoft.com/office/drawing/2014/main" id="{B6C321B6-8802-4355-AC91-171A33E79D56}"/>
              </a:ext>
            </a:extLst>
          </p:cNvPr>
          <p:cNvSpPr txBox="1">
            <a:spLocks noChangeArrowheads="1"/>
          </p:cNvSpPr>
          <p:nvPr/>
        </p:nvSpPr>
        <p:spPr bwMode="auto">
          <a:xfrm>
            <a:off x="8042276" y="3200400"/>
            <a:ext cx="1636713" cy="349250"/>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6493" tIns="43247" rIns="86493" bIns="43247">
            <a:spAutoFit/>
          </a:bodyPr>
          <a:lstStyle>
            <a:lvl1pPr defTabSz="865188">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defTabSz="86518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defTabSz="86518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defTabSz="865188">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defTabSz="865188">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en-US" altLang="en-US" sz="1700">
                <a:latin typeface="Courier New" panose="02070309020205020404" pitchFamily="49" charset="0"/>
              </a:rPr>
              <a:t>DESIGN</a:t>
            </a:r>
            <a:endParaRPr lang="en-US" altLang="en-US" sz="1700"/>
          </a:p>
        </p:txBody>
      </p:sp>
      <p:sp>
        <p:nvSpPr>
          <p:cNvPr id="22543" name="Rectangle 20">
            <a:extLst>
              <a:ext uri="{FF2B5EF4-FFF2-40B4-BE49-F238E27FC236}">
                <a16:creationId xmlns:a16="http://schemas.microsoft.com/office/drawing/2014/main" id="{75A0E650-81DD-44E2-836E-BB1C21172FAE}"/>
              </a:ext>
            </a:extLst>
          </p:cNvPr>
          <p:cNvSpPr>
            <a:spLocks noChangeArrowheads="1"/>
          </p:cNvSpPr>
          <p:nvPr/>
        </p:nvSpPr>
        <p:spPr bwMode="auto">
          <a:xfrm>
            <a:off x="3892550" y="4772025"/>
            <a:ext cx="71438" cy="69850"/>
          </a:xfrm>
          <a:prstGeom prst="rect">
            <a:avLst/>
          </a:prstGeom>
          <a:solidFill>
            <a:schemeClr val="tx1"/>
          </a:solidFill>
          <a:ln w="12700">
            <a:solidFill>
              <a:schemeClr val="tx1"/>
            </a:solidFill>
            <a:miter lim="800000"/>
            <a:headEnd type="none" w="sm" len="sm"/>
            <a:tailEnd type="none" w="sm" len="sm"/>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44" name="Text Box 21">
            <a:extLst>
              <a:ext uri="{FF2B5EF4-FFF2-40B4-BE49-F238E27FC236}">
                <a16:creationId xmlns:a16="http://schemas.microsoft.com/office/drawing/2014/main" id="{22E8E56A-9E93-4CE4-B6A4-41FF98E5DED9}"/>
              </a:ext>
            </a:extLst>
          </p:cNvPr>
          <p:cNvSpPr txBox="1">
            <a:spLocks noChangeArrowheads="1"/>
          </p:cNvSpPr>
          <p:nvPr/>
        </p:nvSpPr>
        <p:spPr bwMode="auto">
          <a:xfrm>
            <a:off x="6191250" y="3890964"/>
            <a:ext cx="2052638" cy="34894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6493" tIns="43247" rIns="86493" bIns="43247">
            <a:spAutoFit/>
          </a:bodyPr>
          <a:lstStyle>
            <a:lvl1pPr defTabSz="865188">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defTabSz="86518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defTabSz="86518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defTabSz="865188">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defTabSz="865188">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en-US" altLang="en-US" sz="1700" dirty="0">
                <a:solidFill>
                  <a:schemeClr val="bg1"/>
                </a:solidFill>
              </a:rPr>
              <a:t>Network Latency</a:t>
            </a:r>
          </a:p>
        </p:txBody>
      </p:sp>
      <p:sp>
        <p:nvSpPr>
          <p:cNvPr id="22545" name="Text Box 22">
            <a:extLst>
              <a:ext uri="{FF2B5EF4-FFF2-40B4-BE49-F238E27FC236}">
                <a16:creationId xmlns:a16="http://schemas.microsoft.com/office/drawing/2014/main" id="{D91DF21C-9D0D-4AE6-9C4F-04E837B3ABA8}"/>
              </a:ext>
            </a:extLst>
          </p:cNvPr>
          <p:cNvSpPr txBox="1">
            <a:spLocks noChangeArrowheads="1"/>
          </p:cNvSpPr>
          <p:nvPr/>
        </p:nvSpPr>
        <p:spPr bwMode="auto">
          <a:xfrm>
            <a:off x="2624139" y="3857626"/>
            <a:ext cx="1939925" cy="34894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6493" tIns="43247" rIns="86493" bIns="43247">
            <a:spAutoFit/>
          </a:bodyPr>
          <a:lstStyle>
            <a:lvl1pPr defTabSz="865188">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defTabSz="86518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defTabSz="86518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defTabSz="865188">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defTabSz="865188">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en-US" altLang="en-US" sz="1700">
                <a:solidFill>
                  <a:schemeClr val="bg1"/>
                </a:solidFill>
              </a:rPr>
              <a:t>Source Latency</a:t>
            </a:r>
          </a:p>
        </p:txBody>
      </p:sp>
      <p:sp>
        <p:nvSpPr>
          <p:cNvPr id="22546" name="Text Box 23">
            <a:extLst>
              <a:ext uri="{FF2B5EF4-FFF2-40B4-BE49-F238E27FC236}">
                <a16:creationId xmlns:a16="http://schemas.microsoft.com/office/drawing/2014/main" id="{665D2DBB-C5AE-4D24-BEB1-26784ECA6DF0}"/>
              </a:ext>
            </a:extLst>
          </p:cNvPr>
          <p:cNvSpPr txBox="1">
            <a:spLocks noChangeArrowheads="1"/>
          </p:cNvSpPr>
          <p:nvPr/>
        </p:nvSpPr>
        <p:spPr bwMode="auto">
          <a:xfrm>
            <a:off x="2133600" y="5030789"/>
            <a:ext cx="2014538" cy="34894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6493" tIns="43247" rIns="86493" bIns="43247">
            <a:spAutoFit/>
          </a:bodyPr>
          <a:lstStyle>
            <a:lvl1pPr defTabSz="865188">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defTabSz="86518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defTabSz="86518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defTabSz="865188">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defTabSz="865188">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defTabSz="865188"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en-US" altLang="en-US" sz="1700">
                <a:solidFill>
                  <a:schemeClr val="bg1"/>
                </a:solidFill>
              </a:rPr>
              <a:t>Origin of Clock</a:t>
            </a:r>
          </a:p>
        </p:txBody>
      </p:sp>
      <p:cxnSp>
        <p:nvCxnSpPr>
          <p:cNvPr id="22547" name="AutoShape 25">
            <a:extLst>
              <a:ext uri="{FF2B5EF4-FFF2-40B4-BE49-F238E27FC236}">
                <a16:creationId xmlns:a16="http://schemas.microsoft.com/office/drawing/2014/main" id="{E3C1C7A4-2BE1-4BB1-BA9C-30853938137E}"/>
              </a:ext>
            </a:extLst>
          </p:cNvPr>
          <p:cNvCxnSpPr>
            <a:cxnSpLocks noChangeShapeType="1"/>
            <a:stCxn id="22546" idx="0"/>
            <a:endCxn id="22543" idx="1"/>
          </p:cNvCxnSpPr>
          <p:nvPr/>
        </p:nvCxnSpPr>
        <p:spPr bwMode="auto">
          <a:xfrm rot="5400000" flipH="1" flipV="1">
            <a:off x="3404790" y="4543030"/>
            <a:ext cx="223838" cy="751681"/>
          </a:xfrm>
          <a:prstGeom prst="bentConnector2">
            <a:avLst/>
          </a:prstGeom>
          <a:noFill/>
          <a:ln w="22225" cap="rnd">
            <a:solidFill>
              <a:schemeClr val="tx1"/>
            </a:solidFill>
            <a:prstDash val="sysDot"/>
            <a:miter lim="800000"/>
            <a:headEnd type="none" w="sm" len="sm"/>
            <a:tailEnd type="triangle" w="med" len="sm"/>
          </a:ln>
          <a:extLst>
            <a:ext uri="{909E8E84-426E-40DD-AFC4-6F175D3DCCD1}">
              <a14:hiddenFill xmlns:a14="http://schemas.microsoft.com/office/drawing/2010/main">
                <a:noFill/>
              </a14:hiddenFill>
            </a:ext>
          </a:extLst>
        </p:spPr>
      </p:cxnSp>
      <p:cxnSp>
        <p:nvCxnSpPr>
          <p:cNvPr id="22548" name="AutoShape 27">
            <a:extLst>
              <a:ext uri="{FF2B5EF4-FFF2-40B4-BE49-F238E27FC236}">
                <a16:creationId xmlns:a16="http://schemas.microsoft.com/office/drawing/2014/main" id="{78F2B880-BDD5-4542-8F43-8B8CE1C83A80}"/>
              </a:ext>
            </a:extLst>
          </p:cNvPr>
          <p:cNvCxnSpPr>
            <a:cxnSpLocks noChangeShapeType="1"/>
            <a:stCxn id="22545" idx="2"/>
            <a:endCxn id="16" idx="0"/>
          </p:cNvCxnSpPr>
          <p:nvPr/>
        </p:nvCxnSpPr>
        <p:spPr bwMode="auto">
          <a:xfrm rot="16200000" flipH="1">
            <a:off x="4184500" y="3616175"/>
            <a:ext cx="390826" cy="1571625"/>
          </a:xfrm>
          <a:prstGeom prst="bentConnector3">
            <a:avLst>
              <a:gd name="adj1" fmla="val 50000"/>
            </a:avLst>
          </a:prstGeom>
          <a:noFill/>
          <a:ln w="22225" cap="rnd">
            <a:solidFill>
              <a:schemeClr val="tx1"/>
            </a:solidFill>
            <a:prstDash val="sysDot"/>
            <a:miter lim="800000"/>
            <a:headEnd type="none" w="sm" len="sm"/>
            <a:tailEnd type="triangle" w="med" len="sm"/>
          </a:ln>
          <a:extLst>
            <a:ext uri="{909E8E84-426E-40DD-AFC4-6F175D3DCCD1}">
              <a14:hiddenFill xmlns:a14="http://schemas.microsoft.com/office/drawing/2010/main">
                <a:noFill/>
              </a14:hiddenFill>
            </a:ext>
          </a:extLst>
        </p:spPr>
      </p:cxnSp>
      <p:cxnSp>
        <p:nvCxnSpPr>
          <p:cNvPr id="22549" name="AutoShape 28">
            <a:extLst>
              <a:ext uri="{FF2B5EF4-FFF2-40B4-BE49-F238E27FC236}">
                <a16:creationId xmlns:a16="http://schemas.microsoft.com/office/drawing/2014/main" id="{D84762BA-31BF-4320-B1B5-36C55F8E2EA2}"/>
              </a:ext>
            </a:extLst>
          </p:cNvPr>
          <p:cNvCxnSpPr>
            <a:cxnSpLocks noChangeShapeType="1"/>
            <a:stCxn id="22544" idx="2"/>
            <a:endCxn id="13" idx="0"/>
          </p:cNvCxnSpPr>
          <p:nvPr/>
        </p:nvCxnSpPr>
        <p:spPr bwMode="auto">
          <a:xfrm rot="5400000">
            <a:off x="6907460" y="4268242"/>
            <a:ext cx="338438" cy="281781"/>
          </a:xfrm>
          <a:prstGeom prst="bentConnector3">
            <a:avLst>
              <a:gd name="adj1" fmla="val 50000"/>
            </a:avLst>
          </a:prstGeom>
          <a:noFill/>
          <a:ln w="22225" cap="rnd">
            <a:solidFill>
              <a:schemeClr val="tx1"/>
            </a:solidFill>
            <a:prstDash val="sysDot"/>
            <a:miter lim="800000"/>
            <a:headEnd type="none" w="sm" len="sm"/>
            <a:tailEnd type="triangle" w="med" len="sm"/>
          </a:ln>
          <a:extLst>
            <a:ext uri="{909E8E84-426E-40DD-AFC4-6F175D3DCCD1}">
              <a14:hiddenFill xmlns:a14="http://schemas.microsoft.com/office/drawing/2010/main">
                <a:noFill/>
              </a14:hiddenFill>
            </a:ext>
          </a:ex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15C4DAB-78B6-4640-911E-907951571173}"/>
              </a:ext>
            </a:extLst>
          </p:cNvPr>
          <p:cNvSpPr>
            <a:spLocks noGrp="1"/>
          </p:cNvSpPr>
          <p:nvPr>
            <p:ph type="title"/>
          </p:nvPr>
        </p:nvSpPr>
        <p:spPr/>
        <p:txBody>
          <a:bodyPr/>
          <a:lstStyle/>
          <a:p>
            <a:r>
              <a:rPr lang="en-US" altLang="en-US"/>
              <a:t>Clock Latency</a:t>
            </a:r>
          </a:p>
        </p:txBody>
      </p:sp>
      <p:sp>
        <p:nvSpPr>
          <p:cNvPr id="3" name="Content Placeholder 2">
            <a:extLst>
              <a:ext uri="{FF2B5EF4-FFF2-40B4-BE49-F238E27FC236}">
                <a16:creationId xmlns:a16="http://schemas.microsoft.com/office/drawing/2014/main" id="{B4D625FB-DAC3-4E85-ABD6-ED584B43CB73}"/>
              </a:ext>
            </a:extLst>
          </p:cNvPr>
          <p:cNvSpPr>
            <a:spLocks noGrp="1"/>
          </p:cNvSpPr>
          <p:nvPr>
            <p:ph type="body" sz="quarter" idx="10"/>
          </p:nvPr>
        </p:nvSpPr>
        <p:spPr>
          <a:xfrm>
            <a:off x="2028021" y="1464141"/>
            <a:ext cx="8135957" cy="4297680"/>
          </a:xfrm>
          <a:solidFill>
            <a:schemeClr val="accent1">
              <a:lumMod val="20000"/>
              <a:lumOff val="80000"/>
            </a:schemeClr>
          </a:solidFill>
          <a:ln w="28575">
            <a:solidFill>
              <a:schemeClr val="accent1">
                <a:lumMod val="75000"/>
              </a:schemeClr>
            </a:solidFill>
          </a:ln>
        </p:spPr>
        <p:txBody>
          <a:bodyPr/>
          <a:lstStyle/>
          <a:p>
            <a:pPr marL="0" indent="0">
              <a:buNone/>
              <a:defRPr/>
            </a:pPr>
            <a:r>
              <a:rPr lang="en-US" sz="2000" dirty="0" err="1">
                <a:latin typeface="Courier New" pitchFamily="49" charset="0"/>
                <a:cs typeface="Courier New" pitchFamily="49" charset="0"/>
              </a:rPr>
              <a:t>set_clock_latency</a:t>
            </a:r>
            <a:r>
              <a:rPr lang="en-US" sz="2000" dirty="0">
                <a:latin typeface="Courier New" pitchFamily="49" charset="0"/>
                <a:cs typeface="Courier New" pitchFamily="49" charset="0"/>
              </a:rPr>
              <a:t> 0.9 [</a:t>
            </a:r>
            <a:r>
              <a:rPr lang="en-US" sz="2000" dirty="0" err="1">
                <a:latin typeface="Courier New" pitchFamily="49" charset="0"/>
                <a:cs typeface="Courier New" pitchFamily="49" charset="0"/>
              </a:rPr>
              <a:t>get_clocks</a:t>
            </a:r>
            <a:r>
              <a:rPr lang="en-US" sz="2000" dirty="0">
                <a:latin typeface="Courier New" pitchFamily="49" charset="0"/>
                <a:cs typeface="Courier New" pitchFamily="49" charset="0"/>
              </a:rPr>
              <a:t> CLK]</a:t>
            </a:r>
          </a:p>
          <a:p>
            <a:pPr marL="0" indent="0">
              <a:buNone/>
              <a:defRPr/>
            </a:pPr>
            <a:endParaRPr lang="en-US" sz="2000" dirty="0">
              <a:latin typeface="Courier New" pitchFamily="49" charset="0"/>
              <a:cs typeface="Courier New" pitchFamily="49" charset="0"/>
            </a:endParaRPr>
          </a:p>
          <a:p>
            <a:pPr marL="0" indent="0">
              <a:buNone/>
              <a:defRPr/>
            </a:pPr>
            <a:r>
              <a:rPr lang="en-US" sz="2000" dirty="0" err="1">
                <a:latin typeface="Courier New" pitchFamily="49" charset="0"/>
                <a:cs typeface="Courier New" pitchFamily="49" charset="0"/>
              </a:rPr>
              <a:t>set_clock_latency</a:t>
            </a:r>
            <a:r>
              <a:rPr lang="en-US" sz="2000" dirty="0">
                <a:latin typeface="Courier New" pitchFamily="49" charset="0"/>
                <a:cs typeface="Courier New" pitchFamily="49" charset="0"/>
              </a:rPr>
              <a:t>  0.8 –source [</a:t>
            </a:r>
            <a:r>
              <a:rPr lang="en-US" sz="2000" dirty="0" err="1">
                <a:latin typeface="Courier New" pitchFamily="49" charset="0"/>
                <a:cs typeface="Courier New" pitchFamily="49" charset="0"/>
              </a:rPr>
              <a:t>get_clocks</a:t>
            </a:r>
            <a:r>
              <a:rPr lang="en-US" sz="2000" dirty="0">
                <a:latin typeface="Courier New" pitchFamily="49" charset="0"/>
                <a:cs typeface="Courier New" pitchFamily="49" charset="0"/>
              </a:rPr>
              <a:t>  CLK]</a:t>
            </a:r>
          </a:p>
          <a:p>
            <a:pPr marL="0" indent="0">
              <a:buNone/>
              <a:defRPr/>
            </a:pPr>
            <a:endParaRPr lang="en-US" sz="2000" dirty="0">
              <a:latin typeface="Courier New" pitchFamily="49" charset="0"/>
              <a:cs typeface="Courier New" pitchFamily="49" charset="0"/>
            </a:endParaRPr>
          </a:p>
          <a:p>
            <a:pPr marL="0" indent="0">
              <a:buNone/>
              <a:defRPr/>
            </a:pPr>
            <a:r>
              <a:rPr lang="en-US" sz="2000" dirty="0" err="1">
                <a:latin typeface="Courier New" pitchFamily="49" charset="0"/>
                <a:cs typeface="Courier New" pitchFamily="49" charset="0"/>
              </a:rPr>
              <a:t>set_clock_latency</a:t>
            </a:r>
            <a:r>
              <a:rPr lang="en-US" sz="2000" dirty="0">
                <a:latin typeface="Courier New" pitchFamily="49" charset="0"/>
                <a:cs typeface="Courier New" pitchFamily="49" charset="0"/>
              </a:rPr>
              <a:t> 0.7 -source -min /</a:t>
            </a:r>
          </a:p>
          <a:p>
            <a:pPr marL="0" indent="0">
              <a:buNone/>
              <a:defRPr/>
            </a:pP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get_clocks</a:t>
            </a:r>
            <a:r>
              <a:rPr lang="en-US" sz="2000" dirty="0">
                <a:latin typeface="Courier New" pitchFamily="49" charset="0"/>
                <a:cs typeface="Courier New" pitchFamily="49" charset="0"/>
              </a:rPr>
              <a:t>  CLK]</a:t>
            </a:r>
          </a:p>
          <a:p>
            <a:pPr marL="0" indent="0">
              <a:buNone/>
              <a:defRPr/>
            </a:pPr>
            <a:endParaRPr lang="en-US" sz="2000" dirty="0">
              <a:latin typeface="Courier New" pitchFamily="49" charset="0"/>
              <a:cs typeface="Courier New" pitchFamily="49" charset="0"/>
            </a:endParaRPr>
          </a:p>
          <a:p>
            <a:pPr marL="0" indent="0">
              <a:buNone/>
              <a:defRPr/>
            </a:pPr>
            <a:r>
              <a:rPr lang="en-US" sz="2000" dirty="0" err="1">
                <a:latin typeface="Courier New" pitchFamily="49" charset="0"/>
                <a:cs typeface="Courier New" pitchFamily="49" charset="0"/>
              </a:rPr>
              <a:t>set_clock_latency</a:t>
            </a:r>
            <a:r>
              <a:rPr lang="en-US" sz="2000" dirty="0">
                <a:latin typeface="Courier New" pitchFamily="49" charset="0"/>
                <a:cs typeface="Courier New" pitchFamily="49" charset="0"/>
              </a:rPr>
              <a:t> 0.3 -source -max /</a:t>
            </a:r>
          </a:p>
          <a:p>
            <a:pPr marL="0" indent="0">
              <a:buNone/>
              <a:defRPr/>
            </a:pP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get_clocks</a:t>
            </a:r>
            <a:r>
              <a:rPr lang="en-US" sz="2000" dirty="0">
                <a:latin typeface="Courier New" pitchFamily="49" charset="0"/>
                <a:cs typeface="Courier New" pitchFamily="49" charset="0"/>
              </a:rPr>
              <a:t>  CLK]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4156E0C-6737-45EA-A128-D8DB544BF60D}"/>
              </a:ext>
            </a:extLst>
          </p:cNvPr>
          <p:cNvSpPr>
            <a:spLocks noGrp="1"/>
          </p:cNvSpPr>
          <p:nvPr>
            <p:ph type="title"/>
          </p:nvPr>
        </p:nvSpPr>
        <p:spPr/>
        <p:txBody>
          <a:bodyPr/>
          <a:lstStyle/>
          <a:p>
            <a:r>
              <a:rPr lang="en-US" altLang="en-US"/>
              <a:t>Divided Clock (Generated)</a:t>
            </a:r>
          </a:p>
        </p:txBody>
      </p:sp>
      <p:sp>
        <p:nvSpPr>
          <p:cNvPr id="3" name="Content Placeholder 2">
            <a:extLst>
              <a:ext uri="{FF2B5EF4-FFF2-40B4-BE49-F238E27FC236}">
                <a16:creationId xmlns:a16="http://schemas.microsoft.com/office/drawing/2014/main" id="{C1507C86-5FC6-4902-9FAA-1F329197D074}"/>
              </a:ext>
            </a:extLst>
          </p:cNvPr>
          <p:cNvSpPr>
            <a:spLocks noGrp="1"/>
          </p:cNvSpPr>
          <p:nvPr>
            <p:ph type="body" sz="quarter" idx="10"/>
          </p:nvPr>
        </p:nvSpPr>
        <p:spPr>
          <a:xfrm>
            <a:off x="457200" y="1188720"/>
            <a:ext cx="10107976" cy="1752784"/>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a:t>
            </a:r>
            <a:r>
              <a:rPr lang="ru-RU" sz="1600" dirty="0">
                <a:latin typeface="Courier New" pitchFamily="49" charset="0"/>
                <a:cs typeface="Courier New" pitchFamily="49" charset="0"/>
              </a:rPr>
              <a:t>1</a:t>
            </a:r>
            <a:r>
              <a:rPr lang="en-US" sz="1600" dirty="0">
                <a:latin typeface="Courier New" pitchFamily="49" charset="0"/>
                <a:cs typeface="Courier New" pitchFamily="49" charset="0"/>
              </a:rPr>
              <a:t> 10 [</a:t>
            </a:r>
            <a:r>
              <a:rPr lang="en-US" sz="1600" dirty="0" err="1">
                <a:solidFill>
                  <a:srgbClr val="0000FF"/>
                </a:solidFill>
                <a:latin typeface="Courier New" pitchFamily="49" charset="0"/>
                <a:cs typeface="Courier New" pitchFamily="49" charset="0"/>
              </a:rPr>
              <a:t>get_pins</a:t>
            </a:r>
            <a:r>
              <a:rPr lang="en-US" sz="1600" b="1" dirty="0">
                <a:latin typeface="Courier New" pitchFamily="49" charset="0"/>
                <a:cs typeface="Courier New" pitchFamily="49" charset="0"/>
              </a:rPr>
              <a:t> </a:t>
            </a:r>
            <a:r>
              <a:rPr lang="ru-RU" sz="1600" b="1" dirty="0">
                <a:latin typeface="Courier New" pitchFamily="49" charset="0"/>
                <a:cs typeface="Courier New" pitchFamily="49" charset="0"/>
              </a:rPr>
              <a:t> </a:t>
            </a:r>
            <a:r>
              <a:rPr lang="ru-RU" sz="1600" dirty="0">
                <a:latin typeface="Courier New" pitchFamily="49" charset="0"/>
                <a:cs typeface="Courier New" pitchFamily="49" charset="0"/>
              </a:rPr>
              <a:t>SRC</a:t>
            </a:r>
            <a:r>
              <a:rPr lang="en-US" sz="1600" dirty="0">
                <a:latin typeface="Courier New" pitchFamily="49" charset="0"/>
                <a:cs typeface="Courier New" pitchFamily="49" charset="0"/>
              </a:rPr>
              <a:t>/CLK]</a:t>
            </a:r>
            <a:endParaRPr lang="en-US" sz="1600" b="1" dirty="0">
              <a:latin typeface="Courier New" pitchFamily="49" charset="0"/>
              <a:cs typeface="Courier New" pitchFamily="49" charset="0"/>
            </a:endParaRPr>
          </a:p>
          <a:p>
            <a:pPr marL="0" indent="0">
              <a:buNone/>
              <a:defRPr/>
            </a:pPr>
            <a:r>
              <a:rPr lang="en-US" sz="1600" dirty="0" err="1">
                <a:solidFill>
                  <a:srgbClr val="0000FF"/>
                </a:solidFill>
                <a:latin typeface="Courier New" pitchFamily="49" charset="0"/>
                <a:cs typeface="Courier New" pitchFamily="49" charset="0"/>
              </a:rPr>
              <a:t>create_generated_clock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CLK2 -</a:t>
            </a:r>
            <a:r>
              <a:rPr lang="en-US" sz="1600" dirty="0">
                <a:solidFill>
                  <a:srgbClr val="0000FF"/>
                </a:solidFill>
                <a:latin typeface="Courier New" pitchFamily="49" charset="0"/>
                <a:cs typeface="Courier New" pitchFamily="49" charset="0"/>
              </a:rPr>
              <a:t>source</a:t>
            </a:r>
            <a:r>
              <a:rPr lang="en-US" sz="1600" b="1" dirty="0">
                <a:latin typeface="Courier New" pitchFamily="49" charset="0"/>
                <a:cs typeface="Courier New" pitchFamily="49" charset="0"/>
              </a:rPr>
              <a:t> </a:t>
            </a:r>
            <a:r>
              <a:rPr lang="ru-RU" sz="1600" dirty="0">
                <a:latin typeface="Courier New" pitchFamily="49" charset="0"/>
                <a:cs typeface="Courier New" pitchFamily="49" charset="0"/>
              </a:rPr>
              <a:t>SRC</a:t>
            </a:r>
            <a:r>
              <a:rPr lang="en-US" sz="1600" dirty="0">
                <a:latin typeface="Courier New" pitchFamily="49" charset="0"/>
                <a:cs typeface="Courier New" pitchFamily="49" charset="0"/>
              </a:rPr>
              <a:t>/CLK  -</a:t>
            </a:r>
            <a:r>
              <a:rPr lang="en-US" sz="1600" dirty="0" err="1">
                <a:solidFill>
                  <a:srgbClr val="0000FF"/>
                </a:solidFill>
                <a:latin typeface="Courier New" pitchFamily="49" charset="0"/>
                <a:cs typeface="Courier New" pitchFamily="49" charset="0"/>
              </a:rPr>
              <a:t>divide_by</a:t>
            </a:r>
            <a:r>
              <a:rPr lang="en-US" sz="1600" b="1" dirty="0">
                <a:solidFill>
                  <a:srgbClr val="0000FF"/>
                </a:solidFill>
                <a:latin typeface="Courier New" pitchFamily="49" charset="0"/>
                <a:cs typeface="Courier New" pitchFamily="49" charset="0"/>
              </a:rPr>
              <a:t> </a:t>
            </a:r>
            <a:r>
              <a:rPr lang="en-US" sz="1600" dirty="0">
                <a:latin typeface="Courier New" pitchFamily="49" charset="0"/>
                <a:cs typeface="Courier New" pitchFamily="49" charset="0"/>
              </a:rPr>
              <a:t>2 \</a:t>
            </a:r>
          </a:p>
          <a:p>
            <a:pPr marL="0" indent="0">
              <a:buNone/>
              <a:defRPr/>
            </a:pPr>
            <a:r>
              <a:rPr lang="en-US" sz="1600" dirty="0">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get_pins</a:t>
            </a:r>
            <a:r>
              <a:rPr lang="en-US" sz="1600" b="1" dirty="0">
                <a:latin typeface="Courier New" pitchFamily="49" charset="0"/>
                <a:cs typeface="Courier New" pitchFamily="49" charset="0"/>
              </a:rPr>
              <a:t> </a:t>
            </a:r>
            <a:r>
              <a:rPr lang="ru-RU" sz="1600" dirty="0">
                <a:latin typeface="Courier New" pitchFamily="49" charset="0"/>
                <a:cs typeface="Courier New" pitchFamily="49" charset="0"/>
              </a:rPr>
              <a:t>DIV</a:t>
            </a:r>
            <a:r>
              <a:rPr lang="en-US" sz="1600" dirty="0">
                <a:latin typeface="Courier New" pitchFamily="49" charset="0"/>
                <a:cs typeface="Courier New" pitchFamily="49" charset="0"/>
              </a:rPr>
              <a:t>/</a:t>
            </a:r>
            <a:r>
              <a:rPr lang="ru-RU" sz="1600" dirty="0">
                <a:latin typeface="Courier New" pitchFamily="49" charset="0"/>
                <a:cs typeface="Courier New" pitchFamily="49" charset="0"/>
              </a:rPr>
              <a:t>CLK</a:t>
            </a:r>
            <a:r>
              <a:rPr lang="en-US" sz="1600" dirty="0">
                <a:latin typeface="Courier New" pitchFamily="49" charset="0"/>
                <a:cs typeface="Courier New" pitchFamily="49" charset="0"/>
              </a:rPr>
              <a:t>]</a:t>
            </a:r>
          </a:p>
        </p:txBody>
      </p:sp>
      <p:grpSp>
        <p:nvGrpSpPr>
          <p:cNvPr id="24580" name="Группа 96">
            <a:extLst>
              <a:ext uri="{FF2B5EF4-FFF2-40B4-BE49-F238E27FC236}">
                <a16:creationId xmlns:a16="http://schemas.microsoft.com/office/drawing/2014/main" id="{FD2FF86C-141E-4134-BE23-21C4A71CB068}"/>
              </a:ext>
            </a:extLst>
          </p:cNvPr>
          <p:cNvGrpSpPr>
            <a:grpSpLocks/>
          </p:cNvGrpSpPr>
          <p:nvPr/>
        </p:nvGrpSpPr>
        <p:grpSpPr bwMode="auto">
          <a:xfrm>
            <a:off x="6256664" y="3713190"/>
            <a:ext cx="3630613" cy="865187"/>
            <a:chOff x="1976294" y="4419600"/>
            <a:chExt cx="5643706" cy="1344908"/>
          </a:xfrm>
        </p:grpSpPr>
        <p:cxnSp>
          <p:nvCxnSpPr>
            <p:cNvPr id="72" name="Straight Connector 71">
              <a:extLst>
                <a:ext uri="{FF2B5EF4-FFF2-40B4-BE49-F238E27FC236}">
                  <a16:creationId xmlns:a16="http://schemas.microsoft.com/office/drawing/2014/main" id="{5B7683C8-7423-444D-94C5-0E018589336C}"/>
                </a:ext>
              </a:extLst>
            </p:cNvPr>
            <p:cNvCxnSpPr/>
            <p:nvPr/>
          </p:nvCxnSpPr>
          <p:spPr bwMode="auto">
            <a:xfrm rot="5400000" flipH="1" flipV="1">
              <a:off x="2514261" y="4649097"/>
              <a:ext cx="456529"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6001679F-5F42-4A73-8C93-384A9A3FF245}"/>
                </a:ext>
              </a:extLst>
            </p:cNvPr>
            <p:cNvCxnSpPr/>
            <p:nvPr/>
          </p:nvCxnSpPr>
          <p:spPr bwMode="auto">
            <a:xfrm>
              <a:off x="2743760" y="4419600"/>
              <a:ext cx="533030"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6C26549D-30BE-4CD5-9B66-397EDB3F9A42}"/>
                </a:ext>
              </a:extLst>
            </p:cNvPr>
            <p:cNvCxnSpPr/>
            <p:nvPr/>
          </p:nvCxnSpPr>
          <p:spPr bwMode="auto">
            <a:xfrm rot="5400000">
              <a:off x="3048525" y="4650332"/>
              <a:ext cx="456529"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DC4145A6-02EE-454A-A46F-05EF1E434066}"/>
                </a:ext>
              </a:extLst>
            </p:cNvPr>
            <p:cNvCxnSpPr/>
            <p:nvPr/>
          </p:nvCxnSpPr>
          <p:spPr bwMode="auto">
            <a:xfrm>
              <a:off x="3276790" y="4878596"/>
              <a:ext cx="45653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9AB7597-7070-4272-AE56-D38B9BDAF50D}"/>
                </a:ext>
              </a:extLst>
            </p:cNvPr>
            <p:cNvCxnSpPr/>
            <p:nvPr/>
          </p:nvCxnSpPr>
          <p:spPr bwMode="auto">
            <a:xfrm rot="5400000" flipH="1" flipV="1">
              <a:off x="3505055" y="4647865"/>
              <a:ext cx="458996"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FCB606DE-5A1E-44F6-932E-36240610BE49}"/>
                </a:ext>
              </a:extLst>
            </p:cNvPr>
            <p:cNvCxnSpPr/>
            <p:nvPr/>
          </p:nvCxnSpPr>
          <p:spPr bwMode="auto">
            <a:xfrm>
              <a:off x="3735788" y="4419600"/>
              <a:ext cx="533030"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EB74A8E3-C07B-496A-BD28-71E7BA83B6DF}"/>
                </a:ext>
              </a:extLst>
            </p:cNvPr>
            <p:cNvCxnSpPr/>
            <p:nvPr/>
          </p:nvCxnSpPr>
          <p:spPr bwMode="auto">
            <a:xfrm rot="5400000">
              <a:off x="4038085" y="4647865"/>
              <a:ext cx="458996"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0092FC1-7678-43A4-BE65-5B8E14412D7B}"/>
                </a:ext>
              </a:extLst>
            </p:cNvPr>
            <p:cNvCxnSpPr/>
            <p:nvPr/>
          </p:nvCxnSpPr>
          <p:spPr bwMode="auto">
            <a:xfrm>
              <a:off x="4268819" y="4876128"/>
              <a:ext cx="456530"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B7F7239-3044-4307-BBE4-324831556DEB}"/>
                </a:ext>
              </a:extLst>
            </p:cNvPr>
            <p:cNvCxnSpPr/>
            <p:nvPr/>
          </p:nvCxnSpPr>
          <p:spPr bwMode="auto">
            <a:xfrm rot="5400000" flipH="1" flipV="1">
              <a:off x="4495850" y="4649099"/>
              <a:ext cx="45899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0151F7BE-F164-4652-91EA-D36DD91A7B2A}"/>
                </a:ext>
              </a:extLst>
            </p:cNvPr>
            <p:cNvCxnSpPr/>
            <p:nvPr/>
          </p:nvCxnSpPr>
          <p:spPr bwMode="auto">
            <a:xfrm>
              <a:off x="4725348" y="4419600"/>
              <a:ext cx="533030"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189A3A2-0720-4977-B572-2AEE3073DF98}"/>
                </a:ext>
              </a:extLst>
            </p:cNvPr>
            <p:cNvCxnSpPr/>
            <p:nvPr/>
          </p:nvCxnSpPr>
          <p:spPr bwMode="auto">
            <a:xfrm rot="5400000">
              <a:off x="5028880" y="4649099"/>
              <a:ext cx="45899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35F4C269-BC36-4800-A9A3-D40D02144395}"/>
                </a:ext>
              </a:extLst>
            </p:cNvPr>
            <p:cNvCxnSpPr/>
            <p:nvPr/>
          </p:nvCxnSpPr>
          <p:spPr bwMode="auto">
            <a:xfrm>
              <a:off x="5258379" y="4876128"/>
              <a:ext cx="456531"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BA7E9ED5-6085-47AA-BDCC-67872EDB5E7E}"/>
                </a:ext>
              </a:extLst>
            </p:cNvPr>
            <p:cNvCxnSpPr/>
            <p:nvPr/>
          </p:nvCxnSpPr>
          <p:spPr bwMode="auto">
            <a:xfrm rot="5400000" flipH="1" flipV="1">
              <a:off x="5486645" y="4647865"/>
              <a:ext cx="458996"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277375B0-95F7-49BC-B17A-7A251D012364}"/>
                </a:ext>
              </a:extLst>
            </p:cNvPr>
            <p:cNvCxnSpPr/>
            <p:nvPr/>
          </p:nvCxnSpPr>
          <p:spPr bwMode="auto">
            <a:xfrm>
              <a:off x="5714910" y="4419600"/>
              <a:ext cx="535497"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CF4BF47A-E35E-4B6B-96B5-B25715965802}"/>
                </a:ext>
              </a:extLst>
            </p:cNvPr>
            <p:cNvCxnSpPr/>
            <p:nvPr/>
          </p:nvCxnSpPr>
          <p:spPr bwMode="auto">
            <a:xfrm rot="5400000">
              <a:off x="6019676" y="4647865"/>
              <a:ext cx="458996"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5D9042AF-190E-4257-AB73-AF66679BBFB7}"/>
                </a:ext>
              </a:extLst>
            </p:cNvPr>
            <p:cNvCxnSpPr/>
            <p:nvPr/>
          </p:nvCxnSpPr>
          <p:spPr bwMode="auto">
            <a:xfrm>
              <a:off x="6250407" y="4876128"/>
              <a:ext cx="456531"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82F8444B-7D9C-42FF-B3D4-EB48005D17E7}"/>
                </a:ext>
              </a:extLst>
            </p:cNvPr>
            <p:cNvCxnSpPr/>
            <p:nvPr/>
          </p:nvCxnSpPr>
          <p:spPr bwMode="auto">
            <a:xfrm rot="5400000" flipH="1" flipV="1">
              <a:off x="6476206" y="4647865"/>
              <a:ext cx="458996"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CD675380-4009-4784-8962-6F4812FE07B4}"/>
                </a:ext>
              </a:extLst>
            </p:cNvPr>
            <p:cNvCxnSpPr/>
            <p:nvPr/>
          </p:nvCxnSpPr>
          <p:spPr bwMode="auto">
            <a:xfrm>
              <a:off x="6706939" y="4419600"/>
              <a:ext cx="533030"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B4696C20-0ECB-490C-9BCC-73CB218EB2BC}"/>
                </a:ext>
              </a:extLst>
            </p:cNvPr>
            <p:cNvCxnSpPr/>
            <p:nvPr/>
          </p:nvCxnSpPr>
          <p:spPr bwMode="auto">
            <a:xfrm rot="5400000">
              <a:off x="7010470" y="4649099"/>
              <a:ext cx="45899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471F7B1B-815F-431D-A96C-B82CA3B0CEEE}"/>
                </a:ext>
              </a:extLst>
            </p:cNvPr>
            <p:cNvCxnSpPr/>
            <p:nvPr/>
          </p:nvCxnSpPr>
          <p:spPr bwMode="auto">
            <a:xfrm>
              <a:off x="7239969" y="4876128"/>
              <a:ext cx="380031"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7B3BDDAB-87C2-44ED-9397-51FAF969B9BA}"/>
                </a:ext>
              </a:extLst>
            </p:cNvPr>
            <p:cNvSpPr txBox="1"/>
            <p:nvPr/>
          </p:nvSpPr>
          <p:spPr>
            <a:xfrm>
              <a:off x="1981229" y="4572599"/>
              <a:ext cx="994497" cy="394836"/>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spAutoFit/>
            </a:bodyPr>
            <a:lstStyle/>
            <a:p>
              <a:pPr eaLnBrk="1" hangingPunct="1">
                <a:defRPr/>
              </a:pPr>
              <a:r>
                <a:rPr lang="en-US" sz="1050" dirty="0"/>
                <a:t>CLK</a:t>
              </a:r>
              <a:r>
                <a:rPr lang="ru-RU" sz="1050" dirty="0"/>
                <a:t>1</a:t>
              </a:r>
              <a:endParaRPr lang="en-US" sz="1050" dirty="0"/>
            </a:p>
          </p:txBody>
        </p:sp>
        <p:sp>
          <p:nvSpPr>
            <p:cNvPr id="118" name="TextBox 117">
              <a:extLst>
                <a:ext uri="{FF2B5EF4-FFF2-40B4-BE49-F238E27FC236}">
                  <a16:creationId xmlns:a16="http://schemas.microsoft.com/office/drawing/2014/main" id="{594C1A43-899D-4027-8765-FA2F9A0640CC}"/>
                </a:ext>
              </a:extLst>
            </p:cNvPr>
            <p:cNvSpPr txBox="1"/>
            <p:nvPr/>
          </p:nvSpPr>
          <p:spPr>
            <a:xfrm>
              <a:off x="1976294" y="5357335"/>
              <a:ext cx="989562" cy="407173"/>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spAutoFit/>
            </a:bodyPr>
            <a:lstStyle/>
            <a:p>
              <a:pPr eaLnBrk="1" hangingPunct="1">
                <a:defRPr/>
              </a:pPr>
              <a:r>
                <a:rPr lang="en-US" sz="1050" dirty="0"/>
                <a:t>CLK2</a:t>
              </a:r>
            </a:p>
          </p:txBody>
        </p:sp>
        <p:cxnSp>
          <p:nvCxnSpPr>
            <p:cNvPr id="120" name="Straight Connector 119">
              <a:extLst>
                <a:ext uri="{FF2B5EF4-FFF2-40B4-BE49-F238E27FC236}">
                  <a16:creationId xmlns:a16="http://schemas.microsoft.com/office/drawing/2014/main" id="{CF894F7E-B6CE-4EA8-8070-C2AD559B4C2B}"/>
                </a:ext>
              </a:extLst>
            </p:cNvPr>
            <p:cNvCxnSpPr/>
            <p:nvPr/>
          </p:nvCxnSpPr>
          <p:spPr bwMode="auto">
            <a:xfrm rot="5400000" flipH="1" flipV="1">
              <a:off x="2513026" y="5410390"/>
              <a:ext cx="458996"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CD51CCFC-30D4-47F5-BB53-B8D8E3751CAF}"/>
                </a:ext>
              </a:extLst>
            </p:cNvPr>
            <p:cNvCxnSpPr/>
            <p:nvPr/>
          </p:nvCxnSpPr>
          <p:spPr bwMode="auto">
            <a:xfrm>
              <a:off x="2743760" y="5182125"/>
              <a:ext cx="989560"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8C1680AB-EFEA-4816-BD49-A94ADF01D7EF}"/>
                </a:ext>
              </a:extLst>
            </p:cNvPr>
            <p:cNvCxnSpPr/>
            <p:nvPr/>
          </p:nvCxnSpPr>
          <p:spPr bwMode="auto">
            <a:xfrm rot="5400000">
              <a:off x="3505055" y="5410390"/>
              <a:ext cx="458996"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C1B49760-0E79-4002-A45D-D59D92796FCB}"/>
                </a:ext>
              </a:extLst>
            </p:cNvPr>
            <p:cNvCxnSpPr/>
            <p:nvPr/>
          </p:nvCxnSpPr>
          <p:spPr bwMode="auto">
            <a:xfrm rot="5400000" flipH="1" flipV="1">
              <a:off x="4497084" y="5410390"/>
              <a:ext cx="456529"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90EFFE5F-1F5E-4B77-B7F0-11107C4F89F1}"/>
                </a:ext>
              </a:extLst>
            </p:cNvPr>
            <p:cNvCxnSpPr/>
            <p:nvPr/>
          </p:nvCxnSpPr>
          <p:spPr bwMode="auto">
            <a:xfrm>
              <a:off x="4725348" y="5182125"/>
              <a:ext cx="9895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E9F373E0-B812-4B59-8C22-319AFAB2CB6F}"/>
                </a:ext>
              </a:extLst>
            </p:cNvPr>
            <p:cNvCxnSpPr/>
            <p:nvPr/>
          </p:nvCxnSpPr>
          <p:spPr bwMode="auto">
            <a:xfrm rot="5400000">
              <a:off x="5487880" y="5409156"/>
              <a:ext cx="456529"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BA9D98E9-F5B8-4F82-8A63-4B69EFE4BE4B}"/>
                </a:ext>
              </a:extLst>
            </p:cNvPr>
            <p:cNvCxnSpPr/>
            <p:nvPr/>
          </p:nvCxnSpPr>
          <p:spPr bwMode="auto">
            <a:xfrm>
              <a:off x="3733320" y="5638655"/>
              <a:ext cx="992029"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0EF9EC02-384C-47D2-84D9-5A271DB6DEC0}"/>
                </a:ext>
              </a:extLst>
            </p:cNvPr>
            <p:cNvCxnSpPr/>
            <p:nvPr/>
          </p:nvCxnSpPr>
          <p:spPr bwMode="auto">
            <a:xfrm>
              <a:off x="5714910" y="5638655"/>
              <a:ext cx="989560" cy="246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8AB5FDCA-4407-4C91-8C86-84C8220079F1}"/>
                </a:ext>
              </a:extLst>
            </p:cNvPr>
            <p:cNvCxnSpPr/>
            <p:nvPr/>
          </p:nvCxnSpPr>
          <p:spPr bwMode="auto">
            <a:xfrm>
              <a:off x="6704470" y="5182125"/>
              <a:ext cx="915530" cy="24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7F5D83E-2372-43CB-9DF6-44D04119B971}"/>
                </a:ext>
              </a:extLst>
            </p:cNvPr>
            <p:cNvCxnSpPr/>
            <p:nvPr/>
          </p:nvCxnSpPr>
          <p:spPr bwMode="auto">
            <a:xfrm rot="5400000">
              <a:off x="6477440" y="5409156"/>
              <a:ext cx="456529" cy="24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4581" name="Группа 110">
            <a:extLst>
              <a:ext uri="{FF2B5EF4-FFF2-40B4-BE49-F238E27FC236}">
                <a16:creationId xmlns:a16="http://schemas.microsoft.com/office/drawing/2014/main" id="{47F0E25F-DA92-442B-930D-A3C03B0B7D0E}"/>
              </a:ext>
            </a:extLst>
          </p:cNvPr>
          <p:cNvGrpSpPr>
            <a:grpSpLocks/>
          </p:cNvGrpSpPr>
          <p:nvPr/>
        </p:nvGrpSpPr>
        <p:grpSpPr bwMode="auto">
          <a:xfrm>
            <a:off x="2018038" y="3498876"/>
            <a:ext cx="4038600" cy="1119188"/>
            <a:chOff x="1285852" y="2357430"/>
            <a:chExt cx="4039392" cy="1119190"/>
          </a:xfrm>
        </p:grpSpPr>
        <p:sp>
          <p:nvSpPr>
            <p:cNvPr id="24584" name="Rectangle 10">
              <a:extLst>
                <a:ext uri="{FF2B5EF4-FFF2-40B4-BE49-F238E27FC236}">
                  <a16:creationId xmlns:a16="http://schemas.microsoft.com/office/drawing/2014/main" id="{5EEFCD98-0209-4726-9FDC-4E706D698F5F}"/>
                </a:ext>
              </a:extLst>
            </p:cNvPr>
            <p:cNvSpPr>
              <a:spLocks noChangeArrowheads="1"/>
            </p:cNvSpPr>
            <p:nvPr/>
          </p:nvSpPr>
          <p:spPr bwMode="auto">
            <a:xfrm>
              <a:off x="1285852" y="2703735"/>
              <a:ext cx="1214446" cy="7620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chemeClr val="bg1"/>
                  </a:solidFill>
                </a:rPr>
                <a:t>C</a:t>
              </a:r>
              <a:r>
                <a:rPr lang="ru-RU" altLang="en-US" sz="1400">
                  <a:solidFill>
                    <a:schemeClr val="bg1"/>
                  </a:solidFill>
                </a:rPr>
                <a:t>lock</a:t>
              </a:r>
            </a:p>
            <a:p>
              <a:pPr eaLnBrk="1" hangingPunct="1"/>
              <a:r>
                <a:rPr lang="ru-RU" altLang="en-US" sz="1400">
                  <a:solidFill>
                    <a:schemeClr val="bg1"/>
                  </a:solidFill>
                </a:rPr>
                <a:t>source </a:t>
              </a:r>
            </a:p>
          </p:txBody>
        </p:sp>
        <p:sp>
          <p:nvSpPr>
            <p:cNvPr id="24585" name="TextBox 100">
              <a:extLst>
                <a:ext uri="{FF2B5EF4-FFF2-40B4-BE49-F238E27FC236}">
                  <a16:creationId xmlns:a16="http://schemas.microsoft.com/office/drawing/2014/main" id="{60E33CC9-3DF2-4260-8CF2-488AC146E528}"/>
                </a:ext>
              </a:extLst>
            </p:cNvPr>
            <p:cNvSpPr txBox="1">
              <a:spLocks noChangeArrowheads="1"/>
            </p:cNvSpPr>
            <p:nvPr/>
          </p:nvSpPr>
          <p:spPr bwMode="auto">
            <a:xfrm>
              <a:off x="2071670" y="2961625"/>
              <a:ext cx="4331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dirty="0">
                  <a:solidFill>
                    <a:schemeClr val="bg1"/>
                  </a:solidFill>
                </a:rPr>
                <a:t>CLK</a:t>
              </a:r>
            </a:p>
          </p:txBody>
        </p:sp>
        <p:sp>
          <p:nvSpPr>
            <p:cNvPr id="24586" name="TextBox 101">
              <a:extLst>
                <a:ext uri="{FF2B5EF4-FFF2-40B4-BE49-F238E27FC236}">
                  <a16:creationId xmlns:a16="http://schemas.microsoft.com/office/drawing/2014/main" id="{49271A8A-B333-4324-97ED-07CD95AD0197}"/>
                </a:ext>
              </a:extLst>
            </p:cNvPr>
            <p:cNvSpPr txBox="1">
              <a:spLocks noChangeArrowheads="1"/>
            </p:cNvSpPr>
            <p:nvPr/>
          </p:nvSpPr>
          <p:spPr bwMode="auto">
            <a:xfrm>
              <a:off x="3929058" y="3214686"/>
              <a:ext cx="4331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a:t>CLK</a:t>
              </a:r>
            </a:p>
          </p:txBody>
        </p:sp>
        <p:cxnSp>
          <p:nvCxnSpPr>
            <p:cNvPr id="24587" name="Прямая соединительная линия 103">
              <a:extLst>
                <a:ext uri="{FF2B5EF4-FFF2-40B4-BE49-F238E27FC236}">
                  <a16:creationId xmlns:a16="http://schemas.microsoft.com/office/drawing/2014/main" id="{8ED48FCD-1665-48A5-90A2-FA0C94E166FA}"/>
                </a:ext>
              </a:extLst>
            </p:cNvPr>
            <p:cNvCxnSpPr>
              <a:cxnSpLocks noChangeShapeType="1"/>
            </p:cNvCxnSpPr>
            <p:nvPr/>
          </p:nvCxnSpPr>
          <p:spPr bwMode="auto">
            <a:xfrm>
              <a:off x="2504802" y="3071809"/>
              <a:ext cx="2567264" cy="0"/>
            </a:xfrm>
            <a:prstGeom prst="line">
              <a:avLst/>
            </a:prstGeom>
            <a:noFill/>
            <a:ln w="9525" algn="ctr">
              <a:solidFill>
                <a:schemeClr val="tx1"/>
              </a:solidFill>
              <a:round/>
              <a:headEnd/>
              <a:tailEnd/>
            </a:ln>
          </p:spPr>
        </p:cxnSp>
        <p:sp>
          <p:nvSpPr>
            <p:cNvPr id="24588" name="Rectangle 10">
              <a:extLst>
                <a:ext uri="{FF2B5EF4-FFF2-40B4-BE49-F238E27FC236}">
                  <a16:creationId xmlns:a16="http://schemas.microsoft.com/office/drawing/2014/main" id="{75E04F6C-50C6-49ED-9AAC-636304D8DAF7}"/>
                </a:ext>
              </a:extLst>
            </p:cNvPr>
            <p:cNvSpPr>
              <a:spLocks noChangeArrowheads="1"/>
            </p:cNvSpPr>
            <p:nvPr/>
          </p:nvSpPr>
          <p:spPr bwMode="auto">
            <a:xfrm>
              <a:off x="3286116" y="2714620"/>
              <a:ext cx="1285884" cy="7620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400" dirty="0">
                  <a:solidFill>
                    <a:schemeClr val="bg1"/>
                  </a:solidFill>
                </a:rPr>
                <a:t>Frequency divider</a:t>
              </a:r>
              <a:r>
                <a:rPr lang="en-US" altLang="en-US" sz="1400" dirty="0">
                  <a:solidFill>
                    <a:schemeClr val="bg1"/>
                  </a:solidFill>
                </a:rPr>
                <a:t>  </a:t>
              </a:r>
            </a:p>
          </p:txBody>
        </p:sp>
        <p:sp>
          <p:nvSpPr>
            <p:cNvPr id="24589" name="TextBox 106">
              <a:extLst>
                <a:ext uri="{FF2B5EF4-FFF2-40B4-BE49-F238E27FC236}">
                  <a16:creationId xmlns:a16="http://schemas.microsoft.com/office/drawing/2014/main" id="{6615F08F-1E4B-4A04-B78E-952169E872AA}"/>
                </a:ext>
              </a:extLst>
            </p:cNvPr>
            <p:cNvSpPr txBox="1">
              <a:spLocks noChangeArrowheads="1"/>
            </p:cNvSpPr>
            <p:nvPr/>
          </p:nvSpPr>
          <p:spPr bwMode="auto">
            <a:xfrm>
              <a:off x="2714612" y="2786058"/>
              <a:ext cx="5389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100"/>
                <a:t>CLK1</a:t>
              </a:r>
            </a:p>
          </p:txBody>
        </p:sp>
        <p:sp>
          <p:nvSpPr>
            <p:cNvPr id="24590" name="TextBox 107">
              <a:extLst>
                <a:ext uri="{FF2B5EF4-FFF2-40B4-BE49-F238E27FC236}">
                  <a16:creationId xmlns:a16="http://schemas.microsoft.com/office/drawing/2014/main" id="{1D323AA3-9977-4520-9E56-3A386402D93D}"/>
                </a:ext>
              </a:extLst>
            </p:cNvPr>
            <p:cNvSpPr txBox="1">
              <a:spLocks noChangeArrowheads="1"/>
            </p:cNvSpPr>
            <p:nvPr/>
          </p:nvSpPr>
          <p:spPr bwMode="auto">
            <a:xfrm>
              <a:off x="4786314" y="2786058"/>
              <a:ext cx="5389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100"/>
                <a:t>CLK2</a:t>
              </a:r>
            </a:p>
          </p:txBody>
        </p:sp>
        <p:sp>
          <p:nvSpPr>
            <p:cNvPr id="24591" name="TextBox 108">
              <a:extLst>
                <a:ext uri="{FF2B5EF4-FFF2-40B4-BE49-F238E27FC236}">
                  <a16:creationId xmlns:a16="http://schemas.microsoft.com/office/drawing/2014/main" id="{AAB60620-B829-4BE1-82E9-54E61068D2B5}"/>
                </a:ext>
              </a:extLst>
            </p:cNvPr>
            <p:cNvSpPr txBox="1">
              <a:spLocks noChangeArrowheads="1"/>
            </p:cNvSpPr>
            <p:nvPr/>
          </p:nvSpPr>
          <p:spPr bwMode="auto">
            <a:xfrm>
              <a:off x="1643042" y="2357430"/>
              <a:ext cx="5645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400"/>
                <a:t>SRC</a:t>
              </a:r>
              <a:endParaRPr lang="ru-RU" altLang="en-US" sz="1100"/>
            </a:p>
          </p:txBody>
        </p:sp>
        <p:sp>
          <p:nvSpPr>
            <p:cNvPr id="24592" name="TextBox 109">
              <a:extLst>
                <a:ext uri="{FF2B5EF4-FFF2-40B4-BE49-F238E27FC236}">
                  <a16:creationId xmlns:a16="http://schemas.microsoft.com/office/drawing/2014/main" id="{C4597907-9984-41DA-A6B9-2E1A373D3EE2}"/>
                </a:ext>
              </a:extLst>
            </p:cNvPr>
            <p:cNvSpPr txBox="1">
              <a:spLocks noChangeArrowheads="1"/>
            </p:cNvSpPr>
            <p:nvPr/>
          </p:nvSpPr>
          <p:spPr bwMode="auto">
            <a:xfrm>
              <a:off x="3786182" y="2428868"/>
              <a:ext cx="4844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400"/>
                <a:t>DIV</a:t>
              </a:r>
              <a:endParaRPr lang="ru-RU" altLang="en-US" sz="1100"/>
            </a:p>
          </p:txBody>
        </p:sp>
      </p:grpSp>
      <p:sp>
        <p:nvSpPr>
          <p:cNvPr id="24582" name="TextBox 47">
            <a:extLst>
              <a:ext uri="{FF2B5EF4-FFF2-40B4-BE49-F238E27FC236}">
                <a16:creationId xmlns:a16="http://schemas.microsoft.com/office/drawing/2014/main" id="{99111378-CBCE-43DD-B7AE-0683EA643EC7}"/>
              </a:ext>
            </a:extLst>
          </p:cNvPr>
          <p:cNvSpPr txBox="1">
            <a:spLocks noChangeArrowheads="1"/>
          </p:cNvSpPr>
          <p:nvPr/>
        </p:nvSpPr>
        <p:spPr bwMode="auto">
          <a:xfrm>
            <a:off x="4877127" y="4113239"/>
            <a:ext cx="433387"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000" dirty="0">
                <a:solidFill>
                  <a:schemeClr val="bg1"/>
                </a:solidFill>
              </a:rPr>
              <a:t>CLK</a:t>
            </a:r>
          </a:p>
        </p:txBody>
      </p:sp>
      <p:sp>
        <p:nvSpPr>
          <p:cNvPr id="49" name="TextBox 48">
            <a:extLst>
              <a:ext uri="{FF2B5EF4-FFF2-40B4-BE49-F238E27FC236}">
                <a16:creationId xmlns:a16="http://schemas.microsoft.com/office/drawing/2014/main" id="{3C1EB435-ADF3-4871-89C6-340CE5B1E321}"/>
              </a:ext>
            </a:extLst>
          </p:cNvPr>
          <p:cNvSpPr txBox="1">
            <a:spLocks noRot="1" noChangeAspect="1" noMove="1" noResize="1" noEditPoints="1" noAdjustHandles="1" noChangeArrowheads="1" noChangeShapeType="1" noTextEdit="1"/>
          </p:cNvSpPr>
          <p:nvPr/>
        </p:nvSpPr>
        <p:spPr>
          <a:xfrm>
            <a:off x="5196331" y="3049487"/>
            <a:ext cx="1586588" cy="400110"/>
          </a:xfrm>
          <a:prstGeom prst="rect">
            <a:avLst/>
          </a:prstGeom>
          <a:blipFill rotWithShape="0">
            <a:blip r:embed="rId2"/>
            <a:stretch>
              <a:fillRect l="-3831" t="-6061" r="-766" b="-27273"/>
            </a:stretch>
          </a:blipFill>
        </p:spPr>
        <p:txBody>
          <a:bodyPr/>
          <a:lstStyle/>
          <a:p>
            <a:r>
              <a:rPr lang="en-US">
                <a:noFill/>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0887CC0-C8CB-4941-B567-077D2EFDA022}"/>
              </a:ext>
            </a:extLst>
          </p:cNvPr>
          <p:cNvSpPr>
            <a:spLocks noGrp="1"/>
          </p:cNvSpPr>
          <p:nvPr>
            <p:ph type="title"/>
          </p:nvPr>
        </p:nvSpPr>
        <p:spPr/>
        <p:txBody>
          <a:bodyPr/>
          <a:lstStyle/>
          <a:p>
            <a:r>
              <a:rPr lang="en-US" altLang="en-US"/>
              <a:t>Multiplied Clock (Generated)</a:t>
            </a:r>
          </a:p>
        </p:txBody>
      </p:sp>
      <p:sp>
        <p:nvSpPr>
          <p:cNvPr id="3" name="Content Placeholder 2">
            <a:extLst>
              <a:ext uri="{FF2B5EF4-FFF2-40B4-BE49-F238E27FC236}">
                <a16:creationId xmlns:a16="http://schemas.microsoft.com/office/drawing/2014/main" id="{81BBBE21-E218-41C7-A863-B015D65895EB}"/>
              </a:ext>
            </a:extLst>
          </p:cNvPr>
          <p:cNvSpPr>
            <a:spLocks noGrp="1"/>
          </p:cNvSpPr>
          <p:nvPr>
            <p:ph type="body" sz="quarter" idx="10"/>
          </p:nvPr>
        </p:nvSpPr>
        <p:spPr>
          <a:xfrm>
            <a:off x="457200" y="1188720"/>
            <a:ext cx="10540862" cy="1008131"/>
          </a:xfrm>
          <a:solidFill>
            <a:schemeClr val="accent1">
              <a:lumMod val="20000"/>
              <a:lumOff val="80000"/>
            </a:schemeClr>
          </a:solidFill>
          <a:ln w="28575">
            <a:solidFill>
              <a:schemeClr val="accent1">
                <a:lumMod val="75000"/>
              </a:schemeClr>
            </a:solidFill>
          </a:ln>
        </p:spPr>
        <p:txBody>
          <a:bodyPr/>
          <a:lstStyle/>
          <a:p>
            <a:pPr marL="0" indent="0">
              <a:buNone/>
              <a:defRPr/>
            </a:pPr>
            <a:r>
              <a:rPr lang="en-US" sz="1400" dirty="0" err="1">
                <a:solidFill>
                  <a:srgbClr val="0000FF"/>
                </a:solidFill>
                <a:latin typeface="Courier New" pitchFamily="49" charset="0"/>
                <a:cs typeface="Courier New" pitchFamily="49" charset="0"/>
              </a:rPr>
              <a:t>create_clock</a:t>
            </a:r>
            <a:r>
              <a:rPr lang="en-US" sz="1400" dirty="0">
                <a:solidFill>
                  <a:srgbClr val="0000FF"/>
                </a:solidFill>
                <a:latin typeface="Courier New" pitchFamily="49" charset="0"/>
                <a:cs typeface="Courier New" pitchFamily="49" charset="0"/>
              </a:rPr>
              <a:t> -period </a:t>
            </a:r>
            <a:r>
              <a:rPr lang="en-US" sz="1400" dirty="0">
                <a:latin typeface="Courier New" pitchFamily="49" charset="0"/>
                <a:cs typeface="Courier New" pitchFamily="49" charset="0"/>
              </a:rPr>
              <a:t>10 -</a:t>
            </a:r>
            <a:r>
              <a:rPr lang="en-US" sz="1400" dirty="0">
                <a:solidFill>
                  <a:srgbClr val="0000FF"/>
                </a:solidFill>
                <a:latin typeface="Courier New" pitchFamily="49" charset="0"/>
                <a:cs typeface="Courier New" pitchFamily="49" charset="0"/>
              </a:rPr>
              <a:t>waveform</a:t>
            </a:r>
            <a:r>
              <a:rPr lang="en-US" sz="1400" dirty="0">
                <a:latin typeface="Courier New" pitchFamily="49" charset="0"/>
                <a:cs typeface="Courier New" pitchFamily="49" charset="0"/>
              </a:rPr>
              <a:t> {0 5} [</a:t>
            </a:r>
            <a:r>
              <a:rPr lang="en-US" sz="1400" dirty="0" err="1">
                <a:solidFill>
                  <a:srgbClr val="0000FF"/>
                </a:solidFill>
                <a:latin typeface="Courier New" pitchFamily="49" charset="0"/>
                <a:cs typeface="Courier New" pitchFamily="49" charset="0"/>
              </a:rPr>
              <a:t>get_ports</a:t>
            </a:r>
            <a:r>
              <a:rPr lang="en-US" sz="1400" dirty="0">
                <a:latin typeface="Courier New" pitchFamily="49" charset="0"/>
                <a:cs typeface="Courier New" pitchFamily="49" charset="0"/>
              </a:rPr>
              <a:t> CLK1]</a:t>
            </a:r>
          </a:p>
          <a:p>
            <a:pPr marL="0" indent="0">
              <a:buNone/>
              <a:defRPr/>
            </a:pPr>
            <a:r>
              <a:rPr lang="en-US" sz="1400" dirty="0" err="1">
                <a:solidFill>
                  <a:srgbClr val="0000FF"/>
                </a:solidFill>
                <a:latin typeface="Courier New" pitchFamily="49" charset="0"/>
                <a:cs typeface="Courier New" pitchFamily="49" charset="0"/>
              </a:rPr>
              <a:t>create_generated_clock</a:t>
            </a:r>
            <a:r>
              <a:rPr lang="en-US" sz="1400" dirty="0">
                <a:solidFill>
                  <a:srgbClr val="0000FF"/>
                </a:solidFill>
                <a:latin typeface="Courier New" pitchFamily="49" charset="0"/>
                <a:cs typeface="Courier New" pitchFamily="49" charset="0"/>
              </a:rPr>
              <a:t> -name </a:t>
            </a:r>
            <a:r>
              <a:rPr lang="en-US" sz="1400" dirty="0">
                <a:latin typeface="Courier New" pitchFamily="49" charset="0"/>
                <a:cs typeface="Courier New" pitchFamily="49" charset="0"/>
              </a:rPr>
              <a:t>CLK2 -</a:t>
            </a:r>
            <a:r>
              <a:rPr lang="en-US" sz="1400" dirty="0">
                <a:solidFill>
                  <a:srgbClr val="0000FF"/>
                </a:solidFill>
                <a:latin typeface="Courier New" pitchFamily="49" charset="0"/>
                <a:cs typeface="Courier New" pitchFamily="49" charset="0"/>
              </a:rPr>
              <a:t>source</a:t>
            </a:r>
            <a:r>
              <a:rPr lang="en-US" sz="1400" dirty="0">
                <a:latin typeface="Courier New" pitchFamily="49" charset="0"/>
                <a:cs typeface="Courier New" pitchFamily="49" charset="0"/>
              </a:rPr>
              <a:t> [</a:t>
            </a:r>
            <a:r>
              <a:rPr lang="en-US" sz="1400" dirty="0" err="1">
                <a:solidFill>
                  <a:srgbClr val="0000FF"/>
                </a:solidFill>
                <a:latin typeface="Courier New" pitchFamily="49" charset="0"/>
                <a:cs typeface="Courier New" pitchFamily="49" charset="0"/>
              </a:rPr>
              <a:t>get_ports</a:t>
            </a:r>
            <a:r>
              <a:rPr lang="en-US" sz="1400" dirty="0">
                <a:latin typeface="Courier New" pitchFamily="49" charset="0"/>
                <a:cs typeface="Courier New" pitchFamily="49" charset="0"/>
              </a:rPr>
              <a:t> CLK1] -</a:t>
            </a:r>
            <a:r>
              <a:rPr lang="en-US" sz="1400" dirty="0" err="1">
                <a:solidFill>
                  <a:srgbClr val="0000FF"/>
                </a:solidFill>
                <a:latin typeface="Courier New" pitchFamily="49" charset="0"/>
                <a:cs typeface="Courier New" pitchFamily="49" charset="0"/>
              </a:rPr>
              <a:t>multiply_by</a:t>
            </a:r>
            <a:r>
              <a:rPr lang="en-US" sz="1400" dirty="0">
                <a:latin typeface="Courier New" pitchFamily="49" charset="0"/>
                <a:cs typeface="Courier New" pitchFamily="49" charset="0"/>
              </a:rPr>
              <a:t> 2 [</a:t>
            </a:r>
            <a:r>
              <a:rPr lang="en-US" sz="1400" dirty="0" err="1">
                <a:solidFill>
                  <a:srgbClr val="0000FF"/>
                </a:solidFill>
                <a:latin typeface="Courier New" pitchFamily="49" charset="0"/>
                <a:cs typeface="Courier New" pitchFamily="49" charset="0"/>
              </a:rPr>
              <a:t>get_pins</a:t>
            </a:r>
            <a:r>
              <a:rPr lang="en-US" sz="1400" dirty="0">
                <a:latin typeface="Courier New" pitchFamily="49" charset="0"/>
                <a:cs typeface="Courier New" pitchFamily="49" charset="0"/>
              </a:rPr>
              <a:t> MULT/CLK]</a:t>
            </a:r>
          </a:p>
        </p:txBody>
      </p:sp>
      <p:grpSp>
        <p:nvGrpSpPr>
          <p:cNvPr id="25604" name="Group 9">
            <a:extLst>
              <a:ext uri="{FF2B5EF4-FFF2-40B4-BE49-F238E27FC236}">
                <a16:creationId xmlns:a16="http://schemas.microsoft.com/office/drawing/2014/main" id="{9C017A85-B327-49D4-8C8D-129E126A568E}"/>
              </a:ext>
            </a:extLst>
          </p:cNvPr>
          <p:cNvGrpSpPr>
            <a:grpSpLocks/>
          </p:cNvGrpSpPr>
          <p:nvPr/>
        </p:nvGrpSpPr>
        <p:grpSpPr bwMode="auto">
          <a:xfrm>
            <a:off x="4054406" y="3061676"/>
            <a:ext cx="3346450" cy="1916112"/>
            <a:chOff x="2537018" y="1612852"/>
            <a:chExt cx="3347050" cy="1916599"/>
          </a:xfrm>
        </p:grpSpPr>
        <p:cxnSp>
          <p:nvCxnSpPr>
            <p:cNvPr id="39" name="Straight Connector 38">
              <a:extLst>
                <a:ext uri="{FF2B5EF4-FFF2-40B4-BE49-F238E27FC236}">
                  <a16:creationId xmlns:a16="http://schemas.microsoft.com/office/drawing/2014/main" id="{3575538C-02AB-4940-B3A4-577F27BF0191}"/>
                </a:ext>
              </a:extLst>
            </p:cNvPr>
            <p:cNvCxnSpPr/>
            <p:nvPr/>
          </p:nvCxnSpPr>
          <p:spPr bwMode="auto">
            <a:xfrm rot="5400000" flipH="1" flipV="1">
              <a:off x="3018889" y="1918523"/>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016F21D-D5B3-4849-8317-48508EE92B94}"/>
                </a:ext>
              </a:extLst>
            </p:cNvPr>
            <p:cNvCxnSpPr/>
            <p:nvPr/>
          </p:nvCxnSpPr>
          <p:spPr bwMode="auto">
            <a:xfrm>
              <a:off x="3318208" y="1614439"/>
              <a:ext cx="609709"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5B83090-90A3-403C-B95A-6E586D19AABB}"/>
                </a:ext>
              </a:extLst>
            </p:cNvPr>
            <p:cNvCxnSpPr/>
            <p:nvPr/>
          </p:nvCxnSpPr>
          <p:spPr bwMode="auto">
            <a:xfrm rot="5400000">
              <a:off x="3615896" y="1918523"/>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D550BF3-7911-4F63-8234-C0346B8901A2}"/>
                </a:ext>
              </a:extLst>
            </p:cNvPr>
            <p:cNvCxnSpPr/>
            <p:nvPr/>
          </p:nvCxnSpPr>
          <p:spPr bwMode="auto">
            <a:xfrm rot="10800000">
              <a:off x="3916803" y="2222607"/>
              <a:ext cx="562076"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CE2EE5B-BB7A-4273-A313-A6EBB1EA73A7}"/>
                </a:ext>
              </a:extLst>
            </p:cNvPr>
            <p:cNvCxnSpPr/>
            <p:nvPr/>
          </p:nvCxnSpPr>
          <p:spPr bwMode="auto">
            <a:xfrm rot="5400000" flipH="1" flipV="1">
              <a:off x="4170032" y="1918523"/>
              <a:ext cx="609755"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6074C64-496D-49B0-B579-ED94571A9DC0}"/>
                </a:ext>
              </a:extLst>
            </p:cNvPr>
            <p:cNvCxnSpPr/>
            <p:nvPr/>
          </p:nvCxnSpPr>
          <p:spPr bwMode="auto">
            <a:xfrm>
              <a:off x="4466177" y="1616028"/>
              <a:ext cx="609709"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745EBAC-02A5-47BB-8604-02C0669AB558}"/>
                </a:ext>
              </a:extLst>
            </p:cNvPr>
            <p:cNvCxnSpPr/>
            <p:nvPr/>
          </p:nvCxnSpPr>
          <p:spPr bwMode="auto">
            <a:xfrm rot="10800000">
              <a:off x="5075886" y="2219431"/>
              <a:ext cx="609709"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7B2C672-19D3-4ABD-8B6D-262D407A4FF3}"/>
                </a:ext>
              </a:extLst>
            </p:cNvPr>
            <p:cNvCxnSpPr/>
            <p:nvPr/>
          </p:nvCxnSpPr>
          <p:spPr bwMode="auto">
            <a:xfrm rot="5400000">
              <a:off x="4765452" y="1918523"/>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EC04130-F321-43B7-B139-3704F3DC4027}"/>
                </a:ext>
              </a:extLst>
            </p:cNvPr>
            <p:cNvCxnSpPr/>
            <p:nvPr/>
          </p:nvCxnSpPr>
          <p:spPr bwMode="auto">
            <a:xfrm rot="5400000" flipH="1" flipV="1">
              <a:off x="5379130" y="1917730"/>
              <a:ext cx="608168"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EAC7B41-F9CF-4E6F-AC16-8D247F0439B3}"/>
                </a:ext>
              </a:extLst>
            </p:cNvPr>
            <p:cNvCxnSpPr/>
            <p:nvPr/>
          </p:nvCxnSpPr>
          <p:spPr bwMode="auto">
            <a:xfrm>
              <a:off x="5679244" y="1612852"/>
              <a:ext cx="14925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615" name="TextBox 67">
              <a:extLst>
                <a:ext uri="{FF2B5EF4-FFF2-40B4-BE49-F238E27FC236}">
                  <a16:creationId xmlns:a16="http://schemas.microsoft.com/office/drawing/2014/main" id="{2545E7E4-5514-44C4-B504-72BB625AF79E}"/>
                </a:ext>
              </a:extLst>
            </p:cNvPr>
            <p:cNvSpPr txBox="1">
              <a:spLocks noChangeArrowheads="1"/>
            </p:cNvSpPr>
            <p:nvPr/>
          </p:nvSpPr>
          <p:spPr bwMode="auto">
            <a:xfrm>
              <a:off x="2561748" y="1842246"/>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CLK1</a:t>
              </a:r>
            </a:p>
          </p:txBody>
        </p:sp>
        <p:cxnSp>
          <p:nvCxnSpPr>
            <p:cNvPr id="70" name="Straight Connector 69">
              <a:extLst>
                <a:ext uri="{FF2B5EF4-FFF2-40B4-BE49-F238E27FC236}">
                  <a16:creationId xmlns:a16="http://schemas.microsoft.com/office/drawing/2014/main" id="{AE9C739B-246B-44AE-9CF1-791B1AB46E84}"/>
                </a:ext>
              </a:extLst>
            </p:cNvPr>
            <p:cNvCxnSpPr/>
            <p:nvPr/>
          </p:nvCxnSpPr>
          <p:spPr bwMode="auto">
            <a:xfrm rot="5400000" flipH="1" flipV="1">
              <a:off x="3026827" y="2976066"/>
              <a:ext cx="609755"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C3582B3-E697-4FCC-9A8F-ADCB29C3ECCD}"/>
                </a:ext>
              </a:extLst>
            </p:cNvPr>
            <p:cNvCxnSpPr/>
            <p:nvPr/>
          </p:nvCxnSpPr>
          <p:spPr bwMode="auto">
            <a:xfrm>
              <a:off x="3326147" y="2673572"/>
              <a:ext cx="3048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89C4A4D2-E881-45CA-8DD0-A68A72174592}"/>
                </a:ext>
              </a:extLst>
            </p:cNvPr>
            <p:cNvCxnSpPr/>
            <p:nvPr/>
          </p:nvCxnSpPr>
          <p:spPr bwMode="auto">
            <a:xfrm rot="5400000">
              <a:off x="3327713" y="2975273"/>
              <a:ext cx="59387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0F355C98-826F-447B-9751-5E1B32056167}"/>
                </a:ext>
              </a:extLst>
            </p:cNvPr>
            <p:cNvCxnSpPr/>
            <p:nvPr/>
          </p:nvCxnSpPr>
          <p:spPr bwMode="auto">
            <a:xfrm>
              <a:off x="3631002" y="3264272"/>
              <a:ext cx="30803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4E7CD8AD-F520-4146-9D4D-DB61029DDACC}"/>
                </a:ext>
              </a:extLst>
            </p:cNvPr>
            <p:cNvCxnSpPr/>
            <p:nvPr/>
          </p:nvCxnSpPr>
          <p:spPr bwMode="auto">
            <a:xfrm rot="5400000" flipH="1" flipV="1">
              <a:off x="3642095" y="2973685"/>
              <a:ext cx="59546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E9A4824D-F3BB-4AEE-A3E8-6BEDC8A66FC0}"/>
                </a:ext>
              </a:extLst>
            </p:cNvPr>
            <p:cNvCxnSpPr/>
            <p:nvPr/>
          </p:nvCxnSpPr>
          <p:spPr bwMode="auto">
            <a:xfrm>
              <a:off x="3932681" y="2676747"/>
              <a:ext cx="3048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349A2E65-2026-41F5-BC79-F4599CEB6865}"/>
                </a:ext>
              </a:extLst>
            </p:cNvPr>
            <p:cNvCxnSpPr/>
            <p:nvPr/>
          </p:nvCxnSpPr>
          <p:spPr bwMode="auto">
            <a:xfrm>
              <a:off x="4234360" y="3257920"/>
              <a:ext cx="31755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2FC2C67E-E1EA-450D-8259-1A9EC07C6EB9}"/>
                </a:ext>
              </a:extLst>
            </p:cNvPr>
            <p:cNvCxnSpPr/>
            <p:nvPr/>
          </p:nvCxnSpPr>
          <p:spPr bwMode="auto">
            <a:xfrm rot="5400000" flipH="1" flipV="1">
              <a:off x="4241483" y="2958600"/>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59AD0FEB-7454-4B28-99E7-D982CAF6B232}"/>
                </a:ext>
              </a:extLst>
            </p:cNvPr>
            <p:cNvCxnSpPr/>
            <p:nvPr/>
          </p:nvCxnSpPr>
          <p:spPr bwMode="auto">
            <a:xfrm>
              <a:off x="4551917" y="2660868"/>
              <a:ext cx="3048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8B8302FB-8ADF-4B67-8030-013A90E6E29E}"/>
                </a:ext>
              </a:extLst>
            </p:cNvPr>
            <p:cNvCxnSpPr/>
            <p:nvPr/>
          </p:nvCxnSpPr>
          <p:spPr bwMode="auto">
            <a:xfrm>
              <a:off x="4850421" y="3257920"/>
              <a:ext cx="3048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27567FF6-A1F0-4AD5-A95A-59463324B6CB}"/>
                </a:ext>
              </a:extLst>
            </p:cNvPr>
            <p:cNvCxnSpPr/>
            <p:nvPr/>
          </p:nvCxnSpPr>
          <p:spPr bwMode="auto">
            <a:xfrm>
              <a:off x="5145749" y="2652928"/>
              <a:ext cx="303266"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0C6371CF-0B24-4A0F-86A7-0C990ECD61FD}"/>
                </a:ext>
              </a:extLst>
            </p:cNvPr>
            <p:cNvCxnSpPr/>
            <p:nvPr/>
          </p:nvCxnSpPr>
          <p:spPr bwMode="auto">
            <a:xfrm>
              <a:off x="5433137" y="3254744"/>
              <a:ext cx="3048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DF643E25-61AD-4469-924C-A1B13291B2EE}"/>
                </a:ext>
              </a:extLst>
            </p:cNvPr>
            <p:cNvCxnSpPr/>
            <p:nvPr/>
          </p:nvCxnSpPr>
          <p:spPr bwMode="auto">
            <a:xfrm rot="5400000">
              <a:off x="3934247" y="2967333"/>
              <a:ext cx="59546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629" name="TextBox 120">
              <a:extLst>
                <a:ext uri="{FF2B5EF4-FFF2-40B4-BE49-F238E27FC236}">
                  <a16:creationId xmlns:a16="http://schemas.microsoft.com/office/drawing/2014/main" id="{075597C1-AB81-49F0-A2CF-AB8390A821B0}"/>
                </a:ext>
              </a:extLst>
            </p:cNvPr>
            <p:cNvSpPr txBox="1">
              <a:spLocks noChangeArrowheads="1"/>
            </p:cNvSpPr>
            <p:nvPr/>
          </p:nvSpPr>
          <p:spPr bwMode="auto">
            <a:xfrm>
              <a:off x="2537018" y="2670921"/>
              <a:ext cx="91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CLK2</a:t>
              </a:r>
            </a:p>
          </p:txBody>
        </p:sp>
        <p:sp>
          <p:nvSpPr>
            <p:cNvPr id="25630" name="TextBox 122">
              <a:extLst>
                <a:ext uri="{FF2B5EF4-FFF2-40B4-BE49-F238E27FC236}">
                  <a16:creationId xmlns:a16="http://schemas.microsoft.com/office/drawing/2014/main" id="{7E348EFB-7A14-4D75-8A44-D88A254B9853}"/>
                </a:ext>
              </a:extLst>
            </p:cNvPr>
            <p:cNvSpPr txBox="1">
              <a:spLocks noChangeArrowheads="1"/>
            </p:cNvSpPr>
            <p:nvPr/>
          </p:nvSpPr>
          <p:spPr bwMode="auto">
            <a:xfrm>
              <a:off x="3224688" y="2223246"/>
              <a:ext cx="2286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sp>
          <p:nvSpPr>
            <p:cNvPr id="25631" name="TextBox 124">
              <a:extLst>
                <a:ext uri="{FF2B5EF4-FFF2-40B4-BE49-F238E27FC236}">
                  <a16:creationId xmlns:a16="http://schemas.microsoft.com/office/drawing/2014/main" id="{79782065-05FD-4EC5-8FE4-395A0FE31FD0}"/>
                </a:ext>
              </a:extLst>
            </p:cNvPr>
            <p:cNvSpPr txBox="1">
              <a:spLocks noChangeArrowheads="1"/>
            </p:cNvSpPr>
            <p:nvPr/>
          </p:nvSpPr>
          <p:spPr bwMode="auto">
            <a:xfrm>
              <a:off x="4329588" y="2223246"/>
              <a:ext cx="3505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10</a:t>
              </a:r>
            </a:p>
          </p:txBody>
        </p:sp>
        <p:sp>
          <p:nvSpPr>
            <p:cNvPr id="25632" name="TextBox 126">
              <a:extLst>
                <a:ext uri="{FF2B5EF4-FFF2-40B4-BE49-F238E27FC236}">
                  <a16:creationId xmlns:a16="http://schemas.microsoft.com/office/drawing/2014/main" id="{5E497E50-E8D4-431E-B96B-F0420058649E}"/>
                </a:ext>
              </a:extLst>
            </p:cNvPr>
            <p:cNvSpPr txBox="1">
              <a:spLocks noChangeArrowheads="1"/>
            </p:cNvSpPr>
            <p:nvPr/>
          </p:nvSpPr>
          <p:spPr bwMode="auto">
            <a:xfrm>
              <a:off x="5533548" y="2200386"/>
              <a:ext cx="3505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t>20</a:t>
              </a:r>
            </a:p>
          </p:txBody>
        </p:sp>
        <p:cxnSp>
          <p:nvCxnSpPr>
            <p:cNvPr id="71" name="Straight Connector 70">
              <a:extLst>
                <a:ext uri="{FF2B5EF4-FFF2-40B4-BE49-F238E27FC236}">
                  <a16:creationId xmlns:a16="http://schemas.microsoft.com/office/drawing/2014/main" id="{BD17D8D5-672C-4751-BE67-04180F495A69}"/>
                </a:ext>
              </a:extLst>
            </p:cNvPr>
            <p:cNvCxnSpPr/>
            <p:nvPr/>
          </p:nvCxnSpPr>
          <p:spPr bwMode="auto">
            <a:xfrm rot="5400000" flipH="1" flipV="1">
              <a:off x="4552689" y="2958600"/>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F93C9C8F-D278-45C5-97E1-71CAD897916D}"/>
                </a:ext>
              </a:extLst>
            </p:cNvPr>
            <p:cNvCxnSpPr/>
            <p:nvPr/>
          </p:nvCxnSpPr>
          <p:spPr bwMode="auto">
            <a:xfrm rot="5400000" flipH="1" flipV="1">
              <a:off x="4848016" y="2958600"/>
              <a:ext cx="60975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24FBF8CB-DCB2-491E-A305-500CB539AA2D}"/>
                </a:ext>
              </a:extLst>
            </p:cNvPr>
            <p:cNvCxnSpPr/>
            <p:nvPr/>
          </p:nvCxnSpPr>
          <p:spPr bwMode="auto">
            <a:xfrm rot="5400000" flipH="1" flipV="1">
              <a:off x="5135405" y="2949073"/>
              <a:ext cx="609755"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636" name="TextBox 84">
              <a:extLst>
                <a:ext uri="{FF2B5EF4-FFF2-40B4-BE49-F238E27FC236}">
                  <a16:creationId xmlns:a16="http://schemas.microsoft.com/office/drawing/2014/main" id="{35B9370A-B487-415D-AAD7-38AB41971849}"/>
                </a:ext>
              </a:extLst>
            </p:cNvPr>
            <p:cNvSpPr txBox="1">
              <a:spLocks noChangeArrowheads="1"/>
            </p:cNvSpPr>
            <p:nvPr/>
          </p:nvSpPr>
          <p:spPr bwMode="auto">
            <a:xfrm>
              <a:off x="3222818" y="3298619"/>
              <a:ext cx="2286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sp>
          <p:nvSpPr>
            <p:cNvPr id="25637" name="TextBox 85">
              <a:extLst>
                <a:ext uri="{FF2B5EF4-FFF2-40B4-BE49-F238E27FC236}">
                  <a16:creationId xmlns:a16="http://schemas.microsoft.com/office/drawing/2014/main" id="{2E606088-86B8-41A5-B588-1822413B0108}"/>
                </a:ext>
              </a:extLst>
            </p:cNvPr>
            <p:cNvSpPr txBox="1">
              <a:spLocks noChangeArrowheads="1"/>
            </p:cNvSpPr>
            <p:nvPr/>
          </p:nvSpPr>
          <p:spPr bwMode="auto">
            <a:xfrm>
              <a:off x="4391536" y="3298619"/>
              <a:ext cx="3505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10</a:t>
              </a:r>
            </a:p>
          </p:txBody>
        </p:sp>
        <p:sp>
          <p:nvSpPr>
            <p:cNvPr id="25638" name="TextBox 86">
              <a:extLst>
                <a:ext uri="{FF2B5EF4-FFF2-40B4-BE49-F238E27FC236}">
                  <a16:creationId xmlns:a16="http://schemas.microsoft.com/office/drawing/2014/main" id="{100DD121-D88F-4160-B6D6-0FA155EE1744}"/>
                </a:ext>
              </a:extLst>
            </p:cNvPr>
            <p:cNvSpPr txBox="1">
              <a:spLocks noChangeArrowheads="1"/>
            </p:cNvSpPr>
            <p:nvPr/>
          </p:nvSpPr>
          <p:spPr bwMode="auto">
            <a:xfrm>
              <a:off x="5002882" y="3298619"/>
              <a:ext cx="3505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15</a:t>
              </a:r>
            </a:p>
          </p:txBody>
        </p:sp>
        <p:sp>
          <p:nvSpPr>
            <p:cNvPr id="25639" name="TextBox 87">
              <a:extLst>
                <a:ext uri="{FF2B5EF4-FFF2-40B4-BE49-F238E27FC236}">
                  <a16:creationId xmlns:a16="http://schemas.microsoft.com/office/drawing/2014/main" id="{ABDDA10A-29A2-49A9-ACDF-B9B7BEEA3D81}"/>
                </a:ext>
              </a:extLst>
            </p:cNvPr>
            <p:cNvSpPr txBox="1">
              <a:spLocks noChangeArrowheads="1"/>
            </p:cNvSpPr>
            <p:nvPr/>
          </p:nvSpPr>
          <p:spPr bwMode="auto">
            <a:xfrm>
              <a:off x="3848849" y="3298619"/>
              <a:ext cx="18240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5</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68E8F311-6AEE-4C48-98D2-83CC3BCAE446}"/>
              </a:ext>
            </a:extLst>
          </p:cNvPr>
          <p:cNvSpPr>
            <a:spLocks noGrp="1"/>
          </p:cNvSpPr>
          <p:nvPr>
            <p:ph type="title"/>
          </p:nvPr>
        </p:nvSpPr>
        <p:spPr/>
        <p:txBody>
          <a:bodyPr/>
          <a:lstStyle/>
          <a:p>
            <a:r>
              <a:rPr lang="en-US" altLang="en-US" dirty="0"/>
              <a:t>Gated Clock (Generated)</a:t>
            </a:r>
          </a:p>
        </p:txBody>
      </p:sp>
      <p:sp>
        <p:nvSpPr>
          <p:cNvPr id="3" name="Content Placeholder 2">
            <a:extLst>
              <a:ext uri="{FF2B5EF4-FFF2-40B4-BE49-F238E27FC236}">
                <a16:creationId xmlns:a16="http://schemas.microsoft.com/office/drawing/2014/main" id="{009F0937-976F-487F-9208-FC9325A8B747}"/>
              </a:ext>
            </a:extLst>
          </p:cNvPr>
          <p:cNvSpPr>
            <a:spLocks noGrp="1"/>
          </p:cNvSpPr>
          <p:nvPr>
            <p:ph type="body" sz="quarter" idx="10"/>
          </p:nvPr>
        </p:nvSpPr>
        <p:spPr>
          <a:xfrm>
            <a:off x="457200" y="1188720"/>
            <a:ext cx="10592712" cy="1098734"/>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create_clock</a:t>
            </a:r>
            <a:r>
              <a:rPr lang="en-US" sz="1600" dirty="0">
                <a:latin typeface="Courier New" pitchFamily="49" charset="0"/>
                <a:cs typeface="Courier New" pitchFamily="49" charset="0"/>
              </a:rPr>
              <a:t> 10 [</a:t>
            </a:r>
            <a:r>
              <a:rPr lang="en-US" sz="1600" dirty="0" err="1">
                <a:latin typeface="Courier New" pitchFamily="49" charset="0"/>
                <a:cs typeface="Courier New" pitchFamily="49" charset="0"/>
              </a:rPr>
              <a:t>g</a:t>
            </a:r>
            <a:r>
              <a:rPr lang="en-US" sz="1600" dirty="0" err="1">
                <a:solidFill>
                  <a:srgbClr val="0000FF"/>
                </a:solidFill>
                <a:latin typeface="Courier New" pitchFamily="49" charset="0"/>
                <a:cs typeface="Courier New" pitchFamily="49" charset="0"/>
              </a:rPr>
              <a:t>et_ports</a:t>
            </a:r>
            <a:r>
              <a:rPr lang="en-US" sz="1600" dirty="0">
                <a:latin typeface="Courier New" pitchFamily="49" charset="0"/>
                <a:cs typeface="Courier New" pitchFamily="49" charset="0"/>
              </a:rPr>
              <a:t> CLK1]</a:t>
            </a:r>
          </a:p>
          <a:p>
            <a:pPr marL="0" indent="0">
              <a:buNone/>
              <a:defRPr/>
            </a:pPr>
            <a:r>
              <a:rPr lang="en-US" sz="1600" dirty="0" err="1">
                <a:solidFill>
                  <a:srgbClr val="0000FF"/>
                </a:solidFill>
                <a:latin typeface="Courier New" pitchFamily="49" charset="0"/>
                <a:cs typeface="Courier New" pitchFamily="49" charset="0"/>
              </a:rPr>
              <a:t>create_generated_clock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CLKG -</a:t>
            </a:r>
            <a:r>
              <a:rPr lang="en-US" sz="1600" dirty="0" err="1">
                <a:solidFill>
                  <a:srgbClr val="0000FF"/>
                </a:solidFill>
                <a:latin typeface="Courier New" pitchFamily="49" charset="0"/>
                <a:cs typeface="Courier New" pitchFamily="49" charset="0"/>
              </a:rPr>
              <a:t>divide_by</a:t>
            </a:r>
            <a:r>
              <a:rPr lang="en-US" sz="1600" dirty="0">
                <a:latin typeface="Courier New" pitchFamily="49" charset="0"/>
                <a:cs typeface="Courier New" pitchFamily="49" charset="0"/>
              </a:rPr>
              <a:t> 1 -</a:t>
            </a:r>
            <a:r>
              <a:rPr lang="en-US" sz="1600" dirty="0">
                <a:solidFill>
                  <a:srgbClr val="0000FF"/>
                </a:solidFill>
                <a:latin typeface="Courier New" pitchFamily="49" charset="0"/>
                <a:cs typeface="Courier New" pitchFamily="49" charset="0"/>
              </a:rPr>
              <a:t>source</a:t>
            </a:r>
            <a:r>
              <a:rPr lang="en-US" sz="1600" dirty="0">
                <a:latin typeface="Courier New" pitchFamily="49" charset="0"/>
                <a:cs typeface="Courier New" pitchFamily="49" charset="0"/>
              </a:rPr>
              <a:t> CLK1 [</a:t>
            </a:r>
            <a:r>
              <a:rPr lang="en-US" sz="1600" dirty="0" err="1">
                <a:solidFill>
                  <a:srgbClr val="0000FF"/>
                </a:solidFill>
                <a:latin typeface="Courier New" pitchFamily="49" charset="0"/>
                <a:cs typeface="Courier New" pitchFamily="49" charset="0"/>
              </a:rPr>
              <a:t>get_pins</a:t>
            </a:r>
            <a:r>
              <a:rPr lang="en-US" sz="1600" dirty="0">
                <a:latin typeface="Courier New" pitchFamily="49" charset="0"/>
                <a:cs typeface="Courier New" pitchFamily="49" charset="0"/>
              </a:rPr>
              <a:t> G1/Z]</a:t>
            </a:r>
          </a:p>
        </p:txBody>
      </p:sp>
      <p:grpSp>
        <p:nvGrpSpPr>
          <p:cNvPr id="26628" name="Group 3">
            <a:extLst>
              <a:ext uri="{FF2B5EF4-FFF2-40B4-BE49-F238E27FC236}">
                <a16:creationId xmlns:a16="http://schemas.microsoft.com/office/drawing/2014/main" id="{684946A9-035C-4D2C-A5CA-1B9239D01A5B}"/>
              </a:ext>
            </a:extLst>
          </p:cNvPr>
          <p:cNvGrpSpPr>
            <a:grpSpLocks/>
          </p:cNvGrpSpPr>
          <p:nvPr/>
        </p:nvGrpSpPr>
        <p:grpSpPr bwMode="auto">
          <a:xfrm>
            <a:off x="3051332" y="3592073"/>
            <a:ext cx="5510213" cy="1603375"/>
            <a:chOff x="1836096" y="3581400"/>
            <a:chExt cx="4031304" cy="1173480"/>
          </a:xfrm>
        </p:grpSpPr>
        <p:grpSp>
          <p:nvGrpSpPr>
            <p:cNvPr id="26629" name="Group 27">
              <a:extLst>
                <a:ext uri="{FF2B5EF4-FFF2-40B4-BE49-F238E27FC236}">
                  <a16:creationId xmlns:a16="http://schemas.microsoft.com/office/drawing/2014/main" id="{9ACA4D3D-DA33-46FD-9A68-44A428765EF6}"/>
                </a:ext>
              </a:extLst>
            </p:cNvPr>
            <p:cNvGrpSpPr>
              <a:grpSpLocks/>
            </p:cNvGrpSpPr>
            <p:nvPr/>
          </p:nvGrpSpPr>
          <p:grpSpPr bwMode="auto">
            <a:xfrm>
              <a:off x="1836096" y="3581400"/>
              <a:ext cx="3215251" cy="1173480"/>
              <a:chOff x="388296" y="3886200"/>
              <a:chExt cx="3215251" cy="1173480"/>
            </a:xfrm>
          </p:grpSpPr>
          <p:grpSp>
            <p:nvGrpSpPr>
              <p:cNvPr id="26633" name="Group 25">
                <a:extLst>
                  <a:ext uri="{FF2B5EF4-FFF2-40B4-BE49-F238E27FC236}">
                    <a16:creationId xmlns:a16="http://schemas.microsoft.com/office/drawing/2014/main" id="{559DFCDE-0F2E-4BED-A5A6-8B12CD4E430F}"/>
                  </a:ext>
                </a:extLst>
              </p:cNvPr>
              <p:cNvGrpSpPr>
                <a:grpSpLocks/>
              </p:cNvGrpSpPr>
              <p:nvPr/>
            </p:nvGrpSpPr>
            <p:grpSpPr bwMode="auto">
              <a:xfrm>
                <a:off x="388296" y="3886200"/>
                <a:ext cx="3086424" cy="1173480"/>
                <a:chOff x="159696" y="3276600"/>
                <a:chExt cx="3086424" cy="1173480"/>
              </a:xfrm>
            </p:grpSpPr>
            <p:grpSp>
              <p:nvGrpSpPr>
                <p:cNvPr id="26635" name="Group 9">
                  <a:extLst>
                    <a:ext uri="{FF2B5EF4-FFF2-40B4-BE49-F238E27FC236}">
                      <a16:creationId xmlns:a16="http://schemas.microsoft.com/office/drawing/2014/main" id="{E0B4053C-D89D-4A94-8A00-485A99210AFC}"/>
                    </a:ext>
                  </a:extLst>
                </p:cNvPr>
                <p:cNvGrpSpPr>
                  <a:grpSpLocks/>
                </p:cNvGrpSpPr>
                <p:nvPr/>
              </p:nvGrpSpPr>
              <p:grpSpPr bwMode="auto">
                <a:xfrm>
                  <a:off x="990600" y="3276600"/>
                  <a:ext cx="816618" cy="762000"/>
                  <a:chOff x="7696994" y="1447006"/>
                  <a:chExt cx="816618" cy="762000"/>
                </a:xfrm>
              </p:grpSpPr>
              <p:sp>
                <p:nvSpPr>
                  <p:cNvPr id="26644" name="Rectangle 4">
                    <a:extLst>
                      <a:ext uri="{FF2B5EF4-FFF2-40B4-BE49-F238E27FC236}">
                        <a16:creationId xmlns:a16="http://schemas.microsoft.com/office/drawing/2014/main" id="{FD562CBA-F3C0-4C16-AC95-147F52E49E93}"/>
                      </a:ext>
                    </a:extLst>
                  </p:cNvPr>
                  <p:cNvSpPr>
                    <a:spLocks noChangeArrowheads="1"/>
                  </p:cNvSpPr>
                  <p:nvPr/>
                </p:nvSpPr>
                <p:spPr bwMode="auto">
                  <a:xfrm>
                    <a:off x="7925594" y="1447006"/>
                    <a:ext cx="457200" cy="7620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6645" name="Straight Connector 5">
                    <a:extLst>
                      <a:ext uri="{FF2B5EF4-FFF2-40B4-BE49-F238E27FC236}">
                        <a16:creationId xmlns:a16="http://schemas.microsoft.com/office/drawing/2014/main" id="{46C80B7B-3446-499F-A93F-6AF2A019665E}"/>
                      </a:ext>
                    </a:extLst>
                  </p:cNvPr>
                  <p:cNvCxnSpPr>
                    <a:cxnSpLocks noChangeShapeType="1"/>
                  </p:cNvCxnSpPr>
                  <p:nvPr/>
                </p:nvCxnSpPr>
                <p:spPr bwMode="auto">
                  <a:xfrm>
                    <a:off x="7696994" y="1599406"/>
                    <a:ext cx="228600" cy="0"/>
                  </a:xfrm>
                  <a:prstGeom prst="line">
                    <a:avLst/>
                  </a:prstGeom>
                  <a:noFill/>
                  <a:ln w="9525" algn="ctr">
                    <a:solidFill>
                      <a:schemeClr val="tx1"/>
                    </a:solidFill>
                    <a:round/>
                    <a:headEnd/>
                    <a:tailEnd/>
                  </a:ln>
                </p:spPr>
              </p:cxnSp>
              <p:sp>
                <p:nvSpPr>
                  <p:cNvPr id="26646" name="TextBox 6">
                    <a:extLst>
                      <a:ext uri="{FF2B5EF4-FFF2-40B4-BE49-F238E27FC236}">
                        <a16:creationId xmlns:a16="http://schemas.microsoft.com/office/drawing/2014/main" id="{D6FAB866-49FF-4A04-A520-C356651E35F6}"/>
                      </a:ext>
                    </a:extLst>
                  </p:cNvPr>
                  <p:cNvSpPr txBox="1">
                    <a:spLocks noChangeArrowheads="1"/>
                  </p:cNvSpPr>
                  <p:nvPr/>
                </p:nvSpPr>
                <p:spPr bwMode="auto">
                  <a:xfrm>
                    <a:off x="7904013" y="1523206"/>
                    <a:ext cx="609599" cy="202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chemeClr val="bg1"/>
                        </a:solidFill>
                      </a:rPr>
                      <a:t>D       Q</a:t>
                    </a:r>
                  </a:p>
                </p:txBody>
              </p:sp>
              <p:sp>
                <p:nvSpPr>
                  <p:cNvPr id="26647" name="Isosceles Triangle 7">
                    <a:extLst>
                      <a:ext uri="{FF2B5EF4-FFF2-40B4-BE49-F238E27FC236}">
                        <a16:creationId xmlns:a16="http://schemas.microsoft.com/office/drawing/2014/main" id="{9514FF6A-F27B-4C0D-8073-63884678BBBD}"/>
                      </a:ext>
                    </a:extLst>
                  </p:cNvPr>
                  <p:cNvSpPr>
                    <a:spLocks noChangeArrowheads="1"/>
                  </p:cNvSpPr>
                  <p:nvPr/>
                </p:nvSpPr>
                <p:spPr bwMode="auto">
                  <a:xfrm rot="5400000">
                    <a:off x="7887494" y="2018506"/>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26648" name="TextBox 8">
                    <a:extLst>
                      <a:ext uri="{FF2B5EF4-FFF2-40B4-BE49-F238E27FC236}">
                        <a16:creationId xmlns:a16="http://schemas.microsoft.com/office/drawing/2014/main" id="{F2A8218A-7489-41C4-8417-879A016C84C7}"/>
                      </a:ext>
                    </a:extLst>
                  </p:cNvPr>
                  <p:cNvSpPr txBox="1">
                    <a:spLocks noChangeArrowheads="1"/>
                  </p:cNvSpPr>
                  <p:nvPr/>
                </p:nvSpPr>
                <p:spPr bwMode="auto">
                  <a:xfrm>
                    <a:off x="7980212" y="1943100"/>
                    <a:ext cx="533400" cy="191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solidFill>
                          <a:schemeClr val="bg1"/>
                        </a:solidFill>
                      </a:rPr>
                      <a:t>CLK</a:t>
                    </a:r>
                  </a:p>
                </p:txBody>
              </p:sp>
            </p:grpSp>
            <p:sp>
              <p:nvSpPr>
                <p:cNvPr id="26636" name="TextBox 10">
                  <a:extLst>
                    <a:ext uri="{FF2B5EF4-FFF2-40B4-BE49-F238E27FC236}">
                      <a16:creationId xmlns:a16="http://schemas.microsoft.com/office/drawing/2014/main" id="{533C997D-FF2C-44FE-BEDD-D85F33D0D43F}"/>
                    </a:ext>
                  </a:extLst>
                </p:cNvPr>
                <p:cNvSpPr txBox="1">
                  <a:spLocks noChangeArrowheads="1"/>
                </p:cNvSpPr>
                <p:nvPr/>
              </p:nvSpPr>
              <p:spPr bwMode="auto">
                <a:xfrm>
                  <a:off x="159696" y="4100414"/>
                  <a:ext cx="945204" cy="18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CLK1</a:t>
                  </a:r>
                </a:p>
              </p:txBody>
            </p:sp>
            <p:cxnSp>
              <p:nvCxnSpPr>
                <p:cNvPr id="26637" name="Straight Connector 11">
                  <a:extLst>
                    <a:ext uri="{FF2B5EF4-FFF2-40B4-BE49-F238E27FC236}">
                      <a16:creationId xmlns:a16="http://schemas.microsoft.com/office/drawing/2014/main" id="{27C2C93E-547A-4FAA-89CC-DCCABC1C423C}"/>
                    </a:ext>
                  </a:extLst>
                </p:cNvPr>
                <p:cNvCxnSpPr>
                  <a:cxnSpLocks noChangeShapeType="1"/>
                </p:cNvCxnSpPr>
                <p:nvPr/>
              </p:nvCxnSpPr>
              <p:spPr bwMode="auto">
                <a:xfrm>
                  <a:off x="787778" y="3886200"/>
                  <a:ext cx="429638" cy="0"/>
                </a:xfrm>
                <a:prstGeom prst="line">
                  <a:avLst/>
                </a:prstGeom>
                <a:noFill/>
                <a:ln w="9525" algn="ctr">
                  <a:solidFill>
                    <a:schemeClr val="tx1"/>
                  </a:solidFill>
                  <a:round/>
                  <a:headEnd/>
                  <a:tailEnd/>
                </a:ln>
              </p:spPr>
            </p:cxnSp>
            <p:sp>
              <p:nvSpPr>
                <p:cNvPr id="26638" name="Flowchart: Delay 12">
                  <a:extLst>
                    <a:ext uri="{FF2B5EF4-FFF2-40B4-BE49-F238E27FC236}">
                      <a16:creationId xmlns:a16="http://schemas.microsoft.com/office/drawing/2014/main" id="{0DF6BE40-4174-46B2-84AD-7B1E74FD3331}"/>
                    </a:ext>
                  </a:extLst>
                </p:cNvPr>
                <p:cNvSpPr>
                  <a:spLocks noChangeArrowheads="1"/>
                </p:cNvSpPr>
                <p:nvPr/>
              </p:nvSpPr>
              <p:spPr bwMode="auto">
                <a:xfrm>
                  <a:off x="2636520" y="3992880"/>
                  <a:ext cx="609600" cy="45720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6639" name="Straight Connector 14">
                  <a:extLst>
                    <a:ext uri="{FF2B5EF4-FFF2-40B4-BE49-F238E27FC236}">
                      <a16:creationId xmlns:a16="http://schemas.microsoft.com/office/drawing/2014/main" id="{4FA9977A-75DF-4E59-B54B-A55D83686550}"/>
                    </a:ext>
                  </a:extLst>
                </p:cNvPr>
                <p:cNvCxnSpPr>
                  <a:cxnSpLocks noChangeShapeType="1"/>
                </p:cNvCxnSpPr>
                <p:nvPr/>
              </p:nvCxnSpPr>
              <p:spPr bwMode="auto">
                <a:xfrm flipV="1">
                  <a:off x="1684019" y="3467100"/>
                  <a:ext cx="457201" cy="0"/>
                </a:xfrm>
                <a:prstGeom prst="line">
                  <a:avLst/>
                </a:prstGeom>
                <a:noFill/>
                <a:ln w="9525" algn="ctr">
                  <a:solidFill>
                    <a:schemeClr val="tx1"/>
                  </a:solidFill>
                  <a:round/>
                  <a:headEnd/>
                  <a:tailEnd/>
                </a:ln>
              </p:spPr>
            </p:cxnSp>
            <p:cxnSp>
              <p:nvCxnSpPr>
                <p:cNvPr id="26640" name="Straight Connector 16">
                  <a:extLst>
                    <a:ext uri="{FF2B5EF4-FFF2-40B4-BE49-F238E27FC236}">
                      <a16:creationId xmlns:a16="http://schemas.microsoft.com/office/drawing/2014/main" id="{0F91397E-7937-4530-894E-CA0BF76103EF}"/>
                    </a:ext>
                  </a:extLst>
                </p:cNvPr>
                <p:cNvCxnSpPr>
                  <a:cxnSpLocks noChangeShapeType="1"/>
                </p:cNvCxnSpPr>
                <p:nvPr/>
              </p:nvCxnSpPr>
              <p:spPr bwMode="auto">
                <a:xfrm rot="5400000">
                  <a:off x="1829594" y="3772694"/>
                  <a:ext cx="609600" cy="0"/>
                </a:xfrm>
                <a:prstGeom prst="line">
                  <a:avLst/>
                </a:prstGeom>
                <a:noFill/>
                <a:ln w="9525" algn="ctr">
                  <a:solidFill>
                    <a:schemeClr val="tx1"/>
                  </a:solidFill>
                  <a:round/>
                  <a:headEnd/>
                  <a:tailEnd/>
                </a:ln>
              </p:spPr>
            </p:cxnSp>
            <p:cxnSp>
              <p:nvCxnSpPr>
                <p:cNvPr id="26641" name="Straight Connector 18">
                  <a:extLst>
                    <a:ext uri="{FF2B5EF4-FFF2-40B4-BE49-F238E27FC236}">
                      <a16:creationId xmlns:a16="http://schemas.microsoft.com/office/drawing/2014/main" id="{07EE7EF1-03A5-44B6-8A9C-0C1EF572885E}"/>
                    </a:ext>
                  </a:extLst>
                </p:cNvPr>
                <p:cNvCxnSpPr>
                  <a:cxnSpLocks noChangeShapeType="1"/>
                </p:cNvCxnSpPr>
                <p:nvPr/>
              </p:nvCxnSpPr>
              <p:spPr bwMode="auto">
                <a:xfrm>
                  <a:off x="2133600" y="4084320"/>
                  <a:ext cx="502920" cy="0"/>
                </a:xfrm>
                <a:prstGeom prst="line">
                  <a:avLst/>
                </a:prstGeom>
                <a:noFill/>
                <a:ln w="9525" algn="ctr">
                  <a:solidFill>
                    <a:schemeClr val="tx1"/>
                  </a:solidFill>
                  <a:round/>
                  <a:headEnd/>
                  <a:tailEnd/>
                </a:ln>
              </p:spPr>
            </p:cxnSp>
            <p:cxnSp>
              <p:nvCxnSpPr>
                <p:cNvPr id="26642" name="Straight Connector 20">
                  <a:extLst>
                    <a:ext uri="{FF2B5EF4-FFF2-40B4-BE49-F238E27FC236}">
                      <a16:creationId xmlns:a16="http://schemas.microsoft.com/office/drawing/2014/main" id="{43B84A6C-74B5-4601-949E-F004066347AE}"/>
                    </a:ext>
                  </a:extLst>
                </p:cNvPr>
                <p:cNvCxnSpPr>
                  <a:cxnSpLocks noChangeShapeType="1"/>
                </p:cNvCxnSpPr>
                <p:nvPr/>
              </p:nvCxnSpPr>
              <p:spPr bwMode="auto">
                <a:xfrm rot="10800000">
                  <a:off x="510540" y="4344988"/>
                  <a:ext cx="2133600" cy="0"/>
                </a:xfrm>
                <a:prstGeom prst="line">
                  <a:avLst/>
                </a:prstGeom>
                <a:noFill/>
                <a:ln w="9525" algn="ctr">
                  <a:solidFill>
                    <a:schemeClr val="tx1"/>
                  </a:solidFill>
                  <a:round/>
                  <a:headEnd/>
                  <a:tailEnd/>
                </a:ln>
              </p:spPr>
            </p:cxnSp>
            <p:cxnSp>
              <p:nvCxnSpPr>
                <p:cNvPr id="26643" name="Straight Connector 22">
                  <a:extLst>
                    <a:ext uri="{FF2B5EF4-FFF2-40B4-BE49-F238E27FC236}">
                      <a16:creationId xmlns:a16="http://schemas.microsoft.com/office/drawing/2014/main" id="{B412FD5C-8B5F-47B7-982B-F0E2ED8E9F75}"/>
                    </a:ext>
                  </a:extLst>
                </p:cNvPr>
                <p:cNvCxnSpPr>
                  <a:cxnSpLocks noChangeShapeType="1"/>
                </p:cNvCxnSpPr>
                <p:nvPr/>
              </p:nvCxnSpPr>
              <p:spPr bwMode="auto">
                <a:xfrm rot="5400000">
                  <a:off x="549434" y="4115594"/>
                  <a:ext cx="457200" cy="0"/>
                </a:xfrm>
                <a:prstGeom prst="line">
                  <a:avLst/>
                </a:prstGeom>
                <a:noFill/>
                <a:ln w="9525" algn="ctr">
                  <a:solidFill>
                    <a:schemeClr val="tx1"/>
                  </a:solidFill>
                  <a:round/>
                  <a:headEnd/>
                  <a:tailEnd/>
                </a:ln>
              </p:spPr>
            </p:cxnSp>
          </p:grpSp>
          <p:sp>
            <p:nvSpPr>
              <p:cNvPr id="26634" name="TextBox 26">
                <a:extLst>
                  <a:ext uri="{FF2B5EF4-FFF2-40B4-BE49-F238E27FC236}">
                    <a16:creationId xmlns:a16="http://schemas.microsoft.com/office/drawing/2014/main" id="{F0A14E17-52AF-4F59-A67D-33B25EB8E0C4}"/>
                  </a:ext>
                </a:extLst>
              </p:cNvPr>
              <p:cNvSpPr txBox="1">
                <a:spLocks noChangeArrowheads="1"/>
              </p:cNvSpPr>
              <p:nvPr/>
            </p:nvSpPr>
            <p:spPr bwMode="auto">
              <a:xfrm>
                <a:off x="3268267" y="4694625"/>
                <a:ext cx="335280" cy="20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chemeClr val="bg1"/>
                    </a:solidFill>
                  </a:rPr>
                  <a:t>Z</a:t>
                </a:r>
              </a:p>
            </p:txBody>
          </p:sp>
        </p:grpSp>
        <p:cxnSp>
          <p:nvCxnSpPr>
            <p:cNvPr id="26630" name="Straight Connector 41">
              <a:extLst>
                <a:ext uri="{FF2B5EF4-FFF2-40B4-BE49-F238E27FC236}">
                  <a16:creationId xmlns:a16="http://schemas.microsoft.com/office/drawing/2014/main" id="{058A1097-E879-4406-B5B4-48C445C2B424}"/>
                </a:ext>
              </a:extLst>
            </p:cNvPr>
            <p:cNvCxnSpPr>
              <a:cxnSpLocks noChangeShapeType="1"/>
              <a:stCxn id="26638" idx="3"/>
            </p:cNvCxnSpPr>
            <p:nvPr/>
          </p:nvCxnSpPr>
          <p:spPr bwMode="auto">
            <a:xfrm flipV="1">
              <a:off x="4922520" y="4495800"/>
              <a:ext cx="944880" cy="0"/>
            </a:xfrm>
            <a:prstGeom prst="line">
              <a:avLst/>
            </a:prstGeom>
            <a:noFill/>
            <a:ln w="9525" algn="ctr">
              <a:solidFill>
                <a:schemeClr val="tx1"/>
              </a:solidFill>
              <a:round/>
              <a:headEnd/>
              <a:tailEnd/>
            </a:ln>
          </p:spPr>
        </p:cxnSp>
        <p:sp>
          <p:nvSpPr>
            <p:cNvPr id="26631" name="TextBox 52">
              <a:extLst>
                <a:ext uri="{FF2B5EF4-FFF2-40B4-BE49-F238E27FC236}">
                  <a16:creationId xmlns:a16="http://schemas.microsoft.com/office/drawing/2014/main" id="{EC16B114-2779-45C4-AF3A-DDE0FC45756F}"/>
                </a:ext>
              </a:extLst>
            </p:cNvPr>
            <p:cNvSpPr txBox="1">
              <a:spLocks noChangeArrowheads="1"/>
            </p:cNvSpPr>
            <p:nvPr/>
          </p:nvSpPr>
          <p:spPr bwMode="auto">
            <a:xfrm>
              <a:off x="5257800" y="4210301"/>
              <a:ext cx="609600" cy="20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CLKG</a:t>
              </a:r>
            </a:p>
          </p:txBody>
        </p:sp>
        <p:sp>
          <p:nvSpPr>
            <p:cNvPr id="26632" name="TextBox 42">
              <a:extLst>
                <a:ext uri="{FF2B5EF4-FFF2-40B4-BE49-F238E27FC236}">
                  <a16:creationId xmlns:a16="http://schemas.microsoft.com/office/drawing/2014/main" id="{D8AF007B-E9BE-42CD-884B-6F86819F94D1}"/>
                </a:ext>
              </a:extLst>
            </p:cNvPr>
            <p:cNvSpPr txBox="1">
              <a:spLocks noChangeArrowheads="1"/>
            </p:cNvSpPr>
            <p:nvPr/>
          </p:nvSpPr>
          <p:spPr bwMode="auto">
            <a:xfrm>
              <a:off x="4389120" y="4020681"/>
              <a:ext cx="457200" cy="20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G1</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68E8F311-6AEE-4C48-98D2-83CC3BCAE446}"/>
              </a:ext>
            </a:extLst>
          </p:cNvPr>
          <p:cNvSpPr>
            <a:spLocks noGrp="1"/>
          </p:cNvSpPr>
          <p:nvPr>
            <p:ph type="title"/>
          </p:nvPr>
        </p:nvSpPr>
        <p:spPr/>
        <p:txBody>
          <a:bodyPr/>
          <a:lstStyle/>
          <a:p>
            <a:r>
              <a:rPr lang="en-US" altLang="en-US" dirty="0"/>
              <a:t>Inverted Clock (Generated)</a:t>
            </a:r>
          </a:p>
        </p:txBody>
      </p:sp>
      <p:sp>
        <p:nvSpPr>
          <p:cNvPr id="3" name="Content Placeholder 2">
            <a:extLst>
              <a:ext uri="{FF2B5EF4-FFF2-40B4-BE49-F238E27FC236}">
                <a16:creationId xmlns:a16="http://schemas.microsoft.com/office/drawing/2014/main" id="{009F0937-976F-487F-9208-FC9325A8B747}"/>
              </a:ext>
            </a:extLst>
          </p:cNvPr>
          <p:cNvSpPr>
            <a:spLocks noGrp="1"/>
          </p:cNvSpPr>
          <p:nvPr>
            <p:ph type="body" sz="quarter" idx="10"/>
          </p:nvPr>
        </p:nvSpPr>
        <p:spPr>
          <a:xfrm>
            <a:off x="574895" y="2646328"/>
            <a:ext cx="10592712" cy="1098734"/>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create_clock</a:t>
            </a:r>
            <a:r>
              <a:rPr lang="en-US" sz="1600" dirty="0">
                <a:latin typeface="Courier New" pitchFamily="49" charset="0"/>
                <a:cs typeface="Courier New" pitchFamily="49" charset="0"/>
              </a:rPr>
              <a:t> 10 [</a:t>
            </a:r>
            <a:r>
              <a:rPr lang="en-US" sz="1600" dirty="0" err="1">
                <a:latin typeface="Courier New" pitchFamily="49" charset="0"/>
                <a:cs typeface="Courier New" pitchFamily="49" charset="0"/>
              </a:rPr>
              <a:t>g</a:t>
            </a:r>
            <a:r>
              <a:rPr lang="en-US" sz="1600" dirty="0" err="1">
                <a:solidFill>
                  <a:srgbClr val="0000FF"/>
                </a:solidFill>
                <a:latin typeface="Courier New" pitchFamily="49" charset="0"/>
                <a:cs typeface="Courier New" pitchFamily="49" charset="0"/>
              </a:rPr>
              <a:t>et_ports</a:t>
            </a:r>
            <a:r>
              <a:rPr lang="en-US" sz="1600" dirty="0">
                <a:latin typeface="Courier New" pitchFamily="49" charset="0"/>
                <a:cs typeface="Courier New" pitchFamily="49" charset="0"/>
              </a:rPr>
              <a:t> CLK1]</a:t>
            </a:r>
          </a:p>
          <a:p>
            <a:pPr marL="0" indent="0">
              <a:buNone/>
              <a:defRPr/>
            </a:pPr>
            <a:r>
              <a:rPr lang="en-US" sz="1600" dirty="0" err="1">
                <a:solidFill>
                  <a:srgbClr val="0000FF"/>
                </a:solidFill>
                <a:latin typeface="Courier New" pitchFamily="49" charset="0"/>
                <a:cs typeface="Courier New" pitchFamily="49" charset="0"/>
              </a:rPr>
              <a:t>create_generated_clock</a:t>
            </a:r>
            <a:r>
              <a:rPr lang="en-US" sz="1600" dirty="0">
                <a:solidFill>
                  <a:srgbClr val="0000FF"/>
                </a:solidFill>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divide_by</a:t>
            </a:r>
            <a:r>
              <a:rPr lang="en-US" sz="1600" dirty="0">
                <a:solidFill>
                  <a:srgbClr val="0000FF"/>
                </a:solidFill>
                <a:latin typeface="Courier New" pitchFamily="49" charset="0"/>
                <a:cs typeface="Courier New" pitchFamily="49" charset="0"/>
              </a:rPr>
              <a:t> </a:t>
            </a:r>
            <a:r>
              <a:rPr lang="en-US" sz="1600" dirty="0">
                <a:latin typeface="Courier New" pitchFamily="49" charset="0"/>
                <a:cs typeface="Courier New" pitchFamily="49" charset="0"/>
              </a:rPr>
              <a:t>1</a:t>
            </a:r>
            <a:r>
              <a:rPr lang="en-US" sz="1600" dirty="0">
                <a:solidFill>
                  <a:srgbClr val="0000FF"/>
                </a:solidFill>
                <a:latin typeface="Courier New" pitchFamily="49" charset="0"/>
                <a:cs typeface="Courier New" pitchFamily="49" charset="0"/>
              </a:rPr>
              <a:t> -combinational -invert</a:t>
            </a: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source</a:t>
            </a:r>
            <a:r>
              <a:rPr lang="en-US" sz="1600" dirty="0">
                <a:latin typeface="Courier New" pitchFamily="49" charset="0"/>
                <a:cs typeface="Courier New" pitchFamily="49" charset="0"/>
              </a:rPr>
              <a:t> CLK1 \</a:t>
            </a:r>
          </a:p>
          <a:p>
            <a:pPr marL="0" indent="0">
              <a:buNone/>
              <a:defRPr/>
            </a:pPr>
            <a:r>
              <a:rPr lang="en-US" sz="1600" dirty="0">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get_pins</a:t>
            </a:r>
            <a:r>
              <a:rPr lang="en-US" sz="1600" dirty="0">
                <a:latin typeface="Courier New" pitchFamily="49" charset="0"/>
                <a:cs typeface="Courier New" pitchFamily="49" charset="0"/>
              </a:rPr>
              <a:t> G1/Z]</a:t>
            </a:r>
          </a:p>
        </p:txBody>
      </p:sp>
      <p:sp>
        <p:nvSpPr>
          <p:cNvPr id="5" name="TextBox 4">
            <a:extLst>
              <a:ext uri="{FF2B5EF4-FFF2-40B4-BE49-F238E27FC236}">
                <a16:creationId xmlns:a16="http://schemas.microsoft.com/office/drawing/2014/main" id="{6CB5FE26-FBD3-7953-932C-1AC114310562}"/>
              </a:ext>
            </a:extLst>
          </p:cNvPr>
          <p:cNvSpPr txBox="1"/>
          <p:nvPr/>
        </p:nvSpPr>
        <p:spPr>
          <a:xfrm>
            <a:off x="574895" y="1459310"/>
            <a:ext cx="10592712" cy="1046440"/>
          </a:xfrm>
          <a:prstGeom prst="rect">
            <a:avLst/>
          </a:prstGeom>
          <a:noFill/>
        </p:spPr>
        <p:txBody>
          <a:bodyPr wrap="square">
            <a:spAutoFit/>
          </a:bodyPr>
          <a:lstStyle/>
          <a:p>
            <a:pPr marL="365760" indent="-365760" defTabSz="914400">
              <a:spcBef>
                <a:spcPts val="600"/>
              </a:spcBef>
              <a:spcAft>
                <a:spcPts val="600"/>
              </a:spcAft>
              <a:buClr>
                <a:schemeClr val="accent6"/>
              </a:buClr>
              <a:buSzPct val="75000"/>
              <a:buFont typeface="Wingdings" panose="05000000000000000000" pitchFamily="2" charset="2"/>
              <a:buChar char=""/>
            </a:pPr>
            <a:r>
              <a:rPr lang="en-US" sz="2000" dirty="0"/>
              <a:t>Create an inverted generated clock:</a:t>
            </a:r>
          </a:p>
          <a:p>
            <a:pPr marL="640080" lvl="1" indent="-274320" defTabSz="914400">
              <a:spcAft>
                <a:spcPts val="600"/>
              </a:spcAft>
              <a:buClr>
                <a:schemeClr val="tx1"/>
              </a:buClr>
              <a:buSzPct val="70000"/>
              <a:buFont typeface="Wingdings" panose="05000000000000000000" pitchFamily="2" charset="2"/>
              <a:buChar char=""/>
            </a:pPr>
            <a:r>
              <a:rPr lang="en-US" sz="1600" dirty="0"/>
              <a:t>With respect to the source clock</a:t>
            </a:r>
          </a:p>
          <a:p>
            <a:pPr marL="640080" lvl="1" indent="-274320" defTabSz="914400">
              <a:spcAft>
                <a:spcPts val="600"/>
              </a:spcAft>
              <a:buClr>
                <a:schemeClr val="tx1"/>
              </a:buClr>
              <a:buSzPct val="70000"/>
              <a:buFont typeface="Wingdings" panose="05000000000000000000" pitchFamily="2" charset="2"/>
              <a:buChar char=""/>
            </a:pPr>
            <a:r>
              <a:rPr lang="en-US" sz="1600" dirty="0"/>
              <a:t>With the same period.</a:t>
            </a:r>
          </a:p>
        </p:txBody>
      </p:sp>
    </p:spTree>
    <p:extLst>
      <p:ext uri="{BB962C8B-B14F-4D97-AF65-F5344CB8AC3E}">
        <p14:creationId xmlns:p14="http://schemas.microsoft.com/office/powerpoint/2010/main" val="1419074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FE6E1AA-E841-4615-A8CA-10C22CB24288}"/>
              </a:ext>
            </a:extLst>
          </p:cNvPr>
          <p:cNvSpPr>
            <a:spLocks noGrp="1"/>
          </p:cNvSpPr>
          <p:nvPr>
            <p:ph type="title"/>
          </p:nvPr>
        </p:nvSpPr>
        <p:spPr/>
        <p:txBody>
          <a:bodyPr/>
          <a:lstStyle/>
          <a:p>
            <a:r>
              <a:rPr lang="en-US" altLang="en-US"/>
              <a:t>Generated by Edges</a:t>
            </a:r>
          </a:p>
        </p:txBody>
      </p:sp>
      <p:sp>
        <p:nvSpPr>
          <p:cNvPr id="3" name="Content Placeholder 2">
            <a:extLst>
              <a:ext uri="{FF2B5EF4-FFF2-40B4-BE49-F238E27FC236}">
                <a16:creationId xmlns:a16="http://schemas.microsoft.com/office/drawing/2014/main" id="{ABEBD58E-C657-461E-AB4C-3C9268087440}"/>
              </a:ext>
            </a:extLst>
          </p:cNvPr>
          <p:cNvSpPr>
            <a:spLocks noGrp="1"/>
          </p:cNvSpPr>
          <p:nvPr>
            <p:ph type="body" sz="quarter" idx="10"/>
          </p:nvPr>
        </p:nvSpPr>
        <p:spPr>
          <a:xfrm>
            <a:off x="457039" y="1089569"/>
            <a:ext cx="11238110" cy="1601098"/>
          </a:xfrm>
          <a:solidFill>
            <a:schemeClr val="accent1">
              <a:lumMod val="20000"/>
              <a:lumOff val="80000"/>
            </a:schemeClr>
          </a:solidFill>
          <a:ln w="28575">
            <a:solidFill>
              <a:schemeClr val="accent1">
                <a:lumMod val="75000"/>
              </a:schemeClr>
            </a:solidFill>
          </a:ln>
        </p:spPr>
        <p:txBody>
          <a:bodyPr/>
          <a:lstStyle/>
          <a:p>
            <a:pPr marL="0" indent="0">
              <a:buNone/>
              <a:defRPr/>
            </a:pPr>
            <a:r>
              <a:rPr lang="en-US" sz="1400" dirty="0" err="1">
                <a:solidFill>
                  <a:srgbClr val="0000FF"/>
                </a:solidFill>
                <a:latin typeface="Courier New" pitchFamily="49" charset="0"/>
                <a:cs typeface="Courier New" pitchFamily="49" charset="0"/>
              </a:rPr>
              <a:t>create_clock</a:t>
            </a:r>
            <a:r>
              <a:rPr lang="en-US" sz="1400" dirty="0">
                <a:latin typeface="Courier New" pitchFamily="49" charset="0"/>
                <a:cs typeface="Courier New" pitchFamily="49" charset="0"/>
              </a:rPr>
              <a:t> 2 [</a:t>
            </a:r>
            <a:r>
              <a:rPr lang="en-US" sz="1400" dirty="0" err="1">
                <a:solidFill>
                  <a:srgbClr val="0000FF"/>
                </a:solidFill>
                <a:latin typeface="Courier New" pitchFamily="49" charset="0"/>
                <a:cs typeface="Courier New" pitchFamily="49" charset="0"/>
              </a:rPr>
              <a:t>get_ports</a:t>
            </a:r>
            <a:r>
              <a:rPr lang="en-US" sz="1400" dirty="0">
                <a:latin typeface="Courier New" pitchFamily="49" charset="0"/>
                <a:cs typeface="Courier New" pitchFamily="49" charset="0"/>
              </a:rPr>
              <a:t> CLK]</a:t>
            </a:r>
          </a:p>
          <a:p>
            <a:pPr marL="0" indent="0">
              <a:buNone/>
              <a:defRPr/>
            </a:pPr>
            <a:r>
              <a:rPr lang="en-US" sz="1400" dirty="0" err="1">
                <a:solidFill>
                  <a:srgbClr val="0000FF"/>
                </a:solidFill>
                <a:latin typeface="Courier New" pitchFamily="49" charset="0"/>
                <a:cs typeface="Courier New" pitchFamily="49" charset="0"/>
              </a:rPr>
              <a:t>create_generated_clock</a:t>
            </a:r>
            <a:r>
              <a:rPr lang="en-US" sz="1400" dirty="0">
                <a:solidFill>
                  <a:srgbClr val="0000FF"/>
                </a:solidFill>
                <a:latin typeface="Courier New" pitchFamily="49" charset="0"/>
                <a:cs typeface="Courier New" pitchFamily="49" charset="0"/>
              </a:rPr>
              <a:t> -name</a:t>
            </a:r>
            <a:r>
              <a:rPr lang="en-US" sz="1400" dirty="0">
                <a:latin typeface="Courier New" pitchFamily="49" charset="0"/>
                <a:cs typeface="Courier New" pitchFamily="49" charset="0"/>
              </a:rPr>
              <a:t> CLK1 -</a:t>
            </a:r>
            <a:r>
              <a:rPr lang="en-US" sz="1400" dirty="0">
                <a:solidFill>
                  <a:srgbClr val="0000FF"/>
                </a:solidFill>
                <a:latin typeface="Courier New" pitchFamily="49" charset="0"/>
                <a:cs typeface="Courier New" pitchFamily="49" charset="0"/>
              </a:rPr>
              <a:t>edges</a:t>
            </a:r>
            <a:r>
              <a:rPr lang="en-US" sz="1400" dirty="0">
                <a:latin typeface="Courier New" pitchFamily="49" charset="0"/>
                <a:cs typeface="Courier New" pitchFamily="49" charset="0"/>
              </a:rPr>
              <a:t> {3 4 7} </a:t>
            </a:r>
            <a:r>
              <a:rPr lang="en-US" sz="1400" dirty="0">
                <a:solidFill>
                  <a:srgbClr val="0000FF"/>
                </a:solidFill>
                <a:latin typeface="Courier New" pitchFamily="49" charset="0"/>
                <a:cs typeface="Courier New" pitchFamily="49" charset="0"/>
              </a:rPr>
              <a:t>-source </a:t>
            </a:r>
            <a:r>
              <a:rPr lang="en-US" sz="1400" dirty="0">
                <a:latin typeface="Courier New" pitchFamily="49" charset="0"/>
                <a:cs typeface="Courier New" pitchFamily="49" charset="0"/>
              </a:rPr>
              <a:t>DCLK [</a:t>
            </a:r>
            <a:r>
              <a:rPr lang="en-US" sz="1400" dirty="0" err="1">
                <a:solidFill>
                  <a:srgbClr val="0000FF"/>
                </a:solidFill>
                <a:latin typeface="Courier New" pitchFamily="49" charset="0"/>
                <a:cs typeface="Courier New" pitchFamily="49" charset="0"/>
              </a:rPr>
              <a:t>get_pins</a:t>
            </a:r>
            <a:r>
              <a:rPr lang="en-US" sz="1400" dirty="0">
                <a:solidFill>
                  <a:srgbClr val="0000FF"/>
                </a:solidFill>
                <a:latin typeface="Courier New" pitchFamily="49" charset="0"/>
                <a:cs typeface="Courier New" pitchFamily="49" charset="0"/>
              </a:rPr>
              <a:t> </a:t>
            </a:r>
            <a:r>
              <a:rPr lang="en-US" sz="1400" dirty="0">
                <a:latin typeface="Courier New" pitchFamily="49" charset="0"/>
                <a:cs typeface="Courier New" pitchFamily="49" charset="0"/>
              </a:rPr>
              <a:t>G1/Z]</a:t>
            </a:r>
          </a:p>
          <a:p>
            <a:pPr marL="0" indent="0">
              <a:buNone/>
              <a:defRPr/>
            </a:pPr>
            <a:r>
              <a:rPr lang="en-US" sz="1400" dirty="0" err="1">
                <a:solidFill>
                  <a:srgbClr val="0000FF"/>
                </a:solidFill>
                <a:latin typeface="Courier New" pitchFamily="49" charset="0"/>
                <a:cs typeface="Courier New" pitchFamily="49" charset="0"/>
              </a:rPr>
              <a:t>create_generated_clock</a:t>
            </a:r>
            <a:r>
              <a:rPr lang="en-US" sz="1400" dirty="0">
                <a:solidFill>
                  <a:srgbClr val="0000FF"/>
                </a:solidFill>
                <a:latin typeface="Courier New" pitchFamily="49" charset="0"/>
                <a:cs typeface="Courier New" pitchFamily="49" charset="0"/>
              </a:rPr>
              <a:t> -name </a:t>
            </a:r>
            <a:r>
              <a:rPr lang="en-US" sz="1400" dirty="0">
                <a:latin typeface="Courier New" pitchFamily="49" charset="0"/>
                <a:cs typeface="Courier New" pitchFamily="49" charset="0"/>
              </a:rPr>
              <a:t>CLK2 -</a:t>
            </a:r>
            <a:r>
              <a:rPr lang="en-US" sz="1400" dirty="0">
                <a:solidFill>
                  <a:srgbClr val="0000FF"/>
                </a:solidFill>
                <a:latin typeface="Courier New" pitchFamily="49" charset="0"/>
                <a:cs typeface="Courier New" pitchFamily="49" charset="0"/>
              </a:rPr>
              <a:t>edges</a:t>
            </a:r>
            <a:r>
              <a:rPr lang="en-US" sz="1400" dirty="0">
                <a:latin typeface="Courier New" pitchFamily="49" charset="0"/>
                <a:cs typeface="Courier New" pitchFamily="49" charset="0"/>
              </a:rPr>
              <a:t> {2 4 6} -</a:t>
            </a:r>
            <a:r>
              <a:rPr lang="en-US" sz="1400" dirty="0">
                <a:solidFill>
                  <a:srgbClr val="0000FF"/>
                </a:solidFill>
                <a:latin typeface="Courier New" pitchFamily="49" charset="0"/>
                <a:cs typeface="Courier New" pitchFamily="49" charset="0"/>
              </a:rPr>
              <a:t>source</a:t>
            </a:r>
            <a:r>
              <a:rPr lang="en-US" sz="1400" dirty="0">
                <a:latin typeface="Courier New" pitchFamily="49" charset="0"/>
                <a:cs typeface="Courier New" pitchFamily="49" charset="0"/>
              </a:rPr>
              <a:t> DCLK [</a:t>
            </a:r>
            <a:r>
              <a:rPr lang="en-US" sz="1400" dirty="0" err="1">
                <a:solidFill>
                  <a:srgbClr val="0000FF"/>
                </a:solidFill>
                <a:latin typeface="Courier New" pitchFamily="49" charset="0"/>
                <a:cs typeface="Courier New" pitchFamily="49" charset="0"/>
              </a:rPr>
              <a:t>get_pins</a:t>
            </a:r>
            <a:r>
              <a:rPr lang="en-US" sz="1400" dirty="0">
                <a:latin typeface="Courier New" pitchFamily="49" charset="0"/>
                <a:cs typeface="Courier New" pitchFamily="49" charset="0"/>
              </a:rPr>
              <a:t> G2/Z]</a:t>
            </a:r>
          </a:p>
          <a:p>
            <a:pPr marL="0" indent="0">
              <a:buNone/>
              <a:defRPr/>
            </a:pPr>
            <a:endParaRPr lang="en-US" sz="1400" b="1" dirty="0"/>
          </a:p>
        </p:txBody>
      </p:sp>
      <p:grpSp>
        <p:nvGrpSpPr>
          <p:cNvPr id="27652" name="Group 294">
            <a:extLst>
              <a:ext uri="{FF2B5EF4-FFF2-40B4-BE49-F238E27FC236}">
                <a16:creationId xmlns:a16="http://schemas.microsoft.com/office/drawing/2014/main" id="{62E9ECC8-6492-46F6-B0E9-C937F3250656}"/>
              </a:ext>
            </a:extLst>
          </p:cNvPr>
          <p:cNvGrpSpPr>
            <a:grpSpLocks/>
          </p:cNvGrpSpPr>
          <p:nvPr/>
        </p:nvGrpSpPr>
        <p:grpSpPr bwMode="auto">
          <a:xfrm>
            <a:off x="1842036" y="3427198"/>
            <a:ext cx="3667125" cy="1570038"/>
            <a:chOff x="219075" y="3657600"/>
            <a:chExt cx="3667125" cy="1569710"/>
          </a:xfrm>
        </p:grpSpPr>
        <p:sp>
          <p:nvSpPr>
            <p:cNvPr id="27719" name="TextBox 50">
              <a:extLst>
                <a:ext uri="{FF2B5EF4-FFF2-40B4-BE49-F238E27FC236}">
                  <a16:creationId xmlns:a16="http://schemas.microsoft.com/office/drawing/2014/main" id="{7E28B987-7150-4737-8A2F-A2EBF71A6F01}"/>
                </a:ext>
              </a:extLst>
            </p:cNvPr>
            <p:cNvSpPr txBox="1">
              <a:spLocks noChangeArrowheads="1"/>
            </p:cNvSpPr>
            <p:nvPr/>
          </p:nvSpPr>
          <p:spPr bwMode="auto">
            <a:xfrm>
              <a:off x="219075" y="4965700"/>
              <a:ext cx="6858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CLK</a:t>
              </a:r>
            </a:p>
          </p:txBody>
        </p:sp>
        <p:sp>
          <p:nvSpPr>
            <p:cNvPr id="27720" name="TextBox 55">
              <a:extLst>
                <a:ext uri="{FF2B5EF4-FFF2-40B4-BE49-F238E27FC236}">
                  <a16:creationId xmlns:a16="http://schemas.microsoft.com/office/drawing/2014/main" id="{728D1FB9-B20F-4DAB-AC24-8D1BBED9E8AA}"/>
                </a:ext>
              </a:extLst>
            </p:cNvPr>
            <p:cNvSpPr txBox="1">
              <a:spLocks noChangeArrowheads="1"/>
            </p:cNvSpPr>
            <p:nvPr/>
          </p:nvSpPr>
          <p:spPr bwMode="auto">
            <a:xfrm>
              <a:off x="3124200" y="3657600"/>
              <a:ext cx="7620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CLK1</a:t>
              </a:r>
            </a:p>
          </p:txBody>
        </p:sp>
        <p:grpSp>
          <p:nvGrpSpPr>
            <p:cNvPr id="27721" name="Group 11">
              <a:extLst>
                <a:ext uri="{FF2B5EF4-FFF2-40B4-BE49-F238E27FC236}">
                  <a16:creationId xmlns:a16="http://schemas.microsoft.com/office/drawing/2014/main" id="{29E8B3A5-9BED-41A9-824B-10CC7E3112A1}"/>
                </a:ext>
              </a:extLst>
            </p:cNvPr>
            <p:cNvGrpSpPr>
              <a:grpSpLocks/>
            </p:cNvGrpSpPr>
            <p:nvPr/>
          </p:nvGrpSpPr>
          <p:grpSpPr bwMode="auto">
            <a:xfrm>
              <a:off x="685800" y="4343400"/>
              <a:ext cx="1828800" cy="762000"/>
              <a:chOff x="7696994" y="1447006"/>
              <a:chExt cx="1828800" cy="762000"/>
            </a:xfrm>
          </p:grpSpPr>
          <p:sp>
            <p:nvSpPr>
              <p:cNvPr id="27739" name="Rectangle 5">
                <a:extLst>
                  <a:ext uri="{FF2B5EF4-FFF2-40B4-BE49-F238E27FC236}">
                    <a16:creationId xmlns:a16="http://schemas.microsoft.com/office/drawing/2014/main" id="{66952A7D-571A-4FBE-A144-DDBAEB107F65}"/>
                  </a:ext>
                </a:extLst>
              </p:cNvPr>
              <p:cNvSpPr>
                <a:spLocks noChangeArrowheads="1"/>
              </p:cNvSpPr>
              <p:nvPr/>
            </p:nvSpPr>
            <p:spPr bwMode="auto">
              <a:xfrm>
                <a:off x="7925594" y="1447006"/>
                <a:ext cx="457200" cy="7620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7740" name="Straight Connector 6">
                <a:extLst>
                  <a:ext uri="{FF2B5EF4-FFF2-40B4-BE49-F238E27FC236}">
                    <a16:creationId xmlns:a16="http://schemas.microsoft.com/office/drawing/2014/main" id="{77120498-C11C-4279-98FA-5CAF5B66C7B8}"/>
                  </a:ext>
                </a:extLst>
              </p:cNvPr>
              <p:cNvCxnSpPr>
                <a:cxnSpLocks noChangeShapeType="1"/>
              </p:cNvCxnSpPr>
              <p:nvPr/>
            </p:nvCxnSpPr>
            <p:spPr bwMode="auto">
              <a:xfrm>
                <a:off x="7696994" y="1599406"/>
                <a:ext cx="228600" cy="0"/>
              </a:xfrm>
              <a:prstGeom prst="line">
                <a:avLst/>
              </a:prstGeom>
              <a:noFill/>
              <a:ln w="9525" algn="ctr">
                <a:solidFill>
                  <a:schemeClr val="tx1"/>
                </a:solidFill>
                <a:round/>
                <a:headEnd/>
                <a:tailEnd/>
              </a:ln>
            </p:spPr>
          </p:cxnSp>
          <p:cxnSp>
            <p:nvCxnSpPr>
              <p:cNvPr id="27741" name="Straight Connector 7">
                <a:extLst>
                  <a:ext uri="{FF2B5EF4-FFF2-40B4-BE49-F238E27FC236}">
                    <a16:creationId xmlns:a16="http://schemas.microsoft.com/office/drawing/2014/main" id="{1D875B33-3D11-4EE0-A59B-94097937B989}"/>
                  </a:ext>
                </a:extLst>
              </p:cNvPr>
              <p:cNvCxnSpPr>
                <a:cxnSpLocks noChangeShapeType="1"/>
              </p:cNvCxnSpPr>
              <p:nvPr/>
            </p:nvCxnSpPr>
            <p:spPr bwMode="auto">
              <a:xfrm>
                <a:off x="8382794" y="1599406"/>
                <a:ext cx="1143000" cy="0"/>
              </a:xfrm>
              <a:prstGeom prst="line">
                <a:avLst/>
              </a:prstGeom>
              <a:noFill/>
              <a:ln w="9525" algn="ctr">
                <a:solidFill>
                  <a:schemeClr val="tx1"/>
                </a:solidFill>
                <a:round/>
                <a:headEnd/>
                <a:tailEnd/>
              </a:ln>
            </p:spPr>
          </p:cxnSp>
          <p:sp>
            <p:nvSpPr>
              <p:cNvPr id="27742" name="TextBox 8">
                <a:extLst>
                  <a:ext uri="{FF2B5EF4-FFF2-40B4-BE49-F238E27FC236}">
                    <a16:creationId xmlns:a16="http://schemas.microsoft.com/office/drawing/2014/main" id="{45FE90BC-E261-44D1-94C2-00CCAD83A384}"/>
                  </a:ext>
                </a:extLst>
              </p:cNvPr>
              <p:cNvSpPr txBox="1">
                <a:spLocks noChangeArrowheads="1"/>
              </p:cNvSpPr>
              <p:nvPr/>
            </p:nvSpPr>
            <p:spPr bwMode="auto">
              <a:xfrm>
                <a:off x="7849394" y="1475581"/>
                <a:ext cx="60959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D        Q</a:t>
                </a:r>
              </a:p>
            </p:txBody>
          </p:sp>
          <p:sp>
            <p:nvSpPr>
              <p:cNvPr id="27743" name="Isosceles Triangle 9">
                <a:extLst>
                  <a:ext uri="{FF2B5EF4-FFF2-40B4-BE49-F238E27FC236}">
                    <a16:creationId xmlns:a16="http://schemas.microsoft.com/office/drawing/2014/main" id="{8F471563-F0D0-424E-AF4F-73AFA4C5B2B1}"/>
                  </a:ext>
                </a:extLst>
              </p:cNvPr>
              <p:cNvSpPr>
                <a:spLocks noChangeArrowheads="1"/>
              </p:cNvSpPr>
              <p:nvPr/>
            </p:nvSpPr>
            <p:spPr bwMode="auto">
              <a:xfrm rot="5400000">
                <a:off x="7887494" y="2018506"/>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27744" name="TextBox 10">
                <a:extLst>
                  <a:ext uri="{FF2B5EF4-FFF2-40B4-BE49-F238E27FC236}">
                    <a16:creationId xmlns:a16="http://schemas.microsoft.com/office/drawing/2014/main" id="{2C56C522-AEA9-4C8A-869B-B281E447E507}"/>
                  </a:ext>
                </a:extLst>
              </p:cNvPr>
              <p:cNvSpPr txBox="1">
                <a:spLocks noChangeArrowheads="1"/>
              </p:cNvSpPr>
              <p:nvPr/>
            </p:nvSpPr>
            <p:spPr bwMode="auto">
              <a:xfrm>
                <a:off x="7960519" y="1936809"/>
                <a:ext cx="5617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CLK</a:t>
                </a:r>
              </a:p>
            </p:txBody>
          </p:sp>
        </p:grpSp>
        <p:sp>
          <p:nvSpPr>
            <p:cNvPr id="27722" name="Flowchart: Delay 12">
              <a:extLst>
                <a:ext uri="{FF2B5EF4-FFF2-40B4-BE49-F238E27FC236}">
                  <a16:creationId xmlns:a16="http://schemas.microsoft.com/office/drawing/2014/main" id="{90FD044B-17E8-45D7-95FD-3679617FA756}"/>
                </a:ext>
              </a:extLst>
            </p:cNvPr>
            <p:cNvSpPr>
              <a:spLocks noChangeArrowheads="1"/>
            </p:cNvSpPr>
            <p:nvPr/>
          </p:nvSpPr>
          <p:spPr bwMode="auto">
            <a:xfrm>
              <a:off x="2438400" y="3657600"/>
              <a:ext cx="609600" cy="45720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27723" name="Isosceles Triangle 14">
              <a:extLst>
                <a:ext uri="{FF2B5EF4-FFF2-40B4-BE49-F238E27FC236}">
                  <a16:creationId xmlns:a16="http://schemas.microsoft.com/office/drawing/2014/main" id="{84CC58D7-5DA5-44F8-9E7B-37AA916A1EC5}"/>
                </a:ext>
              </a:extLst>
            </p:cNvPr>
            <p:cNvSpPr>
              <a:spLocks noChangeArrowheads="1"/>
            </p:cNvSpPr>
            <p:nvPr/>
          </p:nvSpPr>
          <p:spPr bwMode="auto">
            <a:xfrm rot="5400000">
              <a:off x="2514600" y="4343400"/>
              <a:ext cx="304800" cy="3048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7724" name="Straight Connector 20">
              <a:extLst>
                <a:ext uri="{FF2B5EF4-FFF2-40B4-BE49-F238E27FC236}">
                  <a16:creationId xmlns:a16="http://schemas.microsoft.com/office/drawing/2014/main" id="{88805D39-61DF-4340-8183-38512D9EC508}"/>
                </a:ext>
              </a:extLst>
            </p:cNvPr>
            <p:cNvCxnSpPr>
              <a:cxnSpLocks noChangeShapeType="1"/>
            </p:cNvCxnSpPr>
            <p:nvPr/>
          </p:nvCxnSpPr>
          <p:spPr bwMode="auto">
            <a:xfrm rot="10800000">
              <a:off x="609602" y="4953194"/>
              <a:ext cx="228598" cy="0"/>
            </a:xfrm>
            <a:prstGeom prst="line">
              <a:avLst/>
            </a:prstGeom>
            <a:noFill/>
            <a:ln w="9525" algn="ctr">
              <a:solidFill>
                <a:schemeClr val="tx1"/>
              </a:solidFill>
              <a:round/>
              <a:headEnd/>
              <a:tailEnd/>
            </a:ln>
          </p:spPr>
        </p:cxnSp>
        <p:cxnSp>
          <p:nvCxnSpPr>
            <p:cNvPr id="27725" name="Straight Connector 25">
              <a:extLst>
                <a:ext uri="{FF2B5EF4-FFF2-40B4-BE49-F238E27FC236}">
                  <a16:creationId xmlns:a16="http://schemas.microsoft.com/office/drawing/2014/main" id="{4931A00C-23B2-4F09-971C-5A486D9A5BF8}"/>
                </a:ext>
              </a:extLst>
            </p:cNvPr>
            <p:cNvCxnSpPr>
              <a:cxnSpLocks noChangeShapeType="1"/>
            </p:cNvCxnSpPr>
            <p:nvPr/>
          </p:nvCxnSpPr>
          <p:spPr bwMode="auto">
            <a:xfrm rot="5400000" flipH="1" flipV="1">
              <a:off x="457994" y="4267994"/>
              <a:ext cx="457200" cy="0"/>
            </a:xfrm>
            <a:prstGeom prst="line">
              <a:avLst/>
            </a:prstGeom>
            <a:noFill/>
            <a:ln w="9525" algn="ctr">
              <a:solidFill>
                <a:schemeClr val="tx1"/>
              </a:solidFill>
              <a:round/>
              <a:headEnd/>
              <a:tailEnd/>
            </a:ln>
          </p:spPr>
        </p:cxnSp>
        <p:cxnSp>
          <p:nvCxnSpPr>
            <p:cNvPr id="27726" name="Straight Connector 27">
              <a:extLst>
                <a:ext uri="{FF2B5EF4-FFF2-40B4-BE49-F238E27FC236}">
                  <a16:creationId xmlns:a16="http://schemas.microsoft.com/office/drawing/2014/main" id="{743AC7BE-5ECF-4E8E-9E30-5A41C5752375}"/>
                </a:ext>
              </a:extLst>
            </p:cNvPr>
            <p:cNvCxnSpPr>
              <a:cxnSpLocks noChangeShapeType="1"/>
            </p:cNvCxnSpPr>
            <p:nvPr/>
          </p:nvCxnSpPr>
          <p:spPr bwMode="auto">
            <a:xfrm>
              <a:off x="685800" y="4043363"/>
              <a:ext cx="838200" cy="0"/>
            </a:xfrm>
            <a:prstGeom prst="line">
              <a:avLst/>
            </a:prstGeom>
            <a:noFill/>
            <a:ln w="9525" algn="ctr">
              <a:solidFill>
                <a:schemeClr val="tx1"/>
              </a:solidFill>
              <a:round/>
              <a:headEnd/>
              <a:tailEnd/>
            </a:ln>
          </p:spPr>
        </p:cxnSp>
        <p:cxnSp>
          <p:nvCxnSpPr>
            <p:cNvPr id="27727" name="Straight Connector 29">
              <a:extLst>
                <a:ext uri="{FF2B5EF4-FFF2-40B4-BE49-F238E27FC236}">
                  <a16:creationId xmlns:a16="http://schemas.microsoft.com/office/drawing/2014/main" id="{D7DB359A-FC68-45A2-AB23-B7B4B2C4CE65}"/>
                </a:ext>
              </a:extLst>
            </p:cNvPr>
            <p:cNvCxnSpPr>
              <a:cxnSpLocks noChangeShapeType="1"/>
            </p:cNvCxnSpPr>
            <p:nvPr/>
          </p:nvCxnSpPr>
          <p:spPr bwMode="auto">
            <a:xfrm>
              <a:off x="1520031" y="4044157"/>
              <a:ext cx="0" cy="686594"/>
            </a:xfrm>
            <a:prstGeom prst="line">
              <a:avLst/>
            </a:prstGeom>
            <a:noFill/>
            <a:ln w="9525" algn="ctr">
              <a:solidFill>
                <a:schemeClr val="tx1"/>
              </a:solidFill>
              <a:round/>
              <a:headEnd/>
              <a:tailEnd/>
            </a:ln>
          </p:spPr>
        </p:cxnSp>
        <p:sp>
          <p:nvSpPr>
            <p:cNvPr id="27728" name="TextBox 32">
              <a:extLst>
                <a:ext uri="{FF2B5EF4-FFF2-40B4-BE49-F238E27FC236}">
                  <a16:creationId xmlns:a16="http://schemas.microsoft.com/office/drawing/2014/main" id="{F3755E66-7AB3-42E9-897A-8E5C678F5410}"/>
                </a:ext>
              </a:extLst>
            </p:cNvPr>
            <p:cNvSpPr txBox="1">
              <a:spLocks noChangeArrowheads="1"/>
            </p:cNvSpPr>
            <p:nvPr/>
          </p:nvSpPr>
          <p:spPr bwMode="auto">
            <a:xfrm>
              <a:off x="1095375" y="4591050"/>
              <a:ext cx="533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QN</a:t>
              </a:r>
            </a:p>
          </p:txBody>
        </p:sp>
        <p:cxnSp>
          <p:nvCxnSpPr>
            <p:cNvPr id="27729" name="Straight Connector 36">
              <a:extLst>
                <a:ext uri="{FF2B5EF4-FFF2-40B4-BE49-F238E27FC236}">
                  <a16:creationId xmlns:a16="http://schemas.microsoft.com/office/drawing/2014/main" id="{6921974D-D762-4D06-B860-65C9DBF0B26C}"/>
                </a:ext>
              </a:extLst>
            </p:cNvPr>
            <p:cNvCxnSpPr>
              <a:cxnSpLocks noChangeShapeType="1"/>
            </p:cNvCxnSpPr>
            <p:nvPr/>
          </p:nvCxnSpPr>
          <p:spPr bwMode="auto">
            <a:xfrm rot="10800000">
              <a:off x="1362078" y="4725988"/>
              <a:ext cx="161923" cy="0"/>
            </a:xfrm>
            <a:prstGeom prst="line">
              <a:avLst/>
            </a:prstGeom>
            <a:noFill/>
            <a:ln w="9525" algn="ctr">
              <a:solidFill>
                <a:schemeClr val="tx1"/>
              </a:solidFill>
              <a:round/>
              <a:headEnd/>
              <a:tailEnd/>
            </a:ln>
          </p:spPr>
        </p:cxnSp>
        <p:cxnSp>
          <p:nvCxnSpPr>
            <p:cNvPr id="27730" name="Straight Connector 39">
              <a:extLst>
                <a:ext uri="{FF2B5EF4-FFF2-40B4-BE49-F238E27FC236}">
                  <a16:creationId xmlns:a16="http://schemas.microsoft.com/office/drawing/2014/main" id="{EBF1224F-88ED-4E42-9480-3DE8932CBD60}"/>
                </a:ext>
              </a:extLst>
            </p:cNvPr>
            <p:cNvCxnSpPr>
              <a:cxnSpLocks noChangeShapeType="1"/>
            </p:cNvCxnSpPr>
            <p:nvPr/>
          </p:nvCxnSpPr>
          <p:spPr bwMode="auto">
            <a:xfrm rot="10800000">
              <a:off x="1905000" y="3735388"/>
              <a:ext cx="533400" cy="0"/>
            </a:xfrm>
            <a:prstGeom prst="line">
              <a:avLst/>
            </a:prstGeom>
            <a:noFill/>
            <a:ln w="9525" algn="ctr">
              <a:solidFill>
                <a:schemeClr val="tx1"/>
              </a:solidFill>
              <a:round/>
              <a:headEnd/>
              <a:tailEnd/>
            </a:ln>
          </p:spPr>
        </p:cxnSp>
        <p:cxnSp>
          <p:nvCxnSpPr>
            <p:cNvPr id="27731" name="Straight Connector 41">
              <a:extLst>
                <a:ext uri="{FF2B5EF4-FFF2-40B4-BE49-F238E27FC236}">
                  <a16:creationId xmlns:a16="http://schemas.microsoft.com/office/drawing/2014/main" id="{B8137F05-1A7B-42F0-A84F-2BAD04B0C8D4}"/>
                </a:ext>
              </a:extLst>
            </p:cNvPr>
            <p:cNvCxnSpPr>
              <a:cxnSpLocks noChangeShapeType="1"/>
            </p:cNvCxnSpPr>
            <p:nvPr/>
          </p:nvCxnSpPr>
          <p:spPr bwMode="auto">
            <a:xfrm rot="5400000">
              <a:off x="1524794" y="4115594"/>
              <a:ext cx="762000" cy="0"/>
            </a:xfrm>
            <a:prstGeom prst="line">
              <a:avLst/>
            </a:prstGeom>
            <a:noFill/>
            <a:ln w="9525" algn="ctr">
              <a:solidFill>
                <a:schemeClr val="tx1"/>
              </a:solidFill>
              <a:round/>
              <a:headEnd/>
              <a:tailEnd/>
            </a:ln>
          </p:spPr>
        </p:cxnSp>
        <p:cxnSp>
          <p:nvCxnSpPr>
            <p:cNvPr id="27732" name="Straight Connector 43">
              <a:extLst>
                <a:ext uri="{FF2B5EF4-FFF2-40B4-BE49-F238E27FC236}">
                  <a16:creationId xmlns:a16="http://schemas.microsoft.com/office/drawing/2014/main" id="{FCFC1572-D343-4599-8B29-0506616E380A}"/>
                </a:ext>
              </a:extLst>
            </p:cNvPr>
            <p:cNvCxnSpPr>
              <a:cxnSpLocks noChangeShapeType="1"/>
              <a:stCxn id="27722" idx="1"/>
            </p:cNvCxnSpPr>
            <p:nvPr/>
          </p:nvCxnSpPr>
          <p:spPr bwMode="auto">
            <a:xfrm rot="10800000">
              <a:off x="2133600" y="3887788"/>
              <a:ext cx="304800" cy="0"/>
            </a:xfrm>
            <a:prstGeom prst="line">
              <a:avLst/>
            </a:prstGeom>
            <a:noFill/>
            <a:ln w="9525" algn="ctr">
              <a:solidFill>
                <a:schemeClr val="tx1"/>
              </a:solidFill>
              <a:round/>
              <a:headEnd/>
              <a:tailEnd/>
            </a:ln>
          </p:spPr>
        </p:cxnSp>
        <p:cxnSp>
          <p:nvCxnSpPr>
            <p:cNvPr id="27733" name="Straight Connector 45">
              <a:extLst>
                <a:ext uri="{FF2B5EF4-FFF2-40B4-BE49-F238E27FC236}">
                  <a16:creationId xmlns:a16="http://schemas.microsoft.com/office/drawing/2014/main" id="{72981311-57FE-4746-ACBC-5406B04AC421}"/>
                </a:ext>
              </a:extLst>
            </p:cNvPr>
            <p:cNvCxnSpPr>
              <a:cxnSpLocks noChangeShapeType="1"/>
            </p:cNvCxnSpPr>
            <p:nvPr/>
          </p:nvCxnSpPr>
          <p:spPr bwMode="auto">
            <a:xfrm>
              <a:off x="2134394" y="3886994"/>
              <a:ext cx="0" cy="611038"/>
            </a:xfrm>
            <a:prstGeom prst="line">
              <a:avLst/>
            </a:prstGeom>
            <a:noFill/>
            <a:ln w="9525" algn="ctr">
              <a:solidFill>
                <a:schemeClr val="tx1"/>
              </a:solidFill>
              <a:round/>
              <a:headEnd/>
              <a:tailEnd/>
            </a:ln>
          </p:spPr>
        </p:cxnSp>
        <p:cxnSp>
          <p:nvCxnSpPr>
            <p:cNvPr id="27734" name="Straight Connector 47">
              <a:extLst>
                <a:ext uri="{FF2B5EF4-FFF2-40B4-BE49-F238E27FC236}">
                  <a16:creationId xmlns:a16="http://schemas.microsoft.com/office/drawing/2014/main" id="{4380C433-4DA5-43EE-BC1F-44AF3EC916F4}"/>
                </a:ext>
              </a:extLst>
            </p:cNvPr>
            <p:cNvCxnSpPr>
              <a:cxnSpLocks noChangeShapeType="1"/>
              <a:stCxn id="27722" idx="3"/>
            </p:cNvCxnSpPr>
            <p:nvPr/>
          </p:nvCxnSpPr>
          <p:spPr bwMode="auto">
            <a:xfrm>
              <a:off x="3048000" y="3886200"/>
              <a:ext cx="228600" cy="0"/>
            </a:xfrm>
            <a:prstGeom prst="line">
              <a:avLst/>
            </a:prstGeom>
            <a:noFill/>
            <a:ln w="9525" algn="ctr">
              <a:solidFill>
                <a:schemeClr val="tx1"/>
              </a:solidFill>
              <a:round/>
              <a:headEnd/>
              <a:tailEnd/>
            </a:ln>
          </p:spPr>
        </p:cxnSp>
        <p:cxnSp>
          <p:nvCxnSpPr>
            <p:cNvPr id="27735" name="Straight Connector 48">
              <a:extLst>
                <a:ext uri="{FF2B5EF4-FFF2-40B4-BE49-F238E27FC236}">
                  <a16:creationId xmlns:a16="http://schemas.microsoft.com/office/drawing/2014/main" id="{61CE1788-0E04-4C25-96A5-A3E7711F64BF}"/>
                </a:ext>
              </a:extLst>
            </p:cNvPr>
            <p:cNvCxnSpPr>
              <a:cxnSpLocks noChangeShapeType="1"/>
            </p:cNvCxnSpPr>
            <p:nvPr/>
          </p:nvCxnSpPr>
          <p:spPr bwMode="auto">
            <a:xfrm>
              <a:off x="2800350" y="4495800"/>
              <a:ext cx="228600" cy="0"/>
            </a:xfrm>
            <a:prstGeom prst="line">
              <a:avLst/>
            </a:prstGeom>
            <a:noFill/>
            <a:ln w="9525" algn="ctr">
              <a:solidFill>
                <a:schemeClr val="tx1"/>
              </a:solidFill>
              <a:round/>
              <a:headEnd/>
              <a:tailEnd/>
            </a:ln>
          </p:spPr>
        </p:cxnSp>
        <p:sp>
          <p:nvSpPr>
            <p:cNvPr id="27736" name="TextBox 53">
              <a:extLst>
                <a:ext uri="{FF2B5EF4-FFF2-40B4-BE49-F238E27FC236}">
                  <a16:creationId xmlns:a16="http://schemas.microsoft.com/office/drawing/2014/main" id="{A8E135E7-000E-47D0-93E1-62DBECEE7407}"/>
                </a:ext>
              </a:extLst>
            </p:cNvPr>
            <p:cNvSpPr txBox="1">
              <a:spLocks noChangeArrowheads="1"/>
            </p:cNvSpPr>
            <p:nvPr/>
          </p:nvSpPr>
          <p:spPr bwMode="auto">
            <a:xfrm>
              <a:off x="2438400" y="4364995"/>
              <a:ext cx="47625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solidFill>
                    <a:schemeClr val="bg1"/>
                  </a:solidFill>
                </a:rPr>
                <a:t>G2</a:t>
              </a:r>
            </a:p>
          </p:txBody>
        </p:sp>
        <p:sp>
          <p:nvSpPr>
            <p:cNvPr id="27737" name="TextBox 57">
              <a:extLst>
                <a:ext uri="{FF2B5EF4-FFF2-40B4-BE49-F238E27FC236}">
                  <a16:creationId xmlns:a16="http://schemas.microsoft.com/office/drawing/2014/main" id="{3C4B5EFC-100F-4362-AF15-28E2BBE459B3}"/>
                </a:ext>
              </a:extLst>
            </p:cNvPr>
            <p:cNvSpPr txBox="1">
              <a:spLocks noChangeArrowheads="1"/>
            </p:cNvSpPr>
            <p:nvPr/>
          </p:nvSpPr>
          <p:spPr bwMode="auto">
            <a:xfrm>
              <a:off x="2819400" y="4267200"/>
              <a:ext cx="9144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CLK2</a:t>
              </a:r>
            </a:p>
          </p:txBody>
        </p:sp>
        <p:sp>
          <p:nvSpPr>
            <p:cNvPr id="27738" name="TextBox 54">
              <a:extLst>
                <a:ext uri="{FF2B5EF4-FFF2-40B4-BE49-F238E27FC236}">
                  <a16:creationId xmlns:a16="http://schemas.microsoft.com/office/drawing/2014/main" id="{16376BE0-FC5F-4EEF-9B65-571F4E6E451E}"/>
                </a:ext>
              </a:extLst>
            </p:cNvPr>
            <p:cNvSpPr txBox="1">
              <a:spLocks noChangeArrowheads="1"/>
            </p:cNvSpPr>
            <p:nvPr/>
          </p:nvSpPr>
          <p:spPr bwMode="auto">
            <a:xfrm>
              <a:off x="2508250" y="3740268"/>
              <a:ext cx="6858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solidFill>
                    <a:schemeClr val="bg1"/>
                  </a:solidFill>
                </a:rPr>
                <a:t>G1</a:t>
              </a:r>
            </a:p>
          </p:txBody>
        </p:sp>
      </p:grpSp>
      <p:grpSp>
        <p:nvGrpSpPr>
          <p:cNvPr id="27653" name="Group 293">
            <a:extLst>
              <a:ext uri="{FF2B5EF4-FFF2-40B4-BE49-F238E27FC236}">
                <a16:creationId xmlns:a16="http://schemas.microsoft.com/office/drawing/2014/main" id="{50B219F8-472D-4F1D-8409-7E660C11E144}"/>
              </a:ext>
            </a:extLst>
          </p:cNvPr>
          <p:cNvGrpSpPr>
            <a:grpSpLocks/>
          </p:cNvGrpSpPr>
          <p:nvPr/>
        </p:nvGrpSpPr>
        <p:grpSpPr bwMode="auto">
          <a:xfrm>
            <a:off x="5855409" y="3189289"/>
            <a:ext cx="3835400" cy="1870075"/>
            <a:chOff x="4704370" y="3233749"/>
            <a:chExt cx="3836380" cy="1871653"/>
          </a:xfrm>
        </p:grpSpPr>
        <p:cxnSp>
          <p:nvCxnSpPr>
            <p:cNvPr id="77" name="Straight Connector 76">
              <a:extLst>
                <a:ext uri="{FF2B5EF4-FFF2-40B4-BE49-F238E27FC236}">
                  <a16:creationId xmlns:a16="http://schemas.microsoft.com/office/drawing/2014/main" id="{A83B9E02-02D8-4165-8FDE-75187BFCBC8F}"/>
                </a:ext>
              </a:extLst>
            </p:cNvPr>
            <p:cNvCxnSpPr/>
            <p:nvPr/>
          </p:nvCxnSpPr>
          <p:spPr bwMode="auto">
            <a:xfrm rot="5400000" flipH="1" flipV="1">
              <a:off x="5062313" y="3650820"/>
              <a:ext cx="4416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B44C748-ACE0-43DF-A7DE-A457CA8B6508}"/>
                </a:ext>
              </a:extLst>
            </p:cNvPr>
            <p:cNvCxnSpPr/>
            <p:nvPr/>
          </p:nvCxnSpPr>
          <p:spPr bwMode="auto">
            <a:xfrm>
              <a:off x="5279192" y="3429176"/>
              <a:ext cx="341399"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5F9590C-7398-49F7-8673-2486B7DEE461}"/>
                </a:ext>
              </a:extLst>
            </p:cNvPr>
            <p:cNvCxnSpPr/>
            <p:nvPr/>
          </p:nvCxnSpPr>
          <p:spPr bwMode="auto">
            <a:xfrm rot="5400000">
              <a:off x="5392597" y="3650820"/>
              <a:ext cx="4416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D2BDAFAB-C98D-40CC-A4C8-65EC4F00023B}"/>
                </a:ext>
              </a:extLst>
            </p:cNvPr>
            <p:cNvCxnSpPr/>
            <p:nvPr/>
          </p:nvCxnSpPr>
          <p:spPr bwMode="auto">
            <a:xfrm rot="10800000">
              <a:off x="5607888" y="3867695"/>
              <a:ext cx="314405"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1ABE853-B9A8-4784-A52E-C58493ABCF88}"/>
                </a:ext>
              </a:extLst>
            </p:cNvPr>
            <p:cNvCxnSpPr/>
            <p:nvPr/>
          </p:nvCxnSpPr>
          <p:spPr bwMode="auto">
            <a:xfrm rot="5400000" flipH="1" flipV="1">
              <a:off x="5700651" y="3650820"/>
              <a:ext cx="4416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0FA71A43-8718-4B6A-8A4F-1CA271242386}"/>
                </a:ext>
              </a:extLst>
            </p:cNvPr>
            <p:cNvCxnSpPr/>
            <p:nvPr/>
          </p:nvCxnSpPr>
          <p:spPr bwMode="auto">
            <a:xfrm>
              <a:off x="5922293" y="3432353"/>
              <a:ext cx="339812"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2BF29E-F8C5-4435-B6D2-28A27B947387}"/>
                </a:ext>
              </a:extLst>
            </p:cNvPr>
            <p:cNvCxnSpPr/>
            <p:nvPr/>
          </p:nvCxnSpPr>
          <p:spPr bwMode="auto">
            <a:xfrm rot="10800000">
              <a:off x="6262105" y="3867695"/>
              <a:ext cx="341400"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4BB6FDF9-73C9-4822-A62B-F4FA0C39A5A7}"/>
                </a:ext>
              </a:extLst>
            </p:cNvPr>
            <p:cNvCxnSpPr/>
            <p:nvPr/>
          </p:nvCxnSpPr>
          <p:spPr bwMode="auto">
            <a:xfrm rot="5400000">
              <a:off x="6038874" y="3650820"/>
              <a:ext cx="441697"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99FE7A8-6BBA-4ADD-AB46-3B75C1D650FB}"/>
                </a:ext>
              </a:extLst>
            </p:cNvPr>
            <p:cNvCxnSpPr/>
            <p:nvPr/>
          </p:nvCxnSpPr>
          <p:spPr bwMode="auto">
            <a:xfrm rot="5400000" flipH="1" flipV="1">
              <a:off x="6382656" y="3650025"/>
              <a:ext cx="44169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B251A0D8-F924-477B-AE67-709E6B54EC3B}"/>
                </a:ext>
              </a:extLst>
            </p:cNvPr>
            <p:cNvCxnSpPr/>
            <p:nvPr/>
          </p:nvCxnSpPr>
          <p:spPr bwMode="auto">
            <a:xfrm>
              <a:off x="6603505" y="3429176"/>
              <a:ext cx="341399"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1A1AAFF0-7EBA-456A-98BF-B0838CAFD178}"/>
                </a:ext>
              </a:extLst>
            </p:cNvPr>
            <p:cNvCxnSpPr/>
            <p:nvPr/>
          </p:nvCxnSpPr>
          <p:spPr bwMode="auto">
            <a:xfrm rot="5400000">
              <a:off x="6712940" y="3650025"/>
              <a:ext cx="44169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CBCE376D-C104-4E19-B185-C5F4FFE6CDEF}"/>
                </a:ext>
              </a:extLst>
            </p:cNvPr>
            <p:cNvCxnSpPr/>
            <p:nvPr/>
          </p:nvCxnSpPr>
          <p:spPr bwMode="auto">
            <a:xfrm rot="5400000" flipH="1" flipV="1">
              <a:off x="7021788" y="3649231"/>
              <a:ext cx="4416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0ABF4EA1-73F2-49B9-9FDB-37AC838286C1}"/>
                </a:ext>
              </a:extLst>
            </p:cNvPr>
            <p:cNvCxnSpPr/>
            <p:nvPr/>
          </p:nvCxnSpPr>
          <p:spPr bwMode="auto">
            <a:xfrm>
              <a:off x="7241843" y="3429176"/>
              <a:ext cx="341399"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D7C412B9-4720-4BC1-8376-93F04209CC61}"/>
                </a:ext>
              </a:extLst>
            </p:cNvPr>
            <p:cNvCxnSpPr/>
            <p:nvPr/>
          </p:nvCxnSpPr>
          <p:spPr bwMode="auto">
            <a:xfrm rot="10800000">
              <a:off x="7583242" y="3870873"/>
              <a:ext cx="296939"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DD7ABB4A-6701-4018-AB91-F471A8BE0729}"/>
                </a:ext>
              </a:extLst>
            </p:cNvPr>
            <p:cNvCxnSpPr/>
            <p:nvPr/>
          </p:nvCxnSpPr>
          <p:spPr bwMode="auto">
            <a:xfrm rot="5400000">
              <a:off x="7359217" y="3650025"/>
              <a:ext cx="44169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780DC989-AAEF-4AC2-B6BE-8E252DB004DE}"/>
                </a:ext>
              </a:extLst>
            </p:cNvPr>
            <p:cNvCxnSpPr/>
            <p:nvPr/>
          </p:nvCxnSpPr>
          <p:spPr bwMode="auto">
            <a:xfrm rot="5400000" flipH="1" flipV="1">
              <a:off x="7660126" y="3650820"/>
              <a:ext cx="4416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E2DF9E87-F32A-4C9D-85A5-79A504F05121}"/>
                </a:ext>
              </a:extLst>
            </p:cNvPr>
            <p:cNvCxnSpPr/>
            <p:nvPr/>
          </p:nvCxnSpPr>
          <p:spPr bwMode="auto">
            <a:xfrm>
              <a:off x="7880181" y="3429176"/>
              <a:ext cx="298526"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6E6D7434-94CB-426D-B355-CE9FAA9C1B8C}"/>
                </a:ext>
              </a:extLst>
            </p:cNvPr>
            <p:cNvCxnSpPr/>
            <p:nvPr/>
          </p:nvCxnSpPr>
          <p:spPr bwMode="auto">
            <a:xfrm rot="10800000">
              <a:off x="6930614" y="3867695"/>
              <a:ext cx="319169"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673" name="TextBox 46">
              <a:extLst>
                <a:ext uri="{FF2B5EF4-FFF2-40B4-BE49-F238E27FC236}">
                  <a16:creationId xmlns:a16="http://schemas.microsoft.com/office/drawing/2014/main" id="{D0B69CAE-E1A6-444B-A3D3-071EBD6E40E5}"/>
                </a:ext>
              </a:extLst>
            </p:cNvPr>
            <p:cNvSpPr txBox="1">
              <a:spLocks noChangeArrowheads="1"/>
            </p:cNvSpPr>
            <p:nvPr/>
          </p:nvSpPr>
          <p:spPr bwMode="auto">
            <a:xfrm>
              <a:off x="5177492" y="3233749"/>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sp>
          <p:nvSpPr>
            <p:cNvPr id="27674" name="TextBox 56">
              <a:extLst>
                <a:ext uri="{FF2B5EF4-FFF2-40B4-BE49-F238E27FC236}">
                  <a16:creationId xmlns:a16="http://schemas.microsoft.com/office/drawing/2014/main" id="{4B08666D-0F9A-412E-AC5E-A307813449E7}"/>
                </a:ext>
              </a:extLst>
            </p:cNvPr>
            <p:cNvSpPr txBox="1">
              <a:spLocks noChangeArrowheads="1"/>
            </p:cNvSpPr>
            <p:nvPr/>
          </p:nvSpPr>
          <p:spPr bwMode="auto">
            <a:xfrm>
              <a:off x="5517357" y="3241027"/>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sp>
          <p:nvSpPr>
            <p:cNvPr id="27675" name="TextBox 60">
              <a:extLst>
                <a:ext uri="{FF2B5EF4-FFF2-40B4-BE49-F238E27FC236}">
                  <a16:creationId xmlns:a16="http://schemas.microsoft.com/office/drawing/2014/main" id="{9E95B953-2468-42F5-9191-DD7C74B59013}"/>
                </a:ext>
              </a:extLst>
            </p:cNvPr>
            <p:cNvSpPr txBox="1">
              <a:spLocks noChangeArrowheads="1"/>
            </p:cNvSpPr>
            <p:nvPr/>
          </p:nvSpPr>
          <p:spPr bwMode="auto">
            <a:xfrm>
              <a:off x="5831399" y="3238512"/>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sp>
          <p:nvSpPr>
            <p:cNvPr id="27676" name="TextBox 61">
              <a:extLst>
                <a:ext uri="{FF2B5EF4-FFF2-40B4-BE49-F238E27FC236}">
                  <a16:creationId xmlns:a16="http://schemas.microsoft.com/office/drawing/2014/main" id="{CE3BD76F-167F-40DB-8960-C2A64FA9439E}"/>
                </a:ext>
              </a:extLst>
            </p:cNvPr>
            <p:cNvSpPr txBox="1">
              <a:spLocks noChangeArrowheads="1"/>
            </p:cNvSpPr>
            <p:nvPr/>
          </p:nvSpPr>
          <p:spPr bwMode="auto">
            <a:xfrm>
              <a:off x="6144113" y="3243275"/>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sp>
          <p:nvSpPr>
            <p:cNvPr id="27677" name="TextBox 62">
              <a:extLst>
                <a:ext uri="{FF2B5EF4-FFF2-40B4-BE49-F238E27FC236}">
                  <a16:creationId xmlns:a16="http://schemas.microsoft.com/office/drawing/2014/main" id="{02D80D96-66D3-4888-B11F-B8404BB1741B}"/>
                </a:ext>
              </a:extLst>
            </p:cNvPr>
            <p:cNvSpPr txBox="1">
              <a:spLocks noChangeArrowheads="1"/>
            </p:cNvSpPr>
            <p:nvPr/>
          </p:nvSpPr>
          <p:spPr bwMode="auto">
            <a:xfrm>
              <a:off x="6521769" y="3244850"/>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5</a:t>
              </a:r>
            </a:p>
          </p:txBody>
        </p:sp>
        <p:sp>
          <p:nvSpPr>
            <p:cNvPr id="27678" name="TextBox 63">
              <a:extLst>
                <a:ext uri="{FF2B5EF4-FFF2-40B4-BE49-F238E27FC236}">
                  <a16:creationId xmlns:a16="http://schemas.microsoft.com/office/drawing/2014/main" id="{78BD6808-2627-4A00-BECC-8BB6B5DEAB4E}"/>
                </a:ext>
              </a:extLst>
            </p:cNvPr>
            <p:cNvSpPr txBox="1">
              <a:spLocks noChangeArrowheads="1"/>
            </p:cNvSpPr>
            <p:nvPr/>
          </p:nvSpPr>
          <p:spPr bwMode="auto">
            <a:xfrm>
              <a:off x="6814346" y="3244850"/>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6</a:t>
              </a:r>
            </a:p>
          </p:txBody>
        </p:sp>
        <p:sp>
          <p:nvSpPr>
            <p:cNvPr id="27679" name="TextBox 64">
              <a:extLst>
                <a:ext uri="{FF2B5EF4-FFF2-40B4-BE49-F238E27FC236}">
                  <a16:creationId xmlns:a16="http://schemas.microsoft.com/office/drawing/2014/main" id="{C4991EF8-B51A-4F09-A910-263CD27701F5}"/>
                </a:ext>
              </a:extLst>
            </p:cNvPr>
            <p:cNvSpPr txBox="1">
              <a:spLocks noChangeArrowheads="1"/>
            </p:cNvSpPr>
            <p:nvPr/>
          </p:nvSpPr>
          <p:spPr bwMode="auto">
            <a:xfrm>
              <a:off x="7169022" y="3254375"/>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7</a:t>
              </a:r>
            </a:p>
          </p:txBody>
        </p:sp>
        <p:sp>
          <p:nvSpPr>
            <p:cNvPr id="27680" name="TextBox 65">
              <a:extLst>
                <a:ext uri="{FF2B5EF4-FFF2-40B4-BE49-F238E27FC236}">
                  <a16:creationId xmlns:a16="http://schemas.microsoft.com/office/drawing/2014/main" id="{C5EE0F4E-0604-477B-A141-45B7E90E76AB}"/>
                </a:ext>
              </a:extLst>
            </p:cNvPr>
            <p:cNvSpPr txBox="1">
              <a:spLocks noChangeArrowheads="1"/>
            </p:cNvSpPr>
            <p:nvPr/>
          </p:nvSpPr>
          <p:spPr bwMode="auto">
            <a:xfrm>
              <a:off x="7497439" y="3251200"/>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8</a:t>
              </a:r>
            </a:p>
          </p:txBody>
        </p:sp>
        <p:sp>
          <p:nvSpPr>
            <p:cNvPr id="27681" name="TextBox 66">
              <a:extLst>
                <a:ext uri="{FF2B5EF4-FFF2-40B4-BE49-F238E27FC236}">
                  <a16:creationId xmlns:a16="http://schemas.microsoft.com/office/drawing/2014/main" id="{8A087B3D-9CCC-4D1A-BEA5-E567725A00C7}"/>
                </a:ext>
              </a:extLst>
            </p:cNvPr>
            <p:cNvSpPr txBox="1">
              <a:spLocks noChangeArrowheads="1"/>
            </p:cNvSpPr>
            <p:nvPr/>
          </p:nvSpPr>
          <p:spPr bwMode="auto">
            <a:xfrm>
              <a:off x="7807048" y="3235325"/>
              <a:ext cx="127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9</a:t>
              </a:r>
            </a:p>
          </p:txBody>
        </p:sp>
        <p:cxnSp>
          <p:nvCxnSpPr>
            <p:cNvPr id="68" name="Straight Connector 67">
              <a:extLst>
                <a:ext uri="{FF2B5EF4-FFF2-40B4-BE49-F238E27FC236}">
                  <a16:creationId xmlns:a16="http://schemas.microsoft.com/office/drawing/2014/main" id="{8AE8433B-5477-4AC6-98B7-AE0D70F494F2}"/>
                </a:ext>
              </a:extLst>
            </p:cNvPr>
            <p:cNvCxnSpPr/>
            <p:nvPr/>
          </p:nvCxnSpPr>
          <p:spPr bwMode="auto">
            <a:xfrm rot="5400000" flipH="1" flipV="1">
              <a:off x="7949915" y="3657969"/>
              <a:ext cx="45758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683" name="TextBox 68">
              <a:extLst>
                <a:ext uri="{FF2B5EF4-FFF2-40B4-BE49-F238E27FC236}">
                  <a16:creationId xmlns:a16="http://schemas.microsoft.com/office/drawing/2014/main" id="{FAAAEFD6-D4B1-486E-9168-009E1BCB4E00}"/>
                </a:ext>
              </a:extLst>
            </p:cNvPr>
            <p:cNvSpPr txBox="1">
              <a:spLocks noChangeArrowheads="1"/>
            </p:cNvSpPr>
            <p:nvPr/>
          </p:nvSpPr>
          <p:spPr bwMode="auto">
            <a:xfrm>
              <a:off x="7986959" y="3238500"/>
              <a:ext cx="4446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10</a:t>
              </a:r>
            </a:p>
          </p:txBody>
        </p:sp>
        <p:cxnSp>
          <p:nvCxnSpPr>
            <p:cNvPr id="104" name="Straight Connector 103">
              <a:extLst>
                <a:ext uri="{FF2B5EF4-FFF2-40B4-BE49-F238E27FC236}">
                  <a16:creationId xmlns:a16="http://schemas.microsoft.com/office/drawing/2014/main" id="{CD6268D8-8938-4AE0-8728-907881DE4E4A}"/>
                </a:ext>
              </a:extLst>
            </p:cNvPr>
            <p:cNvCxnSpPr/>
            <p:nvPr/>
          </p:nvCxnSpPr>
          <p:spPr bwMode="auto">
            <a:xfrm rot="5400000" flipH="1" flipV="1">
              <a:off x="5398951" y="4240279"/>
              <a:ext cx="432164"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6916DB6D-7831-41AF-B84D-6E5718BFDB43}"/>
                </a:ext>
              </a:extLst>
            </p:cNvPr>
            <p:cNvCxnSpPr/>
            <p:nvPr/>
          </p:nvCxnSpPr>
          <p:spPr bwMode="auto">
            <a:xfrm rot="5400000" flipH="1" flipV="1">
              <a:off x="6046817" y="4240279"/>
              <a:ext cx="432164"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1982325-637D-4F99-954D-7638DCD2CF61}"/>
                </a:ext>
              </a:extLst>
            </p:cNvPr>
            <p:cNvCxnSpPr/>
            <p:nvPr/>
          </p:nvCxnSpPr>
          <p:spPr bwMode="auto">
            <a:xfrm rot="5400000" flipH="1" flipV="1">
              <a:off x="6719295" y="4241073"/>
              <a:ext cx="43216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F1E3CCBA-ECB6-49E9-A7DE-DA58CD6C127D}"/>
                </a:ext>
              </a:extLst>
            </p:cNvPr>
            <p:cNvCxnSpPr/>
            <p:nvPr/>
          </p:nvCxnSpPr>
          <p:spPr bwMode="auto">
            <a:xfrm rot="5400000" flipH="1" flipV="1">
              <a:off x="7370336" y="4241073"/>
              <a:ext cx="43216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E5FEFF75-DA5C-4738-A472-C7CECD3823AA}"/>
                </a:ext>
              </a:extLst>
            </p:cNvPr>
            <p:cNvCxnSpPr/>
            <p:nvPr/>
          </p:nvCxnSpPr>
          <p:spPr bwMode="auto">
            <a:xfrm rot="5400000" flipH="1" flipV="1">
              <a:off x="7965801" y="4231540"/>
              <a:ext cx="43216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D65D10EA-5DF4-460B-9D69-3E2B3FC0C765}"/>
                </a:ext>
              </a:extLst>
            </p:cNvPr>
            <p:cNvCxnSpPr/>
            <p:nvPr/>
          </p:nvCxnSpPr>
          <p:spPr bwMode="auto">
            <a:xfrm>
              <a:off x="5617415" y="4028169"/>
              <a:ext cx="65739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466ABB86-1AF2-4341-8A42-71D260BCDDA6}"/>
                </a:ext>
              </a:extLst>
            </p:cNvPr>
            <p:cNvCxnSpPr/>
            <p:nvPr/>
          </p:nvCxnSpPr>
          <p:spPr bwMode="auto">
            <a:xfrm>
              <a:off x="6938553" y="4020224"/>
              <a:ext cx="64945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EC09D5EB-4A08-46F4-A12E-E1FFFF2F429F}"/>
                </a:ext>
              </a:extLst>
            </p:cNvPr>
            <p:cNvCxnSpPr/>
            <p:nvPr/>
          </p:nvCxnSpPr>
          <p:spPr bwMode="auto">
            <a:xfrm>
              <a:off x="6262105" y="4460333"/>
              <a:ext cx="682799"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989E605F-EF46-48A3-AB15-F1E04D191CB3}"/>
                </a:ext>
              </a:extLst>
            </p:cNvPr>
            <p:cNvCxnSpPr/>
            <p:nvPr/>
          </p:nvCxnSpPr>
          <p:spPr bwMode="auto">
            <a:xfrm>
              <a:off x="8181883" y="4005925"/>
              <a:ext cx="35251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81076A69-57EE-47FC-8CB8-468667B52FBD}"/>
                </a:ext>
              </a:extLst>
            </p:cNvPr>
            <p:cNvCxnSpPr/>
            <p:nvPr/>
          </p:nvCxnSpPr>
          <p:spPr bwMode="auto">
            <a:xfrm>
              <a:off x="7583242" y="4450800"/>
              <a:ext cx="59546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BED2DFA4-9A9D-4AA3-815F-4BF8941A60D3}"/>
                </a:ext>
              </a:extLst>
            </p:cNvPr>
            <p:cNvCxnSpPr/>
            <p:nvPr/>
          </p:nvCxnSpPr>
          <p:spPr bwMode="auto">
            <a:xfrm>
              <a:off x="5295071" y="4460333"/>
              <a:ext cx="319169"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EE153D3F-60CF-426A-8E20-41F9697843EE}"/>
                </a:ext>
              </a:extLst>
            </p:cNvPr>
            <p:cNvCxnSpPr/>
            <p:nvPr/>
          </p:nvCxnSpPr>
          <p:spPr bwMode="auto">
            <a:xfrm>
              <a:off x="8175532" y="3886762"/>
              <a:ext cx="35886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18C77481-AAA7-4953-9FB3-EA5543BA36C0}"/>
                </a:ext>
              </a:extLst>
            </p:cNvPr>
            <p:cNvCxnSpPr/>
            <p:nvPr/>
          </p:nvCxnSpPr>
          <p:spPr bwMode="auto">
            <a:xfrm rot="5400000" flipH="1" flipV="1">
              <a:off x="5702240" y="4794784"/>
              <a:ext cx="43852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F929208A-BE5E-4DF0-93D2-C39C02FDD9DD}"/>
                </a:ext>
              </a:extLst>
            </p:cNvPr>
            <p:cNvCxnSpPr/>
            <p:nvPr/>
          </p:nvCxnSpPr>
          <p:spPr bwMode="auto">
            <a:xfrm>
              <a:off x="5923882" y="4571552"/>
              <a:ext cx="34457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FA4C4A0F-F53E-4B81-9DD3-C07C29C3733F}"/>
                </a:ext>
              </a:extLst>
            </p:cNvPr>
            <p:cNvCxnSpPr/>
            <p:nvPr/>
          </p:nvCxnSpPr>
          <p:spPr bwMode="auto">
            <a:xfrm rot="5400000" flipH="1" flipV="1">
              <a:off x="6044433" y="4798755"/>
              <a:ext cx="43852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7C4D4C52-3577-441D-9C2C-B4A28DCC1E1D}"/>
                </a:ext>
              </a:extLst>
            </p:cNvPr>
            <p:cNvCxnSpPr/>
            <p:nvPr/>
          </p:nvCxnSpPr>
          <p:spPr bwMode="auto">
            <a:xfrm rot="5400000" flipH="1" flipV="1">
              <a:off x="7017819" y="4811466"/>
              <a:ext cx="43852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42B4B16E-9038-450F-9E1B-FCE41DDC4C24}"/>
                </a:ext>
              </a:extLst>
            </p:cNvPr>
            <p:cNvCxnSpPr/>
            <p:nvPr/>
          </p:nvCxnSpPr>
          <p:spPr bwMode="auto">
            <a:xfrm rot="5400000" flipH="1" flipV="1">
              <a:off x="7365571" y="4809878"/>
              <a:ext cx="43852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6D178011-A4A9-4DE4-BEF7-203BE9D6B652}"/>
                </a:ext>
              </a:extLst>
            </p:cNvPr>
            <p:cNvCxnSpPr/>
            <p:nvPr/>
          </p:nvCxnSpPr>
          <p:spPr bwMode="auto">
            <a:xfrm>
              <a:off x="7233903" y="4582673"/>
              <a:ext cx="358867"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0ACF90B3-3C77-4CC9-BC3A-BA12A7F3F838}"/>
                </a:ext>
              </a:extLst>
            </p:cNvPr>
            <p:cNvCxnSpPr/>
            <p:nvPr/>
          </p:nvCxnSpPr>
          <p:spPr bwMode="auto">
            <a:xfrm>
              <a:off x="6254166" y="5025960"/>
              <a:ext cx="979737"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51D756C0-C3A0-4A19-BC80-68F7ACA0B2C7}"/>
                </a:ext>
              </a:extLst>
            </p:cNvPr>
            <p:cNvCxnSpPr/>
            <p:nvPr/>
          </p:nvCxnSpPr>
          <p:spPr bwMode="auto">
            <a:xfrm>
              <a:off x="5617415" y="5010072"/>
              <a:ext cx="30805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127C8F8F-2AA0-460D-ABAA-B53565C49927}"/>
                </a:ext>
              </a:extLst>
            </p:cNvPr>
            <p:cNvCxnSpPr/>
            <p:nvPr/>
          </p:nvCxnSpPr>
          <p:spPr bwMode="auto">
            <a:xfrm>
              <a:off x="5295071" y="5010072"/>
              <a:ext cx="309641"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997D4156-9DCD-4841-83C1-10E03F4B1FE5}"/>
                </a:ext>
              </a:extLst>
            </p:cNvPr>
            <p:cNvCxnSpPr/>
            <p:nvPr/>
          </p:nvCxnSpPr>
          <p:spPr bwMode="auto">
            <a:xfrm>
              <a:off x="7580067" y="5029138"/>
              <a:ext cx="96068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706" name="TextBox 315">
              <a:extLst>
                <a:ext uri="{FF2B5EF4-FFF2-40B4-BE49-F238E27FC236}">
                  <a16:creationId xmlns:a16="http://schemas.microsoft.com/office/drawing/2014/main" id="{CBBA0DE2-CBAB-4403-9F0B-C09AEDC2CD55}"/>
                </a:ext>
              </a:extLst>
            </p:cNvPr>
            <p:cNvSpPr txBox="1">
              <a:spLocks noChangeArrowheads="1"/>
            </p:cNvSpPr>
            <p:nvPr/>
          </p:nvSpPr>
          <p:spPr bwMode="auto">
            <a:xfrm>
              <a:off x="4707255" y="3667889"/>
              <a:ext cx="609600" cy="23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27707" name="TextBox 317">
              <a:extLst>
                <a:ext uri="{FF2B5EF4-FFF2-40B4-BE49-F238E27FC236}">
                  <a16:creationId xmlns:a16="http://schemas.microsoft.com/office/drawing/2014/main" id="{FFF215B2-C150-4A64-87C8-2D3248E07AFA}"/>
                </a:ext>
              </a:extLst>
            </p:cNvPr>
            <p:cNvSpPr txBox="1">
              <a:spLocks noChangeArrowheads="1"/>
            </p:cNvSpPr>
            <p:nvPr/>
          </p:nvSpPr>
          <p:spPr bwMode="auto">
            <a:xfrm>
              <a:off x="4706060" y="4793520"/>
              <a:ext cx="5048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CLK1</a:t>
              </a:r>
            </a:p>
          </p:txBody>
        </p:sp>
        <p:sp>
          <p:nvSpPr>
            <p:cNvPr id="27708" name="TextBox 168">
              <a:extLst>
                <a:ext uri="{FF2B5EF4-FFF2-40B4-BE49-F238E27FC236}">
                  <a16:creationId xmlns:a16="http://schemas.microsoft.com/office/drawing/2014/main" id="{5EA0F112-0ECB-4C99-8014-E6DAA09B2BAD}"/>
                </a:ext>
              </a:extLst>
            </p:cNvPr>
            <p:cNvSpPr txBox="1">
              <a:spLocks noChangeArrowheads="1"/>
            </p:cNvSpPr>
            <p:nvPr/>
          </p:nvSpPr>
          <p:spPr bwMode="auto">
            <a:xfrm>
              <a:off x="4704370" y="4231890"/>
              <a:ext cx="609600" cy="23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CLK2</a:t>
              </a:r>
            </a:p>
          </p:txBody>
        </p:sp>
        <p:cxnSp>
          <p:nvCxnSpPr>
            <p:cNvPr id="27709" name="Straight Connector 128">
              <a:extLst>
                <a:ext uri="{FF2B5EF4-FFF2-40B4-BE49-F238E27FC236}">
                  <a16:creationId xmlns:a16="http://schemas.microsoft.com/office/drawing/2014/main" id="{2BC468B2-410B-4602-8CB5-C8E3691E0068}"/>
                </a:ext>
              </a:extLst>
            </p:cNvPr>
            <p:cNvCxnSpPr>
              <a:cxnSpLocks noChangeShapeType="1"/>
            </p:cNvCxnSpPr>
            <p:nvPr/>
          </p:nvCxnSpPr>
          <p:spPr bwMode="auto">
            <a:xfrm>
              <a:off x="5284798" y="3882230"/>
              <a:ext cx="0" cy="122317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0" name="Straight Connector 130">
              <a:extLst>
                <a:ext uri="{FF2B5EF4-FFF2-40B4-BE49-F238E27FC236}">
                  <a16:creationId xmlns:a16="http://schemas.microsoft.com/office/drawing/2014/main" id="{090D2C70-672D-4538-AA14-A85C7338CAFA}"/>
                </a:ext>
              </a:extLst>
            </p:cNvPr>
            <p:cNvCxnSpPr>
              <a:cxnSpLocks noChangeShapeType="1"/>
            </p:cNvCxnSpPr>
            <p:nvPr/>
          </p:nvCxnSpPr>
          <p:spPr bwMode="auto">
            <a:xfrm>
              <a:off x="5612148" y="3871753"/>
              <a:ext cx="0" cy="123364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1" name="Straight Connector 131">
              <a:extLst>
                <a:ext uri="{FF2B5EF4-FFF2-40B4-BE49-F238E27FC236}">
                  <a16:creationId xmlns:a16="http://schemas.microsoft.com/office/drawing/2014/main" id="{728D5A4D-5F19-4AB1-BD97-3FE4E3A5AE95}"/>
                </a:ext>
              </a:extLst>
            </p:cNvPr>
            <p:cNvCxnSpPr>
              <a:cxnSpLocks noChangeShapeType="1"/>
            </p:cNvCxnSpPr>
            <p:nvPr/>
          </p:nvCxnSpPr>
          <p:spPr bwMode="auto">
            <a:xfrm>
              <a:off x="5921445" y="3884206"/>
              <a:ext cx="0" cy="1212299"/>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2" name="Straight Connector 132">
              <a:extLst>
                <a:ext uri="{FF2B5EF4-FFF2-40B4-BE49-F238E27FC236}">
                  <a16:creationId xmlns:a16="http://schemas.microsoft.com/office/drawing/2014/main" id="{AE2C99C9-618A-41AF-98DD-B782D777CFDA}"/>
                </a:ext>
              </a:extLst>
            </p:cNvPr>
            <p:cNvCxnSpPr>
              <a:cxnSpLocks noChangeShapeType="1"/>
            </p:cNvCxnSpPr>
            <p:nvPr/>
          </p:nvCxnSpPr>
          <p:spPr bwMode="auto">
            <a:xfrm>
              <a:off x="6260077" y="3886823"/>
              <a:ext cx="0" cy="120968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3" name="Straight Connector 133">
              <a:extLst>
                <a:ext uri="{FF2B5EF4-FFF2-40B4-BE49-F238E27FC236}">
                  <a16:creationId xmlns:a16="http://schemas.microsoft.com/office/drawing/2014/main" id="{595D1A69-26C2-4C1B-B4C4-8CFB1005FDDC}"/>
                </a:ext>
              </a:extLst>
            </p:cNvPr>
            <p:cNvCxnSpPr>
              <a:cxnSpLocks noChangeShapeType="1"/>
            </p:cNvCxnSpPr>
            <p:nvPr/>
          </p:nvCxnSpPr>
          <p:spPr bwMode="auto">
            <a:xfrm>
              <a:off x="6603604" y="3871579"/>
              <a:ext cx="0" cy="1233821"/>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4" name="Straight Connector 134">
              <a:extLst>
                <a:ext uri="{FF2B5EF4-FFF2-40B4-BE49-F238E27FC236}">
                  <a16:creationId xmlns:a16="http://schemas.microsoft.com/office/drawing/2014/main" id="{4162DA06-BB6A-48D5-AF5A-C2F163950D36}"/>
                </a:ext>
              </a:extLst>
            </p:cNvPr>
            <p:cNvCxnSpPr>
              <a:cxnSpLocks noChangeShapeType="1"/>
            </p:cNvCxnSpPr>
            <p:nvPr/>
          </p:nvCxnSpPr>
          <p:spPr bwMode="auto">
            <a:xfrm>
              <a:off x="6936584" y="3886821"/>
              <a:ext cx="0" cy="1218579"/>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5" name="Straight Connector 135">
              <a:extLst>
                <a:ext uri="{FF2B5EF4-FFF2-40B4-BE49-F238E27FC236}">
                  <a16:creationId xmlns:a16="http://schemas.microsoft.com/office/drawing/2014/main" id="{501296CF-187E-4BAD-B08D-283022724CFF}"/>
                </a:ext>
              </a:extLst>
            </p:cNvPr>
            <p:cNvCxnSpPr>
              <a:cxnSpLocks noChangeShapeType="1"/>
            </p:cNvCxnSpPr>
            <p:nvPr/>
          </p:nvCxnSpPr>
          <p:spPr bwMode="auto">
            <a:xfrm>
              <a:off x="7241110" y="3882214"/>
              <a:ext cx="0" cy="122318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6" name="Straight Connector 136">
              <a:extLst>
                <a:ext uri="{FF2B5EF4-FFF2-40B4-BE49-F238E27FC236}">
                  <a16:creationId xmlns:a16="http://schemas.microsoft.com/office/drawing/2014/main" id="{4D348576-ACDD-426E-999D-0A385E126A15}"/>
                </a:ext>
              </a:extLst>
            </p:cNvPr>
            <p:cNvCxnSpPr>
              <a:cxnSpLocks noChangeShapeType="1"/>
            </p:cNvCxnSpPr>
            <p:nvPr/>
          </p:nvCxnSpPr>
          <p:spPr bwMode="auto">
            <a:xfrm>
              <a:off x="7587713" y="3866974"/>
              <a:ext cx="0" cy="123842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7" name="Straight Connector 137">
              <a:extLst>
                <a:ext uri="{FF2B5EF4-FFF2-40B4-BE49-F238E27FC236}">
                  <a16:creationId xmlns:a16="http://schemas.microsoft.com/office/drawing/2014/main" id="{420ACB26-D90D-43CD-9CBA-7569FF49837F}"/>
                </a:ext>
              </a:extLst>
            </p:cNvPr>
            <p:cNvCxnSpPr>
              <a:cxnSpLocks noChangeShapeType="1"/>
            </p:cNvCxnSpPr>
            <p:nvPr/>
          </p:nvCxnSpPr>
          <p:spPr bwMode="auto">
            <a:xfrm>
              <a:off x="7886719" y="3881419"/>
              <a:ext cx="0" cy="1223981"/>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7718" name="Straight Connector 141">
              <a:extLst>
                <a:ext uri="{FF2B5EF4-FFF2-40B4-BE49-F238E27FC236}">
                  <a16:creationId xmlns:a16="http://schemas.microsoft.com/office/drawing/2014/main" id="{C291498A-C2BD-40E9-B627-E14D665C959E}"/>
                </a:ext>
              </a:extLst>
            </p:cNvPr>
            <p:cNvCxnSpPr>
              <a:cxnSpLocks noChangeShapeType="1"/>
            </p:cNvCxnSpPr>
            <p:nvPr/>
          </p:nvCxnSpPr>
          <p:spPr bwMode="auto">
            <a:xfrm>
              <a:off x="8180591" y="3896489"/>
              <a:ext cx="0" cy="1208913"/>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sp>
        <p:nvSpPr>
          <p:cNvPr id="27654" name="Oval 169">
            <a:extLst>
              <a:ext uri="{FF2B5EF4-FFF2-40B4-BE49-F238E27FC236}">
                <a16:creationId xmlns:a16="http://schemas.microsoft.com/office/drawing/2014/main" id="{9B2E8139-67BF-44C3-9705-DC79D7EB8B6B}"/>
              </a:ext>
            </a:extLst>
          </p:cNvPr>
          <p:cNvSpPr>
            <a:spLocks noChangeArrowheads="1"/>
          </p:cNvSpPr>
          <p:nvPr/>
        </p:nvSpPr>
        <p:spPr bwMode="auto">
          <a:xfrm>
            <a:off x="2478797" y="4686301"/>
            <a:ext cx="85725" cy="8572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9B7784E-ABB2-4CB6-A11C-E6BF777DDDC4}"/>
              </a:ext>
            </a:extLst>
          </p:cNvPr>
          <p:cNvSpPr>
            <a:spLocks noGrp="1"/>
          </p:cNvSpPr>
          <p:nvPr>
            <p:ph type="title"/>
          </p:nvPr>
        </p:nvSpPr>
        <p:spPr/>
        <p:txBody>
          <a:bodyPr>
            <a:normAutofit/>
          </a:bodyPr>
          <a:lstStyle/>
          <a:p>
            <a:r>
              <a:rPr lang="en-US" altLang="en-US"/>
              <a:t>Latency of Generated Clock </a:t>
            </a:r>
          </a:p>
        </p:txBody>
      </p:sp>
      <p:sp>
        <p:nvSpPr>
          <p:cNvPr id="28675" name="Content Placeholder 2">
            <a:extLst>
              <a:ext uri="{FF2B5EF4-FFF2-40B4-BE49-F238E27FC236}">
                <a16:creationId xmlns:a16="http://schemas.microsoft.com/office/drawing/2014/main" id="{372BBC09-AA85-4A39-B4C1-084C2D057F7B}"/>
              </a:ext>
            </a:extLst>
          </p:cNvPr>
          <p:cNvSpPr>
            <a:spLocks noGrp="1"/>
          </p:cNvSpPr>
          <p:nvPr>
            <p:ph type="body" sz="quarter" idx="10"/>
          </p:nvPr>
        </p:nvSpPr>
        <p:spPr/>
        <p:txBody>
          <a:bodyPr/>
          <a:lstStyle/>
          <a:p>
            <a:r>
              <a:rPr lang="en-US" altLang="en-US" sz="2000" dirty="0"/>
              <a:t>Generated clock total latency is the sum of:</a:t>
            </a:r>
          </a:p>
          <a:p>
            <a:pPr lvl="1"/>
            <a:r>
              <a:rPr lang="en-US" altLang="en-US" sz="1600" dirty="0"/>
              <a:t>Master clock source latency</a:t>
            </a:r>
          </a:p>
          <a:p>
            <a:pPr lvl="1"/>
            <a:r>
              <a:rPr lang="en-US" altLang="en-US" sz="1600" dirty="0"/>
              <a:t>Generated clock source latency</a:t>
            </a:r>
          </a:p>
          <a:p>
            <a:pPr lvl="1"/>
            <a:r>
              <a:rPr lang="en-US" altLang="en-US" sz="1600" dirty="0"/>
              <a:t>Generated clock network latency</a:t>
            </a:r>
          </a:p>
        </p:txBody>
      </p:sp>
      <p:grpSp>
        <p:nvGrpSpPr>
          <p:cNvPr id="28676" name="Group 5">
            <a:extLst>
              <a:ext uri="{FF2B5EF4-FFF2-40B4-BE49-F238E27FC236}">
                <a16:creationId xmlns:a16="http://schemas.microsoft.com/office/drawing/2014/main" id="{864D3F31-11C2-4627-84B9-4451F2E16F18}"/>
              </a:ext>
            </a:extLst>
          </p:cNvPr>
          <p:cNvGrpSpPr>
            <a:grpSpLocks/>
          </p:cNvGrpSpPr>
          <p:nvPr/>
        </p:nvGrpSpPr>
        <p:grpSpPr bwMode="auto">
          <a:xfrm>
            <a:off x="2514600" y="3057526"/>
            <a:ext cx="6934200" cy="2352675"/>
            <a:chOff x="990601" y="3057525"/>
            <a:chExt cx="6934199" cy="2352675"/>
          </a:xfrm>
        </p:grpSpPr>
        <p:grpSp>
          <p:nvGrpSpPr>
            <p:cNvPr id="28677" name="Group 17">
              <a:extLst>
                <a:ext uri="{FF2B5EF4-FFF2-40B4-BE49-F238E27FC236}">
                  <a16:creationId xmlns:a16="http://schemas.microsoft.com/office/drawing/2014/main" id="{8DF9C433-7DC5-4E93-B275-782F9CA12394}"/>
                </a:ext>
              </a:extLst>
            </p:cNvPr>
            <p:cNvGrpSpPr>
              <a:grpSpLocks/>
            </p:cNvGrpSpPr>
            <p:nvPr/>
          </p:nvGrpSpPr>
          <p:grpSpPr bwMode="auto">
            <a:xfrm>
              <a:off x="7010400" y="3800475"/>
              <a:ext cx="914400" cy="762000"/>
              <a:chOff x="7772400" y="1905000"/>
              <a:chExt cx="914400" cy="762000"/>
            </a:xfrm>
          </p:grpSpPr>
          <p:grpSp>
            <p:nvGrpSpPr>
              <p:cNvPr id="28707" name="Group 14">
                <a:extLst>
                  <a:ext uri="{FF2B5EF4-FFF2-40B4-BE49-F238E27FC236}">
                    <a16:creationId xmlns:a16="http://schemas.microsoft.com/office/drawing/2014/main" id="{CC6B6283-067A-4058-9E02-C2C9EA4F910A}"/>
                  </a:ext>
                </a:extLst>
              </p:cNvPr>
              <p:cNvGrpSpPr>
                <a:grpSpLocks/>
              </p:cNvGrpSpPr>
              <p:nvPr/>
            </p:nvGrpSpPr>
            <p:grpSpPr bwMode="auto">
              <a:xfrm>
                <a:off x="7772400" y="1905000"/>
                <a:ext cx="838200" cy="762000"/>
                <a:chOff x="7696994" y="1447006"/>
                <a:chExt cx="838200" cy="762000"/>
              </a:xfrm>
            </p:grpSpPr>
            <p:sp>
              <p:nvSpPr>
                <p:cNvPr id="28709" name="Rectangle 9">
                  <a:extLst>
                    <a:ext uri="{FF2B5EF4-FFF2-40B4-BE49-F238E27FC236}">
                      <a16:creationId xmlns:a16="http://schemas.microsoft.com/office/drawing/2014/main" id="{F20275C6-A498-454D-9922-E329937B9B11}"/>
                    </a:ext>
                  </a:extLst>
                </p:cNvPr>
                <p:cNvSpPr>
                  <a:spLocks noChangeArrowheads="1"/>
                </p:cNvSpPr>
                <p:nvPr/>
              </p:nvSpPr>
              <p:spPr bwMode="auto">
                <a:xfrm>
                  <a:off x="7925594" y="1447006"/>
                  <a:ext cx="457200" cy="7620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710" name="Straight Connector 10">
                  <a:extLst>
                    <a:ext uri="{FF2B5EF4-FFF2-40B4-BE49-F238E27FC236}">
                      <a16:creationId xmlns:a16="http://schemas.microsoft.com/office/drawing/2014/main" id="{C682C71F-8E0E-47FE-990A-E38D906B4805}"/>
                    </a:ext>
                  </a:extLst>
                </p:cNvPr>
                <p:cNvCxnSpPr>
                  <a:cxnSpLocks noChangeShapeType="1"/>
                </p:cNvCxnSpPr>
                <p:nvPr/>
              </p:nvCxnSpPr>
              <p:spPr bwMode="auto">
                <a:xfrm>
                  <a:off x="7696994" y="1599406"/>
                  <a:ext cx="228600" cy="0"/>
                </a:xfrm>
                <a:prstGeom prst="line">
                  <a:avLst/>
                </a:prstGeom>
                <a:noFill/>
                <a:ln w="9525" algn="ctr">
                  <a:solidFill>
                    <a:schemeClr val="tx1"/>
                  </a:solidFill>
                  <a:round/>
                  <a:headEnd/>
                  <a:tailEnd/>
                </a:ln>
              </p:spPr>
            </p:cxnSp>
            <p:sp>
              <p:nvSpPr>
                <p:cNvPr id="28711" name="TextBox 11">
                  <a:extLst>
                    <a:ext uri="{FF2B5EF4-FFF2-40B4-BE49-F238E27FC236}">
                      <a16:creationId xmlns:a16="http://schemas.microsoft.com/office/drawing/2014/main" id="{97A66183-6D6F-446D-8D80-1101FACB71DE}"/>
                    </a:ext>
                  </a:extLst>
                </p:cNvPr>
                <p:cNvSpPr txBox="1">
                  <a:spLocks noChangeArrowheads="1"/>
                </p:cNvSpPr>
                <p:nvPr/>
              </p:nvSpPr>
              <p:spPr bwMode="auto">
                <a:xfrm>
                  <a:off x="7849394" y="1523206"/>
                  <a:ext cx="60959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        Q</a:t>
                  </a:r>
                </a:p>
              </p:txBody>
            </p:sp>
            <p:sp>
              <p:nvSpPr>
                <p:cNvPr id="28712" name="Isosceles Triangle 12">
                  <a:extLst>
                    <a:ext uri="{FF2B5EF4-FFF2-40B4-BE49-F238E27FC236}">
                      <a16:creationId xmlns:a16="http://schemas.microsoft.com/office/drawing/2014/main" id="{3B8F1CF3-B3A5-43F8-8216-693DF9B6FE0D}"/>
                    </a:ext>
                  </a:extLst>
                </p:cNvPr>
                <p:cNvSpPr>
                  <a:spLocks noChangeArrowheads="1"/>
                </p:cNvSpPr>
                <p:nvPr/>
              </p:nvSpPr>
              <p:spPr bwMode="auto">
                <a:xfrm rot="5400000">
                  <a:off x="7887494" y="2018506"/>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8713" name="TextBox 13">
                  <a:extLst>
                    <a:ext uri="{FF2B5EF4-FFF2-40B4-BE49-F238E27FC236}">
                      <a16:creationId xmlns:a16="http://schemas.microsoft.com/office/drawing/2014/main" id="{255F3446-FC6D-46A5-9D7D-F8A04A2D4618}"/>
                    </a:ext>
                  </a:extLst>
                </p:cNvPr>
                <p:cNvSpPr txBox="1">
                  <a:spLocks noChangeArrowheads="1"/>
                </p:cNvSpPr>
                <p:nvPr/>
              </p:nvSpPr>
              <p:spPr bwMode="auto">
                <a:xfrm>
                  <a:off x="8001794" y="1904206"/>
                  <a:ext cx="533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CLK</a:t>
                  </a:r>
                </a:p>
              </p:txBody>
            </p:sp>
          </p:grpSp>
          <p:cxnSp>
            <p:nvCxnSpPr>
              <p:cNvPr id="28708" name="Straight Connector 15">
                <a:extLst>
                  <a:ext uri="{FF2B5EF4-FFF2-40B4-BE49-F238E27FC236}">
                    <a16:creationId xmlns:a16="http://schemas.microsoft.com/office/drawing/2014/main" id="{8DD4B81C-BF38-49DB-BD8B-43728410FDB2}"/>
                  </a:ext>
                </a:extLst>
              </p:cNvPr>
              <p:cNvCxnSpPr>
                <a:cxnSpLocks noChangeShapeType="1"/>
              </p:cNvCxnSpPr>
              <p:nvPr/>
            </p:nvCxnSpPr>
            <p:spPr bwMode="auto">
              <a:xfrm>
                <a:off x="8458200" y="2085975"/>
                <a:ext cx="228600" cy="0"/>
              </a:xfrm>
              <a:prstGeom prst="line">
                <a:avLst/>
              </a:prstGeom>
              <a:noFill/>
              <a:ln w="9525" algn="ctr">
                <a:solidFill>
                  <a:schemeClr val="tx1"/>
                </a:solidFill>
                <a:round/>
                <a:headEnd/>
                <a:tailEnd/>
              </a:ln>
            </p:spPr>
          </p:cxnSp>
        </p:grpSp>
        <p:sp>
          <p:nvSpPr>
            <p:cNvPr id="28678" name="Isosceles Triangle 16">
              <a:extLst>
                <a:ext uri="{FF2B5EF4-FFF2-40B4-BE49-F238E27FC236}">
                  <a16:creationId xmlns:a16="http://schemas.microsoft.com/office/drawing/2014/main" id="{EA8E0D02-9697-4CA0-9CE2-A4AC0769DCE8}"/>
                </a:ext>
              </a:extLst>
            </p:cNvPr>
            <p:cNvSpPr>
              <a:spLocks noChangeArrowheads="1"/>
            </p:cNvSpPr>
            <p:nvPr/>
          </p:nvSpPr>
          <p:spPr bwMode="auto">
            <a:xfrm rot="5400000">
              <a:off x="5143500" y="3848100"/>
              <a:ext cx="457200" cy="5334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679" name="Straight Connector 19">
              <a:extLst>
                <a:ext uri="{FF2B5EF4-FFF2-40B4-BE49-F238E27FC236}">
                  <a16:creationId xmlns:a16="http://schemas.microsoft.com/office/drawing/2014/main" id="{0438EBBB-FBC8-49CE-8402-1761A8F31F55}"/>
                </a:ext>
              </a:extLst>
            </p:cNvPr>
            <p:cNvCxnSpPr>
              <a:cxnSpLocks noChangeShapeType="1"/>
            </p:cNvCxnSpPr>
            <p:nvPr/>
          </p:nvCxnSpPr>
          <p:spPr bwMode="auto">
            <a:xfrm rot="10800000">
              <a:off x="6324600" y="4411663"/>
              <a:ext cx="914400" cy="0"/>
            </a:xfrm>
            <a:prstGeom prst="line">
              <a:avLst/>
            </a:prstGeom>
            <a:noFill/>
            <a:ln w="9525" algn="ctr">
              <a:solidFill>
                <a:schemeClr val="tx1"/>
              </a:solidFill>
              <a:round/>
              <a:headEnd/>
              <a:tailEnd/>
            </a:ln>
          </p:spPr>
        </p:cxnSp>
        <p:cxnSp>
          <p:nvCxnSpPr>
            <p:cNvPr id="28680" name="Straight Connector 21">
              <a:extLst>
                <a:ext uri="{FF2B5EF4-FFF2-40B4-BE49-F238E27FC236}">
                  <a16:creationId xmlns:a16="http://schemas.microsoft.com/office/drawing/2014/main" id="{737EEAEC-2FC3-40AE-A3BD-9265222F8B80}"/>
                </a:ext>
              </a:extLst>
            </p:cNvPr>
            <p:cNvCxnSpPr>
              <a:cxnSpLocks noChangeShapeType="1"/>
            </p:cNvCxnSpPr>
            <p:nvPr/>
          </p:nvCxnSpPr>
          <p:spPr bwMode="auto">
            <a:xfrm rot="5400000" flipH="1" flipV="1">
              <a:off x="6176169" y="4262438"/>
              <a:ext cx="296069" cy="794"/>
            </a:xfrm>
            <a:prstGeom prst="line">
              <a:avLst/>
            </a:prstGeom>
            <a:noFill/>
            <a:ln w="9525" algn="ctr">
              <a:solidFill>
                <a:schemeClr val="tx1"/>
              </a:solidFill>
              <a:round/>
              <a:headEnd/>
              <a:tailEnd/>
            </a:ln>
          </p:spPr>
        </p:cxnSp>
        <p:cxnSp>
          <p:nvCxnSpPr>
            <p:cNvPr id="28681" name="Straight Connector 23">
              <a:extLst>
                <a:ext uri="{FF2B5EF4-FFF2-40B4-BE49-F238E27FC236}">
                  <a16:creationId xmlns:a16="http://schemas.microsoft.com/office/drawing/2014/main" id="{CA9BA06E-EE10-47FC-BFFB-EF214DF227FE}"/>
                </a:ext>
              </a:extLst>
            </p:cNvPr>
            <p:cNvCxnSpPr>
              <a:cxnSpLocks noChangeShapeType="1"/>
              <a:endCxn id="28678" idx="0"/>
            </p:cNvCxnSpPr>
            <p:nvPr/>
          </p:nvCxnSpPr>
          <p:spPr bwMode="auto">
            <a:xfrm rot="10800000">
              <a:off x="5638800" y="4116388"/>
              <a:ext cx="685800" cy="0"/>
            </a:xfrm>
            <a:prstGeom prst="line">
              <a:avLst/>
            </a:prstGeom>
            <a:noFill/>
            <a:ln w="9525" algn="ctr">
              <a:solidFill>
                <a:schemeClr val="tx1"/>
              </a:solidFill>
              <a:round/>
              <a:headEnd/>
              <a:tailEnd/>
            </a:ln>
          </p:spPr>
        </p:cxnSp>
        <p:cxnSp>
          <p:nvCxnSpPr>
            <p:cNvPr id="28682" name="Straight Connector 26">
              <a:extLst>
                <a:ext uri="{FF2B5EF4-FFF2-40B4-BE49-F238E27FC236}">
                  <a16:creationId xmlns:a16="http://schemas.microsoft.com/office/drawing/2014/main" id="{FA665631-354D-4CBA-9305-B59C2B244345}"/>
                </a:ext>
              </a:extLst>
            </p:cNvPr>
            <p:cNvCxnSpPr>
              <a:cxnSpLocks noChangeShapeType="1"/>
              <a:endCxn id="28678" idx="3"/>
            </p:cNvCxnSpPr>
            <p:nvPr/>
          </p:nvCxnSpPr>
          <p:spPr bwMode="auto">
            <a:xfrm flipV="1">
              <a:off x="4419600" y="4114800"/>
              <a:ext cx="685800" cy="0"/>
            </a:xfrm>
            <a:prstGeom prst="line">
              <a:avLst/>
            </a:prstGeom>
            <a:noFill/>
            <a:ln w="9525" algn="ctr">
              <a:solidFill>
                <a:schemeClr val="tx1"/>
              </a:solidFill>
              <a:round/>
              <a:headEnd/>
              <a:tailEnd/>
            </a:ln>
          </p:spPr>
        </p:cxnSp>
        <p:cxnSp>
          <p:nvCxnSpPr>
            <p:cNvPr id="28683" name="Straight Connector 28">
              <a:extLst>
                <a:ext uri="{FF2B5EF4-FFF2-40B4-BE49-F238E27FC236}">
                  <a16:creationId xmlns:a16="http://schemas.microsoft.com/office/drawing/2014/main" id="{CE207A10-1566-48C7-AFAB-CA49402FE625}"/>
                </a:ext>
              </a:extLst>
            </p:cNvPr>
            <p:cNvCxnSpPr>
              <a:cxnSpLocks noChangeShapeType="1"/>
            </p:cNvCxnSpPr>
            <p:nvPr/>
          </p:nvCxnSpPr>
          <p:spPr bwMode="auto">
            <a:xfrm flipH="1">
              <a:off x="3048000" y="4114800"/>
              <a:ext cx="685800" cy="0"/>
            </a:xfrm>
            <a:prstGeom prst="line">
              <a:avLst/>
            </a:prstGeom>
            <a:noFill/>
            <a:ln w="9525" algn="ctr">
              <a:solidFill>
                <a:schemeClr val="tx1"/>
              </a:solidFill>
              <a:round/>
              <a:headEnd/>
              <a:tailEnd/>
            </a:ln>
          </p:spPr>
        </p:cxnSp>
        <p:sp>
          <p:nvSpPr>
            <p:cNvPr id="28684" name="Rectangle 29">
              <a:extLst>
                <a:ext uri="{FF2B5EF4-FFF2-40B4-BE49-F238E27FC236}">
                  <a16:creationId xmlns:a16="http://schemas.microsoft.com/office/drawing/2014/main" id="{C0BA3A07-D1BA-4759-8871-AF5ABA91EE80}"/>
                </a:ext>
              </a:extLst>
            </p:cNvPr>
            <p:cNvSpPr>
              <a:spLocks noChangeArrowheads="1"/>
            </p:cNvSpPr>
            <p:nvPr/>
          </p:nvSpPr>
          <p:spPr bwMode="auto">
            <a:xfrm>
              <a:off x="2971800" y="4038600"/>
              <a:ext cx="152400" cy="1524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8685" name="Rectangle 30">
              <a:extLst>
                <a:ext uri="{FF2B5EF4-FFF2-40B4-BE49-F238E27FC236}">
                  <a16:creationId xmlns:a16="http://schemas.microsoft.com/office/drawing/2014/main" id="{E90A3665-9447-469F-A2A7-20A4C99686D5}"/>
                </a:ext>
              </a:extLst>
            </p:cNvPr>
            <p:cNvSpPr>
              <a:spLocks noChangeArrowheads="1"/>
            </p:cNvSpPr>
            <p:nvPr/>
          </p:nvSpPr>
          <p:spPr bwMode="auto">
            <a:xfrm>
              <a:off x="1543050" y="4038600"/>
              <a:ext cx="152400" cy="1524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686" name="Straight Connector 32">
              <a:extLst>
                <a:ext uri="{FF2B5EF4-FFF2-40B4-BE49-F238E27FC236}">
                  <a16:creationId xmlns:a16="http://schemas.microsoft.com/office/drawing/2014/main" id="{8FD4F879-45DB-4303-A1A5-160726B88D51}"/>
                </a:ext>
              </a:extLst>
            </p:cNvPr>
            <p:cNvCxnSpPr>
              <a:cxnSpLocks noChangeShapeType="1"/>
              <a:stCxn id="28684" idx="1"/>
              <a:endCxn id="28685" idx="3"/>
            </p:cNvCxnSpPr>
            <p:nvPr/>
          </p:nvCxnSpPr>
          <p:spPr bwMode="auto">
            <a:xfrm rot="10800000">
              <a:off x="1695450" y="4116388"/>
              <a:ext cx="1276350" cy="0"/>
            </a:xfrm>
            <a:prstGeom prst="line">
              <a:avLst/>
            </a:prstGeom>
            <a:noFill/>
            <a:ln w="9525" algn="ctr">
              <a:solidFill>
                <a:schemeClr val="tx1"/>
              </a:solidFill>
              <a:round/>
              <a:headEnd/>
              <a:tailEnd/>
            </a:ln>
          </p:spPr>
        </p:cxnSp>
        <p:cxnSp>
          <p:nvCxnSpPr>
            <p:cNvPr id="28687" name="Straight Connector 35">
              <a:extLst>
                <a:ext uri="{FF2B5EF4-FFF2-40B4-BE49-F238E27FC236}">
                  <a16:creationId xmlns:a16="http://schemas.microsoft.com/office/drawing/2014/main" id="{5E04F551-388B-4456-B80C-F3D702BB46E7}"/>
                </a:ext>
              </a:extLst>
            </p:cNvPr>
            <p:cNvCxnSpPr>
              <a:cxnSpLocks noChangeShapeType="1"/>
              <a:stCxn id="28712" idx="4"/>
            </p:cNvCxnSpPr>
            <p:nvPr/>
          </p:nvCxnSpPr>
          <p:spPr bwMode="auto">
            <a:xfrm rot="10800000" flipV="1">
              <a:off x="7240588" y="4486274"/>
              <a:ext cx="0" cy="8477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8688" name="Straight Connector 36">
              <a:extLst>
                <a:ext uri="{FF2B5EF4-FFF2-40B4-BE49-F238E27FC236}">
                  <a16:creationId xmlns:a16="http://schemas.microsoft.com/office/drawing/2014/main" id="{4675061B-FFC7-43CE-BCB7-0408DDFC154D}"/>
                </a:ext>
              </a:extLst>
            </p:cNvPr>
            <p:cNvCxnSpPr>
              <a:cxnSpLocks noChangeShapeType="1"/>
            </p:cNvCxnSpPr>
            <p:nvPr/>
          </p:nvCxnSpPr>
          <p:spPr bwMode="auto">
            <a:xfrm rot="5400000">
              <a:off x="5068888" y="4686300"/>
              <a:ext cx="11430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8689" name="Straight Connector 38">
              <a:extLst>
                <a:ext uri="{FF2B5EF4-FFF2-40B4-BE49-F238E27FC236}">
                  <a16:creationId xmlns:a16="http://schemas.microsoft.com/office/drawing/2014/main" id="{0422044B-89EA-4B96-B70B-47BC032E7EE2}"/>
                </a:ext>
              </a:extLst>
            </p:cNvPr>
            <p:cNvCxnSpPr>
              <a:cxnSpLocks noChangeShapeType="1"/>
            </p:cNvCxnSpPr>
            <p:nvPr/>
          </p:nvCxnSpPr>
          <p:spPr bwMode="auto">
            <a:xfrm rot="5400000">
              <a:off x="2478088" y="4762500"/>
              <a:ext cx="11430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8690" name="Straight Connector 39">
              <a:extLst>
                <a:ext uri="{FF2B5EF4-FFF2-40B4-BE49-F238E27FC236}">
                  <a16:creationId xmlns:a16="http://schemas.microsoft.com/office/drawing/2014/main" id="{0626545A-6F6F-49B3-BCE1-F8C749C0D76B}"/>
                </a:ext>
              </a:extLst>
            </p:cNvPr>
            <p:cNvCxnSpPr>
              <a:cxnSpLocks noChangeShapeType="1"/>
            </p:cNvCxnSpPr>
            <p:nvPr/>
          </p:nvCxnSpPr>
          <p:spPr bwMode="auto">
            <a:xfrm rot="5400000">
              <a:off x="1030288" y="4762500"/>
              <a:ext cx="11430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8691" name="Elbow Connector 41">
              <a:extLst>
                <a:ext uri="{FF2B5EF4-FFF2-40B4-BE49-F238E27FC236}">
                  <a16:creationId xmlns:a16="http://schemas.microsoft.com/office/drawing/2014/main" id="{4DE591E2-C270-4DB2-8037-120B7B5A6960}"/>
                </a:ext>
              </a:extLst>
            </p:cNvPr>
            <p:cNvCxnSpPr>
              <a:cxnSpLocks noChangeShapeType="1"/>
            </p:cNvCxnSpPr>
            <p:nvPr/>
          </p:nvCxnSpPr>
          <p:spPr bwMode="auto">
            <a:xfrm>
              <a:off x="1600200" y="5105400"/>
              <a:ext cx="1447800" cy="0"/>
            </a:xfrm>
            <a:prstGeom prst="bentConnector3">
              <a:avLst>
                <a:gd name="adj1" fmla="val 50000"/>
              </a:avLst>
            </a:prstGeom>
            <a:noFill/>
            <a:ln w="9525" algn="ctr">
              <a:solidFill>
                <a:srgbClr val="0000FF"/>
              </a:solidFill>
              <a:round/>
              <a:headEnd type="triangle" w="med" len="med"/>
              <a:tailEnd type="triangle" w="med" len="med"/>
            </a:ln>
          </p:spPr>
        </p:cxnSp>
        <p:cxnSp>
          <p:nvCxnSpPr>
            <p:cNvPr id="28692" name="Straight Arrow Connector 43">
              <a:extLst>
                <a:ext uri="{FF2B5EF4-FFF2-40B4-BE49-F238E27FC236}">
                  <a16:creationId xmlns:a16="http://schemas.microsoft.com/office/drawing/2014/main" id="{2B6DC0AB-33DD-4840-ACD9-EA57A5B58A52}"/>
                </a:ext>
              </a:extLst>
            </p:cNvPr>
            <p:cNvCxnSpPr>
              <a:cxnSpLocks noChangeShapeType="1"/>
            </p:cNvCxnSpPr>
            <p:nvPr/>
          </p:nvCxnSpPr>
          <p:spPr bwMode="auto">
            <a:xfrm>
              <a:off x="3048000" y="5105400"/>
              <a:ext cx="2590800" cy="0"/>
            </a:xfrm>
            <a:prstGeom prst="straightConnector1">
              <a:avLst/>
            </a:prstGeom>
            <a:noFill/>
            <a:ln w="9525" algn="ctr">
              <a:solidFill>
                <a:srgbClr val="0000FF"/>
              </a:solidFill>
              <a:round/>
              <a:headEnd type="triangle" w="med" len="med"/>
              <a:tailEnd type="triangle" w="med" len="med"/>
            </a:ln>
          </p:spPr>
        </p:cxnSp>
        <p:cxnSp>
          <p:nvCxnSpPr>
            <p:cNvPr id="28693" name="Elbow Connector 45">
              <a:extLst>
                <a:ext uri="{FF2B5EF4-FFF2-40B4-BE49-F238E27FC236}">
                  <a16:creationId xmlns:a16="http://schemas.microsoft.com/office/drawing/2014/main" id="{B02D0763-5AAA-43B0-A866-F72CBA8CACE0}"/>
                </a:ext>
              </a:extLst>
            </p:cNvPr>
            <p:cNvCxnSpPr>
              <a:cxnSpLocks noChangeShapeType="1"/>
            </p:cNvCxnSpPr>
            <p:nvPr/>
          </p:nvCxnSpPr>
          <p:spPr bwMode="auto">
            <a:xfrm>
              <a:off x="5638800" y="5105400"/>
              <a:ext cx="1600200" cy="0"/>
            </a:xfrm>
            <a:prstGeom prst="bentConnector3">
              <a:avLst>
                <a:gd name="adj1" fmla="val 50000"/>
              </a:avLst>
            </a:prstGeom>
            <a:noFill/>
            <a:ln w="9525" algn="ctr">
              <a:solidFill>
                <a:srgbClr val="0000FF"/>
              </a:solidFill>
              <a:round/>
              <a:headEnd type="triangle" w="med" len="med"/>
              <a:tailEnd type="triangle" w="med" len="med"/>
            </a:ln>
          </p:spPr>
        </p:cxnSp>
        <p:sp>
          <p:nvSpPr>
            <p:cNvPr id="28694" name="TextBox 46">
              <a:extLst>
                <a:ext uri="{FF2B5EF4-FFF2-40B4-BE49-F238E27FC236}">
                  <a16:creationId xmlns:a16="http://schemas.microsoft.com/office/drawing/2014/main" id="{525ECA12-6884-4688-9C3E-D71A8C8E161A}"/>
                </a:ext>
              </a:extLst>
            </p:cNvPr>
            <p:cNvSpPr txBox="1">
              <a:spLocks noChangeArrowheads="1"/>
            </p:cNvSpPr>
            <p:nvPr/>
          </p:nvSpPr>
          <p:spPr bwMode="auto">
            <a:xfrm>
              <a:off x="1676400" y="4800600"/>
              <a:ext cx="1371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Master clock</a:t>
              </a:r>
            </a:p>
          </p:txBody>
        </p:sp>
        <p:sp>
          <p:nvSpPr>
            <p:cNvPr id="28695" name="TextBox 47">
              <a:extLst>
                <a:ext uri="{FF2B5EF4-FFF2-40B4-BE49-F238E27FC236}">
                  <a16:creationId xmlns:a16="http://schemas.microsoft.com/office/drawing/2014/main" id="{D0265C98-13B8-4781-923F-0560486C42C6}"/>
                </a:ext>
              </a:extLst>
            </p:cNvPr>
            <p:cNvSpPr txBox="1">
              <a:spLocks noChangeArrowheads="1"/>
            </p:cNvSpPr>
            <p:nvPr/>
          </p:nvSpPr>
          <p:spPr bwMode="auto">
            <a:xfrm>
              <a:off x="3657600" y="4800600"/>
              <a:ext cx="1676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Generated  clock</a:t>
              </a:r>
            </a:p>
          </p:txBody>
        </p:sp>
        <p:sp>
          <p:nvSpPr>
            <p:cNvPr id="28696" name="TextBox 48">
              <a:extLst>
                <a:ext uri="{FF2B5EF4-FFF2-40B4-BE49-F238E27FC236}">
                  <a16:creationId xmlns:a16="http://schemas.microsoft.com/office/drawing/2014/main" id="{194BA4EA-E3F5-42E8-AA55-91228EE2E275}"/>
                </a:ext>
              </a:extLst>
            </p:cNvPr>
            <p:cNvSpPr txBox="1">
              <a:spLocks noChangeArrowheads="1"/>
            </p:cNvSpPr>
            <p:nvPr/>
          </p:nvSpPr>
          <p:spPr bwMode="auto">
            <a:xfrm>
              <a:off x="5638800" y="4724400"/>
              <a:ext cx="1676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Generated  clock</a:t>
              </a:r>
            </a:p>
          </p:txBody>
        </p:sp>
        <p:sp>
          <p:nvSpPr>
            <p:cNvPr id="28697" name="TextBox 49">
              <a:extLst>
                <a:ext uri="{FF2B5EF4-FFF2-40B4-BE49-F238E27FC236}">
                  <a16:creationId xmlns:a16="http://schemas.microsoft.com/office/drawing/2014/main" id="{71D12091-3AD8-4BC4-B58C-54144258EAE1}"/>
                </a:ext>
              </a:extLst>
            </p:cNvPr>
            <p:cNvSpPr txBox="1">
              <a:spLocks noChangeArrowheads="1"/>
            </p:cNvSpPr>
            <p:nvPr/>
          </p:nvSpPr>
          <p:spPr bwMode="auto">
            <a:xfrm>
              <a:off x="1676400" y="5133201"/>
              <a:ext cx="1447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Source latency</a:t>
              </a:r>
            </a:p>
          </p:txBody>
        </p:sp>
        <p:sp>
          <p:nvSpPr>
            <p:cNvPr id="28698" name="TextBox 51">
              <a:extLst>
                <a:ext uri="{FF2B5EF4-FFF2-40B4-BE49-F238E27FC236}">
                  <a16:creationId xmlns:a16="http://schemas.microsoft.com/office/drawing/2014/main" id="{5C2BBB98-A92D-4FDC-AC95-C872D027ABD9}"/>
                </a:ext>
              </a:extLst>
            </p:cNvPr>
            <p:cNvSpPr txBox="1">
              <a:spLocks noChangeArrowheads="1"/>
            </p:cNvSpPr>
            <p:nvPr/>
          </p:nvSpPr>
          <p:spPr bwMode="auto">
            <a:xfrm>
              <a:off x="3810000" y="5105400"/>
              <a:ext cx="1524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Source latency</a:t>
              </a:r>
            </a:p>
          </p:txBody>
        </p:sp>
        <p:sp>
          <p:nvSpPr>
            <p:cNvPr id="28699" name="TextBox 52">
              <a:extLst>
                <a:ext uri="{FF2B5EF4-FFF2-40B4-BE49-F238E27FC236}">
                  <a16:creationId xmlns:a16="http://schemas.microsoft.com/office/drawing/2014/main" id="{CDE6B65C-E1CA-41F3-8017-AA9AF69AC5E4}"/>
                </a:ext>
              </a:extLst>
            </p:cNvPr>
            <p:cNvSpPr txBox="1">
              <a:spLocks noChangeArrowheads="1"/>
            </p:cNvSpPr>
            <p:nvPr/>
          </p:nvSpPr>
          <p:spPr bwMode="auto">
            <a:xfrm>
              <a:off x="5687008" y="5133201"/>
              <a:ext cx="16002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network latency</a:t>
              </a:r>
            </a:p>
          </p:txBody>
        </p:sp>
        <p:sp>
          <p:nvSpPr>
            <p:cNvPr id="28700" name="TextBox 53">
              <a:extLst>
                <a:ext uri="{FF2B5EF4-FFF2-40B4-BE49-F238E27FC236}">
                  <a16:creationId xmlns:a16="http://schemas.microsoft.com/office/drawing/2014/main" id="{F208D017-C8C6-44FB-834D-53CB9FF0CD82}"/>
                </a:ext>
              </a:extLst>
            </p:cNvPr>
            <p:cNvSpPr txBox="1">
              <a:spLocks noChangeArrowheads="1"/>
            </p:cNvSpPr>
            <p:nvPr/>
          </p:nvSpPr>
          <p:spPr bwMode="auto">
            <a:xfrm>
              <a:off x="990601" y="3200400"/>
              <a:ext cx="14192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Clock source</a:t>
              </a:r>
            </a:p>
          </p:txBody>
        </p:sp>
        <p:cxnSp>
          <p:nvCxnSpPr>
            <p:cNvPr id="28701" name="Curved Connector 55">
              <a:extLst>
                <a:ext uri="{FF2B5EF4-FFF2-40B4-BE49-F238E27FC236}">
                  <a16:creationId xmlns:a16="http://schemas.microsoft.com/office/drawing/2014/main" id="{9F4F5373-AEA5-4045-8F92-5FBF4B4E3E1F}"/>
                </a:ext>
              </a:extLst>
            </p:cNvPr>
            <p:cNvCxnSpPr>
              <a:cxnSpLocks noChangeShapeType="1"/>
              <a:stCxn id="28700" idx="3"/>
            </p:cNvCxnSpPr>
            <p:nvPr/>
          </p:nvCxnSpPr>
          <p:spPr bwMode="auto">
            <a:xfrm flipH="1">
              <a:off x="1724027" y="3354289"/>
              <a:ext cx="685798" cy="608111"/>
            </a:xfrm>
            <a:prstGeom prst="curvedConnector3">
              <a:avLst>
                <a:gd name="adj1" fmla="val -33333"/>
              </a:avLst>
            </a:prstGeom>
            <a:noFill/>
            <a:ln w="9525" algn="ctr">
              <a:solidFill>
                <a:srgbClr val="0000FF"/>
              </a:solidFill>
              <a:round/>
              <a:headEnd/>
              <a:tailEnd type="triangle" w="med" len="med"/>
            </a:ln>
          </p:spPr>
        </p:cxnSp>
        <p:sp>
          <p:nvSpPr>
            <p:cNvPr id="28702" name="TextBox 56">
              <a:extLst>
                <a:ext uri="{FF2B5EF4-FFF2-40B4-BE49-F238E27FC236}">
                  <a16:creationId xmlns:a16="http://schemas.microsoft.com/office/drawing/2014/main" id="{065B1766-039D-45D1-A851-C9FB3791B821}"/>
                </a:ext>
              </a:extLst>
            </p:cNvPr>
            <p:cNvSpPr txBox="1">
              <a:spLocks noChangeArrowheads="1"/>
            </p:cNvSpPr>
            <p:nvPr/>
          </p:nvSpPr>
          <p:spPr bwMode="auto">
            <a:xfrm>
              <a:off x="2819400" y="3057525"/>
              <a:ext cx="1371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Master clock definition</a:t>
              </a:r>
            </a:p>
          </p:txBody>
        </p:sp>
        <p:cxnSp>
          <p:nvCxnSpPr>
            <p:cNvPr id="28703" name="Curved Connector 58">
              <a:extLst>
                <a:ext uri="{FF2B5EF4-FFF2-40B4-BE49-F238E27FC236}">
                  <a16:creationId xmlns:a16="http://schemas.microsoft.com/office/drawing/2014/main" id="{CE3AA06B-5B9F-4D05-A786-F25B8C36B940}"/>
                </a:ext>
              </a:extLst>
            </p:cNvPr>
            <p:cNvCxnSpPr>
              <a:cxnSpLocks noChangeShapeType="1"/>
            </p:cNvCxnSpPr>
            <p:nvPr/>
          </p:nvCxnSpPr>
          <p:spPr bwMode="auto">
            <a:xfrm rot="16200000" flipH="1">
              <a:off x="2857500" y="3695700"/>
              <a:ext cx="381000" cy="152400"/>
            </a:xfrm>
            <a:prstGeom prst="curvedConnector3">
              <a:avLst>
                <a:gd name="adj1" fmla="val 50000"/>
              </a:avLst>
            </a:prstGeom>
            <a:noFill/>
            <a:ln w="9525" algn="ctr">
              <a:solidFill>
                <a:srgbClr val="0000FF"/>
              </a:solidFill>
              <a:round/>
              <a:headEnd/>
              <a:tailEnd type="triangle" w="med" len="med"/>
            </a:ln>
          </p:spPr>
        </p:cxnSp>
        <p:sp>
          <p:nvSpPr>
            <p:cNvPr id="28704" name="TextBox 59">
              <a:extLst>
                <a:ext uri="{FF2B5EF4-FFF2-40B4-BE49-F238E27FC236}">
                  <a16:creationId xmlns:a16="http://schemas.microsoft.com/office/drawing/2014/main" id="{C3E55AB4-E9E4-48FB-924B-D873264D06AC}"/>
                </a:ext>
              </a:extLst>
            </p:cNvPr>
            <p:cNvSpPr txBox="1">
              <a:spLocks noChangeArrowheads="1"/>
            </p:cNvSpPr>
            <p:nvPr/>
          </p:nvSpPr>
          <p:spPr bwMode="auto">
            <a:xfrm>
              <a:off x="5181600" y="3057525"/>
              <a:ext cx="1371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Generated clock definition</a:t>
              </a:r>
            </a:p>
          </p:txBody>
        </p:sp>
        <p:cxnSp>
          <p:nvCxnSpPr>
            <p:cNvPr id="28705" name="Curved Connector 67">
              <a:extLst>
                <a:ext uri="{FF2B5EF4-FFF2-40B4-BE49-F238E27FC236}">
                  <a16:creationId xmlns:a16="http://schemas.microsoft.com/office/drawing/2014/main" id="{F98A6F9E-A662-42D6-9D8D-E40B2CB4DFD9}"/>
                </a:ext>
              </a:extLst>
            </p:cNvPr>
            <p:cNvCxnSpPr>
              <a:cxnSpLocks noChangeShapeType="1"/>
            </p:cNvCxnSpPr>
            <p:nvPr/>
          </p:nvCxnSpPr>
          <p:spPr bwMode="auto">
            <a:xfrm rot="5400000">
              <a:off x="5638800" y="3657600"/>
              <a:ext cx="381000" cy="381000"/>
            </a:xfrm>
            <a:prstGeom prst="curvedConnector3">
              <a:avLst>
                <a:gd name="adj1" fmla="val 25000"/>
              </a:avLst>
            </a:prstGeom>
            <a:noFill/>
            <a:ln w="9525" algn="ctr">
              <a:solidFill>
                <a:srgbClr val="0000FF"/>
              </a:solidFill>
              <a:round/>
              <a:headEnd/>
              <a:tailEnd type="triangle" w="med" len="med"/>
            </a:ln>
          </p:spPr>
        </p:cxnSp>
        <p:sp>
          <p:nvSpPr>
            <p:cNvPr id="43" name="Cloud 42">
              <a:extLst>
                <a:ext uri="{FF2B5EF4-FFF2-40B4-BE49-F238E27FC236}">
                  <a16:creationId xmlns:a16="http://schemas.microsoft.com/office/drawing/2014/main" id="{6E0A8806-9031-4A38-98A4-049CFB82F5A5}"/>
                </a:ext>
              </a:extLst>
            </p:cNvPr>
            <p:cNvSpPr/>
            <p:nvPr/>
          </p:nvSpPr>
          <p:spPr bwMode="auto">
            <a:xfrm>
              <a:off x="3597276" y="3810000"/>
              <a:ext cx="955675" cy="646113"/>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8906827-7BA4-4DB0-A271-686D96D617FD}"/>
              </a:ext>
            </a:extLst>
          </p:cNvPr>
          <p:cNvSpPr>
            <a:spLocks noGrp="1"/>
          </p:cNvSpPr>
          <p:nvPr>
            <p:ph type="title"/>
          </p:nvPr>
        </p:nvSpPr>
        <p:spPr/>
        <p:txBody>
          <a:bodyPr/>
          <a:lstStyle/>
          <a:p>
            <a:r>
              <a:rPr lang="en-US" altLang="en-US"/>
              <a:t>Input Delay</a:t>
            </a:r>
          </a:p>
        </p:txBody>
      </p:sp>
      <p:sp>
        <p:nvSpPr>
          <p:cNvPr id="3" name="Content Placeholder 2">
            <a:extLst>
              <a:ext uri="{FF2B5EF4-FFF2-40B4-BE49-F238E27FC236}">
                <a16:creationId xmlns:a16="http://schemas.microsoft.com/office/drawing/2014/main" id="{DF17760E-7DD2-4123-B94B-C3E6AB9629AF}"/>
              </a:ext>
            </a:extLst>
          </p:cNvPr>
          <p:cNvSpPr>
            <a:spLocks noGrp="1"/>
          </p:cNvSpPr>
          <p:nvPr>
            <p:ph type="body" sz="quarter" idx="10"/>
          </p:nvPr>
        </p:nvSpPr>
        <p:spPr>
          <a:xfrm>
            <a:off x="457200" y="1188720"/>
            <a:ext cx="10790923" cy="1079024"/>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set_input_delay</a:t>
            </a:r>
            <a:r>
              <a:rPr lang="en-US" sz="1600" dirty="0">
                <a:solidFill>
                  <a:srgbClr val="0000FF"/>
                </a:solidFill>
                <a:latin typeface="Courier New" pitchFamily="49" charset="0"/>
                <a:cs typeface="Courier New" pitchFamily="49" charset="0"/>
              </a:rPr>
              <a:t> -clock</a:t>
            </a:r>
            <a:r>
              <a:rPr lang="en-US" sz="1600" b="1" dirty="0">
                <a:solidFill>
                  <a:srgbClr val="0000FF"/>
                </a:solidFill>
                <a:latin typeface="Courier New" pitchFamily="49" charset="0"/>
                <a:cs typeface="Courier New" pitchFamily="49" charset="0"/>
              </a:rPr>
              <a:t> </a:t>
            </a:r>
            <a:r>
              <a:rPr lang="en-US" sz="1600" dirty="0">
                <a:latin typeface="Courier New" pitchFamily="49" charset="0"/>
                <a:cs typeface="Courier New" pitchFamily="49" charset="0"/>
              </a:rPr>
              <a:t>CLKA -</a:t>
            </a:r>
            <a:r>
              <a:rPr lang="en-US" sz="1600" dirty="0">
                <a:solidFill>
                  <a:srgbClr val="0000FF"/>
                </a:solidFill>
                <a:latin typeface="Courier New" pitchFamily="49" charset="0"/>
                <a:cs typeface="Courier New" pitchFamily="49" charset="0"/>
              </a:rPr>
              <a:t>max</a:t>
            </a:r>
            <a:r>
              <a:rPr lang="en-US" sz="1600" dirty="0">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expr</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TDFF + </a:t>
            </a:r>
            <a:r>
              <a:rPr lang="en-US" sz="1600" dirty="0" err="1">
                <a:latin typeface="Courier New" pitchFamily="49" charset="0"/>
                <a:cs typeface="Courier New" pitchFamily="49" charset="0"/>
              </a:rPr>
              <a:t>Tc</a:t>
            </a:r>
            <a:r>
              <a:rPr lang="en-US" sz="1600" dirty="0">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get_ports</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IN]</a:t>
            </a:r>
          </a:p>
        </p:txBody>
      </p:sp>
      <p:sp>
        <p:nvSpPr>
          <p:cNvPr id="5" name="Rectangle 4">
            <a:extLst>
              <a:ext uri="{FF2B5EF4-FFF2-40B4-BE49-F238E27FC236}">
                <a16:creationId xmlns:a16="http://schemas.microsoft.com/office/drawing/2014/main" id="{940B090B-2262-4C09-B977-6C88B5C6FBF9}"/>
              </a:ext>
            </a:extLst>
          </p:cNvPr>
          <p:cNvSpPr/>
          <p:nvPr/>
        </p:nvSpPr>
        <p:spPr bwMode="auto">
          <a:xfrm>
            <a:off x="3669287" y="3745984"/>
            <a:ext cx="609600" cy="9906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29701" name="Straight Connector 11">
            <a:extLst>
              <a:ext uri="{FF2B5EF4-FFF2-40B4-BE49-F238E27FC236}">
                <a16:creationId xmlns:a16="http://schemas.microsoft.com/office/drawing/2014/main" id="{70541388-FDB5-492B-BE8A-CF4440EB62E8}"/>
              </a:ext>
            </a:extLst>
          </p:cNvPr>
          <p:cNvCxnSpPr>
            <a:cxnSpLocks noChangeShapeType="1"/>
            <a:stCxn id="5" idx="3"/>
          </p:cNvCxnSpPr>
          <p:nvPr/>
        </p:nvCxnSpPr>
        <p:spPr bwMode="auto">
          <a:xfrm flipV="1">
            <a:off x="4278887" y="4165084"/>
            <a:ext cx="303212" cy="0"/>
          </a:xfrm>
          <a:prstGeom prst="line">
            <a:avLst/>
          </a:prstGeom>
          <a:noFill/>
          <a:ln w="9525" algn="ctr">
            <a:solidFill>
              <a:schemeClr val="tx1"/>
            </a:solidFill>
            <a:round/>
            <a:headEnd/>
            <a:tailEnd/>
          </a:ln>
        </p:spPr>
      </p:cxnSp>
      <p:cxnSp>
        <p:nvCxnSpPr>
          <p:cNvPr id="29702" name="Straight Connector 12">
            <a:extLst>
              <a:ext uri="{FF2B5EF4-FFF2-40B4-BE49-F238E27FC236}">
                <a16:creationId xmlns:a16="http://schemas.microsoft.com/office/drawing/2014/main" id="{65553A01-F30B-4750-9123-53E8F9D2C5ED}"/>
              </a:ext>
            </a:extLst>
          </p:cNvPr>
          <p:cNvCxnSpPr>
            <a:cxnSpLocks noChangeShapeType="1"/>
          </p:cNvCxnSpPr>
          <p:nvPr/>
        </p:nvCxnSpPr>
        <p:spPr bwMode="auto">
          <a:xfrm rot="10800000">
            <a:off x="3364487" y="3977759"/>
            <a:ext cx="304800" cy="0"/>
          </a:xfrm>
          <a:prstGeom prst="line">
            <a:avLst/>
          </a:prstGeom>
          <a:noFill/>
          <a:ln w="9525" algn="ctr">
            <a:solidFill>
              <a:schemeClr val="tx1"/>
            </a:solidFill>
            <a:round/>
            <a:headEnd/>
            <a:tailEnd/>
          </a:ln>
        </p:spPr>
      </p:cxnSp>
      <p:cxnSp>
        <p:nvCxnSpPr>
          <p:cNvPr id="29703" name="Straight Connector 15">
            <a:extLst>
              <a:ext uri="{FF2B5EF4-FFF2-40B4-BE49-F238E27FC236}">
                <a16:creationId xmlns:a16="http://schemas.microsoft.com/office/drawing/2014/main" id="{4B320ED7-EE90-4F92-A5AB-83EFC73D5023}"/>
              </a:ext>
            </a:extLst>
          </p:cNvPr>
          <p:cNvCxnSpPr>
            <a:cxnSpLocks noChangeShapeType="1"/>
          </p:cNvCxnSpPr>
          <p:nvPr/>
        </p:nvCxnSpPr>
        <p:spPr bwMode="auto">
          <a:xfrm rot="5400000" flipH="1" flipV="1">
            <a:off x="3175574" y="4850884"/>
            <a:ext cx="533400" cy="0"/>
          </a:xfrm>
          <a:prstGeom prst="line">
            <a:avLst/>
          </a:prstGeom>
          <a:noFill/>
          <a:ln w="9525" algn="ctr">
            <a:solidFill>
              <a:schemeClr val="tx1"/>
            </a:solidFill>
            <a:round/>
            <a:headEnd/>
            <a:tailEnd/>
          </a:ln>
        </p:spPr>
      </p:cxnSp>
      <p:cxnSp>
        <p:nvCxnSpPr>
          <p:cNvPr id="29704" name="Straight Connector 16">
            <a:extLst>
              <a:ext uri="{FF2B5EF4-FFF2-40B4-BE49-F238E27FC236}">
                <a16:creationId xmlns:a16="http://schemas.microsoft.com/office/drawing/2014/main" id="{CE7EAFDF-B084-43CE-8D65-F6D579CDD862}"/>
              </a:ext>
            </a:extLst>
          </p:cNvPr>
          <p:cNvCxnSpPr>
            <a:cxnSpLocks noChangeShapeType="1"/>
          </p:cNvCxnSpPr>
          <p:nvPr/>
        </p:nvCxnSpPr>
        <p:spPr bwMode="auto">
          <a:xfrm>
            <a:off x="3440687" y="4584184"/>
            <a:ext cx="228600" cy="0"/>
          </a:xfrm>
          <a:prstGeom prst="line">
            <a:avLst/>
          </a:prstGeom>
          <a:noFill/>
          <a:ln w="9525" algn="ctr">
            <a:solidFill>
              <a:schemeClr val="tx1"/>
            </a:solidFill>
            <a:round/>
            <a:headEnd/>
            <a:tailEnd/>
          </a:ln>
        </p:spPr>
      </p:cxnSp>
      <p:sp>
        <p:nvSpPr>
          <p:cNvPr id="29705" name="TextBox 44">
            <a:extLst>
              <a:ext uri="{FF2B5EF4-FFF2-40B4-BE49-F238E27FC236}">
                <a16:creationId xmlns:a16="http://schemas.microsoft.com/office/drawing/2014/main" id="{C537BD2E-6EFA-40AB-9591-7EB90854129D}"/>
              </a:ext>
            </a:extLst>
          </p:cNvPr>
          <p:cNvSpPr txBox="1">
            <a:spLocks noChangeArrowheads="1"/>
          </p:cNvSpPr>
          <p:nvPr/>
        </p:nvSpPr>
        <p:spPr bwMode="auto">
          <a:xfrm>
            <a:off x="5115499" y="3876159"/>
            <a:ext cx="5334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IN</a:t>
            </a:r>
          </a:p>
        </p:txBody>
      </p:sp>
      <p:sp>
        <p:nvSpPr>
          <p:cNvPr id="29706" name="TextBox 46">
            <a:extLst>
              <a:ext uri="{FF2B5EF4-FFF2-40B4-BE49-F238E27FC236}">
                <a16:creationId xmlns:a16="http://schemas.microsoft.com/office/drawing/2014/main" id="{1A21D82A-6064-454A-830D-A4827BC99805}"/>
              </a:ext>
            </a:extLst>
          </p:cNvPr>
          <p:cNvSpPr txBox="1">
            <a:spLocks noChangeArrowheads="1"/>
          </p:cNvSpPr>
          <p:nvPr/>
        </p:nvSpPr>
        <p:spPr bwMode="auto">
          <a:xfrm>
            <a:off x="2753299" y="4814372"/>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CLKA</a:t>
            </a:r>
          </a:p>
        </p:txBody>
      </p:sp>
      <p:sp>
        <p:nvSpPr>
          <p:cNvPr id="29707" name="TextBox 47">
            <a:extLst>
              <a:ext uri="{FF2B5EF4-FFF2-40B4-BE49-F238E27FC236}">
                <a16:creationId xmlns:a16="http://schemas.microsoft.com/office/drawing/2014/main" id="{EBBD8E0E-C1AC-431B-B6A4-973305C33C95}"/>
              </a:ext>
            </a:extLst>
          </p:cNvPr>
          <p:cNvSpPr txBox="1">
            <a:spLocks noChangeArrowheads="1"/>
          </p:cNvSpPr>
          <p:nvPr/>
        </p:nvSpPr>
        <p:spPr bwMode="auto">
          <a:xfrm>
            <a:off x="3362899" y="5271572"/>
            <a:ext cx="167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First clock edge launches data</a:t>
            </a:r>
          </a:p>
        </p:txBody>
      </p:sp>
      <p:cxnSp>
        <p:nvCxnSpPr>
          <p:cNvPr id="29708" name="Curved Connector 49">
            <a:extLst>
              <a:ext uri="{FF2B5EF4-FFF2-40B4-BE49-F238E27FC236}">
                <a16:creationId xmlns:a16="http://schemas.microsoft.com/office/drawing/2014/main" id="{B8E85044-EBE4-4061-ACC1-5FBBF89D826C}"/>
              </a:ext>
            </a:extLst>
          </p:cNvPr>
          <p:cNvCxnSpPr>
            <a:cxnSpLocks noChangeShapeType="1"/>
          </p:cNvCxnSpPr>
          <p:nvPr/>
        </p:nvCxnSpPr>
        <p:spPr bwMode="auto">
          <a:xfrm rot="16200000" flipV="1">
            <a:off x="3477199" y="4776271"/>
            <a:ext cx="533400" cy="457200"/>
          </a:xfrm>
          <a:prstGeom prst="curvedConnector3">
            <a:avLst>
              <a:gd name="adj1" fmla="val 50000"/>
            </a:avLst>
          </a:prstGeom>
          <a:noFill/>
          <a:ln w="9525" algn="ctr">
            <a:solidFill>
              <a:schemeClr val="tx1"/>
            </a:solidFill>
            <a:round/>
            <a:headEnd/>
            <a:tailEnd type="triangle" w="med" len="med"/>
          </a:ln>
        </p:spPr>
      </p:cxnSp>
      <p:grpSp>
        <p:nvGrpSpPr>
          <p:cNvPr id="29709" name="Group 25">
            <a:extLst>
              <a:ext uri="{FF2B5EF4-FFF2-40B4-BE49-F238E27FC236}">
                <a16:creationId xmlns:a16="http://schemas.microsoft.com/office/drawing/2014/main" id="{3814EBA2-B0E5-46B4-8200-D34F8D346E3E}"/>
              </a:ext>
            </a:extLst>
          </p:cNvPr>
          <p:cNvGrpSpPr>
            <a:grpSpLocks/>
          </p:cNvGrpSpPr>
          <p:nvPr/>
        </p:nvGrpSpPr>
        <p:grpSpPr bwMode="auto">
          <a:xfrm>
            <a:off x="2981899" y="3290371"/>
            <a:ext cx="6019800" cy="2135188"/>
            <a:chOff x="1524000" y="1219200"/>
            <a:chExt cx="6019800" cy="2135188"/>
          </a:xfrm>
        </p:grpSpPr>
        <p:sp>
          <p:nvSpPr>
            <p:cNvPr id="29716" name="Rectangle 5">
              <a:extLst>
                <a:ext uri="{FF2B5EF4-FFF2-40B4-BE49-F238E27FC236}">
                  <a16:creationId xmlns:a16="http://schemas.microsoft.com/office/drawing/2014/main" id="{5373EE8A-8E75-4A29-B8F7-41D4833765A3}"/>
                </a:ext>
              </a:extLst>
            </p:cNvPr>
            <p:cNvSpPr>
              <a:spLocks noChangeArrowheads="1"/>
            </p:cNvSpPr>
            <p:nvPr/>
          </p:nvSpPr>
          <p:spPr bwMode="auto">
            <a:xfrm>
              <a:off x="5638800" y="1676400"/>
              <a:ext cx="609600" cy="990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9717" name="Straight Connector 9">
              <a:extLst>
                <a:ext uri="{FF2B5EF4-FFF2-40B4-BE49-F238E27FC236}">
                  <a16:creationId xmlns:a16="http://schemas.microsoft.com/office/drawing/2014/main" id="{EF27DCC5-917C-41E7-933D-211579769745}"/>
                </a:ext>
              </a:extLst>
            </p:cNvPr>
            <p:cNvCxnSpPr>
              <a:cxnSpLocks noChangeShapeType="1"/>
              <a:endCxn id="29716" idx="1"/>
            </p:cNvCxnSpPr>
            <p:nvPr/>
          </p:nvCxnSpPr>
          <p:spPr bwMode="auto">
            <a:xfrm>
              <a:off x="5486400" y="2095500"/>
              <a:ext cx="152400" cy="0"/>
            </a:xfrm>
            <a:prstGeom prst="line">
              <a:avLst/>
            </a:prstGeom>
            <a:noFill/>
            <a:ln w="9525" algn="ctr">
              <a:solidFill>
                <a:schemeClr val="tx1"/>
              </a:solidFill>
              <a:round/>
              <a:headEnd/>
              <a:tailEnd/>
            </a:ln>
          </p:spPr>
        </p:cxnSp>
        <p:cxnSp>
          <p:nvCxnSpPr>
            <p:cNvPr id="29718" name="Straight Connector 10">
              <a:extLst>
                <a:ext uri="{FF2B5EF4-FFF2-40B4-BE49-F238E27FC236}">
                  <a16:creationId xmlns:a16="http://schemas.microsoft.com/office/drawing/2014/main" id="{50F51CA3-B30A-49D9-92EC-276C609ED2DF}"/>
                </a:ext>
              </a:extLst>
            </p:cNvPr>
            <p:cNvCxnSpPr>
              <a:cxnSpLocks noChangeShapeType="1"/>
            </p:cNvCxnSpPr>
            <p:nvPr/>
          </p:nvCxnSpPr>
          <p:spPr bwMode="auto">
            <a:xfrm>
              <a:off x="3657600" y="2094706"/>
              <a:ext cx="1295400" cy="0"/>
            </a:xfrm>
            <a:prstGeom prst="line">
              <a:avLst/>
            </a:prstGeom>
            <a:noFill/>
            <a:ln w="9525" algn="ctr">
              <a:solidFill>
                <a:schemeClr val="tx1"/>
              </a:solidFill>
              <a:round/>
              <a:headEnd/>
              <a:tailEnd/>
            </a:ln>
          </p:spPr>
        </p:cxnSp>
        <p:cxnSp>
          <p:nvCxnSpPr>
            <p:cNvPr id="29719" name="Straight Connector 13">
              <a:extLst>
                <a:ext uri="{FF2B5EF4-FFF2-40B4-BE49-F238E27FC236}">
                  <a16:creationId xmlns:a16="http://schemas.microsoft.com/office/drawing/2014/main" id="{55AE1E7F-970E-4616-862F-6F147145354C}"/>
                </a:ext>
              </a:extLst>
            </p:cNvPr>
            <p:cNvCxnSpPr>
              <a:cxnSpLocks noChangeShapeType="1"/>
            </p:cNvCxnSpPr>
            <p:nvPr/>
          </p:nvCxnSpPr>
          <p:spPr bwMode="auto">
            <a:xfrm rot="5400000" flipH="1" flipV="1">
              <a:off x="5145088" y="2781300"/>
              <a:ext cx="533400" cy="0"/>
            </a:xfrm>
            <a:prstGeom prst="line">
              <a:avLst/>
            </a:prstGeom>
            <a:noFill/>
            <a:ln w="9525" algn="ctr">
              <a:solidFill>
                <a:schemeClr val="tx1"/>
              </a:solidFill>
              <a:round/>
              <a:headEnd/>
              <a:tailEnd/>
            </a:ln>
          </p:spPr>
        </p:cxnSp>
        <p:cxnSp>
          <p:nvCxnSpPr>
            <p:cNvPr id="29720" name="Straight Connector 14">
              <a:extLst>
                <a:ext uri="{FF2B5EF4-FFF2-40B4-BE49-F238E27FC236}">
                  <a16:creationId xmlns:a16="http://schemas.microsoft.com/office/drawing/2014/main" id="{E08C2771-CE26-44C8-B3DF-ADCE8E462231}"/>
                </a:ext>
              </a:extLst>
            </p:cNvPr>
            <p:cNvCxnSpPr>
              <a:cxnSpLocks noChangeShapeType="1"/>
            </p:cNvCxnSpPr>
            <p:nvPr/>
          </p:nvCxnSpPr>
          <p:spPr bwMode="auto">
            <a:xfrm>
              <a:off x="5410994" y="2513806"/>
              <a:ext cx="228600" cy="0"/>
            </a:xfrm>
            <a:prstGeom prst="line">
              <a:avLst/>
            </a:prstGeom>
            <a:noFill/>
            <a:ln w="9525" algn="ctr">
              <a:solidFill>
                <a:schemeClr val="tx1"/>
              </a:solidFill>
              <a:round/>
              <a:headEnd/>
              <a:tailEnd/>
            </a:ln>
          </p:spPr>
        </p:cxnSp>
        <p:cxnSp>
          <p:nvCxnSpPr>
            <p:cNvPr id="29721" name="Straight Connector 32">
              <a:extLst>
                <a:ext uri="{FF2B5EF4-FFF2-40B4-BE49-F238E27FC236}">
                  <a16:creationId xmlns:a16="http://schemas.microsoft.com/office/drawing/2014/main" id="{82E2D1CE-3F73-43F2-A4BD-1973148581F0}"/>
                </a:ext>
              </a:extLst>
            </p:cNvPr>
            <p:cNvCxnSpPr>
              <a:cxnSpLocks noChangeShapeType="1"/>
            </p:cNvCxnSpPr>
            <p:nvPr/>
          </p:nvCxnSpPr>
          <p:spPr bwMode="auto">
            <a:xfrm rot="10800000">
              <a:off x="1524000" y="3049588"/>
              <a:ext cx="3886200" cy="0"/>
            </a:xfrm>
            <a:prstGeom prst="line">
              <a:avLst/>
            </a:prstGeom>
            <a:noFill/>
            <a:ln w="9525" algn="ctr">
              <a:solidFill>
                <a:schemeClr val="tx1"/>
              </a:solidFill>
              <a:round/>
              <a:headEnd/>
              <a:tailEnd/>
            </a:ln>
          </p:spPr>
        </p:cxnSp>
        <p:cxnSp>
          <p:nvCxnSpPr>
            <p:cNvPr id="29722" name="Straight Connector 34">
              <a:extLst>
                <a:ext uri="{FF2B5EF4-FFF2-40B4-BE49-F238E27FC236}">
                  <a16:creationId xmlns:a16="http://schemas.microsoft.com/office/drawing/2014/main" id="{00AF708F-ADF4-40EF-B419-43F184BD7279}"/>
                </a:ext>
              </a:extLst>
            </p:cNvPr>
            <p:cNvCxnSpPr>
              <a:cxnSpLocks noChangeShapeType="1"/>
            </p:cNvCxnSpPr>
            <p:nvPr/>
          </p:nvCxnSpPr>
          <p:spPr bwMode="auto">
            <a:xfrm rot="16200000" flipH="1">
              <a:off x="3124200" y="2286000"/>
              <a:ext cx="2133600" cy="0"/>
            </a:xfrm>
            <a:prstGeom prst="line">
              <a:avLst/>
            </a:prstGeom>
            <a:noFill/>
            <a:ln w="19050" algn="ctr">
              <a:solidFill>
                <a:schemeClr val="accent1"/>
              </a:solidFill>
              <a:round/>
              <a:headEnd/>
              <a:tailEnd/>
            </a:ln>
          </p:spPr>
        </p:cxnSp>
        <p:cxnSp>
          <p:nvCxnSpPr>
            <p:cNvPr id="29723" name="Straight Connector 36">
              <a:extLst>
                <a:ext uri="{FF2B5EF4-FFF2-40B4-BE49-F238E27FC236}">
                  <a16:creationId xmlns:a16="http://schemas.microsoft.com/office/drawing/2014/main" id="{2F4045BA-379C-4CEC-936E-9DFB6EE873D3}"/>
                </a:ext>
              </a:extLst>
            </p:cNvPr>
            <p:cNvCxnSpPr>
              <a:cxnSpLocks noChangeShapeType="1"/>
            </p:cNvCxnSpPr>
            <p:nvPr/>
          </p:nvCxnSpPr>
          <p:spPr bwMode="auto">
            <a:xfrm>
              <a:off x="4191000" y="1219200"/>
              <a:ext cx="2895600" cy="1588"/>
            </a:xfrm>
            <a:prstGeom prst="line">
              <a:avLst/>
            </a:prstGeom>
            <a:noFill/>
            <a:ln w="19050" algn="ctr">
              <a:solidFill>
                <a:schemeClr val="accent1"/>
              </a:solidFill>
              <a:round/>
              <a:headEnd/>
              <a:tailEnd/>
            </a:ln>
          </p:spPr>
        </p:cxnSp>
        <p:cxnSp>
          <p:nvCxnSpPr>
            <p:cNvPr id="29724" name="Straight Connector 37">
              <a:extLst>
                <a:ext uri="{FF2B5EF4-FFF2-40B4-BE49-F238E27FC236}">
                  <a16:creationId xmlns:a16="http://schemas.microsoft.com/office/drawing/2014/main" id="{CB02E4A3-1D4B-452C-B23E-BE4D4A6DDA0C}"/>
                </a:ext>
              </a:extLst>
            </p:cNvPr>
            <p:cNvCxnSpPr>
              <a:cxnSpLocks noChangeShapeType="1"/>
            </p:cNvCxnSpPr>
            <p:nvPr/>
          </p:nvCxnSpPr>
          <p:spPr bwMode="auto">
            <a:xfrm>
              <a:off x="4191000" y="3352800"/>
              <a:ext cx="2895600" cy="1588"/>
            </a:xfrm>
            <a:prstGeom prst="line">
              <a:avLst/>
            </a:prstGeom>
            <a:noFill/>
            <a:ln w="19050" algn="ctr">
              <a:solidFill>
                <a:schemeClr val="accent1"/>
              </a:solidFill>
              <a:round/>
              <a:headEnd/>
              <a:tailEnd/>
            </a:ln>
          </p:spPr>
        </p:cxnSp>
        <p:cxnSp>
          <p:nvCxnSpPr>
            <p:cNvPr id="29725" name="Curved Connector 40">
              <a:extLst>
                <a:ext uri="{FF2B5EF4-FFF2-40B4-BE49-F238E27FC236}">
                  <a16:creationId xmlns:a16="http://schemas.microsoft.com/office/drawing/2014/main" id="{27D961E5-0D27-4329-9294-99D3F84894D4}"/>
                </a:ext>
              </a:extLst>
            </p:cNvPr>
            <p:cNvCxnSpPr>
              <a:cxnSpLocks noChangeShapeType="1"/>
            </p:cNvCxnSpPr>
            <p:nvPr/>
          </p:nvCxnSpPr>
          <p:spPr bwMode="auto">
            <a:xfrm rot="5400000">
              <a:off x="6019800" y="2286000"/>
              <a:ext cx="2133600" cy="1588"/>
            </a:xfrm>
            <a:prstGeom prst="curvedConnector3">
              <a:avLst>
                <a:gd name="adj1" fmla="val 50000"/>
              </a:avLst>
            </a:prstGeom>
            <a:noFill/>
            <a:ln w="19050" algn="ctr">
              <a:solidFill>
                <a:schemeClr val="accent1"/>
              </a:solidFill>
              <a:round/>
              <a:headEnd/>
              <a:tailEnd/>
            </a:ln>
          </p:spPr>
        </p:cxnSp>
        <p:sp>
          <p:nvSpPr>
            <p:cNvPr id="29726" name="Rectangle 41">
              <a:extLst>
                <a:ext uri="{FF2B5EF4-FFF2-40B4-BE49-F238E27FC236}">
                  <a16:creationId xmlns:a16="http://schemas.microsoft.com/office/drawing/2014/main" id="{DA4F7C10-668B-4B9A-8B09-5C6F1D075AD8}"/>
                </a:ext>
              </a:extLst>
            </p:cNvPr>
            <p:cNvSpPr>
              <a:spLocks noChangeArrowheads="1"/>
            </p:cNvSpPr>
            <p:nvPr/>
          </p:nvSpPr>
          <p:spPr bwMode="auto">
            <a:xfrm>
              <a:off x="4038600" y="1981200"/>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9727" name="Rectangle 42">
              <a:extLst>
                <a:ext uri="{FF2B5EF4-FFF2-40B4-BE49-F238E27FC236}">
                  <a16:creationId xmlns:a16="http://schemas.microsoft.com/office/drawing/2014/main" id="{3D6932A5-07AE-48B5-9095-3CEC4966C0C8}"/>
                </a:ext>
              </a:extLst>
            </p:cNvPr>
            <p:cNvSpPr>
              <a:spLocks noChangeArrowheads="1"/>
            </p:cNvSpPr>
            <p:nvPr/>
          </p:nvSpPr>
          <p:spPr bwMode="auto">
            <a:xfrm>
              <a:off x="4038600" y="2952750"/>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9728" name="Straight Connector 48">
              <a:extLst>
                <a:ext uri="{FF2B5EF4-FFF2-40B4-BE49-F238E27FC236}">
                  <a16:creationId xmlns:a16="http://schemas.microsoft.com/office/drawing/2014/main" id="{B63AB201-0A55-4DE3-8853-6492FF9ACA7E}"/>
                </a:ext>
              </a:extLst>
            </p:cNvPr>
            <p:cNvCxnSpPr>
              <a:cxnSpLocks noChangeShapeType="1"/>
            </p:cNvCxnSpPr>
            <p:nvPr/>
          </p:nvCxnSpPr>
          <p:spPr bwMode="auto">
            <a:xfrm>
              <a:off x="6248400" y="2058516"/>
              <a:ext cx="1295400" cy="0"/>
            </a:xfrm>
            <a:prstGeom prst="line">
              <a:avLst/>
            </a:prstGeom>
            <a:noFill/>
            <a:ln w="9525" algn="ctr">
              <a:solidFill>
                <a:schemeClr val="tx1"/>
              </a:solidFill>
              <a:round/>
              <a:headEnd/>
              <a:tailEnd/>
            </a:ln>
          </p:spPr>
        </p:cxnSp>
        <p:sp>
          <p:nvSpPr>
            <p:cNvPr id="29729" name="Rectangle 51">
              <a:extLst>
                <a:ext uri="{FF2B5EF4-FFF2-40B4-BE49-F238E27FC236}">
                  <a16:creationId xmlns:a16="http://schemas.microsoft.com/office/drawing/2014/main" id="{0F94D757-03CC-4887-AA46-0AB9E950A189}"/>
                </a:ext>
              </a:extLst>
            </p:cNvPr>
            <p:cNvSpPr>
              <a:spLocks noChangeArrowheads="1"/>
            </p:cNvSpPr>
            <p:nvPr/>
          </p:nvSpPr>
          <p:spPr bwMode="auto">
            <a:xfrm>
              <a:off x="6933406" y="1944216"/>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9730" name="TextBox 53">
              <a:extLst>
                <a:ext uri="{FF2B5EF4-FFF2-40B4-BE49-F238E27FC236}">
                  <a16:creationId xmlns:a16="http://schemas.microsoft.com/office/drawing/2014/main" id="{3B61C043-3871-4749-82F5-1CBC424F07BA}"/>
                </a:ext>
              </a:extLst>
            </p:cNvPr>
            <p:cNvSpPr txBox="1">
              <a:spLocks noChangeArrowheads="1"/>
            </p:cNvSpPr>
            <p:nvPr/>
          </p:nvSpPr>
          <p:spPr bwMode="auto">
            <a:xfrm>
              <a:off x="5334000" y="1228407"/>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Design</a:t>
              </a:r>
            </a:p>
          </p:txBody>
        </p:sp>
        <p:sp>
          <p:nvSpPr>
            <p:cNvPr id="29731" name="Isosceles Triangle 56">
              <a:extLst>
                <a:ext uri="{FF2B5EF4-FFF2-40B4-BE49-F238E27FC236}">
                  <a16:creationId xmlns:a16="http://schemas.microsoft.com/office/drawing/2014/main" id="{73569FD1-87F2-46F2-821C-982934D7A18F}"/>
                </a:ext>
              </a:extLst>
            </p:cNvPr>
            <p:cNvSpPr>
              <a:spLocks noChangeArrowheads="1"/>
            </p:cNvSpPr>
            <p:nvPr/>
          </p:nvSpPr>
          <p:spPr bwMode="auto">
            <a:xfrm rot="5400000">
              <a:off x="5600700" y="2477294"/>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29710" name="Isosceles Triangle 58">
            <a:extLst>
              <a:ext uri="{FF2B5EF4-FFF2-40B4-BE49-F238E27FC236}">
                <a16:creationId xmlns:a16="http://schemas.microsoft.com/office/drawing/2014/main" id="{ACA964E1-896C-4109-ABEC-FD9F2A79578C}"/>
              </a:ext>
            </a:extLst>
          </p:cNvPr>
          <p:cNvSpPr>
            <a:spLocks noChangeArrowheads="1"/>
          </p:cNvSpPr>
          <p:nvPr/>
        </p:nvSpPr>
        <p:spPr bwMode="auto">
          <a:xfrm rot="5400000">
            <a:off x="3629599" y="4549259"/>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0" name="Arc 79">
            <a:extLst>
              <a:ext uri="{FF2B5EF4-FFF2-40B4-BE49-F238E27FC236}">
                <a16:creationId xmlns:a16="http://schemas.microsoft.com/office/drawing/2014/main" id="{4214E4EC-FD9E-4F40-9469-BC40B81DE2AD}"/>
              </a:ext>
            </a:extLst>
          </p:cNvPr>
          <p:cNvSpPr/>
          <p:nvPr/>
        </p:nvSpPr>
        <p:spPr bwMode="auto">
          <a:xfrm rot="21384546" flipH="1">
            <a:off x="3515300" y="4323834"/>
            <a:ext cx="1984375" cy="685800"/>
          </a:xfrm>
          <a:prstGeom prst="arc">
            <a:avLst/>
          </a:prstGeom>
          <a:noFill/>
          <a:ln w="9525" cap="flat" cmpd="sng" algn="ctr">
            <a:solidFill>
              <a:schemeClr val="tx1"/>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sp>
        <p:nvSpPr>
          <p:cNvPr id="81" name="Cloud 80">
            <a:extLst>
              <a:ext uri="{FF2B5EF4-FFF2-40B4-BE49-F238E27FC236}">
                <a16:creationId xmlns:a16="http://schemas.microsoft.com/office/drawing/2014/main" id="{0DFFF6B8-285A-4519-B34D-F5525F263431}"/>
              </a:ext>
            </a:extLst>
          </p:cNvPr>
          <p:cNvSpPr/>
          <p:nvPr/>
        </p:nvSpPr>
        <p:spPr bwMode="auto">
          <a:xfrm>
            <a:off x="6275963" y="3914260"/>
            <a:ext cx="668337"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82" name="Cloud 81">
            <a:extLst>
              <a:ext uri="{FF2B5EF4-FFF2-40B4-BE49-F238E27FC236}">
                <a16:creationId xmlns:a16="http://schemas.microsoft.com/office/drawing/2014/main" id="{EA46CD50-B7BA-4009-A8A6-1D237DD1D415}"/>
              </a:ext>
            </a:extLst>
          </p:cNvPr>
          <p:cNvSpPr/>
          <p:nvPr/>
        </p:nvSpPr>
        <p:spPr bwMode="auto">
          <a:xfrm>
            <a:off x="4458274" y="3923785"/>
            <a:ext cx="668338" cy="452437"/>
          </a:xfrm>
          <a:prstGeom prst="cloud">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29714" name="TextBox 26">
            <a:extLst>
              <a:ext uri="{FF2B5EF4-FFF2-40B4-BE49-F238E27FC236}">
                <a16:creationId xmlns:a16="http://schemas.microsoft.com/office/drawing/2014/main" id="{A89F56D4-C254-4B5A-B5DF-92896FD7C358}"/>
              </a:ext>
            </a:extLst>
          </p:cNvPr>
          <p:cNvSpPr txBox="1">
            <a:spLocks noChangeArrowheads="1"/>
          </p:cNvSpPr>
          <p:nvPr/>
        </p:nvSpPr>
        <p:spPr bwMode="auto">
          <a:xfrm>
            <a:off x="4653537" y="4003160"/>
            <a:ext cx="2778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t</a:t>
            </a:r>
            <a:r>
              <a:rPr lang="en-US" altLang="en-US" sz="1200" baseline="-25000"/>
              <a:t>c</a:t>
            </a:r>
          </a:p>
        </p:txBody>
      </p:sp>
      <p:sp>
        <p:nvSpPr>
          <p:cNvPr id="29715" name="TextBox 82">
            <a:extLst>
              <a:ext uri="{FF2B5EF4-FFF2-40B4-BE49-F238E27FC236}">
                <a16:creationId xmlns:a16="http://schemas.microsoft.com/office/drawing/2014/main" id="{42050AA5-7032-416B-8214-1990D07BA7E1}"/>
              </a:ext>
            </a:extLst>
          </p:cNvPr>
          <p:cNvSpPr txBox="1">
            <a:spLocks noChangeArrowheads="1"/>
          </p:cNvSpPr>
          <p:nvPr/>
        </p:nvSpPr>
        <p:spPr bwMode="auto">
          <a:xfrm>
            <a:off x="4323338" y="4390510"/>
            <a:ext cx="427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t</a:t>
            </a:r>
            <a:r>
              <a:rPr lang="en-US" altLang="en-US" sz="1200" baseline="-25000"/>
              <a:t>DFF</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B7594EBB-43F6-463B-96ED-CF12421A2354}"/>
              </a:ext>
            </a:extLst>
          </p:cNvPr>
          <p:cNvSpPr>
            <a:spLocks noGrp="1"/>
          </p:cNvSpPr>
          <p:nvPr>
            <p:ph type="title"/>
          </p:nvPr>
        </p:nvSpPr>
        <p:spPr/>
        <p:txBody>
          <a:bodyPr/>
          <a:lstStyle/>
          <a:p>
            <a:r>
              <a:rPr lang="en-US" altLang="en-US"/>
              <a:t>Output Delay</a:t>
            </a:r>
          </a:p>
        </p:txBody>
      </p:sp>
      <p:sp>
        <p:nvSpPr>
          <p:cNvPr id="3" name="Content Placeholder 2">
            <a:extLst>
              <a:ext uri="{FF2B5EF4-FFF2-40B4-BE49-F238E27FC236}">
                <a16:creationId xmlns:a16="http://schemas.microsoft.com/office/drawing/2014/main" id="{3F835192-249C-48C8-8CB6-5FCAC11545C0}"/>
              </a:ext>
            </a:extLst>
          </p:cNvPr>
          <p:cNvSpPr>
            <a:spLocks noGrp="1"/>
          </p:cNvSpPr>
          <p:nvPr>
            <p:ph type="body" sz="quarter" idx="10"/>
          </p:nvPr>
        </p:nvSpPr>
        <p:spPr>
          <a:xfrm>
            <a:off x="457200" y="1188720"/>
            <a:ext cx="10702887" cy="857783"/>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set_output_delay</a:t>
            </a:r>
            <a:r>
              <a:rPr lang="en-US" sz="1600" dirty="0">
                <a:solidFill>
                  <a:srgbClr val="0000FF"/>
                </a:solidFill>
                <a:latin typeface="Courier New" pitchFamily="49" charset="0"/>
                <a:cs typeface="Courier New" pitchFamily="49" charset="0"/>
              </a:rPr>
              <a:t> -clock </a:t>
            </a:r>
            <a:r>
              <a:rPr lang="en-US" sz="1600" dirty="0">
                <a:latin typeface="Courier New" pitchFamily="49" charset="0"/>
                <a:cs typeface="Courier New" pitchFamily="49" charset="0"/>
              </a:rPr>
              <a:t>CLK -</a:t>
            </a:r>
            <a:r>
              <a:rPr lang="en-US" sz="1600" dirty="0">
                <a:solidFill>
                  <a:srgbClr val="0000FF"/>
                </a:solidFill>
                <a:latin typeface="Courier New" pitchFamily="49" charset="0"/>
                <a:cs typeface="Courier New" pitchFamily="49" charset="0"/>
              </a:rPr>
              <a:t>max</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exp</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tc</a:t>
            </a:r>
            <a:r>
              <a:rPr lang="en-US" sz="1600" dirty="0">
                <a:latin typeface="Courier New" pitchFamily="49" charset="0"/>
                <a:cs typeface="Courier New" pitchFamily="49" charset="0"/>
              </a:rPr>
              <a:t> + </a:t>
            </a:r>
            <a:r>
              <a:rPr lang="en-US" sz="1600" dirty="0" err="1">
                <a:latin typeface="Courier New" pitchFamily="49" charset="0"/>
                <a:cs typeface="Courier New" pitchFamily="49" charset="0"/>
              </a:rPr>
              <a:t>tsetup</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g</a:t>
            </a:r>
            <a:r>
              <a:rPr lang="en-US" sz="1600" dirty="0" err="1">
                <a:solidFill>
                  <a:srgbClr val="0000FF"/>
                </a:solidFill>
                <a:latin typeface="Courier New" pitchFamily="49" charset="0"/>
                <a:cs typeface="Courier New" pitchFamily="49" charset="0"/>
              </a:rPr>
              <a:t>et_ports</a:t>
            </a:r>
            <a:r>
              <a:rPr lang="en-US" sz="1600" dirty="0">
                <a:latin typeface="Courier New" pitchFamily="49" charset="0"/>
                <a:cs typeface="Courier New" pitchFamily="49" charset="0"/>
              </a:rPr>
              <a:t> OUT]</a:t>
            </a:r>
          </a:p>
        </p:txBody>
      </p:sp>
      <p:grpSp>
        <p:nvGrpSpPr>
          <p:cNvPr id="30724" name="Group 3">
            <a:extLst>
              <a:ext uri="{FF2B5EF4-FFF2-40B4-BE49-F238E27FC236}">
                <a16:creationId xmlns:a16="http://schemas.microsoft.com/office/drawing/2014/main" id="{DD9B6FB1-CD30-434D-A2A4-8FA83D085A43}"/>
              </a:ext>
            </a:extLst>
          </p:cNvPr>
          <p:cNvGrpSpPr>
            <a:grpSpLocks/>
          </p:cNvGrpSpPr>
          <p:nvPr/>
        </p:nvGrpSpPr>
        <p:grpSpPr bwMode="auto">
          <a:xfrm>
            <a:off x="2386964" y="3103057"/>
            <a:ext cx="6838950" cy="2133600"/>
            <a:chOff x="1253211" y="1295400"/>
            <a:chExt cx="6838950" cy="2134394"/>
          </a:xfrm>
        </p:grpSpPr>
        <p:grpSp>
          <p:nvGrpSpPr>
            <p:cNvPr id="5" name="Group 4">
              <a:extLst>
                <a:ext uri="{FF2B5EF4-FFF2-40B4-BE49-F238E27FC236}">
                  <a16:creationId xmlns:a16="http://schemas.microsoft.com/office/drawing/2014/main" id="{C025FFF3-D4E7-4B70-A8DE-40BE08DD3E77}"/>
                </a:ext>
              </a:extLst>
            </p:cNvPr>
            <p:cNvGrpSpPr/>
            <p:nvPr/>
          </p:nvGrpSpPr>
          <p:grpSpPr>
            <a:xfrm>
              <a:off x="7406361" y="1949446"/>
              <a:ext cx="685800" cy="762000"/>
              <a:chOff x="8001000" y="1905000"/>
              <a:chExt cx="685800" cy="762000"/>
            </a:xfrm>
            <a:solidFill>
              <a:schemeClr val="bg1">
                <a:lumMod val="85000"/>
              </a:schemeClr>
            </a:solidFill>
          </p:grpSpPr>
          <p:grpSp>
            <p:nvGrpSpPr>
              <p:cNvPr id="6" name="Group 14">
                <a:extLst>
                  <a:ext uri="{FF2B5EF4-FFF2-40B4-BE49-F238E27FC236}">
                    <a16:creationId xmlns:a16="http://schemas.microsoft.com/office/drawing/2014/main" id="{74FAD6C1-916B-4A50-94CC-F1C621BA04DE}"/>
                  </a:ext>
                </a:extLst>
              </p:cNvPr>
              <p:cNvGrpSpPr/>
              <p:nvPr/>
            </p:nvGrpSpPr>
            <p:grpSpPr>
              <a:xfrm>
                <a:off x="8001000" y="1905000"/>
                <a:ext cx="457200" cy="762000"/>
                <a:chOff x="7925594" y="1447006"/>
                <a:chExt cx="457200" cy="762000"/>
              </a:xfrm>
              <a:grpFill/>
            </p:grpSpPr>
            <p:sp>
              <p:nvSpPr>
                <p:cNvPr id="8" name="Rectangle 7">
                  <a:extLst>
                    <a:ext uri="{FF2B5EF4-FFF2-40B4-BE49-F238E27FC236}">
                      <a16:creationId xmlns:a16="http://schemas.microsoft.com/office/drawing/2014/main" id="{7AC17E4C-0803-43F7-A56E-1CAF5229A3BA}"/>
                    </a:ext>
                  </a:extLst>
                </p:cNvPr>
                <p:cNvSpPr/>
                <p:nvPr/>
              </p:nvSpPr>
              <p:spPr bwMode="auto">
                <a:xfrm>
                  <a:off x="7925594" y="1447006"/>
                  <a:ext cx="457200" cy="7620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sp>
              <p:nvSpPr>
                <p:cNvPr id="11" name="Isosceles Triangle 10">
                  <a:extLst>
                    <a:ext uri="{FF2B5EF4-FFF2-40B4-BE49-F238E27FC236}">
                      <a16:creationId xmlns:a16="http://schemas.microsoft.com/office/drawing/2014/main" id="{735063C7-A744-422C-A9B2-2DAC16FEE227}"/>
                    </a:ext>
                  </a:extLst>
                </p:cNvPr>
                <p:cNvSpPr/>
                <p:nvPr/>
              </p:nvSpPr>
              <p:spPr bwMode="auto">
                <a:xfrm rot="5400000">
                  <a:off x="7887494" y="2018506"/>
                  <a:ext cx="152400" cy="76200"/>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grpSp>
          <p:cxnSp>
            <p:nvCxnSpPr>
              <p:cNvPr id="7" name="Straight Connector 6">
                <a:extLst>
                  <a:ext uri="{FF2B5EF4-FFF2-40B4-BE49-F238E27FC236}">
                    <a16:creationId xmlns:a16="http://schemas.microsoft.com/office/drawing/2014/main" id="{507164D4-F560-4BB0-8C80-8BFA38A791F3}"/>
                  </a:ext>
                </a:extLst>
              </p:cNvPr>
              <p:cNvCxnSpPr/>
              <p:nvPr/>
            </p:nvCxnSpPr>
            <p:spPr bwMode="auto">
              <a:xfrm>
                <a:off x="8458200" y="2085975"/>
                <a:ext cx="228600" cy="0"/>
              </a:xfrm>
              <a:prstGeom prst="line">
                <a:avLst/>
              </a:prstGeom>
              <a:grpFill/>
              <a:ln w="9525" cap="flat" cmpd="sng" algn="ctr">
                <a:solidFill>
                  <a:schemeClr val="tx1"/>
                </a:solidFill>
                <a:prstDash val="solid"/>
                <a:round/>
                <a:headEnd type="none" w="med" len="med"/>
                <a:tailEnd type="none" w="med" len="med"/>
              </a:ln>
              <a:effectLst/>
            </p:spPr>
          </p:cxnSp>
        </p:grpSp>
        <p:cxnSp>
          <p:nvCxnSpPr>
            <p:cNvPr id="30726" name="Straight Connector 37">
              <a:extLst>
                <a:ext uri="{FF2B5EF4-FFF2-40B4-BE49-F238E27FC236}">
                  <a16:creationId xmlns:a16="http://schemas.microsoft.com/office/drawing/2014/main" id="{F8882A6B-993B-4CFD-B0EE-BB526F655787}"/>
                </a:ext>
              </a:extLst>
            </p:cNvPr>
            <p:cNvCxnSpPr>
              <a:cxnSpLocks noChangeShapeType="1"/>
            </p:cNvCxnSpPr>
            <p:nvPr/>
          </p:nvCxnSpPr>
          <p:spPr bwMode="auto">
            <a:xfrm>
              <a:off x="7177761" y="2559046"/>
              <a:ext cx="0" cy="550865"/>
            </a:xfrm>
            <a:prstGeom prst="line">
              <a:avLst/>
            </a:prstGeom>
            <a:noFill/>
            <a:ln w="9525" algn="ctr">
              <a:solidFill>
                <a:schemeClr val="tx1"/>
              </a:solidFill>
              <a:round/>
              <a:headEnd/>
              <a:tailEnd/>
            </a:ln>
          </p:spPr>
        </p:cxnSp>
        <p:cxnSp>
          <p:nvCxnSpPr>
            <p:cNvPr id="30727" name="Straight Connector 40">
              <a:extLst>
                <a:ext uri="{FF2B5EF4-FFF2-40B4-BE49-F238E27FC236}">
                  <a16:creationId xmlns:a16="http://schemas.microsoft.com/office/drawing/2014/main" id="{E200BE3F-942A-4657-AA34-4506FC80180D}"/>
                </a:ext>
              </a:extLst>
            </p:cNvPr>
            <p:cNvCxnSpPr>
              <a:cxnSpLocks noChangeShapeType="1"/>
            </p:cNvCxnSpPr>
            <p:nvPr/>
          </p:nvCxnSpPr>
          <p:spPr bwMode="auto">
            <a:xfrm>
              <a:off x="7177761" y="2559046"/>
              <a:ext cx="228600" cy="1588"/>
            </a:xfrm>
            <a:prstGeom prst="line">
              <a:avLst/>
            </a:prstGeom>
            <a:noFill/>
            <a:ln w="9525" algn="ctr">
              <a:solidFill>
                <a:schemeClr val="tx1"/>
              </a:solidFill>
              <a:round/>
              <a:headEnd/>
              <a:tailEnd/>
            </a:ln>
          </p:spPr>
        </p:cxnSp>
        <p:sp>
          <p:nvSpPr>
            <p:cNvPr id="30728" name="TextBox 43">
              <a:extLst>
                <a:ext uri="{FF2B5EF4-FFF2-40B4-BE49-F238E27FC236}">
                  <a16:creationId xmlns:a16="http://schemas.microsoft.com/office/drawing/2014/main" id="{939EC666-6877-4DA4-B3BB-42456A2AB897}"/>
                </a:ext>
              </a:extLst>
            </p:cNvPr>
            <p:cNvSpPr txBox="1">
              <a:spLocks noChangeArrowheads="1"/>
            </p:cNvSpPr>
            <p:nvPr/>
          </p:nvSpPr>
          <p:spPr bwMode="auto">
            <a:xfrm>
              <a:off x="2434311" y="2695978"/>
              <a:ext cx="5715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a:t>
              </a:r>
            </a:p>
          </p:txBody>
        </p:sp>
        <p:grpSp>
          <p:nvGrpSpPr>
            <p:cNvPr id="30729" name="Group 111">
              <a:extLst>
                <a:ext uri="{FF2B5EF4-FFF2-40B4-BE49-F238E27FC236}">
                  <a16:creationId xmlns:a16="http://schemas.microsoft.com/office/drawing/2014/main" id="{D354B35C-4847-4B81-AC40-4AFCB9B21B9D}"/>
                </a:ext>
              </a:extLst>
            </p:cNvPr>
            <p:cNvGrpSpPr>
              <a:grpSpLocks/>
            </p:cNvGrpSpPr>
            <p:nvPr/>
          </p:nvGrpSpPr>
          <p:grpSpPr bwMode="auto">
            <a:xfrm>
              <a:off x="1253211" y="1295400"/>
              <a:ext cx="6153150" cy="2134394"/>
              <a:chOff x="3657600" y="1219200"/>
              <a:chExt cx="6153150" cy="2134394"/>
            </a:xfrm>
          </p:grpSpPr>
          <p:cxnSp>
            <p:nvCxnSpPr>
              <p:cNvPr id="30736" name="Straight Connector 128">
                <a:extLst>
                  <a:ext uri="{FF2B5EF4-FFF2-40B4-BE49-F238E27FC236}">
                    <a16:creationId xmlns:a16="http://schemas.microsoft.com/office/drawing/2014/main" id="{7AD61C2E-FB6E-4812-82E2-353D3929598B}"/>
                  </a:ext>
                </a:extLst>
              </p:cNvPr>
              <p:cNvCxnSpPr>
                <a:cxnSpLocks noChangeShapeType="1"/>
              </p:cNvCxnSpPr>
              <p:nvPr/>
            </p:nvCxnSpPr>
            <p:spPr bwMode="auto">
              <a:xfrm>
                <a:off x="6248400" y="2058516"/>
                <a:ext cx="3562350" cy="0"/>
              </a:xfrm>
              <a:prstGeom prst="line">
                <a:avLst/>
              </a:prstGeom>
              <a:noFill/>
              <a:ln w="9525" algn="ctr">
                <a:solidFill>
                  <a:schemeClr val="tx1"/>
                </a:solidFill>
                <a:round/>
                <a:headEnd/>
                <a:tailEnd/>
              </a:ln>
            </p:spPr>
          </p:cxnSp>
          <p:sp>
            <p:nvSpPr>
              <p:cNvPr id="30737" name="Rectangle 112">
                <a:extLst>
                  <a:ext uri="{FF2B5EF4-FFF2-40B4-BE49-F238E27FC236}">
                    <a16:creationId xmlns:a16="http://schemas.microsoft.com/office/drawing/2014/main" id="{A68944B3-3CA4-4C88-98A6-9ECD2E542FFF}"/>
                  </a:ext>
                </a:extLst>
              </p:cNvPr>
              <p:cNvSpPr>
                <a:spLocks noChangeArrowheads="1"/>
              </p:cNvSpPr>
              <p:nvPr/>
            </p:nvSpPr>
            <p:spPr bwMode="auto">
              <a:xfrm>
                <a:off x="5638800" y="1676400"/>
                <a:ext cx="609600" cy="990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0738" name="Straight Connector 117">
                <a:extLst>
                  <a:ext uri="{FF2B5EF4-FFF2-40B4-BE49-F238E27FC236}">
                    <a16:creationId xmlns:a16="http://schemas.microsoft.com/office/drawing/2014/main" id="{AF6AE7F0-61E1-45BE-A866-BD33CCDAF01C}"/>
                  </a:ext>
                </a:extLst>
              </p:cNvPr>
              <p:cNvCxnSpPr>
                <a:cxnSpLocks noChangeShapeType="1"/>
                <a:endCxn id="30737" idx="1"/>
              </p:cNvCxnSpPr>
              <p:nvPr/>
            </p:nvCxnSpPr>
            <p:spPr bwMode="auto">
              <a:xfrm>
                <a:off x="5486400" y="2095500"/>
                <a:ext cx="152400" cy="0"/>
              </a:xfrm>
              <a:prstGeom prst="line">
                <a:avLst/>
              </a:prstGeom>
              <a:noFill/>
              <a:ln w="9525" algn="ctr">
                <a:solidFill>
                  <a:schemeClr val="tx1"/>
                </a:solidFill>
                <a:round/>
                <a:headEnd/>
                <a:tailEnd/>
              </a:ln>
            </p:spPr>
          </p:cxnSp>
          <p:cxnSp>
            <p:nvCxnSpPr>
              <p:cNvPr id="30739" name="Straight Connector 118">
                <a:extLst>
                  <a:ext uri="{FF2B5EF4-FFF2-40B4-BE49-F238E27FC236}">
                    <a16:creationId xmlns:a16="http://schemas.microsoft.com/office/drawing/2014/main" id="{8EBE2AA0-09C9-47B1-ABD9-8E0C948E0D07}"/>
                  </a:ext>
                </a:extLst>
              </p:cNvPr>
              <p:cNvCxnSpPr>
                <a:cxnSpLocks noChangeShapeType="1"/>
              </p:cNvCxnSpPr>
              <p:nvPr/>
            </p:nvCxnSpPr>
            <p:spPr bwMode="auto">
              <a:xfrm>
                <a:off x="3657600" y="2094706"/>
                <a:ext cx="1295400" cy="0"/>
              </a:xfrm>
              <a:prstGeom prst="line">
                <a:avLst/>
              </a:prstGeom>
              <a:noFill/>
              <a:ln w="9525" algn="ctr">
                <a:solidFill>
                  <a:schemeClr val="tx1"/>
                </a:solidFill>
                <a:round/>
                <a:headEnd/>
                <a:tailEnd/>
              </a:ln>
            </p:spPr>
          </p:cxnSp>
          <p:cxnSp>
            <p:nvCxnSpPr>
              <p:cNvPr id="30740" name="Straight Connector 119">
                <a:extLst>
                  <a:ext uri="{FF2B5EF4-FFF2-40B4-BE49-F238E27FC236}">
                    <a16:creationId xmlns:a16="http://schemas.microsoft.com/office/drawing/2014/main" id="{FC49B506-0F89-437C-AF35-ACA479D556CA}"/>
                  </a:ext>
                </a:extLst>
              </p:cNvPr>
              <p:cNvCxnSpPr>
                <a:cxnSpLocks noChangeShapeType="1"/>
              </p:cNvCxnSpPr>
              <p:nvPr/>
            </p:nvCxnSpPr>
            <p:spPr bwMode="auto">
              <a:xfrm rot="5400000" flipH="1" flipV="1">
                <a:off x="5145088" y="2781300"/>
                <a:ext cx="533400" cy="0"/>
              </a:xfrm>
              <a:prstGeom prst="line">
                <a:avLst/>
              </a:prstGeom>
              <a:noFill/>
              <a:ln w="9525" algn="ctr">
                <a:solidFill>
                  <a:schemeClr val="tx1"/>
                </a:solidFill>
                <a:round/>
                <a:headEnd/>
                <a:tailEnd/>
              </a:ln>
            </p:spPr>
          </p:cxnSp>
          <p:cxnSp>
            <p:nvCxnSpPr>
              <p:cNvPr id="30741" name="Straight Connector 120">
                <a:extLst>
                  <a:ext uri="{FF2B5EF4-FFF2-40B4-BE49-F238E27FC236}">
                    <a16:creationId xmlns:a16="http://schemas.microsoft.com/office/drawing/2014/main" id="{2711C76F-C010-4023-861E-48B6D7A7EB02}"/>
                  </a:ext>
                </a:extLst>
              </p:cNvPr>
              <p:cNvCxnSpPr>
                <a:cxnSpLocks noChangeShapeType="1"/>
              </p:cNvCxnSpPr>
              <p:nvPr/>
            </p:nvCxnSpPr>
            <p:spPr bwMode="auto">
              <a:xfrm>
                <a:off x="5410994" y="2513806"/>
                <a:ext cx="228600" cy="0"/>
              </a:xfrm>
              <a:prstGeom prst="line">
                <a:avLst/>
              </a:prstGeom>
              <a:noFill/>
              <a:ln w="9525" algn="ctr">
                <a:solidFill>
                  <a:schemeClr val="tx1"/>
                </a:solidFill>
                <a:round/>
                <a:headEnd/>
                <a:tailEnd/>
              </a:ln>
            </p:spPr>
          </p:cxnSp>
          <p:cxnSp>
            <p:nvCxnSpPr>
              <p:cNvPr id="30742" name="Straight Connector 121">
                <a:extLst>
                  <a:ext uri="{FF2B5EF4-FFF2-40B4-BE49-F238E27FC236}">
                    <a16:creationId xmlns:a16="http://schemas.microsoft.com/office/drawing/2014/main" id="{EBF06AC8-6B3A-4690-AB9A-B5B664B3820D}"/>
                  </a:ext>
                </a:extLst>
              </p:cNvPr>
              <p:cNvCxnSpPr>
                <a:cxnSpLocks noChangeShapeType="1"/>
              </p:cNvCxnSpPr>
              <p:nvPr/>
            </p:nvCxnSpPr>
            <p:spPr bwMode="auto">
              <a:xfrm flipH="1">
                <a:off x="3733800" y="3049588"/>
                <a:ext cx="5847556" cy="0"/>
              </a:xfrm>
              <a:prstGeom prst="line">
                <a:avLst/>
              </a:prstGeom>
              <a:noFill/>
              <a:ln w="9525" algn="ctr">
                <a:solidFill>
                  <a:schemeClr val="tx1"/>
                </a:solidFill>
                <a:round/>
                <a:headEnd/>
                <a:tailEnd/>
              </a:ln>
            </p:spPr>
          </p:cxnSp>
          <p:cxnSp>
            <p:nvCxnSpPr>
              <p:cNvPr id="30743" name="Straight Connector 122">
                <a:extLst>
                  <a:ext uri="{FF2B5EF4-FFF2-40B4-BE49-F238E27FC236}">
                    <a16:creationId xmlns:a16="http://schemas.microsoft.com/office/drawing/2014/main" id="{4C0E8D86-359A-424D-A66C-AC57D6644254}"/>
                  </a:ext>
                </a:extLst>
              </p:cNvPr>
              <p:cNvCxnSpPr>
                <a:cxnSpLocks noChangeShapeType="1"/>
              </p:cNvCxnSpPr>
              <p:nvPr/>
            </p:nvCxnSpPr>
            <p:spPr bwMode="auto">
              <a:xfrm rot="16200000" flipH="1">
                <a:off x="3124200" y="2286000"/>
                <a:ext cx="2133600" cy="0"/>
              </a:xfrm>
              <a:prstGeom prst="line">
                <a:avLst/>
              </a:prstGeom>
              <a:noFill/>
              <a:ln w="9525" algn="ctr">
                <a:solidFill>
                  <a:schemeClr val="tx1"/>
                </a:solidFill>
                <a:round/>
                <a:headEnd/>
                <a:tailEnd/>
              </a:ln>
            </p:spPr>
          </p:cxnSp>
          <p:cxnSp>
            <p:nvCxnSpPr>
              <p:cNvPr id="30744" name="Straight Connector 123">
                <a:extLst>
                  <a:ext uri="{FF2B5EF4-FFF2-40B4-BE49-F238E27FC236}">
                    <a16:creationId xmlns:a16="http://schemas.microsoft.com/office/drawing/2014/main" id="{2CDBD178-497D-46F4-A778-3EADE7E9AE35}"/>
                  </a:ext>
                </a:extLst>
              </p:cNvPr>
              <p:cNvCxnSpPr>
                <a:cxnSpLocks noChangeShapeType="1"/>
              </p:cNvCxnSpPr>
              <p:nvPr/>
            </p:nvCxnSpPr>
            <p:spPr bwMode="auto">
              <a:xfrm>
                <a:off x="4191000" y="1219200"/>
                <a:ext cx="2895600" cy="0"/>
              </a:xfrm>
              <a:prstGeom prst="line">
                <a:avLst/>
              </a:prstGeom>
              <a:noFill/>
              <a:ln w="9525" algn="ctr">
                <a:solidFill>
                  <a:schemeClr val="tx1"/>
                </a:solidFill>
                <a:round/>
                <a:headEnd/>
                <a:tailEnd/>
              </a:ln>
            </p:spPr>
          </p:cxnSp>
          <p:cxnSp>
            <p:nvCxnSpPr>
              <p:cNvPr id="30745" name="Straight Connector 124">
                <a:extLst>
                  <a:ext uri="{FF2B5EF4-FFF2-40B4-BE49-F238E27FC236}">
                    <a16:creationId xmlns:a16="http://schemas.microsoft.com/office/drawing/2014/main" id="{9B48F7BA-FCFE-4168-A73E-7294C834BD02}"/>
                  </a:ext>
                </a:extLst>
              </p:cNvPr>
              <p:cNvCxnSpPr>
                <a:cxnSpLocks noChangeShapeType="1"/>
              </p:cNvCxnSpPr>
              <p:nvPr/>
            </p:nvCxnSpPr>
            <p:spPr bwMode="auto">
              <a:xfrm>
                <a:off x="4191000" y="3352800"/>
                <a:ext cx="2895600" cy="0"/>
              </a:xfrm>
              <a:prstGeom prst="line">
                <a:avLst/>
              </a:prstGeom>
              <a:noFill/>
              <a:ln w="9525" algn="ctr">
                <a:solidFill>
                  <a:schemeClr val="tx1"/>
                </a:solidFill>
                <a:round/>
                <a:headEnd/>
                <a:tailEnd/>
              </a:ln>
            </p:spPr>
          </p:cxnSp>
          <p:cxnSp>
            <p:nvCxnSpPr>
              <p:cNvPr id="30746" name="Curved Connector 125">
                <a:extLst>
                  <a:ext uri="{FF2B5EF4-FFF2-40B4-BE49-F238E27FC236}">
                    <a16:creationId xmlns:a16="http://schemas.microsoft.com/office/drawing/2014/main" id="{DA416F8E-54CC-4B6D-8545-80895837AFF0}"/>
                  </a:ext>
                </a:extLst>
              </p:cNvPr>
              <p:cNvCxnSpPr>
                <a:cxnSpLocks noChangeShapeType="1"/>
              </p:cNvCxnSpPr>
              <p:nvPr/>
            </p:nvCxnSpPr>
            <p:spPr bwMode="auto">
              <a:xfrm rot="5400000">
                <a:off x="6020594" y="2286794"/>
                <a:ext cx="2133600" cy="0"/>
              </a:xfrm>
              <a:prstGeom prst="curvedConnector3">
                <a:avLst>
                  <a:gd name="adj1" fmla="val 50000"/>
                </a:avLst>
              </a:prstGeom>
              <a:noFill/>
              <a:ln w="9525" algn="ctr">
                <a:solidFill>
                  <a:schemeClr val="tx1"/>
                </a:solidFill>
                <a:round/>
                <a:headEnd/>
                <a:tailEnd/>
              </a:ln>
            </p:spPr>
          </p:cxnSp>
          <p:sp>
            <p:nvSpPr>
              <p:cNvPr id="30747" name="Rectangle 126">
                <a:extLst>
                  <a:ext uri="{FF2B5EF4-FFF2-40B4-BE49-F238E27FC236}">
                    <a16:creationId xmlns:a16="http://schemas.microsoft.com/office/drawing/2014/main" id="{1BE779F5-F14D-47E9-B93E-2FB8D43DF2E3}"/>
                  </a:ext>
                </a:extLst>
              </p:cNvPr>
              <p:cNvSpPr>
                <a:spLocks noChangeArrowheads="1"/>
              </p:cNvSpPr>
              <p:nvPr/>
            </p:nvSpPr>
            <p:spPr bwMode="auto">
              <a:xfrm>
                <a:off x="4038600" y="1981200"/>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0748" name="Rectangle 127">
                <a:extLst>
                  <a:ext uri="{FF2B5EF4-FFF2-40B4-BE49-F238E27FC236}">
                    <a16:creationId xmlns:a16="http://schemas.microsoft.com/office/drawing/2014/main" id="{A1B8E0A7-E4B6-42E2-924B-29AC8250106B}"/>
                  </a:ext>
                </a:extLst>
              </p:cNvPr>
              <p:cNvSpPr>
                <a:spLocks noChangeArrowheads="1"/>
              </p:cNvSpPr>
              <p:nvPr/>
            </p:nvSpPr>
            <p:spPr bwMode="auto">
              <a:xfrm>
                <a:off x="4038600" y="2952750"/>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0749" name="Rectangle 129">
                <a:extLst>
                  <a:ext uri="{FF2B5EF4-FFF2-40B4-BE49-F238E27FC236}">
                    <a16:creationId xmlns:a16="http://schemas.microsoft.com/office/drawing/2014/main" id="{F7DB906E-3772-4227-931D-6CF1C21ACA31}"/>
                  </a:ext>
                </a:extLst>
              </p:cNvPr>
              <p:cNvSpPr>
                <a:spLocks noChangeArrowheads="1"/>
              </p:cNvSpPr>
              <p:nvPr/>
            </p:nvSpPr>
            <p:spPr bwMode="auto">
              <a:xfrm>
                <a:off x="6933406" y="1944216"/>
                <a:ext cx="304800" cy="2286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0750" name="TextBox 130">
                <a:extLst>
                  <a:ext uri="{FF2B5EF4-FFF2-40B4-BE49-F238E27FC236}">
                    <a16:creationId xmlns:a16="http://schemas.microsoft.com/office/drawing/2014/main" id="{07D011A2-CEAC-4DCA-81CF-5A73606F3E38}"/>
                  </a:ext>
                </a:extLst>
              </p:cNvPr>
              <p:cNvSpPr txBox="1">
                <a:spLocks noChangeArrowheads="1"/>
              </p:cNvSpPr>
              <p:nvPr/>
            </p:nvSpPr>
            <p:spPr bwMode="auto">
              <a:xfrm>
                <a:off x="5334000" y="1228407"/>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Design</a:t>
                </a:r>
              </a:p>
            </p:txBody>
          </p:sp>
          <p:sp>
            <p:nvSpPr>
              <p:cNvPr id="30751" name="Isosceles Triangle 131">
                <a:extLst>
                  <a:ext uri="{FF2B5EF4-FFF2-40B4-BE49-F238E27FC236}">
                    <a16:creationId xmlns:a16="http://schemas.microsoft.com/office/drawing/2014/main" id="{228297B4-2B5C-4A07-A66F-FC0C73021B94}"/>
                  </a:ext>
                </a:extLst>
              </p:cNvPr>
              <p:cNvSpPr>
                <a:spLocks noChangeArrowheads="1"/>
              </p:cNvSpPr>
              <p:nvPr/>
            </p:nvSpPr>
            <p:spPr bwMode="auto">
              <a:xfrm rot="5400000">
                <a:off x="5600700" y="2477294"/>
                <a:ext cx="152400" cy="762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30730" name="TextBox 132">
              <a:extLst>
                <a:ext uri="{FF2B5EF4-FFF2-40B4-BE49-F238E27FC236}">
                  <a16:creationId xmlns:a16="http://schemas.microsoft.com/office/drawing/2014/main" id="{EE242064-5860-46C8-97C7-8E95F611C9E4}"/>
                </a:ext>
              </a:extLst>
            </p:cNvPr>
            <p:cNvSpPr txBox="1">
              <a:spLocks noChangeArrowheads="1"/>
            </p:cNvSpPr>
            <p:nvPr/>
          </p:nvSpPr>
          <p:spPr bwMode="auto">
            <a:xfrm>
              <a:off x="7349211" y="1679202"/>
              <a:ext cx="7429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tsetup</a:t>
              </a:r>
            </a:p>
          </p:txBody>
        </p:sp>
        <p:sp>
          <p:nvSpPr>
            <p:cNvPr id="30731" name="TextBox 133">
              <a:extLst>
                <a:ext uri="{FF2B5EF4-FFF2-40B4-BE49-F238E27FC236}">
                  <a16:creationId xmlns:a16="http://schemas.microsoft.com/office/drawing/2014/main" id="{236AEFA6-8D09-49DE-829E-B02FDD6AF216}"/>
                </a:ext>
              </a:extLst>
            </p:cNvPr>
            <p:cNvSpPr txBox="1">
              <a:spLocks noChangeArrowheads="1"/>
            </p:cNvSpPr>
            <p:nvPr/>
          </p:nvSpPr>
          <p:spPr bwMode="auto">
            <a:xfrm>
              <a:off x="4683005" y="2233139"/>
              <a:ext cx="5715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out</a:t>
              </a:r>
            </a:p>
          </p:txBody>
        </p:sp>
        <p:sp>
          <p:nvSpPr>
            <p:cNvPr id="136" name="Cloud 135">
              <a:extLst>
                <a:ext uri="{FF2B5EF4-FFF2-40B4-BE49-F238E27FC236}">
                  <a16:creationId xmlns:a16="http://schemas.microsoft.com/office/drawing/2014/main" id="{A4B147E2-CC92-491D-9C4D-D9618C574F9D}"/>
                </a:ext>
              </a:extLst>
            </p:cNvPr>
            <p:cNvSpPr/>
            <p:nvPr/>
          </p:nvSpPr>
          <p:spPr bwMode="auto">
            <a:xfrm>
              <a:off x="2451774" y="1919519"/>
              <a:ext cx="669925" cy="452606"/>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137" name="Cloud 136">
              <a:extLst>
                <a:ext uri="{FF2B5EF4-FFF2-40B4-BE49-F238E27FC236}">
                  <a16:creationId xmlns:a16="http://schemas.microsoft.com/office/drawing/2014/main" id="{8A7E335C-CEC8-4E54-B4E0-4FD46EFFC038}"/>
                </a:ext>
              </a:extLst>
            </p:cNvPr>
            <p:cNvSpPr/>
            <p:nvPr/>
          </p:nvSpPr>
          <p:spPr bwMode="auto">
            <a:xfrm>
              <a:off x="5625186" y="1813118"/>
              <a:ext cx="990600" cy="665410"/>
            </a:xfrm>
            <a:prstGeom prst="cloud">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138" name="Arc 137">
              <a:extLst>
                <a:ext uri="{FF2B5EF4-FFF2-40B4-BE49-F238E27FC236}">
                  <a16:creationId xmlns:a16="http://schemas.microsoft.com/office/drawing/2014/main" id="{B46B8F22-AA61-4517-BE99-A90A09F1820D}"/>
                </a:ext>
              </a:extLst>
            </p:cNvPr>
            <p:cNvSpPr/>
            <p:nvPr/>
          </p:nvSpPr>
          <p:spPr bwMode="auto">
            <a:xfrm flipH="1">
              <a:off x="4858424" y="1674953"/>
              <a:ext cx="2395537" cy="687644"/>
            </a:xfrm>
            <a:prstGeom prst="arc">
              <a:avLst>
                <a:gd name="adj1" fmla="val 11514388"/>
                <a:gd name="adj2" fmla="val 0"/>
              </a:avLst>
            </a:prstGeom>
            <a:noFill/>
            <a:ln w="9525" cap="flat" cmpd="sng" algn="ctr">
              <a:solidFill>
                <a:schemeClr val="tx1"/>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sp>
          <p:nvSpPr>
            <p:cNvPr id="30735" name="TextBox 138">
              <a:extLst>
                <a:ext uri="{FF2B5EF4-FFF2-40B4-BE49-F238E27FC236}">
                  <a16:creationId xmlns:a16="http://schemas.microsoft.com/office/drawing/2014/main" id="{CDCAED5D-3783-4A2D-BCBF-1752E393FF95}"/>
                </a:ext>
              </a:extLst>
            </p:cNvPr>
            <p:cNvSpPr txBox="1">
              <a:spLocks noChangeArrowheads="1"/>
            </p:cNvSpPr>
            <p:nvPr/>
          </p:nvSpPr>
          <p:spPr bwMode="auto">
            <a:xfrm>
              <a:off x="6615786" y="1397221"/>
              <a:ext cx="2792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t</a:t>
              </a:r>
              <a:r>
                <a:rPr lang="en-US" altLang="en-US" sz="1200" baseline="-25000"/>
                <a:t>c</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449B68C8-6340-4342-AB47-63F9DF3F2C6C}"/>
              </a:ext>
            </a:extLst>
          </p:cNvPr>
          <p:cNvSpPr>
            <a:spLocks noGrp="1"/>
          </p:cNvSpPr>
          <p:nvPr>
            <p:ph type="title"/>
          </p:nvPr>
        </p:nvSpPr>
        <p:spPr/>
        <p:txBody>
          <a:bodyPr/>
          <a:lstStyle/>
          <a:p>
            <a:r>
              <a:rPr lang="en-US" altLang="en-US"/>
              <a:t>Input Path with Virtual Clock</a:t>
            </a:r>
          </a:p>
        </p:txBody>
      </p:sp>
      <p:sp>
        <p:nvSpPr>
          <p:cNvPr id="3" name="Content Placeholder 2">
            <a:extLst>
              <a:ext uri="{FF2B5EF4-FFF2-40B4-BE49-F238E27FC236}">
                <a16:creationId xmlns:a16="http://schemas.microsoft.com/office/drawing/2014/main" id="{E0C85C55-CD3B-40A5-97D3-ACCBE70AF3B4}"/>
              </a:ext>
            </a:extLst>
          </p:cNvPr>
          <p:cNvSpPr>
            <a:spLocks noGrp="1"/>
          </p:cNvSpPr>
          <p:nvPr>
            <p:ph type="body" sz="quarter" idx="10"/>
          </p:nvPr>
        </p:nvSpPr>
        <p:spPr>
          <a:xfrm>
            <a:off x="457200" y="1188720"/>
            <a:ext cx="10691870" cy="927417"/>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VCLK -</a:t>
            </a:r>
            <a:r>
              <a:rPr lang="en-US" sz="1600" dirty="0">
                <a:solidFill>
                  <a:srgbClr val="0000FF"/>
                </a:solidFill>
                <a:latin typeface="Courier New" pitchFamily="49" charset="0"/>
                <a:cs typeface="Courier New" pitchFamily="49" charset="0"/>
              </a:rPr>
              <a:t>period</a:t>
            </a:r>
            <a:r>
              <a:rPr lang="en-US" sz="1600" dirty="0">
                <a:latin typeface="Courier New" pitchFamily="49" charset="0"/>
                <a:cs typeface="Courier New" pitchFamily="49" charset="0"/>
              </a:rPr>
              <a:t> 10 -</a:t>
            </a:r>
            <a:r>
              <a:rPr lang="en-US" sz="1600" dirty="0">
                <a:solidFill>
                  <a:srgbClr val="0000FF"/>
                </a:solidFill>
                <a:latin typeface="Courier New" pitchFamily="49" charset="0"/>
                <a:cs typeface="Courier New" pitchFamily="49" charset="0"/>
              </a:rPr>
              <a:t>waveform</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{0 5}</a:t>
            </a:r>
          </a:p>
          <a:p>
            <a:pPr marL="0" indent="0">
              <a:buNone/>
              <a:defRPr/>
            </a:pPr>
            <a:r>
              <a:rPr lang="en-US" sz="1600" dirty="0" err="1">
                <a:solidFill>
                  <a:srgbClr val="0000FF"/>
                </a:solidFill>
                <a:latin typeface="Courier New" pitchFamily="49" charset="0"/>
                <a:cs typeface="Courier New" pitchFamily="49" charset="0"/>
              </a:rPr>
              <a:t>set_input_delay</a:t>
            </a:r>
            <a:r>
              <a:rPr lang="en-US" sz="1600" dirty="0">
                <a:solidFill>
                  <a:srgbClr val="0000FF"/>
                </a:solidFill>
                <a:latin typeface="Courier New" pitchFamily="49" charset="0"/>
                <a:cs typeface="Courier New" pitchFamily="49" charset="0"/>
              </a:rPr>
              <a:t> -clock </a:t>
            </a:r>
            <a:r>
              <a:rPr lang="en-US" sz="1600" dirty="0">
                <a:latin typeface="Courier New" pitchFamily="49" charset="0"/>
                <a:cs typeface="Courier New" pitchFamily="49" charset="0"/>
              </a:rPr>
              <a:t>VCLK  -</a:t>
            </a:r>
            <a:r>
              <a:rPr lang="en-US" sz="1600" dirty="0">
                <a:solidFill>
                  <a:srgbClr val="0000FF"/>
                </a:solidFill>
                <a:latin typeface="Courier New" pitchFamily="49" charset="0"/>
                <a:cs typeface="Courier New" pitchFamily="49" charset="0"/>
              </a:rPr>
              <a:t>max</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3 [</a:t>
            </a:r>
            <a:r>
              <a:rPr lang="en-US" sz="1600" dirty="0" err="1">
                <a:solidFill>
                  <a:srgbClr val="0000FF"/>
                </a:solidFill>
                <a:latin typeface="Courier New" pitchFamily="49" charset="0"/>
                <a:cs typeface="Courier New" pitchFamily="49" charset="0"/>
              </a:rPr>
              <a:t>get_ports</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IN]</a:t>
            </a:r>
          </a:p>
        </p:txBody>
      </p:sp>
      <p:sp>
        <p:nvSpPr>
          <p:cNvPr id="31748" name="Rectangle 5">
            <a:extLst>
              <a:ext uri="{FF2B5EF4-FFF2-40B4-BE49-F238E27FC236}">
                <a16:creationId xmlns:a16="http://schemas.microsoft.com/office/drawing/2014/main" id="{30020453-C924-4B31-A2B0-9EA723264D5F}"/>
              </a:ext>
            </a:extLst>
          </p:cNvPr>
          <p:cNvSpPr>
            <a:spLocks noChangeArrowheads="1"/>
          </p:cNvSpPr>
          <p:nvPr/>
        </p:nvSpPr>
        <p:spPr bwMode="auto">
          <a:xfrm>
            <a:off x="7185819" y="3023792"/>
            <a:ext cx="328612" cy="625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1749" name="Isosceles Triangle 6">
            <a:extLst>
              <a:ext uri="{FF2B5EF4-FFF2-40B4-BE49-F238E27FC236}">
                <a16:creationId xmlns:a16="http://schemas.microsoft.com/office/drawing/2014/main" id="{14654A4A-C984-4F61-8604-1F7864FDAE5A}"/>
              </a:ext>
            </a:extLst>
          </p:cNvPr>
          <p:cNvSpPr>
            <a:spLocks noChangeArrowheads="1"/>
          </p:cNvSpPr>
          <p:nvPr/>
        </p:nvSpPr>
        <p:spPr bwMode="auto">
          <a:xfrm rot="5400000">
            <a:off x="7192963" y="3494485"/>
            <a:ext cx="68262" cy="8255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1750" name="TextBox 7">
            <a:extLst>
              <a:ext uri="{FF2B5EF4-FFF2-40B4-BE49-F238E27FC236}">
                <a16:creationId xmlns:a16="http://schemas.microsoft.com/office/drawing/2014/main" id="{D2FBB0DA-41C8-4E4E-91E1-B4D7AADC998D}"/>
              </a:ext>
            </a:extLst>
          </p:cNvPr>
          <p:cNvSpPr txBox="1">
            <a:spLocks noChangeArrowheads="1"/>
          </p:cNvSpPr>
          <p:nvPr/>
        </p:nvSpPr>
        <p:spPr bwMode="auto">
          <a:xfrm>
            <a:off x="7073107" y="3038080"/>
            <a:ext cx="4984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dirty="0">
                <a:solidFill>
                  <a:schemeClr val="bg1"/>
                </a:solidFill>
              </a:rPr>
              <a:t>   </a:t>
            </a:r>
            <a:r>
              <a:rPr lang="en-US" altLang="en-US" dirty="0">
                <a:solidFill>
                  <a:schemeClr val="bg1"/>
                </a:solidFill>
              </a:rPr>
              <a:t>D  Q</a:t>
            </a:r>
            <a:endParaRPr lang="en-US" altLang="en-US" sz="1000" dirty="0">
              <a:solidFill>
                <a:schemeClr val="bg1"/>
              </a:solidFill>
            </a:endParaRPr>
          </a:p>
        </p:txBody>
      </p:sp>
      <p:sp>
        <p:nvSpPr>
          <p:cNvPr id="31751" name="TextBox 8">
            <a:extLst>
              <a:ext uri="{FF2B5EF4-FFF2-40B4-BE49-F238E27FC236}">
                <a16:creationId xmlns:a16="http://schemas.microsoft.com/office/drawing/2014/main" id="{AE9079D8-2CA4-47D5-A84F-AE40698F7343}"/>
              </a:ext>
            </a:extLst>
          </p:cNvPr>
          <p:cNvSpPr txBox="1">
            <a:spLocks noChangeArrowheads="1"/>
          </p:cNvSpPr>
          <p:nvPr/>
        </p:nvSpPr>
        <p:spPr bwMode="auto">
          <a:xfrm>
            <a:off x="7225506" y="3425429"/>
            <a:ext cx="3317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dirty="0">
                <a:solidFill>
                  <a:schemeClr val="bg1"/>
                </a:solidFill>
              </a:rPr>
              <a:t>CK</a:t>
            </a:r>
          </a:p>
        </p:txBody>
      </p:sp>
      <p:cxnSp>
        <p:nvCxnSpPr>
          <p:cNvPr id="31752" name="Straight Connector 9">
            <a:extLst>
              <a:ext uri="{FF2B5EF4-FFF2-40B4-BE49-F238E27FC236}">
                <a16:creationId xmlns:a16="http://schemas.microsoft.com/office/drawing/2014/main" id="{B77CBD1D-C849-4C44-B29F-DC7DB573BBD5}"/>
              </a:ext>
            </a:extLst>
          </p:cNvPr>
          <p:cNvCxnSpPr>
            <a:cxnSpLocks noChangeShapeType="1"/>
          </p:cNvCxnSpPr>
          <p:nvPr/>
        </p:nvCxnSpPr>
        <p:spPr bwMode="auto">
          <a:xfrm>
            <a:off x="7517607" y="3146029"/>
            <a:ext cx="212725" cy="0"/>
          </a:xfrm>
          <a:prstGeom prst="line">
            <a:avLst/>
          </a:prstGeom>
          <a:noFill/>
          <a:ln w="9525" algn="ctr">
            <a:solidFill>
              <a:schemeClr val="tx1"/>
            </a:solidFill>
            <a:round/>
            <a:headEnd/>
            <a:tailEnd/>
          </a:ln>
        </p:spPr>
      </p:cxnSp>
      <p:sp>
        <p:nvSpPr>
          <p:cNvPr id="31753" name="Rectangle 10">
            <a:extLst>
              <a:ext uri="{FF2B5EF4-FFF2-40B4-BE49-F238E27FC236}">
                <a16:creationId xmlns:a16="http://schemas.microsoft.com/office/drawing/2014/main" id="{FDC8A7B8-92BB-44F0-B3A6-A6A10AB5274A}"/>
              </a:ext>
            </a:extLst>
          </p:cNvPr>
          <p:cNvSpPr>
            <a:spLocks noChangeArrowheads="1"/>
          </p:cNvSpPr>
          <p:nvPr/>
        </p:nvSpPr>
        <p:spPr bwMode="auto">
          <a:xfrm>
            <a:off x="5745956" y="2749154"/>
            <a:ext cx="2008188" cy="105886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1754" name="Rectangle 11">
            <a:extLst>
              <a:ext uri="{FF2B5EF4-FFF2-40B4-BE49-F238E27FC236}">
                <a16:creationId xmlns:a16="http://schemas.microsoft.com/office/drawing/2014/main" id="{1B14CF3B-553C-41E7-99C7-3873C658F14A}"/>
              </a:ext>
            </a:extLst>
          </p:cNvPr>
          <p:cNvSpPr>
            <a:spLocks noChangeArrowheads="1"/>
          </p:cNvSpPr>
          <p:nvPr/>
        </p:nvSpPr>
        <p:spPr bwMode="auto">
          <a:xfrm>
            <a:off x="5714207" y="3119042"/>
            <a:ext cx="73025" cy="7302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1755" name="Rectangle 12">
            <a:extLst>
              <a:ext uri="{FF2B5EF4-FFF2-40B4-BE49-F238E27FC236}">
                <a16:creationId xmlns:a16="http://schemas.microsoft.com/office/drawing/2014/main" id="{5EFC4D44-5DC6-4514-AD9B-56B9EB640305}"/>
              </a:ext>
            </a:extLst>
          </p:cNvPr>
          <p:cNvSpPr>
            <a:spLocks noChangeArrowheads="1"/>
          </p:cNvSpPr>
          <p:nvPr/>
        </p:nvSpPr>
        <p:spPr bwMode="auto">
          <a:xfrm>
            <a:off x="5711032" y="3515917"/>
            <a:ext cx="73025" cy="7302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31756" name="Straight Connector 14">
            <a:extLst>
              <a:ext uri="{FF2B5EF4-FFF2-40B4-BE49-F238E27FC236}">
                <a16:creationId xmlns:a16="http://schemas.microsoft.com/office/drawing/2014/main" id="{0D55E3E6-A015-4680-B2D5-B78A675B3620}"/>
              </a:ext>
            </a:extLst>
          </p:cNvPr>
          <p:cNvCxnSpPr>
            <a:cxnSpLocks noChangeShapeType="1"/>
            <a:stCxn id="31754" idx="3"/>
          </p:cNvCxnSpPr>
          <p:nvPr/>
        </p:nvCxnSpPr>
        <p:spPr bwMode="auto">
          <a:xfrm flipV="1">
            <a:off x="5787232" y="3153966"/>
            <a:ext cx="525463" cy="0"/>
          </a:xfrm>
          <a:prstGeom prst="line">
            <a:avLst/>
          </a:prstGeom>
          <a:noFill/>
          <a:ln w="9525" algn="ctr">
            <a:solidFill>
              <a:schemeClr val="tx1"/>
            </a:solidFill>
            <a:round/>
            <a:headEnd/>
            <a:tailEnd/>
          </a:ln>
        </p:spPr>
      </p:cxnSp>
      <p:cxnSp>
        <p:nvCxnSpPr>
          <p:cNvPr id="31757" name="Straight Connector 15">
            <a:extLst>
              <a:ext uri="{FF2B5EF4-FFF2-40B4-BE49-F238E27FC236}">
                <a16:creationId xmlns:a16="http://schemas.microsoft.com/office/drawing/2014/main" id="{B1C06AEC-88E8-4561-A198-C99BD19049FC}"/>
              </a:ext>
            </a:extLst>
          </p:cNvPr>
          <p:cNvCxnSpPr>
            <a:cxnSpLocks noChangeShapeType="1"/>
          </p:cNvCxnSpPr>
          <p:nvPr/>
        </p:nvCxnSpPr>
        <p:spPr bwMode="auto">
          <a:xfrm>
            <a:off x="7012782" y="3157141"/>
            <a:ext cx="182563" cy="0"/>
          </a:xfrm>
          <a:prstGeom prst="line">
            <a:avLst/>
          </a:prstGeom>
          <a:noFill/>
          <a:ln w="9525" algn="ctr">
            <a:solidFill>
              <a:schemeClr val="tx1"/>
            </a:solidFill>
            <a:round/>
            <a:headEnd/>
            <a:tailEnd/>
          </a:ln>
        </p:spPr>
      </p:cxnSp>
      <p:cxnSp>
        <p:nvCxnSpPr>
          <p:cNvPr id="31758" name="Straight Connector 17">
            <a:extLst>
              <a:ext uri="{FF2B5EF4-FFF2-40B4-BE49-F238E27FC236}">
                <a16:creationId xmlns:a16="http://schemas.microsoft.com/office/drawing/2014/main" id="{7E1D5E86-C38E-4DE1-851B-0DE7884CE367}"/>
              </a:ext>
            </a:extLst>
          </p:cNvPr>
          <p:cNvCxnSpPr>
            <a:cxnSpLocks noChangeShapeType="1"/>
            <a:stCxn id="57" idx="0"/>
          </p:cNvCxnSpPr>
          <p:nvPr/>
        </p:nvCxnSpPr>
        <p:spPr bwMode="auto">
          <a:xfrm>
            <a:off x="6984206" y="3531791"/>
            <a:ext cx="204788" cy="0"/>
          </a:xfrm>
          <a:prstGeom prst="line">
            <a:avLst/>
          </a:prstGeom>
          <a:noFill/>
          <a:ln w="9525" algn="ctr">
            <a:solidFill>
              <a:schemeClr val="tx1"/>
            </a:solidFill>
            <a:round/>
            <a:headEnd/>
            <a:tailEnd/>
          </a:ln>
        </p:spPr>
      </p:cxnSp>
      <p:cxnSp>
        <p:nvCxnSpPr>
          <p:cNvPr id="31759" name="Straight Connector 18">
            <a:extLst>
              <a:ext uri="{FF2B5EF4-FFF2-40B4-BE49-F238E27FC236}">
                <a16:creationId xmlns:a16="http://schemas.microsoft.com/office/drawing/2014/main" id="{D5AD1A2A-0F6E-40B6-860F-1FC98B14263F}"/>
              </a:ext>
            </a:extLst>
          </p:cNvPr>
          <p:cNvCxnSpPr>
            <a:cxnSpLocks noChangeShapeType="1"/>
            <a:endCxn id="31755" idx="3"/>
          </p:cNvCxnSpPr>
          <p:nvPr/>
        </p:nvCxnSpPr>
        <p:spPr bwMode="auto">
          <a:xfrm rot="10800000" flipV="1">
            <a:off x="5784057" y="3552429"/>
            <a:ext cx="817563" cy="0"/>
          </a:xfrm>
          <a:prstGeom prst="line">
            <a:avLst/>
          </a:prstGeom>
          <a:noFill/>
          <a:ln w="9525" algn="ctr">
            <a:solidFill>
              <a:schemeClr val="tx1"/>
            </a:solidFill>
            <a:round/>
            <a:headEnd/>
            <a:tailEnd/>
          </a:ln>
        </p:spPr>
      </p:cxnSp>
      <p:sp>
        <p:nvSpPr>
          <p:cNvPr id="31760" name="TextBox 19">
            <a:extLst>
              <a:ext uri="{FF2B5EF4-FFF2-40B4-BE49-F238E27FC236}">
                <a16:creationId xmlns:a16="http://schemas.microsoft.com/office/drawing/2014/main" id="{9A608F38-1CA5-47FD-8505-02E3429285F9}"/>
              </a:ext>
            </a:extLst>
          </p:cNvPr>
          <p:cNvSpPr txBox="1">
            <a:spLocks noChangeArrowheads="1"/>
          </p:cNvSpPr>
          <p:nvPr/>
        </p:nvSpPr>
        <p:spPr bwMode="auto">
          <a:xfrm>
            <a:off x="7233445" y="2749155"/>
            <a:ext cx="54292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Design</a:t>
            </a:r>
            <a:endParaRPr lang="ru-RU" altLang="en-US"/>
          </a:p>
        </p:txBody>
      </p:sp>
      <p:sp>
        <p:nvSpPr>
          <p:cNvPr id="31761" name="TextBox 20">
            <a:extLst>
              <a:ext uri="{FF2B5EF4-FFF2-40B4-BE49-F238E27FC236}">
                <a16:creationId xmlns:a16="http://schemas.microsoft.com/office/drawing/2014/main" id="{42D27ABD-206D-4B67-86C0-FC2411349A0D}"/>
              </a:ext>
            </a:extLst>
          </p:cNvPr>
          <p:cNvSpPr txBox="1">
            <a:spLocks noChangeArrowheads="1"/>
          </p:cNvSpPr>
          <p:nvPr/>
        </p:nvSpPr>
        <p:spPr bwMode="auto">
          <a:xfrm>
            <a:off x="5722145" y="2915842"/>
            <a:ext cx="3000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IN</a:t>
            </a:r>
            <a:endParaRPr lang="ru-RU" altLang="en-US"/>
          </a:p>
        </p:txBody>
      </p:sp>
      <p:sp>
        <p:nvSpPr>
          <p:cNvPr id="31762" name="TextBox 21">
            <a:extLst>
              <a:ext uri="{FF2B5EF4-FFF2-40B4-BE49-F238E27FC236}">
                <a16:creationId xmlns:a16="http://schemas.microsoft.com/office/drawing/2014/main" id="{1D7725F3-2FFE-4E12-AA9C-20F6B037C00C}"/>
              </a:ext>
            </a:extLst>
          </p:cNvPr>
          <p:cNvSpPr txBox="1">
            <a:spLocks noChangeArrowheads="1"/>
          </p:cNvSpPr>
          <p:nvPr/>
        </p:nvSpPr>
        <p:spPr bwMode="auto">
          <a:xfrm>
            <a:off x="5723731" y="3306366"/>
            <a:ext cx="40798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endParaRPr lang="ru-RU" altLang="en-US"/>
          </a:p>
        </p:txBody>
      </p:sp>
      <p:cxnSp>
        <p:nvCxnSpPr>
          <p:cNvPr id="31763" name="Straight Connector 25">
            <a:extLst>
              <a:ext uri="{FF2B5EF4-FFF2-40B4-BE49-F238E27FC236}">
                <a16:creationId xmlns:a16="http://schemas.microsoft.com/office/drawing/2014/main" id="{37B9686C-0E92-4118-893C-F91443ED23BF}"/>
              </a:ext>
            </a:extLst>
          </p:cNvPr>
          <p:cNvCxnSpPr>
            <a:cxnSpLocks noChangeShapeType="1"/>
            <a:stCxn id="31754" idx="1"/>
          </p:cNvCxnSpPr>
          <p:nvPr/>
        </p:nvCxnSpPr>
        <p:spPr bwMode="auto">
          <a:xfrm rot="10800000" flipV="1">
            <a:off x="5534820" y="3157141"/>
            <a:ext cx="179387" cy="0"/>
          </a:xfrm>
          <a:prstGeom prst="line">
            <a:avLst/>
          </a:prstGeom>
          <a:noFill/>
          <a:ln w="9525" algn="ctr">
            <a:solidFill>
              <a:schemeClr val="tx1"/>
            </a:solidFill>
            <a:round/>
            <a:headEnd/>
            <a:tailEnd/>
          </a:ln>
        </p:spPr>
      </p:cxnSp>
      <p:sp>
        <p:nvSpPr>
          <p:cNvPr id="31764" name="Rectangle 26">
            <a:extLst>
              <a:ext uri="{FF2B5EF4-FFF2-40B4-BE49-F238E27FC236}">
                <a16:creationId xmlns:a16="http://schemas.microsoft.com/office/drawing/2014/main" id="{660D32AF-AE6C-465B-AEF0-9BF1608CD6CB}"/>
              </a:ext>
            </a:extLst>
          </p:cNvPr>
          <p:cNvSpPr>
            <a:spLocks noChangeArrowheads="1"/>
          </p:cNvSpPr>
          <p:nvPr/>
        </p:nvSpPr>
        <p:spPr bwMode="auto">
          <a:xfrm>
            <a:off x="4298157" y="3034905"/>
            <a:ext cx="328613" cy="625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1765" name="Isosceles Triangle 27">
            <a:extLst>
              <a:ext uri="{FF2B5EF4-FFF2-40B4-BE49-F238E27FC236}">
                <a16:creationId xmlns:a16="http://schemas.microsoft.com/office/drawing/2014/main" id="{02D559AA-7E42-4CD4-8984-0D8222427C61}"/>
              </a:ext>
            </a:extLst>
          </p:cNvPr>
          <p:cNvSpPr>
            <a:spLocks noChangeArrowheads="1"/>
          </p:cNvSpPr>
          <p:nvPr/>
        </p:nvSpPr>
        <p:spPr bwMode="auto">
          <a:xfrm rot="5400000">
            <a:off x="4305300" y="3524648"/>
            <a:ext cx="68263" cy="8255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1766" name="TextBox 28">
            <a:extLst>
              <a:ext uri="{FF2B5EF4-FFF2-40B4-BE49-F238E27FC236}">
                <a16:creationId xmlns:a16="http://schemas.microsoft.com/office/drawing/2014/main" id="{E89505A3-0C86-4E2B-B688-37BD66E18A55}"/>
              </a:ext>
            </a:extLst>
          </p:cNvPr>
          <p:cNvSpPr txBox="1">
            <a:spLocks noChangeArrowheads="1"/>
          </p:cNvSpPr>
          <p:nvPr/>
        </p:nvSpPr>
        <p:spPr bwMode="auto">
          <a:xfrm>
            <a:off x="4185445" y="3049191"/>
            <a:ext cx="49847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dirty="0">
                <a:solidFill>
                  <a:schemeClr val="bg1"/>
                </a:solidFill>
              </a:rPr>
              <a:t>   </a:t>
            </a:r>
            <a:r>
              <a:rPr lang="en-US" altLang="en-US" dirty="0">
                <a:solidFill>
                  <a:schemeClr val="bg1"/>
                </a:solidFill>
              </a:rPr>
              <a:t>D  Q</a:t>
            </a:r>
            <a:endParaRPr lang="en-US" altLang="en-US" sz="1000" dirty="0">
              <a:solidFill>
                <a:schemeClr val="bg1"/>
              </a:solidFill>
            </a:endParaRPr>
          </a:p>
        </p:txBody>
      </p:sp>
      <p:sp>
        <p:nvSpPr>
          <p:cNvPr id="31767" name="TextBox 29">
            <a:extLst>
              <a:ext uri="{FF2B5EF4-FFF2-40B4-BE49-F238E27FC236}">
                <a16:creationId xmlns:a16="http://schemas.microsoft.com/office/drawing/2014/main" id="{646DF9F9-0738-40E1-9D22-72BD430645CD}"/>
              </a:ext>
            </a:extLst>
          </p:cNvPr>
          <p:cNvSpPr txBox="1">
            <a:spLocks noChangeArrowheads="1"/>
          </p:cNvSpPr>
          <p:nvPr/>
        </p:nvSpPr>
        <p:spPr bwMode="auto">
          <a:xfrm>
            <a:off x="4317206" y="3461941"/>
            <a:ext cx="3317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dirty="0">
                <a:solidFill>
                  <a:schemeClr val="bg1"/>
                </a:solidFill>
              </a:rPr>
              <a:t>CK</a:t>
            </a:r>
          </a:p>
        </p:txBody>
      </p:sp>
      <p:cxnSp>
        <p:nvCxnSpPr>
          <p:cNvPr id="31768" name="Straight Connector 30">
            <a:extLst>
              <a:ext uri="{FF2B5EF4-FFF2-40B4-BE49-F238E27FC236}">
                <a16:creationId xmlns:a16="http://schemas.microsoft.com/office/drawing/2014/main" id="{864F6BA3-A655-4E42-8D47-B120974E389D}"/>
              </a:ext>
            </a:extLst>
          </p:cNvPr>
          <p:cNvCxnSpPr>
            <a:cxnSpLocks noChangeShapeType="1"/>
          </p:cNvCxnSpPr>
          <p:nvPr/>
        </p:nvCxnSpPr>
        <p:spPr bwMode="auto">
          <a:xfrm>
            <a:off x="4629945" y="3155554"/>
            <a:ext cx="211137" cy="0"/>
          </a:xfrm>
          <a:prstGeom prst="line">
            <a:avLst/>
          </a:prstGeom>
          <a:noFill/>
          <a:ln w="9525" algn="ctr">
            <a:solidFill>
              <a:schemeClr val="tx1"/>
            </a:solidFill>
            <a:round/>
            <a:headEnd/>
            <a:tailEnd/>
          </a:ln>
        </p:spPr>
      </p:cxnSp>
      <p:cxnSp>
        <p:nvCxnSpPr>
          <p:cNvPr id="31769" name="Straight Connector 31">
            <a:extLst>
              <a:ext uri="{FF2B5EF4-FFF2-40B4-BE49-F238E27FC236}">
                <a16:creationId xmlns:a16="http://schemas.microsoft.com/office/drawing/2014/main" id="{7EA6E782-387C-4D64-AEEC-C7943A345035}"/>
              </a:ext>
            </a:extLst>
          </p:cNvPr>
          <p:cNvCxnSpPr>
            <a:cxnSpLocks noChangeShapeType="1"/>
          </p:cNvCxnSpPr>
          <p:nvPr/>
        </p:nvCxnSpPr>
        <p:spPr bwMode="auto">
          <a:xfrm>
            <a:off x="4123532" y="3168254"/>
            <a:ext cx="182563" cy="0"/>
          </a:xfrm>
          <a:prstGeom prst="line">
            <a:avLst/>
          </a:prstGeom>
          <a:noFill/>
          <a:ln w="9525" algn="ctr">
            <a:solidFill>
              <a:schemeClr val="tx1"/>
            </a:solidFill>
            <a:round/>
            <a:headEnd/>
            <a:tailEnd/>
          </a:ln>
        </p:spPr>
      </p:cxnSp>
      <p:cxnSp>
        <p:nvCxnSpPr>
          <p:cNvPr id="31770" name="Straight Connector 32">
            <a:extLst>
              <a:ext uri="{FF2B5EF4-FFF2-40B4-BE49-F238E27FC236}">
                <a16:creationId xmlns:a16="http://schemas.microsoft.com/office/drawing/2014/main" id="{8C2FA392-FCEA-4E47-822D-D80F21849A45}"/>
              </a:ext>
            </a:extLst>
          </p:cNvPr>
          <p:cNvCxnSpPr>
            <a:cxnSpLocks noChangeShapeType="1"/>
          </p:cNvCxnSpPr>
          <p:nvPr/>
        </p:nvCxnSpPr>
        <p:spPr bwMode="auto">
          <a:xfrm>
            <a:off x="4153694" y="3560366"/>
            <a:ext cx="146050" cy="0"/>
          </a:xfrm>
          <a:prstGeom prst="line">
            <a:avLst/>
          </a:prstGeom>
          <a:noFill/>
          <a:ln w="9525" algn="ctr">
            <a:solidFill>
              <a:schemeClr val="tx1"/>
            </a:solidFill>
            <a:round/>
            <a:headEnd/>
            <a:tailEnd/>
          </a:ln>
        </p:spPr>
      </p:cxnSp>
      <p:sp>
        <p:nvSpPr>
          <p:cNvPr id="31771" name="TextBox 33">
            <a:extLst>
              <a:ext uri="{FF2B5EF4-FFF2-40B4-BE49-F238E27FC236}">
                <a16:creationId xmlns:a16="http://schemas.microsoft.com/office/drawing/2014/main" id="{0D929517-8864-4AD1-AE21-29D3FD56A644}"/>
              </a:ext>
            </a:extLst>
          </p:cNvPr>
          <p:cNvSpPr txBox="1">
            <a:spLocks noChangeArrowheads="1"/>
          </p:cNvSpPr>
          <p:nvPr/>
        </p:nvSpPr>
        <p:spPr bwMode="auto">
          <a:xfrm>
            <a:off x="3604419" y="3341291"/>
            <a:ext cx="4810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VSLK</a:t>
            </a:r>
            <a:endParaRPr lang="ru-RU" altLang="en-US"/>
          </a:p>
        </p:txBody>
      </p:sp>
      <p:sp>
        <p:nvSpPr>
          <p:cNvPr id="31772" name="TextBox 34">
            <a:extLst>
              <a:ext uri="{FF2B5EF4-FFF2-40B4-BE49-F238E27FC236}">
                <a16:creationId xmlns:a16="http://schemas.microsoft.com/office/drawing/2014/main" id="{5A516CA2-8656-4B6C-956A-83D8BA18B16E}"/>
              </a:ext>
            </a:extLst>
          </p:cNvPr>
          <p:cNvSpPr txBox="1">
            <a:spLocks noChangeArrowheads="1"/>
          </p:cNvSpPr>
          <p:nvPr/>
        </p:nvSpPr>
        <p:spPr bwMode="auto">
          <a:xfrm>
            <a:off x="4909344" y="2604692"/>
            <a:ext cx="4127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 = 3</a:t>
            </a:r>
            <a:endParaRPr lang="ru-RU" altLang="en-US"/>
          </a:p>
        </p:txBody>
      </p:sp>
      <p:sp>
        <p:nvSpPr>
          <p:cNvPr id="31773" name="Freeform 35">
            <a:extLst>
              <a:ext uri="{FF2B5EF4-FFF2-40B4-BE49-F238E27FC236}">
                <a16:creationId xmlns:a16="http://schemas.microsoft.com/office/drawing/2014/main" id="{BDFF7FFF-439C-40BA-B38F-5C90D712ED9E}"/>
              </a:ext>
            </a:extLst>
          </p:cNvPr>
          <p:cNvSpPr>
            <a:spLocks/>
          </p:cNvSpPr>
          <p:nvPr/>
        </p:nvSpPr>
        <p:spPr bwMode="auto">
          <a:xfrm>
            <a:off x="4456906" y="2812654"/>
            <a:ext cx="1181100" cy="665162"/>
          </a:xfrm>
          <a:custGeom>
            <a:avLst/>
            <a:gdLst>
              <a:gd name="T0" fmla="*/ 0 w 1181100"/>
              <a:gd name="T1" fmla="*/ 665162 h 665162"/>
              <a:gd name="T2" fmla="*/ 90488 w 1181100"/>
              <a:gd name="T3" fmla="*/ 560387 h 665162"/>
              <a:gd name="T4" fmla="*/ 285750 w 1181100"/>
              <a:gd name="T5" fmla="*/ 293687 h 665162"/>
              <a:gd name="T6" fmla="*/ 447675 w 1181100"/>
              <a:gd name="T7" fmla="*/ 115094 h 665162"/>
              <a:gd name="T8" fmla="*/ 747713 w 1181100"/>
              <a:gd name="T9" fmla="*/ 5556 h 665162"/>
              <a:gd name="T10" fmla="*/ 1052513 w 1181100"/>
              <a:gd name="T11" fmla="*/ 81756 h 665162"/>
              <a:gd name="T12" fmla="*/ 1181100 w 1181100"/>
              <a:gd name="T13" fmla="*/ 198437 h 6651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81100" h="665162">
                <a:moveTo>
                  <a:pt x="0" y="665162"/>
                </a:moveTo>
                <a:cubicBezTo>
                  <a:pt x="21431" y="643731"/>
                  <a:pt x="42863" y="622300"/>
                  <a:pt x="90488" y="560387"/>
                </a:cubicBezTo>
                <a:cubicBezTo>
                  <a:pt x="138113" y="498474"/>
                  <a:pt x="226219" y="367902"/>
                  <a:pt x="285750" y="293687"/>
                </a:cubicBezTo>
                <a:cubicBezTo>
                  <a:pt x="345281" y="219472"/>
                  <a:pt x="370681" y="163116"/>
                  <a:pt x="447675" y="115094"/>
                </a:cubicBezTo>
                <a:cubicBezTo>
                  <a:pt x="524669" y="67072"/>
                  <a:pt x="646907" y="11112"/>
                  <a:pt x="747713" y="5556"/>
                </a:cubicBezTo>
                <a:cubicBezTo>
                  <a:pt x="848519" y="0"/>
                  <a:pt x="980282" y="49609"/>
                  <a:pt x="1052513" y="81756"/>
                </a:cubicBezTo>
                <a:cubicBezTo>
                  <a:pt x="1124744" y="113903"/>
                  <a:pt x="1152922" y="156170"/>
                  <a:pt x="1181100" y="198437"/>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7" name="Elbow Connector 36">
            <a:extLst>
              <a:ext uri="{FF2B5EF4-FFF2-40B4-BE49-F238E27FC236}">
                <a16:creationId xmlns:a16="http://schemas.microsoft.com/office/drawing/2014/main" id="{AD1FDF68-48D8-4709-9408-B84F4B069152}"/>
              </a:ext>
            </a:extLst>
          </p:cNvPr>
          <p:cNvCxnSpPr/>
          <p:nvPr/>
        </p:nvCxnSpPr>
        <p:spPr bwMode="auto">
          <a:xfrm flipV="1">
            <a:off x="4085432" y="4300141"/>
            <a:ext cx="1679575" cy="401638"/>
          </a:xfrm>
          <a:prstGeom prst="bentConnector3">
            <a:avLst>
              <a:gd name="adj1" fmla="val 122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0B4F7789-1EF3-4217-B968-6FBCD95356C8}"/>
              </a:ext>
            </a:extLst>
          </p:cNvPr>
          <p:cNvCxnSpPr/>
          <p:nvPr/>
        </p:nvCxnSpPr>
        <p:spPr bwMode="auto">
          <a:xfrm>
            <a:off x="5765007" y="4300141"/>
            <a:ext cx="1643063" cy="401638"/>
          </a:xfrm>
          <a:prstGeom prst="bentConnector3">
            <a:avLst>
              <a:gd name="adj1" fmla="val -14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87537855-F00D-4DE6-B766-0E78E4658A50}"/>
              </a:ext>
            </a:extLst>
          </p:cNvPr>
          <p:cNvCxnSpPr/>
          <p:nvPr/>
        </p:nvCxnSpPr>
        <p:spPr bwMode="auto">
          <a:xfrm rot="5400000" flipH="1" flipV="1">
            <a:off x="7353300" y="4354910"/>
            <a:ext cx="401638" cy="292100"/>
          </a:xfrm>
          <a:prstGeom prst="bentConnector3">
            <a:avLst>
              <a:gd name="adj1" fmla="val 9980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1777" name="TextBox 39">
            <a:extLst>
              <a:ext uri="{FF2B5EF4-FFF2-40B4-BE49-F238E27FC236}">
                <a16:creationId xmlns:a16="http://schemas.microsoft.com/office/drawing/2014/main" id="{B9116422-4500-49A1-B025-7B6669873D99}"/>
              </a:ext>
            </a:extLst>
          </p:cNvPr>
          <p:cNvSpPr txBox="1">
            <a:spLocks noChangeArrowheads="1"/>
          </p:cNvSpPr>
          <p:nvPr/>
        </p:nvSpPr>
        <p:spPr bwMode="auto">
          <a:xfrm>
            <a:off x="3437732" y="4341417"/>
            <a:ext cx="5191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VCLK</a:t>
            </a:r>
            <a:endParaRPr lang="ru-RU" altLang="en-US" sz="1000"/>
          </a:p>
        </p:txBody>
      </p:sp>
      <p:sp>
        <p:nvSpPr>
          <p:cNvPr id="31778" name="Freeform 40">
            <a:extLst>
              <a:ext uri="{FF2B5EF4-FFF2-40B4-BE49-F238E27FC236}">
                <a16:creationId xmlns:a16="http://schemas.microsoft.com/office/drawing/2014/main" id="{650A7B6F-030F-4044-AC06-92953E08AADC}"/>
              </a:ext>
            </a:extLst>
          </p:cNvPr>
          <p:cNvSpPr>
            <a:spLocks/>
          </p:cNvSpPr>
          <p:nvPr/>
        </p:nvSpPr>
        <p:spPr bwMode="auto">
          <a:xfrm>
            <a:off x="4156870" y="4604941"/>
            <a:ext cx="3133725" cy="642938"/>
          </a:xfrm>
          <a:custGeom>
            <a:avLst/>
            <a:gdLst>
              <a:gd name="T0" fmla="*/ 0 w 3133725"/>
              <a:gd name="T1" fmla="*/ 0 h 642937"/>
              <a:gd name="T2" fmla="*/ 790575 w 3133725"/>
              <a:gd name="T3" fmla="*/ 52387 h 642937"/>
              <a:gd name="T4" fmla="*/ 1647825 w 3133725"/>
              <a:gd name="T5" fmla="*/ 147637 h 642937"/>
              <a:gd name="T6" fmla="*/ 2276475 w 3133725"/>
              <a:gd name="T7" fmla="*/ 271462 h 642937"/>
              <a:gd name="T8" fmla="*/ 2743200 w 3133725"/>
              <a:gd name="T9" fmla="*/ 433387 h 642937"/>
              <a:gd name="T10" fmla="*/ 3133725 w 3133725"/>
              <a:gd name="T11" fmla="*/ 642937 h 6429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133725" h="642937">
                <a:moveTo>
                  <a:pt x="0" y="0"/>
                </a:moveTo>
                <a:cubicBezTo>
                  <a:pt x="257969" y="13890"/>
                  <a:pt x="515938" y="27781"/>
                  <a:pt x="790575" y="52387"/>
                </a:cubicBezTo>
                <a:cubicBezTo>
                  <a:pt x="1065213" y="76993"/>
                  <a:pt x="1400175" y="111124"/>
                  <a:pt x="1647825" y="147637"/>
                </a:cubicBezTo>
                <a:cubicBezTo>
                  <a:pt x="1895475" y="184150"/>
                  <a:pt x="2093913" y="223837"/>
                  <a:pt x="2276475" y="271462"/>
                </a:cubicBezTo>
                <a:cubicBezTo>
                  <a:pt x="2459037" y="319087"/>
                  <a:pt x="2600325" y="371475"/>
                  <a:pt x="2743200" y="433387"/>
                </a:cubicBezTo>
                <a:cubicBezTo>
                  <a:pt x="2886075" y="495300"/>
                  <a:pt x="3009900" y="569118"/>
                  <a:pt x="3133725" y="642937"/>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42" name="Elbow Connector 41">
            <a:extLst>
              <a:ext uri="{FF2B5EF4-FFF2-40B4-BE49-F238E27FC236}">
                <a16:creationId xmlns:a16="http://schemas.microsoft.com/office/drawing/2014/main" id="{833EC5D6-7957-4409-A3BB-51F1D6864446}"/>
              </a:ext>
            </a:extLst>
          </p:cNvPr>
          <p:cNvCxnSpPr/>
          <p:nvPr/>
        </p:nvCxnSpPr>
        <p:spPr bwMode="auto">
          <a:xfrm flipV="1">
            <a:off x="4094957" y="5117705"/>
            <a:ext cx="1643063" cy="401637"/>
          </a:xfrm>
          <a:prstGeom prst="bentConnector3">
            <a:avLst>
              <a:gd name="adj1" fmla="val 14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617D2022-EE49-4491-A122-5AB41B90AE35}"/>
              </a:ext>
            </a:extLst>
          </p:cNvPr>
          <p:cNvCxnSpPr/>
          <p:nvPr/>
        </p:nvCxnSpPr>
        <p:spPr bwMode="auto">
          <a:xfrm>
            <a:off x="5738020" y="5117705"/>
            <a:ext cx="1679575" cy="401637"/>
          </a:xfrm>
          <a:prstGeom prst="bentConnector3">
            <a:avLst>
              <a:gd name="adj1" fmla="val -4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FC7454EE-B257-48D8-8FA2-FAEBB2D3E86B}"/>
              </a:ext>
            </a:extLst>
          </p:cNvPr>
          <p:cNvCxnSpPr/>
          <p:nvPr/>
        </p:nvCxnSpPr>
        <p:spPr bwMode="auto">
          <a:xfrm rot="5400000" flipH="1" flipV="1">
            <a:off x="7362826" y="5172473"/>
            <a:ext cx="401637" cy="292100"/>
          </a:xfrm>
          <a:prstGeom prst="bentConnector3">
            <a:avLst>
              <a:gd name="adj1" fmla="val 9920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782" name="Straight Connector 44">
            <a:extLst>
              <a:ext uri="{FF2B5EF4-FFF2-40B4-BE49-F238E27FC236}">
                <a16:creationId xmlns:a16="http://schemas.microsoft.com/office/drawing/2014/main" id="{DC478876-6FDA-466A-9A3B-FE9AF672C6FF}"/>
              </a:ext>
            </a:extLst>
          </p:cNvPr>
          <p:cNvCxnSpPr>
            <a:cxnSpLocks noChangeShapeType="1"/>
          </p:cNvCxnSpPr>
          <p:nvPr/>
        </p:nvCxnSpPr>
        <p:spPr bwMode="auto">
          <a:xfrm rot="5400000">
            <a:off x="4692650" y="5358210"/>
            <a:ext cx="5842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83" name="Straight Connector 45">
            <a:extLst>
              <a:ext uri="{FF2B5EF4-FFF2-40B4-BE49-F238E27FC236}">
                <a16:creationId xmlns:a16="http://schemas.microsoft.com/office/drawing/2014/main" id="{1591F13E-035F-449E-942F-486CD1870EB3}"/>
              </a:ext>
            </a:extLst>
          </p:cNvPr>
          <p:cNvCxnSpPr>
            <a:cxnSpLocks noChangeShapeType="1"/>
          </p:cNvCxnSpPr>
          <p:nvPr/>
        </p:nvCxnSpPr>
        <p:spPr bwMode="auto">
          <a:xfrm rot="5400000">
            <a:off x="6902450" y="5369322"/>
            <a:ext cx="5842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31784" name="TextBox 46">
            <a:extLst>
              <a:ext uri="{FF2B5EF4-FFF2-40B4-BE49-F238E27FC236}">
                <a16:creationId xmlns:a16="http://schemas.microsoft.com/office/drawing/2014/main" id="{945E6411-B586-49DC-8471-1DE37383FCDB}"/>
              </a:ext>
            </a:extLst>
          </p:cNvPr>
          <p:cNvSpPr txBox="1">
            <a:spLocks noChangeArrowheads="1"/>
          </p:cNvSpPr>
          <p:nvPr/>
        </p:nvSpPr>
        <p:spPr bwMode="auto">
          <a:xfrm>
            <a:off x="3969545" y="4687491"/>
            <a:ext cx="36464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0                                                  5                                                 10</a:t>
            </a:r>
            <a:endParaRPr lang="ru-RU" altLang="en-US"/>
          </a:p>
        </p:txBody>
      </p:sp>
      <p:sp>
        <p:nvSpPr>
          <p:cNvPr id="31785" name="TextBox 47">
            <a:extLst>
              <a:ext uri="{FF2B5EF4-FFF2-40B4-BE49-F238E27FC236}">
                <a16:creationId xmlns:a16="http://schemas.microsoft.com/office/drawing/2014/main" id="{6A68CFD6-6E44-46FC-A69A-B207DC5D00F4}"/>
              </a:ext>
            </a:extLst>
          </p:cNvPr>
          <p:cNvSpPr txBox="1">
            <a:spLocks noChangeArrowheads="1"/>
          </p:cNvSpPr>
          <p:nvPr/>
        </p:nvSpPr>
        <p:spPr bwMode="auto">
          <a:xfrm>
            <a:off x="3250407" y="5235180"/>
            <a:ext cx="519113"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CLKM</a:t>
            </a:r>
            <a:endParaRPr lang="ru-RU" altLang="en-US"/>
          </a:p>
        </p:txBody>
      </p:sp>
      <p:sp>
        <p:nvSpPr>
          <p:cNvPr id="31786" name="TextBox 48">
            <a:extLst>
              <a:ext uri="{FF2B5EF4-FFF2-40B4-BE49-F238E27FC236}">
                <a16:creationId xmlns:a16="http://schemas.microsoft.com/office/drawing/2014/main" id="{B089ED83-4032-49D4-9966-CB7B90FA2803}"/>
              </a:ext>
            </a:extLst>
          </p:cNvPr>
          <p:cNvSpPr txBox="1">
            <a:spLocks noChangeArrowheads="1"/>
          </p:cNvSpPr>
          <p:nvPr/>
        </p:nvSpPr>
        <p:spPr bwMode="auto">
          <a:xfrm>
            <a:off x="4582319" y="5705080"/>
            <a:ext cx="8064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Data arrives</a:t>
            </a:r>
          </a:p>
        </p:txBody>
      </p:sp>
      <p:sp>
        <p:nvSpPr>
          <p:cNvPr id="31787" name="TextBox 49">
            <a:extLst>
              <a:ext uri="{FF2B5EF4-FFF2-40B4-BE49-F238E27FC236}">
                <a16:creationId xmlns:a16="http://schemas.microsoft.com/office/drawing/2014/main" id="{64DD9633-4A05-4F73-B509-0B4984A03756}"/>
              </a:ext>
            </a:extLst>
          </p:cNvPr>
          <p:cNvSpPr txBox="1">
            <a:spLocks noChangeArrowheads="1"/>
          </p:cNvSpPr>
          <p:nvPr/>
        </p:nvSpPr>
        <p:spPr bwMode="auto">
          <a:xfrm>
            <a:off x="6738145" y="5608241"/>
            <a:ext cx="8842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Data required</a:t>
            </a:r>
          </a:p>
        </p:txBody>
      </p:sp>
      <p:sp>
        <p:nvSpPr>
          <p:cNvPr id="31788" name="TextBox 50">
            <a:extLst>
              <a:ext uri="{FF2B5EF4-FFF2-40B4-BE49-F238E27FC236}">
                <a16:creationId xmlns:a16="http://schemas.microsoft.com/office/drawing/2014/main" id="{B666F867-549F-4185-9A6C-9FEB66772E92}"/>
              </a:ext>
            </a:extLst>
          </p:cNvPr>
          <p:cNvSpPr txBox="1">
            <a:spLocks noChangeArrowheads="1"/>
          </p:cNvSpPr>
          <p:nvPr/>
        </p:nvSpPr>
        <p:spPr bwMode="auto">
          <a:xfrm>
            <a:off x="5807869" y="4925617"/>
            <a:ext cx="8191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Setup check</a:t>
            </a:r>
          </a:p>
        </p:txBody>
      </p:sp>
      <p:sp>
        <p:nvSpPr>
          <p:cNvPr id="31789" name="TextBox 51">
            <a:extLst>
              <a:ext uri="{FF2B5EF4-FFF2-40B4-BE49-F238E27FC236}">
                <a16:creationId xmlns:a16="http://schemas.microsoft.com/office/drawing/2014/main" id="{02728B87-99AD-4B74-A32B-44CFFE786F19}"/>
              </a:ext>
            </a:extLst>
          </p:cNvPr>
          <p:cNvSpPr txBox="1">
            <a:spLocks noChangeArrowheads="1"/>
          </p:cNvSpPr>
          <p:nvPr/>
        </p:nvSpPr>
        <p:spPr bwMode="auto">
          <a:xfrm>
            <a:off x="4785519" y="4860530"/>
            <a:ext cx="262096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3.1                                                                9.5</a:t>
            </a:r>
            <a:endParaRPr lang="ru-RU" altLang="en-US"/>
          </a:p>
        </p:txBody>
      </p:sp>
      <p:cxnSp>
        <p:nvCxnSpPr>
          <p:cNvPr id="31790" name="Straight Arrow Connector 52">
            <a:extLst>
              <a:ext uri="{FF2B5EF4-FFF2-40B4-BE49-F238E27FC236}">
                <a16:creationId xmlns:a16="http://schemas.microsoft.com/office/drawing/2014/main" id="{DF727BCF-C0FF-455E-B6F8-33F17CB07918}"/>
              </a:ext>
            </a:extLst>
          </p:cNvPr>
          <p:cNvCxnSpPr>
            <a:cxnSpLocks noChangeShapeType="1"/>
          </p:cNvCxnSpPr>
          <p:nvPr/>
        </p:nvCxnSpPr>
        <p:spPr bwMode="auto">
          <a:xfrm rot="5400000" flipH="1" flipV="1">
            <a:off x="3934619" y="4530329"/>
            <a:ext cx="328613" cy="1588"/>
          </a:xfrm>
          <a:prstGeom prst="straightConnector1">
            <a:avLst/>
          </a:prstGeom>
          <a:noFill/>
          <a:ln w="9525" algn="ctr">
            <a:solidFill>
              <a:srgbClr val="0000FF"/>
            </a:solidFill>
            <a:round/>
            <a:headEnd/>
            <a:tailEnd type="triangle" w="med" len="med"/>
          </a:ln>
        </p:spPr>
      </p:cxnSp>
      <p:cxnSp>
        <p:nvCxnSpPr>
          <p:cNvPr id="31791" name="Straight Arrow Connector 53">
            <a:extLst>
              <a:ext uri="{FF2B5EF4-FFF2-40B4-BE49-F238E27FC236}">
                <a16:creationId xmlns:a16="http://schemas.microsoft.com/office/drawing/2014/main" id="{B1AF76FA-3790-40FD-A507-FFBA90646253}"/>
              </a:ext>
            </a:extLst>
          </p:cNvPr>
          <p:cNvCxnSpPr>
            <a:cxnSpLocks noChangeShapeType="1"/>
          </p:cNvCxnSpPr>
          <p:nvPr/>
        </p:nvCxnSpPr>
        <p:spPr bwMode="auto">
          <a:xfrm rot="5400000" flipH="1" flipV="1">
            <a:off x="7257257" y="5327255"/>
            <a:ext cx="328613" cy="1587"/>
          </a:xfrm>
          <a:prstGeom prst="straightConnector1">
            <a:avLst/>
          </a:prstGeom>
          <a:noFill/>
          <a:ln w="9525" algn="ctr">
            <a:solidFill>
              <a:srgbClr val="0000FF"/>
            </a:solidFill>
            <a:round/>
            <a:headEnd/>
            <a:tailEnd type="triangle" w="med" len="med"/>
          </a:ln>
        </p:spPr>
      </p:cxnSp>
      <p:sp>
        <p:nvSpPr>
          <p:cNvPr id="55" name="Cloud 54">
            <a:extLst>
              <a:ext uri="{FF2B5EF4-FFF2-40B4-BE49-F238E27FC236}">
                <a16:creationId xmlns:a16="http://schemas.microsoft.com/office/drawing/2014/main" id="{44E62568-2EA2-4BE3-AEE8-76A8900B8EED}"/>
              </a:ext>
            </a:extLst>
          </p:cNvPr>
          <p:cNvSpPr/>
          <p:nvPr/>
        </p:nvSpPr>
        <p:spPr bwMode="auto">
          <a:xfrm>
            <a:off x="4850607" y="2920605"/>
            <a:ext cx="684213"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56" name="Cloud 55">
            <a:extLst>
              <a:ext uri="{FF2B5EF4-FFF2-40B4-BE49-F238E27FC236}">
                <a16:creationId xmlns:a16="http://schemas.microsoft.com/office/drawing/2014/main" id="{4913AFD4-EE6E-462A-B741-C50C91A4DD2C}"/>
              </a:ext>
            </a:extLst>
          </p:cNvPr>
          <p:cNvSpPr/>
          <p:nvPr/>
        </p:nvSpPr>
        <p:spPr bwMode="auto">
          <a:xfrm>
            <a:off x="6271419" y="2930130"/>
            <a:ext cx="728662"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57" name="Cloud 56">
            <a:extLst>
              <a:ext uri="{FF2B5EF4-FFF2-40B4-BE49-F238E27FC236}">
                <a16:creationId xmlns:a16="http://schemas.microsoft.com/office/drawing/2014/main" id="{9C296659-D990-4C83-BE0B-EC40CCA19C9E}"/>
              </a:ext>
            </a:extLst>
          </p:cNvPr>
          <p:cNvSpPr/>
          <p:nvPr/>
        </p:nvSpPr>
        <p:spPr bwMode="auto">
          <a:xfrm>
            <a:off x="6577806" y="3419080"/>
            <a:ext cx="406400" cy="22542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31795" name="TextBox 23">
            <a:extLst>
              <a:ext uri="{FF2B5EF4-FFF2-40B4-BE49-F238E27FC236}">
                <a16:creationId xmlns:a16="http://schemas.microsoft.com/office/drawing/2014/main" id="{EC592A2C-ADA1-454C-8EAA-CFD0F0C8E591}"/>
              </a:ext>
            </a:extLst>
          </p:cNvPr>
          <p:cNvSpPr txBox="1">
            <a:spLocks noChangeArrowheads="1"/>
          </p:cNvSpPr>
          <p:nvPr/>
        </p:nvSpPr>
        <p:spPr bwMode="auto">
          <a:xfrm>
            <a:off x="6468270" y="2417367"/>
            <a:ext cx="3444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0.1</a:t>
            </a:r>
            <a:endParaRPr lang="ru-RU" altLang="en-US"/>
          </a:p>
        </p:txBody>
      </p:sp>
      <p:sp>
        <p:nvSpPr>
          <p:cNvPr id="31796" name="TextBox 57">
            <a:extLst>
              <a:ext uri="{FF2B5EF4-FFF2-40B4-BE49-F238E27FC236}">
                <a16:creationId xmlns:a16="http://schemas.microsoft.com/office/drawing/2014/main" id="{97D087AB-0808-4650-BD37-B08B218A01C5}"/>
              </a:ext>
            </a:extLst>
          </p:cNvPr>
          <p:cNvSpPr txBox="1">
            <a:spLocks noChangeArrowheads="1"/>
          </p:cNvSpPr>
          <p:nvPr/>
        </p:nvSpPr>
        <p:spPr bwMode="auto">
          <a:xfrm>
            <a:off x="7211220" y="3941366"/>
            <a:ext cx="7270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T</a:t>
            </a:r>
            <a:r>
              <a:rPr lang="en-US" altLang="en-US" sz="1000" baseline="-25000"/>
              <a:t>setup</a:t>
            </a:r>
            <a:r>
              <a:rPr lang="en-US" altLang="en-US" sz="1000"/>
              <a:t>=0.5</a:t>
            </a:r>
            <a:endParaRPr lang="ru-RU" altLang="en-US" sz="1000"/>
          </a:p>
        </p:txBody>
      </p:sp>
      <p:cxnSp>
        <p:nvCxnSpPr>
          <p:cNvPr id="31797" name="Straight Arrow Connector 58">
            <a:extLst>
              <a:ext uri="{FF2B5EF4-FFF2-40B4-BE49-F238E27FC236}">
                <a16:creationId xmlns:a16="http://schemas.microsoft.com/office/drawing/2014/main" id="{1A8AEF8C-C338-4818-AA13-EE52E263CC07}"/>
              </a:ext>
            </a:extLst>
          </p:cNvPr>
          <p:cNvCxnSpPr>
            <a:cxnSpLocks noChangeShapeType="1"/>
          </p:cNvCxnSpPr>
          <p:nvPr/>
        </p:nvCxnSpPr>
        <p:spPr bwMode="auto">
          <a:xfrm>
            <a:off x="6334920" y="2649141"/>
            <a:ext cx="649287" cy="0"/>
          </a:xfrm>
          <a:prstGeom prst="straightConnector1">
            <a:avLst/>
          </a:prstGeom>
          <a:noFill/>
          <a:ln w="9525" algn="ctr">
            <a:solidFill>
              <a:srgbClr val="0000FF"/>
            </a:solidFill>
            <a:round/>
            <a:headEnd type="triangl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82F92853-05CD-4E47-AD67-777CB90E445B}"/>
              </a:ext>
            </a:extLst>
          </p:cNvPr>
          <p:cNvSpPr>
            <a:spLocks noGrp="1"/>
          </p:cNvSpPr>
          <p:nvPr>
            <p:ph type="title"/>
          </p:nvPr>
        </p:nvSpPr>
        <p:spPr/>
        <p:txBody>
          <a:bodyPr/>
          <a:lstStyle/>
          <a:p>
            <a:r>
              <a:rPr lang="en-US" altLang="en-US"/>
              <a:t>3-cycle Setup Clock</a:t>
            </a:r>
          </a:p>
        </p:txBody>
      </p:sp>
      <p:sp>
        <p:nvSpPr>
          <p:cNvPr id="5" name="Content Placeholder 2">
            <a:extLst>
              <a:ext uri="{FF2B5EF4-FFF2-40B4-BE49-F238E27FC236}">
                <a16:creationId xmlns:a16="http://schemas.microsoft.com/office/drawing/2014/main" id="{D09E71DE-5E26-4C90-87C0-2ED08C6CDEA8}"/>
              </a:ext>
            </a:extLst>
          </p:cNvPr>
          <p:cNvSpPr txBox="1">
            <a:spLocks/>
          </p:cNvSpPr>
          <p:nvPr/>
        </p:nvSpPr>
        <p:spPr bwMode="auto">
          <a:xfrm>
            <a:off x="2359026" y="5121275"/>
            <a:ext cx="6708775" cy="647700"/>
          </a:xfrm>
          <a:prstGeom prst="rect">
            <a:avLst/>
          </a:prstGeom>
          <a:solidFill>
            <a:schemeClr val="accent1">
              <a:lumMod val="20000"/>
              <a:lumOff val="80000"/>
            </a:schemeClr>
          </a:solidFill>
          <a:ln w="28575">
            <a:solidFill>
              <a:schemeClr val="accent1">
                <a:lumMod val="75000"/>
              </a:schemeClr>
            </a:solidFill>
            <a:miter lim="800000"/>
            <a:headEnd/>
            <a:tailEnd/>
          </a:ln>
        </p:spPr>
        <p:txBody>
          <a:bodyPr/>
          <a:lstStyle/>
          <a:p>
            <a:pPr marL="342900" indent="-342900">
              <a:spcBef>
                <a:spcPct val="20000"/>
              </a:spcBef>
              <a:buClr>
                <a:schemeClr val="accent1"/>
              </a:buClr>
              <a:buSzPct val="65000"/>
              <a:defRPr/>
            </a:pPr>
            <a:r>
              <a:rPr lang="en-US" sz="1200" kern="0" dirty="0" err="1">
                <a:latin typeface="Courier New" pitchFamily="49" charset="0"/>
                <a:cs typeface="Courier New" pitchFamily="49" charset="0"/>
              </a:rPr>
              <a:t>create_clock</a:t>
            </a:r>
            <a:r>
              <a:rPr lang="en-US" sz="1200" kern="0" dirty="0">
                <a:latin typeface="Courier New" pitchFamily="49" charset="0"/>
                <a:cs typeface="Courier New" pitchFamily="49" charset="0"/>
              </a:rPr>
              <a:t> -name CLK -period 10 [</a:t>
            </a:r>
            <a:r>
              <a:rPr lang="en-US" sz="1200" kern="0" dirty="0" err="1">
                <a:latin typeface="Courier New" pitchFamily="49" charset="0"/>
                <a:cs typeface="Courier New" pitchFamily="49" charset="0"/>
              </a:rPr>
              <a:t>get_ports</a:t>
            </a:r>
            <a:r>
              <a:rPr lang="en-US" sz="1200" kern="0" dirty="0">
                <a:latin typeface="Courier New" pitchFamily="49" charset="0"/>
                <a:cs typeface="Courier New" pitchFamily="49" charset="0"/>
              </a:rPr>
              <a:t> CLK]</a:t>
            </a:r>
          </a:p>
          <a:p>
            <a:pPr marL="342900" indent="-342900">
              <a:spcBef>
                <a:spcPct val="20000"/>
              </a:spcBef>
              <a:buClr>
                <a:schemeClr val="accent1"/>
              </a:buClr>
              <a:buSzPct val="65000"/>
              <a:defRPr/>
            </a:pPr>
            <a:r>
              <a:rPr lang="en-US" sz="1200" kern="0" dirty="0" err="1">
                <a:latin typeface="Courier New" pitchFamily="49" charset="0"/>
                <a:cs typeface="Courier New" pitchFamily="49" charset="0"/>
              </a:rPr>
              <a:t>set_multicycle_path</a:t>
            </a:r>
            <a:r>
              <a:rPr lang="en-US" sz="1200" kern="0" dirty="0">
                <a:latin typeface="Courier New" pitchFamily="49" charset="0"/>
                <a:cs typeface="Courier New" pitchFamily="49" charset="0"/>
              </a:rPr>
              <a:t> 3 -setup -from [</a:t>
            </a:r>
            <a:r>
              <a:rPr lang="en-US" sz="1200" kern="0" dirty="0" err="1">
                <a:latin typeface="Courier New" pitchFamily="49" charset="0"/>
                <a:cs typeface="Courier New" pitchFamily="49" charset="0"/>
              </a:rPr>
              <a:t>get_pins</a:t>
            </a:r>
            <a:r>
              <a:rPr lang="en-US" sz="1200" kern="0" dirty="0">
                <a:latin typeface="Courier New" pitchFamily="49" charset="0"/>
                <a:cs typeface="Courier New" pitchFamily="49" charset="0"/>
              </a:rPr>
              <a:t> G1/Q] -to [</a:t>
            </a:r>
            <a:r>
              <a:rPr lang="en-US" sz="1200" kern="0" dirty="0" err="1">
                <a:latin typeface="Courier New" pitchFamily="49" charset="0"/>
                <a:cs typeface="Courier New" pitchFamily="49" charset="0"/>
              </a:rPr>
              <a:t>get_pins</a:t>
            </a:r>
            <a:r>
              <a:rPr lang="en-US" sz="1200" kern="0" dirty="0">
                <a:latin typeface="Courier New" pitchFamily="49" charset="0"/>
                <a:cs typeface="Courier New" pitchFamily="49" charset="0"/>
              </a:rPr>
              <a:t> G2/D]</a:t>
            </a:r>
          </a:p>
        </p:txBody>
      </p:sp>
      <p:grpSp>
        <p:nvGrpSpPr>
          <p:cNvPr id="32772" name="Group 106">
            <a:extLst>
              <a:ext uri="{FF2B5EF4-FFF2-40B4-BE49-F238E27FC236}">
                <a16:creationId xmlns:a16="http://schemas.microsoft.com/office/drawing/2014/main" id="{6971D98E-0662-46D0-854E-0B96AC023C6F}"/>
              </a:ext>
            </a:extLst>
          </p:cNvPr>
          <p:cNvGrpSpPr>
            <a:grpSpLocks/>
          </p:cNvGrpSpPr>
          <p:nvPr/>
        </p:nvGrpSpPr>
        <p:grpSpPr bwMode="auto">
          <a:xfrm>
            <a:off x="3886200" y="1136651"/>
            <a:ext cx="3709988" cy="1514475"/>
            <a:chOff x="2361451" y="907498"/>
            <a:chExt cx="3710037" cy="1515245"/>
          </a:xfrm>
        </p:grpSpPr>
        <p:sp>
          <p:nvSpPr>
            <p:cNvPr id="80" name="Cloud 79">
              <a:extLst>
                <a:ext uri="{FF2B5EF4-FFF2-40B4-BE49-F238E27FC236}">
                  <a16:creationId xmlns:a16="http://schemas.microsoft.com/office/drawing/2014/main" id="{701F0B96-AB5F-4A30-9600-9316BD0D7330}"/>
                </a:ext>
              </a:extLst>
            </p:cNvPr>
            <p:cNvSpPr/>
            <p:nvPr/>
          </p:nvSpPr>
          <p:spPr bwMode="auto">
            <a:xfrm>
              <a:off x="4393478" y="1237866"/>
              <a:ext cx="998551" cy="52096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32828" name="Rectangle 7">
              <a:extLst>
                <a:ext uri="{FF2B5EF4-FFF2-40B4-BE49-F238E27FC236}">
                  <a16:creationId xmlns:a16="http://schemas.microsoft.com/office/drawing/2014/main" id="{14D5A187-3FB9-409A-AE8A-68EF7FB95692}"/>
                </a:ext>
              </a:extLst>
            </p:cNvPr>
            <p:cNvSpPr>
              <a:spLocks noChangeArrowheads="1"/>
            </p:cNvSpPr>
            <p:nvPr/>
          </p:nvSpPr>
          <p:spPr bwMode="auto">
            <a:xfrm>
              <a:off x="3879541" y="1353788"/>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829" name="Isosceles Triangle 8">
              <a:extLst>
                <a:ext uri="{FF2B5EF4-FFF2-40B4-BE49-F238E27FC236}">
                  <a16:creationId xmlns:a16="http://schemas.microsoft.com/office/drawing/2014/main" id="{6DB5E100-5CA1-4F9A-8FF6-40836CEE34C5}"/>
                </a:ext>
              </a:extLst>
            </p:cNvPr>
            <p:cNvSpPr>
              <a:spLocks noChangeArrowheads="1"/>
            </p:cNvSpPr>
            <p:nvPr/>
          </p:nvSpPr>
          <p:spPr bwMode="auto">
            <a:xfrm rot="5400000">
              <a:off x="3885591" y="1841684"/>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0" name="TextBox 9">
              <a:extLst>
                <a:ext uri="{FF2B5EF4-FFF2-40B4-BE49-F238E27FC236}">
                  <a16:creationId xmlns:a16="http://schemas.microsoft.com/office/drawing/2014/main" id="{F0FDA480-0616-4949-8EFD-C55E698BAC18}"/>
                </a:ext>
              </a:extLst>
            </p:cNvPr>
            <p:cNvSpPr txBox="1"/>
            <p:nvPr/>
          </p:nvSpPr>
          <p:spPr>
            <a:xfrm>
              <a:off x="3798158" y="1364930"/>
              <a:ext cx="500069" cy="246188"/>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1" name="TextBox 10">
              <a:extLst>
                <a:ext uri="{FF2B5EF4-FFF2-40B4-BE49-F238E27FC236}">
                  <a16:creationId xmlns:a16="http://schemas.microsoft.com/office/drawing/2014/main" id="{8F5D8FA7-1C6D-42F9-8429-AB352DDBD8D6}"/>
                </a:ext>
              </a:extLst>
            </p:cNvPr>
            <p:cNvSpPr txBox="1"/>
            <p:nvPr/>
          </p:nvSpPr>
          <p:spPr>
            <a:xfrm>
              <a:off x="3877534" y="1744536"/>
              <a:ext cx="461968" cy="252540"/>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2832" name="Straight Connector 11">
              <a:extLst>
                <a:ext uri="{FF2B5EF4-FFF2-40B4-BE49-F238E27FC236}">
                  <a16:creationId xmlns:a16="http://schemas.microsoft.com/office/drawing/2014/main" id="{EE7592B3-A1EE-460D-90E2-76F4CC149664}"/>
                </a:ext>
              </a:extLst>
            </p:cNvPr>
            <p:cNvCxnSpPr>
              <a:cxnSpLocks noChangeShapeType="1"/>
            </p:cNvCxnSpPr>
            <p:nvPr/>
          </p:nvCxnSpPr>
          <p:spPr bwMode="auto">
            <a:xfrm>
              <a:off x="3726721" y="1470152"/>
              <a:ext cx="150058" cy="0"/>
            </a:xfrm>
            <a:prstGeom prst="line">
              <a:avLst/>
            </a:prstGeom>
            <a:noFill/>
            <a:ln w="9525" algn="ctr">
              <a:solidFill>
                <a:schemeClr val="tx1"/>
              </a:solidFill>
              <a:round/>
              <a:headEnd/>
              <a:tailEnd/>
            </a:ln>
          </p:spPr>
        </p:cxnSp>
        <p:cxnSp>
          <p:nvCxnSpPr>
            <p:cNvPr id="32833" name="Straight Connector 12">
              <a:extLst>
                <a:ext uri="{FF2B5EF4-FFF2-40B4-BE49-F238E27FC236}">
                  <a16:creationId xmlns:a16="http://schemas.microsoft.com/office/drawing/2014/main" id="{3A142D9D-FE53-4935-949B-D48504BD1221}"/>
                </a:ext>
              </a:extLst>
            </p:cNvPr>
            <p:cNvCxnSpPr>
              <a:cxnSpLocks noChangeShapeType="1"/>
            </p:cNvCxnSpPr>
            <p:nvPr/>
          </p:nvCxnSpPr>
          <p:spPr bwMode="auto">
            <a:xfrm>
              <a:off x="4233654" y="1474609"/>
              <a:ext cx="173161" cy="0"/>
            </a:xfrm>
            <a:prstGeom prst="line">
              <a:avLst/>
            </a:prstGeom>
            <a:noFill/>
            <a:ln w="9525" algn="ctr">
              <a:solidFill>
                <a:schemeClr val="tx1"/>
              </a:solidFill>
              <a:round/>
              <a:headEnd/>
              <a:tailEnd/>
            </a:ln>
          </p:spPr>
        </p:cxnSp>
        <p:cxnSp>
          <p:nvCxnSpPr>
            <p:cNvPr id="32834" name="Straight Connector 13">
              <a:extLst>
                <a:ext uri="{FF2B5EF4-FFF2-40B4-BE49-F238E27FC236}">
                  <a16:creationId xmlns:a16="http://schemas.microsoft.com/office/drawing/2014/main" id="{4AC6BCF2-0D4E-44B8-BF11-662B478F5DCB}"/>
                </a:ext>
              </a:extLst>
            </p:cNvPr>
            <p:cNvCxnSpPr>
              <a:cxnSpLocks noChangeShapeType="1"/>
            </p:cNvCxnSpPr>
            <p:nvPr/>
          </p:nvCxnSpPr>
          <p:spPr bwMode="auto">
            <a:xfrm>
              <a:off x="3179005" y="1870370"/>
              <a:ext cx="697774" cy="0"/>
            </a:xfrm>
            <a:prstGeom prst="line">
              <a:avLst/>
            </a:prstGeom>
            <a:noFill/>
            <a:ln w="9525" algn="ctr">
              <a:solidFill>
                <a:schemeClr val="tx1"/>
              </a:solidFill>
              <a:round/>
              <a:headEnd/>
              <a:tailEnd/>
            </a:ln>
          </p:spPr>
        </p:cxnSp>
        <p:sp>
          <p:nvSpPr>
            <p:cNvPr id="32835" name="TextBox 14">
              <a:extLst>
                <a:ext uri="{FF2B5EF4-FFF2-40B4-BE49-F238E27FC236}">
                  <a16:creationId xmlns:a16="http://schemas.microsoft.com/office/drawing/2014/main" id="{8E5978FB-EE5B-4071-A4B1-B2797E3BCE6F}"/>
                </a:ext>
              </a:extLst>
            </p:cNvPr>
            <p:cNvSpPr txBox="1">
              <a:spLocks noChangeArrowheads="1"/>
            </p:cNvSpPr>
            <p:nvPr/>
          </p:nvSpPr>
          <p:spPr bwMode="auto">
            <a:xfrm>
              <a:off x="3826734" y="1160748"/>
              <a:ext cx="3385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G1</a:t>
              </a:r>
            </a:p>
          </p:txBody>
        </p:sp>
        <p:sp>
          <p:nvSpPr>
            <p:cNvPr id="32836" name="Rectangle 15">
              <a:extLst>
                <a:ext uri="{FF2B5EF4-FFF2-40B4-BE49-F238E27FC236}">
                  <a16:creationId xmlns:a16="http://schemas.microsoft.com/office/drawing/2014/main" id="{FF3D6BF2-40C5-4670-9418-34AC44591FA8}"/>
                </a:ext>
              </a:extLst>
            </p:cNvPr>
            <p:cNvSpPr>
              <a:spLocks noChangeArrowheads="1"/>
            </p:cNvSpPr>
            <p:nvPr/>
          </p:nvSpPr>
          <p:spPr bwMode="auto">
            <a:xfrm>
              <a:off x="5544214" y="1364900"/>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837" name="Isosceles Triangle 16">
              <a:extLst>
                <a:ext uri="{FF2B5EF4-FFF2-40B4-BE49-F238E27FC236}">
                  <a16:creationId xmlns:a16="http://schemas.microsoft.com/office/drawing/2014/main" id="{1C00FEC9-9749-4801-9887-66DEFB33D1F6}"/>
                </a:ext>
              </a:extLst>
            </p:cNvPr>
            <p:cNvSpPr>
              <a:spLocks noChangeArrowheads="1"/>
            </p:cNvSpPr>
            <p:nvPr/>
          </p:nvSpPr>
          <p:spPr bwMode="auto">
            <a:xfrm rot="5400000">
              <a:off x="5550264" y="1852796"/>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 name="TextBox 17">
              <a:extLst>
                <a:ext uri="{FF2B5EF4-FFF2-40B4-BE49-F238E27FC236}">
                  <a16:creationId xmlns:a16="http://schemas.microsoft.com/office/drawing/2014/main" id="{112A40C0-107D-4B4A-AE17-0C580F01892A}"/>
                </a:ext>
              </a:extLst>
            </p:cNvPr>
            <p:cNvSpPr txBox="1"/>
            <p:nvPr/>
          </p:nvSpPr>
          <p:spPr>
            <a:xfrm>
              <a:off x="5463467" y="1376049"/>
              <a:ext cx="500070" cy="246187"/>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9" name="TextBox 18">
              <a:extLst>
                <a:ext uri="{FF2B5EF4-FFF2-40B4-BE49-F238E27FC236}">
                  <a16:creationId xmlns:a16="http://schemas.microsoft.com/office/drawing/2014/main" id="{79DA6BFD-1F66-41C2-AFA0-8F48E37071F0}"/>
                </a:ext>
              </a:extLst>
            </p:cNvPr>
            <p:cNvSpPr txBox="1"/>
            <p:nvPr/>
          </p:nvSpPr>
          <p:spPr>
            <a:xfrm>
              <a:off x="5541256" y="1754066"/>
              <a:ext cx="461968" cy="254129"/>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2840" name="Straight Connector 19">
              <a:extLst>
                <a:ext uri="{FF2B5EF4-FFF2-40B4-BE49-F238E27FC236}">
                  <a16:creationId xmlns:a16="http://schemas.microsoft.com/office/drawing/2014/main" id="{71DD5C11-13C9-4487-9659-3F535F910A3A}"/>
                </a:ext>
              </a:extLst>
            </p:cNvPr>
            <p:cNvCxnSpPr>
              <a:cxnSpLocks noChangeShapeType="1"/>
            </p:cNvCxnSpPr>
            <p:nvPr/>
          </p:nvCxnSpPr>
          <p:spPr bwMode="auto">
            <a:xfrm>
              <a:off x="5391394" y="1481264"/>
              <a:ext cx="150058" cy="0"/>
            </a:xfrm>
            <a:prstGeom prst="line">
              <a:avLst/>
            </a:prstGeom>
            <a:noFill/>
            <a:ln w="9525" algn="ctr">
              <a:solidFill>
                <a:schemeClr val="tx1"/>
              </a:solidFill>
              <a:round/>
              <a:headEnd/>
              <a:tailEnd/>
            </a:ln>
          </p:spPr>
        </p:cxnSp>
        <p:cxnSp>
          <p:nvCxnSpPr>
            <p:cNvPr id="32841" name="Straight Connector 20">
              <a:extLst>
                <a:ext uri="{FF2B5EF4-FFF2-40B4-BE49-F238E27FC236}">
                  <a16:creationId xmlns:a16="http://schemas.microsoft.com/office/drawing/2014/main" id="{679FAE62-3B27-4615-BB3B-1F9BA1401863}"/>
                </a:ext>
              </a:extLst>
            </p:cNvPr>
            <p:cNvCxnSpPr>
              <a:cxnSpLocks noChangeShapeType="1"/>
            </p:cNvCxnSpPr>
            <p:nvPr/>
          </p:nvCxnSpPr>
          <p:spPr bwMode="auto">
            <a:xfrm>
              <a:off x="5898327" y="1485721"/>
              <a:ext cx="173161" cy="0"/>
            </a:xfrm>
            <a:prstGeom prst="line">
              <a:avLst/>
            </a:prstGeom>
            <a:noFill/>
            <a:ln w="9525" algn="ctr">
              <a:solidFill>
                <a:schemeClr val="tx1"/>
              </a:solidFill>
              <a:round/>
              <a:headEnd/>
              <a:tailEnd/>
            </a:ln>
          </p:spPr>
        </p:cxnSp>
        <p:cxnSp>
          <p:nvCxnSpPr>
            <p:cNvPr id="32842" name="Straight Connector 21">
              <a:extLst>
                <a:ext uri="{FF2B5EF4-FFF2-40B4-BE49-F238E27FC236}">
                  <a16:creationId xmlns:a16="http://schemas.microsoft.com/office/drawing/2014/main" id="{F0C13F97-1AD5-4FBB-8252-E7512BDA09AE}"/>
                </a:ext>
              </a:extLst>
            </p:cNvPr>
            <p:cNvCxnSpPr>
              <a:cxnSpLocks noChangeShapeType="1"/>
            </p:cNvCxnSpPr>
            <p:nvPr/>
          </p:nvCxnSpPr>
          <p:spPr bwMode="auto">
            <a:xfrm>
              <a:off x="5391394" y="1875742"/>
              <a:ext cx="150058" cy="0"/>
            </a:xfrm>
            <a:prstGeom prst="line">
              <a:avLst/>
            </a:prstGeom>
            <a:noFill/>
            <a:ln w="9525" algn="ctr">
              <a:solidFill>
                <a:schemeClr val="tx1"/>
              </a:solidFill>
              <a:round/>
              <a:headEnd/>
              <a:tailEnd/>
            </a:ln>
          </p:spPr>
        </p:cxnSp>
        <p:sp>
          <p:nvSpPr>
            <p:cNvPr id="32843" name="TextBox 22">
              <a:extLst>
                <a:ext uri="{FF2B5EF4-FFF2-40B4-BE49-F238E27FC236}">
                  <a16:creationId xmlns:a16="http://schemas.microsoft.com/office/drawing/2014/main" id="{AB269A95-190D-4252-9254-6F0AFC252FAE}"/>
                </a:ext>
              </a:extLst>
            </p:cNvPr>
            <p:cNvSpPr txBox="1">
              <a:spLocks noChangeArrowheads="1"/>
            </p:cNvSpPr>
            <p:nvPr/>
          </p:nvSpPr>
          <p:spPr bwMode="auto">
            <a:xfrm>
              <a:off x="5491407" y="1171860"/>
              <a:ext cx="3385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G2</a:t>
              </a:r>
            </a:p>
          </p:txBody>
        </p:sp>
        <p:sp>
          <p:nvSpPr>
            <p:cNvPr id="32844" name="TextBox 24">
              <a:extLst>
                <a:ext uri="{FF2B5EF4-FFF2-40B4-BE49-F238E27FC236}">
                  <a16:creationId xmlns:a16="http://schemas.microsoft.com/office/drawing/2014/main" id="{5F0B8736-F8FB-46AB-BFFC-C9B894EE2B81}"/>
                </a:ext>
              </a:extLst>
            </p:cNvPr>
            <p:cNvSpPr txBox="1">
              <a:spLocks noChangeArrowheads="1"/>
            </p:cNvSpPr>
            <p:nvPr/>
          </p:nvSpPr>
          <p:spPr bwMode="auto">
            <a:xfrm>
              <a:off x="4486573" y="907498"/>
              <a:ext cx="85792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3-cycle delay</a:t>
              </a:r>
              <a:endParaRPr lang="ru-RU" altLang="en-US"/>
            </a:p>
          </p:txBody>
        </p:sp>
        <p:cxnSp>
          <p:nvCxnSpPr>
            <p:cNvPr id="32845" name="Straight Connector 29">
              <a:extLst>
                <a:ext uri="{FF2B5EF4-FFF2-40B4-BE49-F238E27FC236}">
                  <a16:creationId xmlns:a16="http://schemas.microsoft.com/office/drawing/2014/main" id="{6ED78C44-0467-49F9-8163-01A247EDD928}"/>
                </a:ext>
              </a:extLst>
            </p:cNvPr>
            <p:cNvCxnSpPr>
              <a:cxnSpLocks noChangeShapeType="1"/>
            </p:cNvCxnSpPr>
            <p:nvPr/>
          </p:nvCxnSpPr>
          <p:spPr bwMode="auto">
            <a:xfrm>
              <a:off x="2444003" y="2408544"/>
              <a:ext cx="2952153" cy="0"/>
            </a:xfrm>
            <a:prstGeom prst="line">
              <a:avLst/>
            </a:prstGeom>
            <a:noFill/>
            <a:ln w="9525" algn="ctr">
              <a:solidFill>
                <a:schemeClr val="tx1"/>
              </a:solidFill>
              <a:round/>
              <a:headEnd/>
              <a:tailEnd/>
            </a:ln>
          </p:spPr>
        </p:cxnSp>
        <p:sp>
          <p:nvSpPr>
            <p:cNvPr id="48" name="TextBox 47">
              <a:extLst>
                <a:ext uri="{FF2B5EF4-FFF2-40B4-BE49-F238E27FC236}">
                  <a16:creationId xmlns:a16="http://schemas.microsoft.com/office/drawing/2014/main" id="{C601C1F8-7D33-4E3D-8210-78EBD264BE26}"/>
                </a:ext>
              </a:extLst>
            </p:cNvPr>
            <p:cNvSpPr txBox="1"/>
            <p:nvPr/>
          </p:nvSpPr>
          <p:spPr>
            <a:xfrm>
              <a:off x="2361451" y="2168614"/>
              <a:ext cx="447681" cy="254129"/>
            </a:xfrm>
            <a:prstGeom prst="rect">
              <a:avLst/>
            </a:prstGeom>
            <a:noFill/>
          </p:spPr>
          <p:txBody>
            <a:bodyPr wrap="none">
              <a:spAutoFit/>
            </a:bodyPr>
            <a:lstStyle/>
            <a:p>
              <a:pPr eaLnBrk="1" hangingPunct="1">
                <a:defRPr/>
              </a:pPr>
              <a:r>
                <a:rPr lang="en-US" sz="1050" dirty="0">
                  <a:latin typeface="Arial" charset="0"/>
                  <a:cs typeface="Arial" charset="0"/>
                </a:rPr>
                <a:t>CLK</a:t>
              </a:r>
              <a:endParaRPr lang="ru-RU" sz="1050" dirty="0">
                <a:latin typeface="Arial" charset="0"/>
                <a:cs typeface="Arial" charset="0"/>
              </a:endParaRPr>
            </a:p>
          </p:txBody>
        </p:sp>
        <p:cxnSp>
          <p:nvCxnSpPr>
            <p:cNvPr id="32847" name="Straight Arrow Connector 77">
              <a:extLst>
                <a:ext uri="{FF2B5EF4-FFF2-40B4-BE49-F238E27FC236}">
                  <a16:creationId xmlns:a16="http://schemas.microsoft.com/office/drawing/2014/main" id="{3F072881-4C6F-499E-BBF6-A2ECB3B0C23B}"/>
                </a:ext>
              </a:extLst>
            </p:cNvPr>
            <p:cNvCxnSpPr>
              <a:cxnSpLocks noChangeShapeType="1"/>
            </p:cNvCxnSpPr>
            <p:nvPr/>
          </p:nvCxnSpPr>
          <p:spPr bwMode="auto">
            <a:xfrm>
              <a:off x="4237903" y="1138330"/>
              <a:ext cx="1276238" cy="0"/>
            </a:xfrm>
            <a:prstGeom prst="straightConnector1">
              <a:avLst/>
            </a:prstGeom>
            <a:noFill/>
            <a:ln w="9525" algn="ctr">
              <a:solidFill>
                <a:srgbClr val="0000FF"/>
              </a:solidFill>
              <a:round/>
              <a:headEnd type="triangle" w="med" len="med"/>
              <a:tailEnd type="triangle" w="med" len="med"/>
            </a:ln>
          </p:spPr>
        </p:cxnSp>
        <p:cxnSp>
          <p:nvCxnSpPr>
            <p:cNvPr id="32848" name="Straight Connector 80">
              <a:extLst>
                <a:ext uri="{FF2B5EF4-FFF2-40B4-BE49-F238E27FC236}">
                  <a16:creationId xmlns:a16="http://schemas.microsoft.com/office/drawing/2014/main" id="{1385BEA6-2304-4AC8-B200-2CDE039907BB}"/>
                </a:ext>
              </a:extLst>
            </p:cNvPr>
            <p:cNvCxnSpPr>
              <a:cxnSpLocks noChangeShapeType="1"/>
            </p:cNvCxnSpPr>
            <p:nvPr/>
          </p:nvCxnSpPr>
          <p:spPr bwMode="auto">
            <a:xfrm flipV="1">
              <a:off x="5396156" y="1870370"/>
              <a:ext cx="0" cy="538174"/>
            </a:xfrm>
            <a:prstGeom prst="line">
              <a:avLst/>
            </a:prstGeom>
            <a:noFill/>
            <a:ln w="9525" algn="ctr">
              <a:solidFill>
                <a:schemeClr val="tx1"/>
              </a:solidFill>
              <a:round/>
              <a:headEnd/>
              <a:tailEnd/>
            </a:ln>
          </p:spPr>
        </p:cxnSp>
        <p:sp>
          <p:nvSpPr>
            <p:cNvPr id="84" name="TextBox 83">
              <a:extLst>
                <a:ext uri="{FF2B5EF4-FFF2-40B4-BE49-F238E27FC236}">
                  <a16:creationId xmlns:a16="http://schemas.microsoft.com/office/drawing/2014/main" id="{145FE3A0-5C0C-4433-8BD0-2650C89A96B0}"/>
                </a:ext>
              </a:extLst>
            </p:cNvPr>
            <p:cNvSpPr txBox="1"/>
            <p:nvPr/>
          </p:nvSpPr>
          <p:spPr>
            <a:xfrm>
              <a:off x="3471129" y="1893837"/>
              <a:ext cx="358780" cy="254129"/>
            </a:xfrm>
            <a:prstGeom prst="rect">
              <a:avLst/>
            </a:prstGeom>
            <a:noFill/>
          </p:spPr>
          <p:txBody>
            <a:bodyPr wrap="none">
              <a:spAutoFit/>
            </a:bodyPr>
            <a:lstStyle/>
            <a:p>
              <a:pPr eaLnBrk="1" hangingPunct="1">
                <a:defRPr/>
              </a:pPr>
              <a:r>
                <a:rPr lang="en-US" sz="1050" dirty="0">
                  <a:latin typeface="Arial" charset="0"/>
                  <a:cs typeface="Arial" charset="0"/>
                </a:rPr>
                <a:t>C1</a:t>
              </a:r>
              <a:endParaRPr lang="ru-RU" sz="1050" dirty="0">
                <a:latin typeface="Arial" charset="0"/>
                <a:cs typeface="Arial" charset="0"/>
              </a:endParaRPr>
            </a:p>
          </p:txBody>
        </p:sp>
        <p:sp>
          <p:nvSpPr>
            <p:cNvPr id="85" name="TextBox 84">
              <a:extLst>
                <a:ext uri="{FF2B5EF4-FFF2-40B4-BE49-F238E27FC236}">
                  <a16:creationId xmlns:a16="http://schemas.microsoft.com/office/drawing/2014/main" id="{34ADD0A1-8244-450B-884D-F696E0D075F3}"/>
                </a:ext>
              </a:extLst>
            </p:cNvPr>
            <p:cNvSpPr txBox="1"/>
            <p:nvPr/>
          </p:nvSpPr>
          <p:spPr>
            <a:xfrm>
              <a:off x="5431717" y="2009783"/>
              <a:ext cx="358780" cy="254129"/>
            </a:xfrm>
            <a:prstGeom prst="rect">
              <a:avLst/>
            </a:prstGeom>
            <a:noFill/>
          </p:spPr>
          <p:txBody>
            <a:bodyPr wrap="none">
              <a:spAutoFit/>
            </a:bodyPr>
            <a:lstStyle/>
            <a:p>
              <a:pPr eaLnBrk="1" hangingPunct="1">
                <a:defRPr/>
              </a:pPr>
              <a:r>
                <a:rPr lang="en-US" sz="1050" dirty="0">
                  <a:latin typeface="Arial" charset="0"/>
                  <a:cs typeface="Arial" charset="0"/>
                </a:rPr>
                <a:t>C2</a:t>
              </a:r>
              <a:endParaRPr lang="ru-RU" sz="1050" dirty="0">
                <a:latin typeface="Arial" charset="0"/>
                <a:cs typeface="Arial" charset="0"/>
              </a:endParaRPr>
            </a:p>
          </p:txBody>
        </p:sp>
      </p:grpSp>
      <p:grpSp>
        <p:nvGrpSpPr>
          <p:cNvPr id="32773" name="Group 105">
            <a:extLst>
              <a:ext uri="{FF2B5EF4-FFF2-40B4-BE49-F238E27FC236}">
                <a16:creationId xmlns:a16="http://schemas.microsoft.com/office/drawing/2014/main" id="{681118AA-FDE3-440D-85F5-228F270ABCBC}"/>
              </a:ext>
            </a:extLst>
          </p:cNvPr>
          <p:cNvGrpSpPr>
            <a:grpSpLocks/>
          </p:cNvGrpSpPr>
          <p:nvPr/>
        </p:nvGrpSpPr>
        <p:grpSpPr bwMode="auto">
          <a:xfrm>
            <a:off x="3673475" y="2908299"/>
            <a:ext cx="4032250" cy="1879170"/>
            <a:chOff x="1943708" y="2905435"/>
            <a:chExt cx="5091407" cy="2373977"/>
          </a:xfrm>
        </p:grpSpPr>
        <p:cxnSp>
          <p:nvCxnSpPr>
            <p:cNvPr id="32" name="Elbow Connector 31">
              <a:extLst>
                <a:ext uri="{FF2B5EF4-FFF2-40B4-BE49-F238E27FC236}">
                  <a16:creationId xmlns:a16="http://schemas.microsoft.com/office/drawing/2014/main" id="{A1DC3D2C-E790-4224-8CDD-F9F42B9E773F}"/>
                </a:ext>
              </a:extLst>
            </p:cNvPr>
            <p:cNvCxnSpPr/>
            <p:nvPr/>
          </p:nvCxnSpPr>
          <p:spPr bwMode="auto">
            <a:xfrm flipV="1">
              <a:off x="2470890" y="2905436"/>
              <a:ext cx="950129" cy="475306"/>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27DD0FC1-23E4-4214-BAFF-AB01C03448F4}"/>
                </a:ext>
              </a:extLst>
            </p:cNvPr>
            <p:cNvCxnSpPr/>
            <p:nvPr/>
          </p:nvCxnSpPr>
          <p:spPr bwMode="auto">
            <a:xfrm rot="16200000" flipH="1">
              <a:off x="3401856" y="2924599"/>
              <a:ext cx="475306" cy="436979"/>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54E2322A-7CE0-4D9E-8AD8-927CFC520780}"/>
                </a:ext>
              </a:extLst>
            </p:cNvPr>
            <p:cNvCxnSpPr/>
            <p:nvPr/>
          </p:nvCxnSpPr>
          <p:spPr bwMode="auto">
            <a:xfrm rot="5400000" flipH="1" flipV="1">
              <a:off x="3857877" y="2905556"/>
              <a:ext cx="475306" cy="475064"/>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9E9641A3-BF07-44A9-B862-E4058240145F}"/>
                </a:ext>
              </a:extLst>
            </p:cNvPr>
            <p:cNvCxnSpPr/>
            <p:nvPr/>
          </p:nvCxnSpPr>
          <p:spPr bwMode="auto">
            <a:xfrm rot="16200000" flipH="1">
              <a:off x="4332941" y="2905556"/>
              <a:ext cx="475306" cy="475065"/>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D781DC01-1734-4852-B620-C3EB023DDB6B}"/>
                </a:ext>
              </a:extLst>
            </p:cNvPr>
            <p:cNvCxnSpPr/>
            <p:nvPr/>
          </p:nvCxnSpPr>
          <p:spPr bwMode="auto">
            <a:xfrm rot="5400000" flipH="1" flipV="1">
              <a:off x="4808006" y="2905556"/>
              <a:ext cx="475306" cy="475064"/>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D9F5538F-8EEA-42D3-8D8C-C35E8B2F36BB}"/>
                </a:ext>
              </a:extLst>
            </p:cNvPr>
            <p:cNvCxnSpPr/>
            <p:nvPr/>
          </p:nvCxnSpPr>
          <p:spPr bwMode="auto">
            <a:xfrm rot="16200000" flipH="1">
              <a:off x="5264027" y="2924599"/>
              <a:ext cx="475306" cy="436979"/>
            </a:xfrm>
            <a:prstGeom prst="bentConnector3">
              <a:avLst>
                <a:gd name="adj1" fmla="val 10217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2248682B-CA83-4E96-9F2E-8290DB8B3BA4}"/>
                </a:ext>
              </a:extLst>
            </p:cNvPr>
            <p:cNvCxnSpPr/>
            <p:nvPr/>
          </p:nvCxnSpPr>
          <p:spPr bwMode="auto">
            <a:xfrm rot="5400000" flipH="1" flipV="1">
              <a:off x="5720049" y="2905556"/>
              <a:ext cx="475306" cy="475065"/>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C06F657-3802-410C-A386-BDB855983BAC}"/>
                </a:ext>
              </a:extLst>
            </p:cNvPr>
            <p:cNvCxnSpPr/>
            <p:nvPr/>
          </p:nvCxnSpPr>
          <p:spPr bwMode="auto">
            <a:xfrm rot="5400000">
              <a:off x="5957581" y="3143089"/>
              <a:ext cx="47530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37C4122A-ED7A-4A3D-80F1-F87959345B16}"/>
                </a:ext>
              </a:extLst>
            </p:cNvPr>
            <p:cNvCxnSpPr/>
            <p:nvPr/>
          </p:nvCxnSpPr>
          <p:spPr bwMode="auto">
            <a:xfrm flipV="1">
              <a:off x="2470890" y="3829975"/>
              <a:ext cx="950129" cy="475304"/>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Elbow Connector 40">
              <a:extLst>
                <a:ext uri="{FF2B5EF4-FFF2-40B4-BE49-F238E27FC236}">
                  <a16:creationId xmlns:a16="http://schemas.microsoft.com/office/drawing/2014/main" id="{EE585B47-8302-4E3C-B839-72ABD6C7FF67}"/>
                </a:ext>
              </a:extLst>
            </p:cNvPr>
            <p:cNvCxnSpPr/>
            <p:nvPr/>
          </p:nvCxnSpPr>
          <p:spPr bwMode="auto">
            <a:xfrm rot="16200000" flipH="1">
              <a:off x="3401856" y="3849138"/>
              <a:ext cx="475304" cy="436979"/>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0CC97995-6CEB-4A75-B6F5-F733A308D245}"/>
                </a:ext>
              </a:extLst>
            </p:cNvPr>
            <p:cNvCxnSpPr/>
            <p:nvPr/>
          </p:nvCxnSpPr>
          <p:spPr bwMode="auto">
            <a:xfrm rot="5400000" flipH="1" flipV="1">
              <a:off x="3857877" y="3830096"/>
              <a:ext cx="475304" cy="475064"/>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73F01EB2-C7C3-4C53-BEDD-915806AE3B46}"/>
                </a:ext>
              </a:extLst>
            </p:cNvPr>
            <p:cNvCxnSpPr/>
            <p:nvPr/>
          </p:nvCxnSpPr>
          <p:spPr bwMode="auto">
            <a:xfrm rot="16200000" flipH="1">
              <a:off x="4332941" y="3830096"/>
              <a:ext cx="475304" cy="475065"/>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5A4B7D02-CED7-4564-AA28-FA80EBDD37F8}"/>
                </a:ext>
              </a:extLst>
            </p:cNvPr>
            <p:cNvCxnSpPr/>
            <p:nvPr/>
          </p:nvCxnSpPr>
          <p:spPr bwMode="auto">
            <a:xfrm rot="5400000" flipH="1" flipV="1">
              <a:off x="4808006" y="3830096"/>
              <a:ext cx="475304" cy="475064"/>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Elbow Connector 44">
              <a:extLst>
                <a:ext uri="{FF2B5EF4-FFF2-40B4-BE49-F238E27FC236}">
                  <a16:creationId xmlns:a16="http://schemas.microsoft.com/office/drawing/2014/main" id="{CD2A235A-E1D3-447A-8D9A-3954F7493D1E}"/>
                </a:ext>
              </a:extLst>
            </p:cNvPr>
            <p:cNvCxnSpPr/>
            <p:nvPr/>
          </p:nvCxnSpPr>
          <p:spPr bwMode="auto">
            <a:xfrm rot="16200000" flipH="1">
              <a:off x="5264027" y="3849138"/>
              <a:ext cx="475304" cy="436979"/>
            </a:xfrm>
            <a:prstGeom prst="bentConnector3">
              <a:avLst>
                <a:gd name="adj1" fmla="val 10217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5B8A8BA-6948-4344-A2C3-BFAD46220105}"/>
                </a:ext>
              </a:extLst>
            </p:cNvPr>
            <p:cNvCxnSpPr/>
            <p:nvPr/>
          </p:nvCxnSpPr>
          <p:spPr bwMode="auto">
            <a:xfrm rot="5400000" flipH="1" flipV="1">
              <a:off x="5720049" y="3830096"/>
              <a:ext cx="475304" cy="475065"/>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40CD86D-BD09-443C-AA72-7F1CE6249B32}"/>
                </a:ext>
              </a:extLst>
            </p:cNvPr>
            <p:cNvCxnSpPr/>
            <p:nvPr/>
          </p:nvCxnSpPr>
          <p:spPr bwMode="auto">
            <a:xfrm rot="5400000">
              <a:off x="5957581" y="4067628"/>
              <a:ext cx="47530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C4F83EA-19E3-4C0C-A227-EB6E275DAFAF}"/>
                </a:ext>
              </a:extLst>
            </p:cNvPr>
            <p:cNvSpPr txBox="1"/>
            <p:nvPr/>
          </p:nvSpPr>
          <p:spPr>
            <a:xfrm>
              <a:off x="2027897" y="2943541"/>
              <a:ext cx="660251" cy="320775"/>
            </a:xfrm>
            <a:prstGeom prst="rect">
              <a:avLst/>
            </a:prstGeom>
            <a:noFill/>
          </p:spPr>
          <p:txBody>
            <a:bodyPr wrap="none">
              <a:spAutoFit/>
            </a:bodyPr>
            <a:lstStyle/>
            <a:p>
              <a:pPr eaLnBrk="1" hangingPunct="1">
                <a:defRPr/>
              </a:pPr>
              <a:r>
                <a:rPr lang="en-US" sz="1050" dirty="0">
                  <a:latin typeface="Arial" charset="0"/>
                  <a:cs typeface="Arial" charset="0"/>
                </a:rPr>
                <a:t>CLK1</a:t>
              </a:r>
              <a:endParaRPr lang="ru-RU" sz="1050" dirty="0">
                <a:latin typeface="Arial" charset="0"/>
                <a:cs typeface="Arial" charset="0"/>
              </a:endParaRPr>
            </a:p>
          </p:txBody>
        </p:sp>
        <p:sp>
          <p:nvSpPr>
            <p:cNvPr id="50" name="TextBox 49">
              <a:extLst>
                <a:ext uri="{FF2B5EF4-FFF2-40B4-BE49-F238E27FC236}">
                  <a16:creationId xmlns:a16="http://schemas.microsoft.com/office/drawing/2014/main" id="{85BC1FCA-13B1-43B3-9926-E72BE506D333}"/>
                </a:ext>
              </a:extLst>
            </p:cNvPr>
            <p:cNvSpPr txBox="1"/>
            <p:nvPr/>
          </p:nvSpPr>
          <p:spPr>
            <a:xfrm>
              <a:off x="1943708" y="3900168"/>
              <a:ext cx="660251" cy="320775"/>
            </a:xfrm>
            <a:prstGeom prst="rect">
              <a:avLst/>
            </a:prstGeom>
            <a:noFill/>
          </p:spPr>
          <p:txBody>
            <a:bodyPr wrap="none">
              <a:spAutoFit/>
            </a:bodyPr>
            <a:lstStyle/>
            <a:p>
              <a:pPr eaLnBrk="1" hangingPunct="1">
                <a:defRPr/>
              </a:pPr>
              <a:r>
                <a:rPr lang="en-US" sz="1050" dirty="0">
                  <a:latin typeface="Arial" charset="0"/>
                  <a:cs typeface="Arial" charset="0"/>
                </a:rPr>
                <a:t>CLK2</a:t>
              </a:r>
              <a:endParaRPr lang="ru-RU" sz="1050" dirty="0">
                <a:latin typeface="Arial" charset="0"/>
                <a:cs typeface="Arial" charset="0"/>
              </a:endParaRPr>
            </a:p>
          </p:txBody>
        </p:sp>
        <p:sp>
          <p:nvSpPr>
            <p:cNvPr id="32793" name="TextBox 50">
              <a:extLst>
                <a:ext uri="{FF2B5EF4-FFF2-40B4-BE49-F238E27FC236}">
                  <a16:creationId xmlns:a16="http://schemas.microsoft.com/office/drawing/2014/main" id="{CF011AA2-874B-400A-8AE1-D844508C1882}"/>
                </a:ext>
              </a:extLst>
            </p:cNvPr>
            <p:cNvSpPr txBox="1">
              <a:spLocks noChangeArrowheads="1"/>
            </p:cNvSpPr>
            <p:nvPr/>
          </p:nvSpPr>
          <p:spPr bwMode="auto">
            <a:xfrm>
              <a:off x="2397964" y="3461631"/>
              <a:ext cx="654179" cy="50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Hold</a:t>
              </a:r>
            </a:p>
            <a:p>
              <a:pPr eaLnBrk="1" hangingPunct="1"/>
              <a:r>
                <a:rPr lang="en-US" altLang="en-US" sz="1000"/>
                <a:t>check</a:t>
              </a:r>
              <a:endParaRPr lang="ru-RU" altLang="en-US" sz="1000"/>
            </a:p>
          </p:txBody>
        </p:sp>
        <p:sp>
          <p:nvSpPr>
            <p:cNvPr id="32794" name="TextBox 51">
              <a:extLst>
                <a:ext uri="{FF2B5EF4-FFF2-40B4-BE49-F238E27FC236}">
                  <a16:creationId xmlns:a16="http://schemas.microsoft.com/office/drawing/2014/main" id="{929B3831-D9DD-4010-8017-370F3C4A4CBA}"/>
                </a:ext>
              </a:extLst>
            </p:cNvPr>
            <p:cNvSpPr txBox="1">
              <a:spLocks noChangeArrowheads="1"/>
            </p:cNvSpPr>
            <p:nvPr/>
          </p:nvSpPr>
          <p:spPr bwMode="auto">
            <a:xfrm>
              <a:off x="3491350" y="3465831"/>
              <a:ext cx="1024540" cy="42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800"/>
                <a:t>1 cycle</a:t>
              </a:r>
            </a:p>
            <a:p>
              <a:pPr algn="ctr" eaLnBrk="1" hangingPunct="1"/>
              <a:r>
                <a:rPr lang="en-US" altLang="en-US" sz="800"/>
                <a:t>Capture edge</a:t>
              </a:r>
              <a:endParaRPr lang="ru-RU" altLang="en-US" sz="800"/>
            </a:p>
          </p:txBody>
        </p:sp>
        <p:cxnSp>
          <p:nvCxnSpPr>
            <p:cNvPr id="32795" name="Straight Arrow Connector 53">
              <a:extLst>
                <a:ext uri="{FF2B5EF4-FFF2-40B4-BE49-F238E27FC236}">
                  <a16:creationId xmlns:a16="http://schemas.microsoft.com/office/drawing/2014/main" id="{472266C8-7636-4FE1-B1D5-579E2B95A052}"/>
                </a:ext>
              </a:extLst>
            </p:cNvPr>
            <p:cNvCxnSpPr>
              <a:cxnSpLocks noChangeShapeType="1"/>
            </p:cNvCxnSpPr>
            <p:nvPr/>
          </p:nvCxnSpPr>
          <p:spPr bwMode="auto">
            <a:xfrm rot="5400000" flipH="1" flipV="1">
              <a:off x="2744838" y="3179285"/>
              <a:ext cx="401643"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2796" name="Straight Arrow Connector 54">
              <a:extLst>
                <a:ext uri="{FF2B5EF4-FFF2-40B4-BE49-F238E27FC236}">
                  <a16:creationId xmlns:a16="http://schemas.microsoft.com/office/drawing/2014/main" id="{FC04FEC9-EEE4-459F-B7B0-EE918D56741F}"/>
                </a:ext>
              </a:extLst>
            </p:cNvPr>
            <p:cNvCxnSpPr>
              <a:cxnSpLocks noChangeShapeType="1"/>
            </p:cNvCxnSpPr>
            <p:nvPr/>
          </p:nvCxnSpPr>
          <p:spPr bwMode="auto">
            <a:xfrm rot="5400000" flipH="1" flipV="1">
              <a:off x="2781351" y="4128623"/>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2797" name="Straight Arrow Connector 55">
              <a:extLst>
                <a:ext uri="{FF2B5EF4-FFF2-40B4-BE49-F238E27FC236}">
                  <a16:creationId xmlns:a16="http://schemas.microsoft.com/office/drawing/2014/main" id="{BE7A3721-73BE-4951-B763-B8B49788CDD4}"/>
                </a:ext>
              </a:extLst>
            </p:cNvPr>
            <p:cNvCxnSpPr>
              <a:cxnSpLocks noChangeShapeType="1"/>
            </p:cNvCxnSpPr>
            <p:nvPr/>
          </p:nvCxnSpPr>
          <p:spPr bwMode="auto">
            <a:xfrm rot="5400000" flipH="1" flipV="1">
              <a:off x="3694970" y="4126242"/>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2798" name="Straight Arrow Connector 56">
              <a:extLst>
                <a:ext uri="{FF2B5EF4-FFF2-40B4-BE49-F238E27FC236}">
                  <a16:creationId xmlns:a16="http://schemas.microsoft.com/office/drawing/2014/main" id="{1E2ECA67-252E-45CC-97E6-010A7966EA36}"/>
                </a:ext>
              </a:extLst>
            </p:cNvPr>
            <p:cNvCxnSpPr>
              <a:cxnSpLocks noChangeShapeType="1"/>
            </p:cNvCxnSpPr>
            <p:nvPr/>
          </p:nvCxnSpPr>
          <p:spPr bwMode="auto">
            <a:xfrm rot="5400000" flipH="1" flipV="1">
              <a:off x="4645895" y="4127829"/>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2799" name="Straight Arrow Connector 57">
              <a:extLst>
                <a:ext uri="{FF2B5EF4-FFF2-40B4-BE49-F238E27FC236}">
                  <a16:creationId xmlns:a16="http://schemas.microsoft.com/office/drawing/2014/main" id="{0701522C-C541-44C4-81D2-87A6774AF716}"/>
                </a:ext>
              </a:extLst>
            </p:cNvPr>
            <p:cNvCxnSpPr>
              <a:cxnSpLocks noChangeShapeType="1"/>
            </p:cNvCxnSpPr>
            <p:nvPr/>
          </p:nvCxnSpPr>
          <p:spPr bwMode="auto">
            <a:xfrm rot="5400000" flipH="1" flipV="1">
              <a:off x="5555544" y="4138942"/>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C1A71944-843E-4D44-B7AC-B0702E56ABA9}"/>
                </a:ext>
              </a:extLst>
            </p:cNvPr>
            <p:cNvCxnSpPr/>
            <p:nvPr/>
          </p:nvCxnSpPr>
          <p:spPr bwMode="auto">
            <a:xfrm>
              <a:off x="2653298" y="4768553"/>
              <a:ext cx="438181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F5D21A3B-EEC7-4CAE-B1A3-33884EC82EC5}"/>
                </a:ext>
              </a:extLst>
            </p:cNvPr>
            <p:cNvCxnSpPr/>
            <p:nvPr/>
          </p:nvCxnSpPr>
          <p:spPr bwMode="auto">
            <a:xfrm>
              <a:off x="2617217" y="5241852"/>
              <a:ext cx="4417898" cy="200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52EC5F94-73BB-418D-B5D9-2C9DBF176587}"/>
                </a:ext>
              </a:extLst>
            </p:cNvPr>
            <p:cNvCxnSpPr/>
            <p:nvPr/>
          </p:nvCxnSpPr>
          <p:spPr bwMode="auto">
            <a:xfrm rot="16200000" flipH="1">
              <a:off x="2861646"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32F4CF41-2C89-4DCC-99EB-26DD1807A23E}"/>
                </a:ext>
              </a:extLst>
            </p:cNvPr>
            <p:cNvCxnSpPr/>
            <p:nvPr/>
          </p:nvCxnSpPr>
          <p:spPr bwMode="auto">
            <a:xfrm rot="5400000" flipH="1" flipV="1">
              <a:off x="2861646"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E80C5ACF-3287-4D31-ACC6-51E214DD8779}"/>
                </a:ext>
              </a:extLst>
            </p:cNvPr>
            <p:cNvCxnSpPr/>
            <p:nvPr/>
          </p:nvCxnSpPr>
          <p:spPr bwMode="auto">
            <a:xfrm rot="16200000" flipH="1">
              <a:off x="3426911" y="4856868"/>
              <a:ext cx="475304" cy="2906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A61FF6F1-7954-4205-9200-87F41D13B47A}"/>
                </a:ext>
              </a:extLst>
            </p:cNvPr>
            <p:cNvCxnSpPr/>
            <p:nvPr/>
          </p:nvCxnSpPr>
          <p:spPr bwMode="auto">
            <a:xfrm rot="5400000" flipH="1" flipV="1">
              <a:off x="3426911" y="4856868"/>
              <a:ext cx="475304" cy="2906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0AD5134-7E93-42C4-A06C-BE82870D7F54}"/>
                </a:ext>
              </a:extLst>
            </p:cNvPr>
            <p:cNvCxnSpPr/>
            <p:nvPr/>
          </p:nvCxnSpPr>
          <p:spPr bwMode="auto">
            <a:xfrm rot="16200000" flipH="1">
              <a:off x="4010219"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C6546A7-B855-456A-962F-C54959859125}"/>
                </a:ext>
              </a:extLst>
            </p:cNvPr>
            <p:cNvCxnSpPr/>
            <p:nvPr/>
          </p:nvCxnSpPr>
          <p:spPr bwMode="auto">
            <a:xfrm rot="5400000" flipH="1" flipV="1">
              <a:off x="4010219"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06FBD207-69B7-4E16-A3CB-CC4A75276305}"/>
                </a:ext>
              </a:extLst>
            </p:cNvPr>
            <p:cNvCxnSpPr/>
            <p:nvPr/>
          </p:nvCxnSpPr>
          <p:spPr bwMode="auto">
            <a:xfrm rot="16200000" flipH="1">
              <a:off x="4589517"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60C92608-E506-4297-9FA9-9AEE1497A9D3}"/>
                </a:ext>
              </a:extLst>
            </p:cNvPr>
            <p:cNvCxnSpPr/>
            <p:nvPr/>
          </p:nvCxnSpPr>
          <p:spPr bwMode="auto">
            <a:xfrm rot="5400000" flipH="1" flipV="1">
              <a:off x="4589517"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B098851B-51CC-406C-A799-7BCF75A6BB40}"/>
                </a:ext>
              </a:extLst>
            </p:cNvPr>
            <p:cNvCxnSpPr/>
            <p:nvPr/>
          </p:nvCxnSpPr>
          <p:spPr bwMode="auto">
            <a:xfrm rot="16200000" flipH="1">
              <a:off x="5866378"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9BE7CFF0-85B1-4496-A7E8-814FC4963211}"/>
                </a:ext>
              </a:extLst>
            </p:cNvPr>
            <p:cNvCxnSpPr/>
            <p:nvPr/>
          </p:nvCxnSpPr>
          <p:spPr bwMode="auto">
            <a:xfrm rot="5400000" flipH="1" flipV="1">
              <a:off x="5866378"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9DEA282E-A425-4152-A30F-49895FC8D3F1}"/>
                </a:ext>
              </a:extLst>
            </p:cNvPr>
            <p:cNvCxnSpPr/>
            <p:nvPr/>
          </p:nvCxnSpPr>
          <p:spPr bwMode="auto">
            <a:xfrm rot="16200000" flipH="1">
              <a:off x="6323401"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1040B3DB-2EA6-44B7-9C93-F529686190FD}"/>
                </a:ext>
              </a:extLst>
            </p:cNvPr>
            <p:cNvCxnSpPr/>
            <p:nvPr/>
          </p:nvCxnSpPr>
          <p:spPr bwMode="auto">
            <a:xfrm rot="5400000" flipH="1" flipV="1">
              <a:off x="6323401" y="4858874"/>
              <a:ext cx="473300" cy="29265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2814" name="TextBox 72">
              <a:extLst>
                <a:ext uri="{FF2B5EF4-FFF2-40B4-BE49-F238E27FC236}">
                  <a16:creationId xmlns:a16="http://schemas.microsoft.com/office/drawing/2014/main" id="{D3312FEF-2ADC-41B6-8C27-F2CCD151EDB3}"/>
                </a:ext>
              </a:extLst>
            </p:cNvPr>
            <p:cNvSpPr txBox="1">
              <a:spLocks noChangeArrowheads="1"/>
            </p:cNvSpPr>
            <p:nvPr/>
          </p:nvSpPr>
          <p:spPr bwMode="auto">
            <a:xfrm>
              <a:off x="4961091" y="4773949"/>
              <a:ext cx="1178412" cy="50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Three cycles</a:t>
              </a:r>
            </a:p>
            <a:p>
              <a:pPr eaLnBrk="1" hangingPunct="1"/>
              <a:r>
                <a:rPr lang="en-US" altLang="en-US" sz="1000"/>
                <a:t>to propagate </a:t>
              </a:r>
              <a:endParaRPr lang="ru-RU" altLang="en-US" sz="1000"/>
            </a:p>
          </p:txBody>
        </p:sp>
        <p:sp>
          <p:nvSpPr>
            <p:cNvPr id="32815" name="Freeform 74">
              <a:extLst>
                <a:ext uri="{FF2B5EF4-FFF2-40B4-BE49-F238E27FC236}">
                  <a16:creationId xmlns:a16="http://schemas.microsoft.com/office/drawing/2014/main" id="{0D466F7A-6DFC-4D84-8AF5-EDA9EBACFBDE}"/>
                </a:ext>
              </a:extLst>
            </p:cNvPr>
            <p:cNvSpPr>
              <a:spLocks/>
            </p:cNvSpPr>
            <p:nvPr/>
          </p:nvSpPr>
          <p:spPr bwMode="auto">
            <a:xfrm>
              <a:off x="2728185" y="3311849"/>
              <a:ext cx="306917" cy="795867"/>
            </a:xfrm>
            <a:custGeom>
              <a:avLst/>
              <a:gdLst>
                <a:gd name="T0" fmla="*/ 231775 w 306917"/>
                <a:gd name="T1" fmla="*/ 0 h 795867"/>
                <a:gd name="T2" fmla="*/ 295275 w 306917"/>
                <a:gd name="T3" fmla="*/ 146050 h 795867"/>
                <a:gd name="T4" fmla="*/ 161925 w 306917"/>
                <a:gd name="T5" fmla="*/ 412750 h 795867"/>
                <a:gd name="T6" fmla="*/ 15875 w 306917"/>
                <a:gd name="T7" fmla="*/ 666750 h 795867"/>
                <a:gd name="T8" fmla="*/ 66675 w 306917"/>
                <a:gd name="T9" fmla="*/ 774700 h 795867"/>
                <a:gd name="T10" fmla="*/ 136525 w 306917"/>
                <a:gd name="T11" fmla="*/ 793750 h 7958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6917" h="795867">
                  <a:moveTo>
                    <a:pt x="231775" y="0"/>
                  </a:moveTo>
                  <a:cubicBezTo>
                    <a:pt x="269346" y="38629"/>
                    <a:pt x="306917" y="77258"/>
                    <a:pt x="295275" y="146050"/>
                  </a:cubicBezTo>
                  <a:cubicBezTo>
                    <a:pt x="283633" y="214842"/>
                    <a:pt x="208492" y="325967"/>
                    <a:pt x="161925" y="412750"/>
                  </a:cubicBezTo>
                  <a:cubicBezTo>
                    <a:pt x="115358" y="499533"/>
                    <a:pt x="31750" y="606425"/>
                    <a:pt x="15875" y="666750"/>
                  </a:cubicBezTo>
                  <a:cubicBezTo>
                    <a:pt x="0" y="727075"/>
                    <a:pt x="46567" y="753533"/>
                    <a:pt x="66675" y="774700"/>
                  </a:cubicBezTo>
                  <a:cubicBezTo>
                    <a:pt x="86783" y="795867"/>
                    <a:pt x="111654" y="794808"/>
                    <a:pt x="136525" y="7937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816" name="Freeform 76">
              <a:extLst>
                <a:ext uri="{FF2B5EF4-FFF2-40B4-BE49-F238E27FC236}">
                  <a16:creationId xmlns:a16="http://schemas.microsoft.com/office/drawing/2014/main" id="{681ABEB9-6193-4550-908A-96B8A94D904A}"/>
                </a:ext>
              </a:extLst>
            </p:cNvPr>
            <p:cNvSpPr>
              <a:spLocks/>
            </p:cNvSpPr>
            <p:nvPr/>
          </p:nvSpPr>
          <p:spPr bwMode="auto">
            <a:xfrm>
              <a:off x="2979010" y="3108649"/>
              <a:ext cx="2647950" cy="910167"/>
            </a:xfrm>
            <a:custGeom>
              <a:avLst/>
              <a:gdLst>
                <a:gd name="T0" fmla="*/ 0 w 2647950"/>
                <a:gd name="T1" fmla="*/ 0 h 910167"/>
                <a:gd name="T2" fmla="*/ 406400 w 2647950"/>
                <a:gd name="T3" fmla="*/ 114300 h 910167"/>
                <a:gd name="T4" fmla="*/ 787400 w 2647950"/>
                <a:gd name="T5" fmla="*/ 273050 h 910167"/>
                <a:gd name="T6" fmla="*/ 1168400 w 2647950"/>
                <a:gd name="T7" fmla="*/ 457200 h 910167"/>
                <a:gd name="T8" fmla="*/ 1562100 w 2647950"/>
                <a:gd name="T9" fmla="*/ 647700 h 910167"/>
                <a:gd name="T10" fmla="*/ 2063750 w 2647950"/>
                <a:gd name="T11" fmla="*/ 800100 h 910167"/>
                <a:gd name="T12" fmla="*/ 2514600 w 2647950"/>
                <a:gd name="T13" fmla="*/ 895350 h 910167"/>
                <a:gd name="T14" fmla="*/ 2647950 w 2647950"/>
                <a:gd name="T15" fmla="*/ 889000 h 9101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47950" h="910167">
                  <a:moveTo>
                    <a:pt x="0" y="0"/>
                  </a:moveTo>
                  <a:cubicBezTo>
                    <a:pt x="137583" y="34396"/>
                    <a:pt x="275167" y="68792"/>
                    <a:pt x="406400" y="114300"/>
                  </a:cubicBezTo>
                  <a:cubicBezTo>
                    <a:pt x="537633" y="159808"/>
                    <a:pt x="660400" y="215900"/>
                    <a:pt x="787400" y="273050"/>
                  </a:cubicBezTo>
                  <a:cubicBezTo>
                    <a:pt x="914400" y="330200"/>
                    <a:pt x="1168400" y="457200"/>
                    <a:pt x="1168400" y="457200"/>
                  </a:cubicBezTo>
                  <a:cubicBezTo>
                    <a:pt x="1297517" y="519642"/>
                    <a:pt x="1412875" y="590550"/>
                    <a:pt x="1562100" y="647700"/>
                  </a:cubicBezTo>
                  <a:cubicBezTo>
                    <a:pt x="1711325" y="704850"/>
                    <a:pt x="1905000" y="758825"/>
                    <a:pt x="2063750" y="800100"/>
                  </a:cubicBezTo>
                  <a:cubicBezTo>
                    <a:pt x="2222500" y="841375"/>
                    <a:pt x="2417233" y="880533"/>
                    <a:pt x="2514600" y="895350"/>
                  </a:cubicBezTo>
                  <a:cubicBezTo>
                    <a:pt x="2611967" y="910167"/>
                    <a:pt x="2629958" y="899583"/>
                    <a:pt x="2647950" y="8890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817" name="TextBox 87">
              <a:extLst>
                <a:ext uri="{FF2B5EF4-FFF2-40B4-BE49-F238E27FC236}">
                  <a16:creationId xmlns:a16="http://schemas.microsoft.com/office/drawing/2014/main" id="{9D88562A-965C-4D8D-BDFF-2982F26E19D9}"/>
                </a:ext>
              </a:extLst>
            </p:cNvPr>
            <p:cNvSpPr txBox="1">
              <a:spLocks noChangeArrowheads="1"/>
            </p:cNvSpPr>
            <p:nvPr/>
          </p:nvSpPr>
          <p:spPr bwMode="auto">
            <a:xfrm>
              <a:off x="4443558" y="3454984"/>
              <a:ext cx="1024540" cy="42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800"/>
                <a:t>2 cycle</a:t>
              </a:r>
            </a:p>
            <a:p>
              <a:pPr algn="ctr" eaLnBrk="1" hangingPunct="1"/>
              <a:r>
                <a:rPr lang="en-US" altLang="en-US" sz="800"/>
                <a:t>Capture edge</a:t>
              </a:r>
              <a:endParaRPr lang="ru-RU" altLang="en-US" sz="800"/>
            </a:p>
          </p:txBody>
        </p:sp>
        <p:sp>
          <p:nvSpPr>
            <p:cNvPr id="32818" name="TextBox 88">
              <a:extLst>
                <a:ext uri="{FF2B5EF4-FFF2-40B4-BE49-F238E27FC236}">
                  <a16:creationId xmlns:a16="http://schemas.microsoft.com/office/drawing/2014/main" id="{BA38C95E-BA81-4ACD-A474-66CC993048FD}"/>
                </a:ext>
              </a:extLst>
            </p:cNvPr>
            <p:cNvSpPr txBox="1">
              <a:spLocks noChangeArrowheads="1"/>
            </p:cNvSpPr>
            <p:nvPr/>
          </p:nvSpPr>
          <p:spPr bwMode="auto">
            <a:xfrm>
              <a:off x="5347315" y="3461629"/>
              <a:ext cx="1024540" cy="42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800"/>
                <a:t>3 cycle</a:t>
              </a:r>
            </a:p>
            <a:p>
              <a:pPr algn="ctr" eaLnBrk="1" hangingPunct="1"/>
              <a:r>
                <a:rPr lang="en-US" altLang="en-US" sz="800"/>
                <a:t>Capture edge</a:t>
              </a:r>
              <a:endParaRPr lang="ru-RU" altLang="en-US" sz="800"/>
            </a:p>
          </p:txBody>
        </p:sp>
        <p:cxnSp>
          <p:nvCxnSpPr>
            <p:cNvPr id="32819" name="Straight Arrow Connector 89">
              <a:extLst>
                <a:ext uri="{FF2B5EF4-FFF2-40B4-BE49-F238E27FC236}">
                  <a16:creationId xmlns:a16="http://schemas.microsoft.com/office/drawing/2014/main" id="{C57193F2-2FDE-40FE-A1EA-AC69B560A543}"/>
                </a:ext>
              </a:extLst>
            </p:cNvPr>
            <p:cNvCxnSpPr>
              <a:cxnSpLocks noChangeShapeType="1"/>
            </p:cNvCxnSpPr>
            <p:nvPr/>
          </p:nvCxnSpPr>
          <p:spPr bwMode="auto">
            <a:xfrm>
              <a:off x="2946454" y="4437112"/>
              <a:ext cx="913619" cy="0"/>
            </a:xfrm>
            <a:prstGeom prst="straightConnector1">
              <a:avLst/>
            </a:prstGeom>
            <a:noFill/>
            <a:ln w="9525" algn="ctr">
              <a:solidFill>
                <a:srgbClr val="0000FF"/>
              </a:solidFill>
              <a:round/>
              <a:headEnd type="triangle" w="med" len="med"/>
              <a:tailEnd type="triangle" w="med" len="med"/>
            </a:ln>
          </p:spPr>
        </p:cxnSp>
        <p:cxnSp>
          <p:nvCxnSpPr>
            <p:cNvPr id="32820" name="Straight Connector 91">
              <a:extLst>
                <a:ext uri="{FF2B5EF4-FFF2-40B4-BE49-F238E27FC236}">
                  <a16:creationId xmlns:a16="http://schemas.microsoft.com/office/drawing/2014/main" id="{AC4003E6-4464-4E21-B9CD-34F0B2AC9776}"/>
                </a:ext>
              </a:extLst>
            </p:cNvPr>
            <p:cNvCxnSpPr>
              <a:cxnSpLocks noChangeShapeType="1"/>
            </p:cNvCxnSpPr>
            <p:nvPr/>
          </p:nvCxnSpPr>
          <p:spPr bwMode="auto">
            <a:xfrm>
              <a:off x="2946454" y="4316745"/>
              <a:ext cx="0" cy="20459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821" name="Straight Connector 94">
              <a:extLst>
                <a:ext uri="{FF2B5EF4-FFF2-40B4-BE49-F238E27FC236}">
                  <a16:creationId xmlns:a16="http://schemas.microsoft.com/office/drawing/2014/main" id="{AF2C611A-4E7F-4D89-B857-64A1A3D0531C}"/>
                </a:ext>
              </a:extLst>
            </p:cNvPr>
            <p:cNvCxnSpPr>
              <a:cxnSpLocks noChangeShapeType="1"/>
            </p:cNvCxnSpPr>
            <p:nvPr/>
          </p:nvCxnSpPr>
          <p:spPr bwMode="auto">
            <a:xfrm>
              <a:off x="3860073" y="4316745"/>
              <a:ext cx="0" cy="20459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822" name="Straight Arrow Connector 96">
              <a:extLst>
                <a:ext uri="{FF2B5EF4-FFF2-40B4-BE49-F238E27FC236}">
                  <a16:creationId xmlns:a16="http://schemas.microsoft.com/office/drawing/2014/main" id="{C41D537C-3C57-4D1E-AC36-346C7263DCF6}"/>
                </a:ext>
              </a:extLst>
            </p:cNvPr>
            <p:cNvCxnSpPr>
              <a:cxnSpLocks noChangeShapeType="1"/>
            </p:cNvCxnSpPr>
            <p:nvPr/>
          </p:nvCxnSpPr>
          <p:spPr bwMode="auto">
            <a:xfrm>
              <a:off x="3860073" y="4437112"/>
              <a:ext cx="959733" cy="0"/>
            </a:xfrm>
            <a:prstGeom prst="straightConnector1">
              <a:avLst/>
            </a:prstGeom>
            <a:noFill/>
            <a:ln w="9525" algn="ctr">
              <a:solidFill>
                <a:srgbClr val="0000FF"/>
              </a:solidFill>
              <a:round/>
              <a:headEnd type="triangle" w="med" len="med"/>
              <a:tailEnd type="triangle" w="med" len="med"/>
            </a:ln>
          </p:spPr>
        </p:cxnSp>
        <p:cxnSp>
          <p:nvCxnSpPr>
            <p:cNvPr id="32823" name="Straight Connector 97">
              <a:extLst>
                <a:ext uri="{FF2B5EF4-FFF2-40B4-BE49-F238E27FC236}">
                  <a16:creationId xmlns:a16="http://schemas.microsoft.com/office/drawing/2014/main" id="{8F8AE848-FCDE-45C0-A72B-AB0C0A25026F}"/>
                </a:ext>
              </a:extLst>
            </p:cNvPr>
            <p:cNvCxnSpPr>
              <a:cxnSpLocks noChangeShapeType="1"/>
            </p:cNvCxnSpPr>
            <p:nvPr/>
          </p:nvCxnSpPr>
          <p:spPr bwMode="auto">
            <a:xfrm>
              <a:off x="3858484" y="4316745"/>
              <a:ext cx="0" cy="20459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824" name="Straight Arrow Connector 99">
              <a:extLst>
                <a:ext uri="{FF2B5EF4-FFF2-40B4-BE49-F238E27FC236}">
                  <a16:creationId xmlns:a16="http://schemas.microsoft.com/office/drawing/2014/main" id="{7CDB23DF-38C9-49FD-90F5-C4F37B515142}"/>
                </a:ext>
              </a:extLst>
            </p:cNvPr>
            <p:cNvCxnSpPr>
              <a:cxnSpLocks noChangeShapeType="1"/>
            </p:cNvCxnSpPr>
            <p:nvPr/>
          </p:nvCxnSpPr>
          <p:spPr bwMode="auto">
            <a:xfrm>
              <a:off x="4803853" y="4438091"/>
              <a:ext cx="909133" cy="0"/>
            </a:xfrm>
            <a:prstGeom prst="straightConnector1">
              <a:avLst/>
            </a:prstGeom>
            <a:noFill/>
            <a:ln w="9525" algn="ctr">
              <a:solidFill>
                <a:srgbClr val="0000FF"/>
              </a:solidFill>
              <a:round/>
              <a:headEnd type="triangle" w="med" len="med"/>
              <a:tailEnd type="triangle" w="med" len="med"/>
            </a:ln>
          </p:spPr>
        </p:cxnSp>
        <p:cxnSp>
          <p:nvCxnSpPr>
            <p:cNvPr id="32825" name="Straight Connector 100">
              <a:extLst>
                <a:ext uri="{FF2B5EF4-FFF2-40B4-BE49-F238E27FC236}">
                  <a16:creationId xmlns:a16="http://schemas.microsoft.com/office/drawing/2014/main" id="{6ED8F7A6-9940-48D3-BD77-2F89F4EF665D}"/>
                </a:ext>
              </a:extLst>
            </p:cNvPr>
            <p:cNvCxnSpPr>
              <a:cxnSpLocks noChangeShapeType="1"/>
            </p:cNvCxnSpPr>
            <p:nvPr/>
          </p:nvCxnSpPr>
          <p:spPr bwMode="auto">
            <a:xfrm>
              <a:off x="4803853" y="4321557"/>
              <a:ext cx="0" cy="20459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826" name="Straight Connector 101">
              <a:extLst>
                <a:ext uri="{FF2B5EF4-FFF2-40B4-BE49-F238E27FC236}">
                  <a16:creationId xmlns:a16="http://schemas.microsoft.com/office/drawing/2014/main" id="{2CA8C3E5-45E9-41EB-9511-809A29D08FDD}"/>
                </a:ext>
              </a:extLst>
            </p:cNvPr>
            <p:cNvCxnSpPr>
              <a:cxnSpLocks noChangeShapeType="1"/>
            </p:cNvCxnSpPr>
            <p:nvPr/>
          </p:nvCxnSpPr>
          <p:spPr bwMode="auto">
            <a:xfrm>
              <a:off x="5717472" y="4321557"/>
              <a:ext cx="0" cy="20459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cxnSp>
        <p:nvCxnSpPr>
          <p:cNvPr id="32774" name="Straight Connector 108">
            <a:extLst>
              <a:ext uri="{FF2B5EF4-FFF2-40B4-BE49-F238E27FC236}">
                <a16:creationId xmlns:a16="http://schemas.microsoft.com/office/drawing/2014/main" id="{68E2BF24-3CFF-4CFF-8D7D-29F522EB4EDD}"/>
              </a:ext>
            </a:extLst>
          </p:cNvPr>
          <p:cNvCxnSpPr>
            <a:cxnSpLocks noChangeShapeType="1"/>
          </p:cNvCxnSpPr>
          <p:nvPr/>
        </p:nvCxnSpPr>
        <p:spPr bwMode="auto">
          <a:xfrm flipV="1">
            <a:off x="4703763" y="2093913"/>
            <a:ext cx="0" cy="538162"/>
          </a:xfrm>
          <a:prstGeom prst="line">
            <a:avLst/>
          </a:prstGeom>
          <a:noFill/>
          <a:ln w="9525" algn="ctr">
            <a:solidFill>
              <a:schemeClr val="tx1"/>
            </a:solidFill>
            <a:round/>
            <a:headEnd/>
            <a:tailEn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D4C96350-8D57-4FD5-BE04-84B485E1BFE7}"/>
              </a:ext>
            </a:extLst>
          </p:cNvPr>
          <p:cNvSpPr>
            <a:spLocks noGrp="1"/>
          </p:cNvSpPr>
          <p:nvPr>
            <p:ph type="title"/>
          </p:nvPr>
        </p:nvSpPr>
        <p:spPr/>
        <p:txBody>
          <a:bodyPr/>
          <a:lstStyle/>
          <a:p>
            <a:r>
              <a:rPr lang="en-US" altLang="en-US"/>
              <a:t>2-cycle Hold Check</a:t>
            </a:r>
          </a:p>
        </p:txBody>
      </p:sp>
      <p:sp>
        <p:nvSpPr>
          <p:cNvPr id="3" name="Content Placeholder 2">
            <a:extLst>
              <a:ext uri="{FF2B5EF4-FFF2-40B4-BE49-F238E27FC236}">
                <a16:creationId xmlns:a16="http://schemas.microsoft.com/office/drawing/2014/main" id="{5C7A08CE-0ED9-434E-96E0-523231AD8433}"/>
              </a:ext>
            </a:extLst>
          </p:cNvPr>
          <p:cNvSpPr>
            <a:spLocks noGrp="1"/>
          </p:cNvSpPr>
          <p:nvPr>
            <p:ph type="body" sz="quarter" idx="10"/>
          </p:nvPr>
        </p:nvSpPr>
        <p:spPr>
          <a:xfrm>
            <a:off x="457200" y="1188720"/>
            <a:ext cx="11011359" cy="678182"/>
          </a:xfrm>
          <a:solidFill>
            <a:schemeClr val="accent1">
              <a:lumMod val="20000"/>
              <a:lumOff val="80000"/>
            </a:schemeClr>
          </a:solidFill>
          <a:ln w="28575">
            <a:solidFill>
              <a:schemeClr val="accent1">
                <a:lumMod val="75000"/>
              </a:schemeClr>
            </a:solidFill>
          </a:ln>
        </p:spPr>
        <p:txBody>
          <a:bodyPr/>
          <a:lstStyle/>
          <a:p>
            <a:pPr marL="0" indent="0">
              <a:buNone/>
              <a:defRPr/>
            </a:pPr>
            <a:r>
              <a:rPr lang="en-US" sz="1800" dirty="0" err="1">
                <a:solidFill>
                  <a:srgbClr val="0000FF"/>
                </a:solidFill>
                <a:latin typeface="Courier New" pitchFamily="49" charset="0"/>
                <a:cs typeface="Courier New" pitchFamily="49" charset="0"/>
              </a:rPr>
              <a:t>set_multicycle_path</a:t>
            </a:r>
            <a:r>
              <a:rPr lang="en-US" sz="1800" dirty="0">
                <a:latin typeface="Courier New" pitchFamily="49" charset="0"/>
                <a:cs typeface="Courier New" pitchFamily="49" charset="0"/>
              </a:rPr>
              <a:t> 2</a:t>
            </a:r>
            <a:r>
              <a:rPr lang="en-US" sz="1800" b="1" dirty="0">
                <a:latin typeface="Courier New" pitchFamily="49" charset="0"/>
                <a:cs typeface="Courier New" pitchFamily="49" charset="0"/>
              </a:rPr>
              <a:t> </a:t>
            </a:r>
            <a:r>
              <a:rPr lang="en-US" sz="1800" dirty="0">
                <a:latin typeface="Courier New" pitchFamily="49" charset="0"/>
                <a:cs typeface="Courier New" pitchFamily="49" charset="0"/>
              </a:rPr>
              <a:t>-</a:t>
            </a:r>
            <a:r>
              <a:rPr lang="en-US" sz="1800" dirty="0">
                <a:solidFill>
                  <a:srgbClr val="0000FF"/>
                </a:solidFill>
                <a:latin typeface="Courier New" pitchFamily="49" charset="0"/>
                <a:cs typeface="Courier New" pitchFamily="49" charset="0"/>
              </a:rPr>
              <a:t>hold -from</a:t>
            </a:r>
            <a:r>
              <a:rPr lang="en-US" sz="1800" dirty="0">
                <a:latin typeface="Courier New" pitchFamily="49" charset="0"/>
                <a:cs typeface="Courier New" pitchFamily="49" charset="0"/>
              </a:rPr>
              <a:t> [</a:t>
            </a:r>
            <a:r>
              <a:rPr lang="en-US" sz="1800" dirty="0" err="1">
                <a:solidFill>
                  <a:srgbClr val="0000FF"/>
                </a:solidFill>
                <a:latin typeface="Courier New" pitchFamily="49" charset="0"/>
                <a:cs typeface="Courier New" pitchFamily="49" charset="0"/>
              </a:rPr>
              <a:t>get_pins</a:t>
            </a:r>
            <a:r>
              <a:rPr lang="en-US" sz="1800" b="1" dirty="0">
                <a:latin typeface="Courier New" pitchFamily="49" charset="0"/>
                <a:cs typeface="Courier New" pitchFamily="49" charset="0"/>
              </a:rPr>
              <a:t> </a:t>
            </a:r>
            <a:r>
              <a:rPr lang="en-US" sz="1800" dirty="0">
                <a:latin typeface="Courier New" pitchFamily="49" charset="0"/>
                <a:cs typeface="Courier New" pitchFamily="49" charset="0"/>
              </a:rPr>
              <a:t>G1/Q]</a:t>
            </a:r>
            <a:r>
              <a:rPr lang="en-US" sz="1800" b="1" dirty="0">
                <a:latin typeface="Courier New" pitchFamily="49" charset="0"/>
                <a:cs typeface="Courier New" pitchFamily="49" charset="0"/>
              </a:rPr>
              <a:t> </a:t>
            </a:r>
            <a:r>
              <a:rPr lang="en-US" sz="1800" dirty="0">
                <a:latin typeface="Courier New" pitchFamily="49" charset="0"/>
                <a:cs typeface="Courier New" pitchFamily="49" charset="0"/>
              </a:rPr>
              <a:t>-</a:t>
            </a:r>
            <a:r>
              <a:rPr lang="en-US" sz="1800" dirty="0">
                <a:solidFill>
                  <a:srgbClr val="0000FF"/>
                </a:solidFill>
                <a:latin typeface="Courier New" pitchFamily="49" charset="0"/>
                <a:cs typeface="Courier New" pitchFamily="49" charset="0"/>
              </a:rPr>
              <a:t>to</a:t>
            </a:r>
            <a:r>
              <a:rPr lang="en-US" sz="1800" b="1" dirty="0">
                <a:solidFill>
                  <a:srgbClr val="0000FF"/>
                </a:solidFill>
                <a:latin typeface="Courier New" pitchFamily="49" charset="0"/>
                <a:cs typeface="Courier New" pitchFamily="49" charset="0"/>
              </a:rPr>
              <a:t> </a:t>
            </a:r>
            <a:r>
              <a:rPr lang="en-US" sz="1800" dirty="0">
                <a:latin typeface="Courier New" pitchFamily="49" charset="0"/>
                <a:cs typeface="Courier New" pitchFamily="49" charset="0"/>
              </a:rPr>
              <a:t>[</a:t>
            </a:r>
            <a:r>
              <a:rPr lang="en-US" sz="1800" dirty="0" err="1">
                <a:solidFill>
                  <a:srgbClr val="0000FF"/>
                </a:solidFill>
                <a:latin typeface="Courier New" pitchFamily="49" charset="0"/>
                <a:cs typeface="Courier New" pitchFamily="49" charset="0"/>
              </a:rPr>
              <a:t>get_pins</a:t>
            </a:r>
            <a:r>
              <a:rPr lang="en-US" sz="1800" b="1" dirty="0">
                <a:latin typeface="Courier New" pitchFamily="49" charset="0"/>
                <a:cs typeface="Courier New" pitchFamily="49" charset="0"/>
              </a:rPr>
              <a:t> </a:t>
            </a:r>
            <a:r>
              <a:rPr lang="en-US" sz="1800" dirty="0">
                <a:latin typeface="Courier New" pitchFamily="49" charset="0"/>
                <a:cs typeface="Courier New" pitchFamily="49" charset="0"/>
              </a:rPr>
              <a:t>G2/D]</a:t>
            </a:r>
          </a:p>
        </p:txBody>
      </p:sp>
      <p:cxnSp>
        <p:nvCxnSpPr>
          <p:cNvPr id="6" name="Elbow Connector 5">
            <a:extLst>
              <a:ext uri="{FF2B5EF4-FFF2-40B4-BE49-F238E27FC236}">
                <a16:creationId xmlns:a16="http://schemas.microsoft.com/office/drawing/2014/main" id="{A214D891-D592-45BC-859B-7D20F8BB0D33}"/>
              </a:ext>
            </a:extLst>
          </p:cNvPr>
          <p:cNvCxnSpPr/>
          <p:nvPr/>
        </p:nvCxnSpPr>
        <p:spPr bwMode="auto">
          <a:xfrm flipV="1">
            <a:off x="3622811" y="3008141"/>
            <a:ext cx="949325" cy="474663"/>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Elbow Connector 6">
            <a:extLst>
              <a:ext uri="{FF2B5EF4-FFF2-40B4-BE49-F238E27FC236}">
                <a16:creationId xmlns:a16="http://schemas.microsoft.com/office/drawing/2014/main" id="{612B7A83-7CA9-45DF-916E-E057C9ACEC00}"/>
              </a:ext>
            </a:extLst>
          </p:cNvPr>
          <p:cNvCxnSpPr/>
          <p:nvPr/>
        </p:nvCxnSpPr>
        <p:spPr bwMode="auto">
          <a:xfrm rot="16200000" flipH="1">
            <a:off x="4553879" y="3026397"/>
            <a:ext cx="474663" cy="438150"/>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05035EBD-E1D9-446B-AE48-6BEF76CA1870}"/>
              </a:ext>
            </a:extLst>
          </p:cNvPr>
          <p:cNvCxnSpPr/>
          <p:nvPr/>
        </p:nvCxnSpPr>
        <p:spPr bwMode="auto">
          <a:xfrm rot="5400000" flipH="1" flipV="1">
            <a:off x="5010285" y="3008141"/>
            <a:ext cx="474663" cy="474662"/>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2852B145-7AC4-4C57-9B45-FC073C5789AE}"/>
              </a:ext>
            </a:extLst>
          </p:cNvPr>
          <p:cNvCxnSpPr/>
          <p:nvPr/>
        </p:nvCxnSpPr>
        <p:spPr bwMode="auto">
          <a:xfrm rot="16200000" flipH="1">
            <a:off x="5484948" y="3008141"/>
            <a:ext cx="474663" cy="474663"/>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365AA4BF-CC72-4560-B871-DA516A34EA0C}"/>
              </a:ext>
            </a:extLst>
          </p:cNvPr>
          <p:cNvCxnSpPr/>
          <p:nvPr/>
        </p:nvCxnSpPr>
        <p:spPr bwMode="auto">
          <a:xfrm rot="5400000" flipH="1" flipV="1">
            <a:off x="5959610" y="3008141"/>
            <a:ext cx="474663" cy="474662"/>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71D6510F-F4AC-4E5E-BA05-EE80863C015C}"/>
              </a:ext>
            </a:extLst>
          </p:cNvPr>
          <p:cNvCxnSpPr/>
          <p:nvPr/>
        </p:nvCxnSpPr>
        <p:spPr bwMode="auto">
          <a:xfrm rot="16200000" flipH="1">
            <a:off x="6416016" y="3026397"/>
            <a:ext cx="474663" cy="438150"/>
          </a:xfrm>
          <a:prstGeom prst="bentConnector3">
            <a:avLst>
              <a:gd name="adj1" fmla="val 10217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A35C615D-32E0-4186-B3E3-C5FCE4010AF1}"/>
              </a:ext>
            </a:extLst>
          </p:cNvPr>
          <p:cNvCxnSpPr/>
          <p:nvPr/>
        </p:nvCxnSpPr>
        <p:spPr bwMode="auto">
          <a:xfrm rot="5400000" flipH="1" flipV="1">
            <a:off x="6872423" y="3008141"/>
            <a:ext cx="474663" cy="474663"/>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132794C-4C2C-4DD7-A98F-2DF5CE01F427}"/>
              </a:ext>
            </a:extLst>
          </p:cNvPr>
          <p:cNvCxnSpPr/>
          <p:nvPr/>
        </p:nvCxnSpPr>
        <p:spPr bwMode="auto">
          <a:xfrm rot="5400000">
            <a:off x="7110548" y="3244679"/>
            <a:ext cx="47466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D62961E9-A17A-4FDE-80B2-07F8FC6A2DA6}"/>
              </a:ext>
            </a:extLst>
          </p:cNvPr>
          <p:cNvCxnSpPr/>
          <p:nvPr/>
        </p:nvCxnSpPr>
        <p:spPr bwMode="auto">
          <a:xfrm flipV="1">
            <a:off x="3622811" y="3932066"/>
            <a:ext cx="949325" cy="474663"/>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341B1278-F258-4B64-BCCC-3F141413C249}"/>
              </a:ext>
            </a:extLst>
          </p:cNvPr>
          <p:cNvCxnSpPr/>
          <p:nvPr/>
        </p:nvCxnSpPr>
        <p:spPr bwMode="auto">
          <a:xfrm rot="16200000" flipH="1">
            <a:off x="4553879" y="3950322"/>
            <a:ext cx="474663" cy="438150"/>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Elbow Connector 15">
            <a:extLst>
              <a:ext uri="{FF2B5EF4-FFF2-40B4-BE49-F238E27FC236}">
                <a16:creationId xmlns:a16="http://schemas.microsoft.com/office/drawing/2014/main" id="{9BC8BAC5-0B2A-42CD-A24F-DCEE2E7196D1}"/>
              </a:ext>
            </a:extLst>
          </p:cNvPr>
          <p:cNvCxnSpPr/>
          <p:nvPr/>
        </p:nvCxnSpPr>
        <p:spPr bwMode="auto">
          <a:xfrm rot="5400000" flipH="1" flipV="1">
            <a:off x="5010285" y="3932066"/>
            <a:ext cx="474663" cy="474662"/>
          </a:xfrm>
          <a:prstGeom prst="bentConnector3">
            <a:avLst>
              <a:gd name="adj1" fmla="val 994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Elbow Connector 16">
            <a:extLst>
              <a:ext uri="{FF2B5EF4-FFF2-40B4-BE49-F238E27FC236}">
                <a16:creationId xmlns:a16="http://schemas.microsoft.com/office/drawing/2014/main" id="{65C6B41F-66F8-4855-8276-30E7BB56BE6A}"/>
              </a:ext>
            </a:extLst>
          </p:cNvPr>
          <p:cNvCxnSpPr/>
          <p:nvPr/>
        </p:nvCxnSpPr>
        <p:spPr bwMode="auto">
          <a:xfrm rot="16200000" flipH="1">
            <a:off x="5484948" y="3932066"/>
            <a:ext cx="474663" cy="474663"/>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Elbow Connector 17">
            <a:extLst>
              <a:ext uri="{FF2B5EF4-FFF2-40B4-BE49-F238E27FC236}">
                <a16:creationId xmlns:a16="http://schemas.microsoft.com/office/drawing/2014/main" id="{35FB04F7-CB4E-4A2C-863E-8D5D2A8BCFEA}"/>
              </a:ext>
            </a:extLst>
          </p:cNvPr>
          <p:cNvCxnSpPr/>
          <p:nvPr/>
        </p:nvCxnSpPr>
        <p:spPr bwMode="auto">
          <a:xfrm rot="5400000" flipH="1" flipV="1">
            <a:off x="5959610" y="3932066"/>
            <a:ext cx="474663" cy="474662"/>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Elbow Connector 18">
            <a:extLst>
              <a:ext uri="{FF2B5EF4-FFF2-40B4-BE49-F238E27FC236}">
                <a16:creationId xmlns:a16="http://schemas.microsoft.com/office/drawing/2014/main" id="{3A04EA55-A2B9-464C-AE67-C96C70352ACD}"/>
              </a:ext>
            </a:extLst>
          </p:cNvPr>
          <p:cNvCxnSpPr/>
          <p:nvPr/>
        </p:nvCxnSpPr>
        <p:spPr bwMode="auto">
          <a:xfrm rot="16200000" flipH="1">
            <a:off x="6416016" y="3950322"/>
            <a:ext cx="474663" cy="438150"/>
          </a:xfrm>
          <a:prstGeom prst="bentConnector3">
            <a:avLst>
              <a:gd name="adj1" fmla="val 10217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Elbow Connector 19">
            <a:extLst>
              <a:ext uri="{FF2B5EF4-FFF2-40B4-BE49-F238E27FC236}">
                <a16:creationId xmlns:a16="http://schemas.microsoft.com/office/drawing/2014/main" id="{7B874050-ED33-4D48-A1FB-4FAFAAED743C}"/>
              </a:ext>
            </a:extLst>
          </p:cNvPr>
          <p:cNvCxnSpPr/>
          <p:nvPr/>
        </p:nvCxnSpPr>
        <p:spPr bwMode="auto">
          <a:xfrm rot="5400000" flipH="1" flipV="1">
            <a:off x="6872423" y="3932066"/>
            <a:ext cx="474663" cy="474663"/>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8250D14-F09F-45E4-BD70-E5DE75974CF6}"/>
              </a:ext>
            </a:extLst>
          </p:cNvPr>
          <p:cNvCxnSpPr/>
          <p:nvPr/>
        </p:nvCxnSpPr>
        <p:spPr bwMode="auto">
          <a:xfrm rot="5400000">
            <a:off x="7110548" y="4170191"/>
            <a:ext cx="474662"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2DFE43B-9F90-4C69-8938-5D5E28FCBFF9}"/>
              </a:ext>
            </a:extLst>
          </p:cNvPr>
          <p:cNvSpPr txBox="1"/>
          <p:nvPr/>
        </p:nvSpPr>
        <p:spPr>
          <a:xfrm>
            <a:off x="3840297" y="2649366"/>
            <a:ext cx="846138" cy="415925"/>
          </a:xfrm>
          <a:prstGeom prst="rect">
            <a:avLst/>
          </a:prstGeom>
          <a:noFill/>
        </p:spPr>
        <p:txBody>
          <a:bodyPr wrap="none">
            <a:spAutoFit/>
          </a:bodyPr>
          <a:lstStyle/>
          <a:p>
            <a:pPr eaLnBrk="1" hangingPunct="1">
              <a:defRPr/>
            </a:pPr>
            <a:r>
              <a:rPr lang="en-US" sz="1050" dirty="0">
                <a:latin typeface="Arial" charset="0"/>
                <a:cs typeface="Arial" charset="0"/>
              </a:rPr>
              <a:t>Setup</a:t>
            </a:r>
          </a:p>
          <a:p>
            <a:pPr eaLnBrk="1" hangingPunct="1">
              <a:defRPr/>
            </a:pPr>
            <a:r>
              <a:rPr lang="en-US" sz="1050" dirty="0" err="1">
                <a:latin typeface="Arial" charset="0"/>
                <a:cs typeface="Arial" charset="0"/>
              </a:rPr>
              <a:t>lauch</a:t>
            </a:r>
            <a:r>
              <a:rPr lang="en-US" sz="1050" dirty="0">
                <a:latin typeface="Arial" charset="0"/>
                <a:cs typeface="Arial" charset="0"/>
              </a:rPr>
              <a:t> edge</a:t>
            </a:r>
            <a:endParaRPr lang="ru-RU" sz="1050" dirty="0">
              <a:latin typeface="Arial" charset="0"/>
              <a:cs typeface="Arial" charset="0"/>
            </a:endParaRPr>
          </a:p>
        </p:txBody>
      </p:sp>
      <p:sp>
        <p:nvSpPr>
          <p:cNvPr id="33813" name="TextBox 22">
            <a:extLst>
              <a:ext uri="{FF2B5EF4-FFF2-40B4-BE49-F238E27FC236}">
                <a16:creationId xmlns:a16="http://schemas.microsoft.com/office/drawing/2014/main" id="{956DE425-CD73-4BDF-81AA-EA0B529EA5C4}"/>
              </a:ext>
            </a:extLst>
          </p:cNvPr>
          <p:cNvSpPr txBox="1">
            <a:spLocks noChangeArrowheads="1"/>
          </p:cNvSpPr>
          <p:nvPr/>
        </p:nvSpPr>
        <p:spPr bwMode="auto">
          <a:xfrm>
            <a:off x="4129222" y="3503441"/>
            <a:ext cx="2032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Hold check moved to lauch edge</a:t>
            </a:r>
            <a:endParaRPr lang="ru-RU" altLang="en-US" sz="1000"/>
          </a:p>
        </p:txBody>
      </p:sp>
      <p:sp>
        <p:nvSpPr>
          <p:cNvPr id="33814" name="TextBox 23">
            <a:extLst>
              <a:ext uri="{FF2B5EF4-FFF2-40B4-BE49-F238E27FC236}">
                <a16:creationId xmlns:a16="http://schemas.microsoft.com/office/drawing/2014/main" id="{E8A89CD0-A346-44BE-9264-07035AADB2ED}"/>
              </a:ext>
            </a:extLst>
          </p:cNvPr>
          <p:cNvSpPr txBox="1">
            <a:spLocks noChangeArrowheads="1"/>
          </p:cNvSpPr>
          <p:nvPr/>
        </p:nvSpPr>
        <p:spPr bwMode="auto">
          <a:xfrm>
            <a:off x="6183448" y="3466928"/>
            <a:ext cx="133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Setup multicycle = 3</a:t>
            </a:r>
            <a:endParaRPr lang="ru-RU" altLang="en-US" sz="1000"/>
          </a:p>
        </p:txBody>
      </p:sp>
      <p:cxnSp>
        <p:nvCxnSpPr>
          <p:cNvPr id="33815" name="Straight Arrow Connector 24">
            <a:extLst>
              <a:ext uri="{FF2B5EF4-FFF2-40B4-BE49-F238E27FC236}">
                <a16:creationId xmlns:a16="http://schemas.microsoft.com/office/drawing/2014/main" id="{ADDF4F19-E77E-4697-925F-6C543F01A34C}"/>
              </a:ext>
            </a:extLst>
          </p:cNvPr>
          <p:cNvCxnSpPr>
            <a:cxnSpLocks noChangeShapeType="1"/>
          </p:cNvCxnSpPr>
          <p:nvPr/>
        </p:nvCxnSpPr>
        <p:spPr bwMode="auto">
          <a:xfrm rot="5400000" flipH="1" flipV="1">
            <a:off x="3897447" y="3281190"/>
            <a:ext cx="401638"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3816" name="Straight Arrow Connector 25">
            <a:extLst>
              <a:ext uri="{FF2B5EF4-FFF2-40B4-BE49-F238E27FC236}">
                <a16:creationId xmlns:a16="http://schemas.microsoft.com/office/drawing/2014/main" id="{500EDBDF-54F4-4FB7-B50B-E8C102F22DAC}"/>
              </a:ext>
            </a:extLst>
          </p:cNvPr>
          <p:cNvCxnSpPr>
            <a:cxnSpLocks noChangeShapeType="1"/>
          </p:cNvCxnSpPr>
          <p:nvPr/>
        </p:nvCxnSpPr>
        <p:spPr bwMode="auto">
          <a:xfrm rot="5400000" flipH="1" flipV="1">
            <a:off x="3933960" y="4230515"/>
            <a:ext cx="328612"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3817" name="Straight Arrow Connector 26">
            <a:extLst>
              <a:ext uri="{FF2B5EF4-FFF2-40B4-BE49-F238E27FC236}">
                <a16:creationId xmlns:a16="http://schemas.microsoft.com/office/drawing/2014/main" id="{9FED3BC6-54C6-4EA8-BBD3-3059043BE9E9}"/>
              </a:ext>
            </a:extLst>
          </p:cNvPr>
          <p:cNvCxnSpPr>
            <a:cxnSpLocks noChangeShapeType="1"/>
          </p:cNvCxnSpPr>
          <p:nvPr/>
        </p:nvCxnSpPr>
        <p:spPr bwMode="auto">
          <a:xfrm rot="5400000" flipH="1" flipV="1">
            <a:off x="5792923" y="4230516"/>
            <a:ext cx="328612"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3818" name="Straight Arrow Connector 27">
            <a:extLst>
              <a:ext uri="{FF2B5EF4-FFF2-40B4-BE49-F238E27FC236}">
                <a16:creationId xmlns:a16="http://schemas.microsoft.com/office/drawing/2014/main" id="{6A3DC9F2-31D4-4F91-BE15-FD35B344DA8B}"/>
              </a:ext>
            </a:extLst>
          </p:cNvPr>
          <p:cNvCxnSpPr>
            <a:cxnSpLocks noChangeShapeType="1"/>
          </p:cNvCxnSpPr>
          <p:nvPr/>
        </p:nvCxnSpPr>
        <p:spPr bwMode="auto">
          <a:xfrm rot="5400000" flipH="1" flipV="1">
            <a:off x="6707323" y="4241629"/>
            <a:ext cx="328613"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29" name="Straight Connector 28">
            <a:extLst>
              <a:ext uri="{FF2B5EF4-FFF2-40B4-BE49-F238E27FC236}">
                <a16:creationId xmlns:a16="http://schemas.microsoft.com/office/drawing/2014/main" id="{4DCB3E9B-7F1F-492A-BFDF-A4EB8401DE5C}"/>
              </a:ext>
            </a:extLst>
          </p:cNvPr>
          <p:cNvCxnSpPr/>
          <p:nvPr/>
        </p:nvCxnSpPr>
        <p:spPr bwMode="auto">
          <a:xfrm>
            <a:off x="3805372" y="4870279"/>
            <a:ext cx="4381500"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17F6313-8046-435E-9004-A1BD4F6D1501}"/>
              </a:ext>
            </a:extLst>
          </p:cNvPr>
          <p:cNvCxnSpPr/>
          <p:nvPr/>
        </p:nvCxnSpPr>
        <p:spPr bwMode="auto">
          <a:xfrm>
            <a:off x="3768860" y="5344940"/>
            <a:ext cx="4418012"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293AF7-4392-4486-9F2E-C319A6273036}"/>
              </a:ext>
            </a:extLst>
          </p:cNvPr>
          <p:cNvCxnSpPr/>
          <p:nvPr/>
        </p:nvCxnSpPr>
        <p:spPr bwMode="auto">
          <a:xfrm rot="16200000" flipH="1">
            <a:off x="4012541"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ABCF24C-D993-48E6-AD69-60CA359B51F9}"/>
              </a:ext>
            </a:extLst>
          </p:cNvPr>
          <p:cNvCxnSpPr/>
          <p:nvPr/>
        </p:nvCxnSpPr>
        <p:spPr bwMode="auto">
          <a:xfrm rot="5400000" flipH="1" flipV="1">
            <a:off x="4012541"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36CA312-7357-4616-9646-51610ECB0459}"/>
              </a:ext>
            </a:extLst>
          </p:cNvPr>
          <p:cNvCxnSpPr/>
          <p:nvPr/>
        </p:nvCxnSpPr>
        <p:spPr bwMode="auto">
          <a:xfrm rot="16200000" flipH="1">
            <a:off x="4579279" y="4958384"/>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8D3EA0C-3D81-41A9-AD8B-3515F9F0A463}"/>
              </a:ext>
            </a:extLst>
          </p:cNvPr>
          <p:cNvCxnSpPr/>
          <p:nvPr/>
        </p:nvCxnSpPr>
        <p:spPr bwMode="auto">
          <a:xfrm rot="5400000" flipH="1" flipV="1">
            <a:off x="4579279" y="4958384"/>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9BC7A758-B525-4D64-B1E4-E8CDB9BF0EE7}"/>
              </a:ext>
            </a:extLst>
          </p:cNvPr>
          <p:cNvCxnSpPr/>
          <p:nvPr/>
        </p:nvCxnSpPr>
        <p:spPr bwMode="auto">
          <a:xfrm rot="16200000" flipH="1">
            <a:off x="5161891"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525FBCA-2739-496D-B884-031887B33A41}"/>
              </a:ext>
            </a:extLst>
          </p:cNvPr>
          <p:cNvCxnSpPr/>
          <p:nvPr/>
        </p:nvCxnSpPr>
        <p:spPr bwMode="auto">
          <a:xfrm rot="5400000" flipH="1" flipV="1">
            <a:off x="5161891"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71087F9-68C2-43F3-AF13-D8EE88A30F56}"/>
              </a:ext>
            </a:extLst>
          </p:cNvPr>
          <p:cNvCxnSpPr/>
          <p:nvPr/>
        </p:nvCxnSpPr>
        <p:spPr bwMode="auto">
          <a:xfrm rot="16200000" flipH="1">
            <a:off x="5741329"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83C3A9A-6CAE-4C2F-9B7F-A4AAD6C4AF65}"/>
              </a:ext>
            </a:extLst>
          </p:cNvPr>
          <p:cNvCxnSpPr/>
          <p:nvPr/>
        </p:nvCxnSpPr>
        <p:spPr bwMode="auto">
          <a:xfrm rot="5400000" flipH="1" flipV="1">
            <a:off x="5741329" y="4961559"/>
            <a:ext cx="474662" cy="2921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3829" name="TextBox 38">
            <a:extLst>
              <a:ext uri="{FF2B5EF4-FFF2-40B4-BE49-F238E27FC236}">
                <a16:creationId xmlns:a16="http://schemas.microsoft.com/office/drawing/2014/main" id="{78F2A003-F659-4FFA-80EA-041E79290A4F}"/>
              </a:ext>
            </a:extLst>
          </p:cNvPr>
          <p:cNvSpPr txBox="1">
            <a:spLocks noChangeArrowheads="1"/>
          </p:cNvSpPr>
          <p:nvPr/>
        </p:nvSpPr>
        <p:spPr bwMode="auto">
          <a:xfrm>
            <a:off x="5440497" y="4417840"/>
            <a:ext cx="103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800"/>
              <a:t>Default hold check</a:t>
            </a:r>
            <a:endParaRPr lang="ru-RU" altLang="en-US" sz="800"/>
          </a:p>
        </p:txBody>
      </p:sp>
      <p:sp>
        <p:nvSpPr>
          <p:cNvPr id="33830" name="TextBox 39">
            <a:extLst>
              <a:ext uri="{FF2B5EF4-FFF2-40B4-BE49-F238E27FC236}">
                <a16:creationId xmlns:a16="http://schemas.microsoft.com/office/drawing/2014/main" id="{605C6630-B653-4B84-B527-05544341175D}"/>
              </a:ext>
            </a:extLst>
          </p:cNvPr>
          <p:cNvSpPr txBox="1">
            <a:spLocks noChangeArrowheads="1"/>
          </p:cNvSpPr>
          <p:nvPr/>
        </p:nvSpPr>
        <p:spPr bwMode="auto">
          <a:xfrm>
            <a:off x="6464436" y="4417840"/>
            <a:ext cx="10890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t>Setup capture edge</a:t>
            </a:r>
            <a:endParaRPr lang="ru-RU" altLang="en-US" sz="800"/>
          </a:p>
        </p:txBody>
      </p:sp>
      <p:cxnSp>
        <p:nvCxnSpPr>
          <p:cNvPr id="41" name="Straight Connector 40">
            <a:extLst>
              <a:ext uri="{FF2B5EF4-FFF2-40B4-BE49-F238E27FC236}">
                <a16:creationId xmlns:a16="http://schemas.microsoft.com/office/drawing/2014/main" id="{16186C44-CE50-48D9-B720-4C5D993F5D83}"/>
              </a:ext>
            </a:extLst>
          </p:cNvPr>
          <p:cNvCxnSpPr/>
          <p:nvPr/>
        </p:nvCxnSpPr>
        <p:spPr bwMode="auto">
          <a:xfrm>
            <a:off x="7345498" y="3485979"/>
            <a:ext cx="51117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90CB6E6-3653-4240-BB54-AA4595FB1E45}"/>
              </a:ext>
            </a:extLst>
          </p:cNvPr>
          <p:cNvCxnSpPr/>
          <p:nvPr/>
        </p:nvCxnSpPr>
        <p:spPr bwMode="auto">
          <a:xfrm>
            <a:off x="7351848" y="4403554"/>
            <a:ext cx="511175"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3833" name="TextBox 42">
            <a:extLst>
              <a:ext uri="{FF2B5EF4-FFF2-40B4-BE49-F238E27FC236}">
                <a16:creationId xmlns:a16="http://schemas.microsoft.com/office/drawing/2014/main" id="{E8BA0820-1853-431D-8271-4DF13C36B5B7}"/>
              </a:ext>
            </a:extLst>
          </p:cNvPr>
          <p:cNvSpPr txBox="1">
            <a:spLocks noChangeArrowheads="1"/>
          </p:cNvSpPr>
          <p:nvPr/>
        </p:nvSpPr>
        <p:spPr bwMode="auto">
          <a:xfrm>
            <a:off x="4419736" y="4963941"/>
            <a:ext cx="1514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Data is free change</a:t>
            </a:r>
            <a:endParaRPr lang="ru-RU" altLang="en-US" sz="1200"/>
          </a:p>
        </p:txBody>
      </p:sp>
      <p:sp>
        <p:nvSpPr>
          <p:cNvPr id="33834" name="Freeform 43">
            <a:extLst>
              <a:ext uri="{FF2B5EF4-FFF2-40B4-BE49-F238E27FC236}">
                <a16:creationId xmlns:a16="http://schemas.microsoft.com/office/drawing/2014/main" id="{F0C3D5DB-3A14-43AA-9B01-3562626899FE}"/>
              </a:ext>
            </a:extLst>
          </p:cNvPr>
          <p:cNvSpPr>
            <a:spLocks/>
          </p:cNvSpPr>
          <p:nvPr/>
        </p:nvSpPr>
        <p:spPr bwMode="auto">
          <a:xfrm>
            <a:off x="4160972" y="3225629"/>
            <a:ext cx="2628900" cy="801687"/>
          </a:xfrm>
          <a:custGeom>
            <a:avLst/>
            <a:gdLst>
              <a:gd name="T0" fmla="*/ 0 w 2628900"/>
              <a:gd name="T1" fmla="*/ 2117 h 802217"/>
              <a:gd name="T2" fmla="*/ 692150 w 2628900"/>
              <a:gd name="T3" fmla="*/ 2117 h 802217"/>
              <a:gd name="T4" fmla="*/ 1390650 w 2628900"/>
              <a:gd name="T5" fmla="*/ 27517 h 802217"/>
              <a:gd name="T6" fmla="*/ 1898650 w 2628900"/>
              <a:gd name="T7" fmla="*/ 167217 h 802217"/>
              <a:gd name="T8" fmla="*/ 2044700 w 2628900"/>
              <a:gd name="T9" fmla="*/ 465667 h 802217"/>
              <a:gd name="T10" fmla="*/ 2628900 w 2628900"/>
              <a:gd name="T11" fmla="*/ 802217 h 8022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28900" h="802217">
                <a:moveTo>
                  <a:pt x="0" y="2117"/>
                </a:moveTo>
                <a:lnTo>
                  <a:pt x="692150" y="2117"/>
                </a:lnTo>
                <a:cubicBezTo>
                  <a:pt x="923925" y="6350"/>
                  <a:pt x="1189567" y="0"/>
                  <a:pt x="1390650" y="27517"/>
                </a:cubicBezTo>
                <a:cubicBezTo>
                  <a:pt x="1591733" y="55034"/>
                  <a:pt x="1789642" y="94192"/>
                  <a:pt x="1898650" y="167217"/>
                </a:cubicBezTo>
                <a:cubicBezTo>
                  <a:pt x="2007658" y="240242"/>
                  <a:pt x="1922992" y="359834"/>
                  <a:pt x="2044700" y="465667"/>
                </a:cubicBezTo>
                <a:cubicBezTo>
                  <a:pt x="2166408" y="571500"/>
                  <a:pt x="2397654" y="686858"/>
                  <a:pt x="2628900" y="802217"/>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3835" name="Freeform 44">
            <a:extLst>
              <a:ext uri="{FF2B5EF4-FFF2-40B4-BE49-F238E27FC236}">
                <a16:creationId xmlns:a16="http://schemas.microsoft.com/office/drawing/2014/main" id="{953B5712-EFDE-4248-B2A3-25ADCBAE402B}"/>
              </a:ext>
            </a:extLst>
          </p:cNvPr>
          <p:cNvSpPr>
            <a:spLocks/>
          </p:cNvSpPr>
          <p:nvPr/>
        </p:nvSpPr>
        <p:spPr bwMode="auto">
          <a:xfrm>
            <a:off x="4141922" y="3768553"/>
            <a:ext cx="1758950" cy="290512"/>
          </a:xfrm>
          <a:custGeom>
            <a:avLst/>
            <a:gdLst>
              <a:gd name="T0" fmla="*/ 1758950 w 1758950"/>
              <a:gd name="T1" fmla="*/ 226483 h 289983"/>
              <a:gd name="T2" fmla="*/ 1390650 w 1758950"/>
              <a:gd name="T3" fmla="*/ 74083 h 289983"/>
              <a:gd name="T4" fmla="*/ 869950 w 1758950"/>
              <a:gd name="T5" fmla="*/ 35983 h 289983"/>
              <a:gd name="T6" fmla="*/ 0 w 1758950"/>
              <a:gd name="T7" fmla="*/ 289983 h 2899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58950" h="289983">
                <a:moveTo>
                  <a:pt x="1758950" y="226483"/>
                </a:moveTo>
                <a:cubicBezTo>
                  <a:pt x="1648883" y="166158"/>
                  <a:pt x="1538817" y="105833"/>
                  <a:pt x="1390650" y="74083"/>
                </a:cubicBezTo>
                <a:cubicBezTo>
                  <a:pt x="1242483" y="42333"/>
                  <a:pt x="1101725" y="0"/>
                  <a:pt x="869950" y="35983"/>
                </a:cubicBezTo>
                <a:cubicBezTo>
                  <a:pt x="638175" y="71966"/>
                  <a:pt x="319087" y="180974"/>
                  <a:pt x="0" y="289983"/>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3836" name="Freeform 45">
            <a:extLst>
              <a:ext uri="{FF2B5EF4-FFF2-40B4-BE49-F238E27FC236}">
                <a16:creationId xmlns:a16="http://schemas.microsoft.com/office/drawing/2014/main" id="{5D5FCAF0-6D64-4B30-9F32-7D0148474F54}"/>
              </a:ext>
            </a:extLst>
          </p:cNvPr>
          <p:cNvSpPr>
            <a:spLocks/>
          </p:cNvSpPr>
          <p:nvPr/>
        </p:nvSpPr>
        <p:spPr bwMode="auto">
          <a:xfrm>
            <a:off x="4000636" y="3271666"/>
            <a:ext cx="1881187" cy="798513"/>
          </a:xfrm>
          <a:custGeom>
            <a:avLst/>
            <a:gdLst>
              <a:gd name="T0" fmla="*/ 147108 w 1880658"/>
              <a:gd name="T1" fmla="*/ 0 h 797983"/>
              <a:gd name="T2" fmla="*/ 197908 w 1880658"/>
              <a:gd name="T3" fmla="*/ 88900 h 797983"/>
              <a:gd name="T4" fmla="*/ 121708 w 1880658"/>
              <a:gd name="T5" fmla="*/ 323850 h 797983"/>
              <a:gd name="T6" fmla="*/ 185208 w 1880658"/>
              <a:gd name="T7" fmla="*/ 571500 h 797983"/>
              <a:gd name="T8" fmla="*/ 1232958 w 1880658"/>
              <a:gd name="T9" fmla="*/ 762000 h 797983"/>
              <a:gd name="T10" fmla="*/ 1880658 w 1880658"/>
              <a:gd name="T11" fmla="*/ 787400 h 79798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80658" h="797983">
                <a:moveTo>
                  <a:pt x="147108" y="0"/>
                </a:moveTo>
                <a:cubicBezTo>
                  <a:pt x="174624" y="17462"/>
                  <a:pt x="202141" y="34925"/>
                  <a:pt x="197908" y="88900"/>
                </a:cubicBezTo>
                <a:cubicBezTo>
                  <a:pt x="193675" y="142875"/>
                  <a:pt x="123825" y="243417"/>
                  <a:pt x="121708" y="323850"/>
                </a:cubicBezTo>
                <a:cubicBezTo>
                  <a:pt x="119591" y="404283"/>
                  <a:pt x="0" y="498475"/>
                  <a:pt x="185208" y="571500"/>
                </a:cubicBezTo>
                <a:cubicBezTo>
                  <a:pt x="370416" y="644525"/>
                  <a:pt x="950383" y="726017"/>
                  <a:pt x="1232958" y="762000"/>
                </a:cubicBezTo>
                <a:cubicBezTo>
                  <a:pt x="1515533" y="797983"/>
                  <a:pt x="1698095" y="792691"/>
                  <a:pt x="1880658" y="7874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B87955FF-CC7B-4F35-A5BA-9597D92B5E8B}"/>
              </a:ext>
            </a:extLst>
          </p:cNvPr>
          <p:cNvSpPr>
            <a:spLocks noGrp="1"/>
          </p:cNvSpPr>
          <p:nvPr>
            <p:ph type="title"/>
          </p:nvPr>
        </p:nvSpPr>
        <p:spPr/>
        <p:txBody>
          <a:bodyPr/>
          <a:lstStyle/>
          <a:p>
            <a:r>
              <a:rPr lang="en-US" altLang="en-US"/>
              <a:t>Half-Cycle Path</a:t>
            </a:r>
          </a:p>
        </p:txBody>
      </p:sp>
      <p:sp>
        <p:nvSpPr>
          <p:cNvPr id="34819" name="Content Placeholder 2">
            <a:extLst>
              <a:ext uri="{FF2B5EF4-FFF2-40B4-BE49-F238E27FC236}">
                <a16:creationId xmlns:a16="http://schemas.microsoft.com/office/drawing/2014/main" id="{130149D0-4452-4763-A0D4-D4DF337FE90A}"/>
              </a:ext>
            </a:extLst>
          </p:cNvPr>
          <p:cNvSpPr>
            <a:spLocks noGrp="1"/>
          </p:cNvSpPr>
          <p:nvPr>
            <p:ph type="body" sz="quarter" idx="10"/>
          </p:nvPr>
        </p:nvSpPr>
        <p:spPr/>
        <p:txBody>
          <a:bodyPr/>
          <a:lstStyle/>
          <a:p>
            <a:r>
              <a:rPr lang="en-US" altLang="en-US" sz="2000"/>
              <a:t>The design that has both negative and positive edge triggered flip-flops, can have half-cycle paths </a:t>
            </a:r>
          </a:p>
        </p:txBody>
      </p:sp>
      <p:grpSp>
        <p:nvGrpSpPr>
          <p:cNvPr id="34820" name="Group 12">
            <a:extLst>
              <a:ext uri="{FF2B5EF4-FFF2-40B4-BE49-F238E27FC236}">
                <a16:creationId xmlns:a16="http://schemas.microsoft.com/office/drawing/2014/main" id="{39E64046-7EE2-4DAF-B03D-F917E8957D19}"/>
              </a:ext>
            </a:extLst>
          </p:cNvPr>
          <p:cNvGrpSpPr>
            <a:grpSpLocks/>
          </p:cNvGrpSpPr>
          <p:nvPr/>
        </p:nvGrpSpPr>
        <p:grpSpPr bwMode="auto">
          <a:xfrm>
            <a:off x="3581401" y="2362200"/>
            <a:ext cx="4760913" cy="3386138"/>
            <a:chOff x="2057400" y="2416988"/>
            <a:chExt cx="4760970" cy="3385357"/>
          </a:xfrm>
        </p:grpSpPr>
        <p:cxnSp>
          <p:nvCxnSpPr>
            <p:cNvPr id="30" name="Elbow Connector 29">
              <a:extLst>
                <a:ext uri="{FF2B5EF4-FFF2-40B4-BE49-F238E27FC236}">
                  <a16:creationId xmlns:a16="http://schemas.microsoft.com/office/drawing/2014/main" id="{373D904C-9D29-46AF-B644-83880A5084DB}"/>
                </a:ext>
              </a:extLst>
            </p:cNvPr>
            <p:cNvCxnSpPr/>
            <p:nvPr/>
          </p:nvCxnSpPr>
          <p:spPr bwMode="auto">
            <a:xfrm flipV="1">
              <a:off x="2528894" y="4137441"/>
              <a:ext cx="1862159" cy="474554"/>
            </a:xfrm>
            <a:prstGeom prst="bentConnector3">
              <a:avLst>
                <a:gd name="adj1" fmla="val -12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00775D24-F615-4772-B777-42F6B7BAB266}"/>
                </a:ext>
              </a:extLst>
            </p:cNvPr>
            <p:cNvCxnSpPr/>
            <p:nvPr/>
          </p:nvCxnSpPr>
          <p:spPr bwMode="auto">
            <a:xfrm>
              <a:off x="4372003" y="4137441"/>
              <a:ext cx="1898673" cy="474554"/>
            </a:xfrm>
            <a:prstGeom prst="bentConnector3">
              <a:avLst>
                <a:gd name="adj1" fmla="val 16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Elbow Connector 31">
              <a:extLst>
                <a:ext uri="{FF2B5EF4-FFF2-40B4-BE49-F238E27FC236}">
                  <a16:creationId xmlns:a16="http://schemas.microsoft.com/office/drawing/2014/main" id="{8AEACD30-7DE2-4B72-A596-078132A69D2D}"/>
                </a:ext>
              </a:extLst>
            </p:cNvPr>
            <p:cNvCxnSpPr/>
            <p:nvPr/>
          </p:nvCxnSpPr>
          <p:spPr bwMode="auto">
            <a:xfrm rot="5400000" flipH="1" flipV="1">
              <a:off x="6252476" y="4155641"/>
              <a:ext cx="474554" cy="438155"/>
            </a:xfrm>
            <a:prstGeom prst="bentConnector3">
              <a:avLst>
                <a:gd name="adj1" fmla="val 9682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93A1B71E-A949-4E0A-8CC4-2250A4B323E8}"/>
                </a:ext>
              </a:extLst>
            </p:cNvPr>
            <p:cNvSpPr txBox="1"/>
            <p:nvPr/>
          </p:nvSpPr>
          <p:spPr>
            <a:xfrm>
              <a:off x="4014811" y="3846996"/>
              <a:ext cx="966799" cy="253941"/>
            </a:xfrm>
            <a:prstGeom prst="rect">
              <a:avLst/>
            </a:prstGeom>
            <a:noFill/>
          </p:spPr>
          <p:txBody>
            <a:bodyPr wrap="none">
              <a:spAutoFit/>
            </a:bodyPr>
            <a:lstStyle/>
            <a:p>
              <a:pPr eaLnBrk="1" hangingPunct="1">
                <a:defRPr/>
              </a:pPr>
              <a:r>
                <a:rPr lang="en-US" sz="1050" dirty="0">
                  <a:latin typeface="Arial" charset="0"/>
                  <a:cs typeface="Arial" charset="0"/>
                </a:rPr>
                <a:t>Launch edge</a:t>
              </a:r>
              <a:endParaRPr lang="ru-RU" sz="1050" dirty="0">
                <a:latin typeface="Arial" charset="0"/>
                <a:cs typeface="Arial" charset="0"/>
              </a:endParaRPr>
            </a:p>
          </p:txBody>
        </p:sp>
        <p:sp>
          <p:nvSpPr>
            <p:cNvPr id="34" name="TextBox 33">
              <a:extLst>
                <a:ext uri="{FF2B5EF4-FFF2-40B4-BE49-F238E27FC236}">
                  <a16:creationId xmlns:a16="http://schemas.microsoft.com/office/drawing/2014/main" id="{D1F51EC2-5D50-46E9-9E9F-4CC4F6B08292}"/>
                </a:ext>
              </a:extLst>
            </p:cNvPr>
            <p:cNvSpPr txBox="1"/>
            <p:nvPr/>
          </p:nvSpPr>
          <p:spPr>
            <a:xfrm>
              <a:off x="2841634" y="4626278"/>
              <a:ext cx="852498" cy="253941"/>
            </a:xfrm>
            <a:prstGeom prst="rect">
              <a:avLst/>
            </a:prstGeom>
            <a:noFill/>
          </p:spPr>
          <p:txBody>
            <a:bodyPr wrap="none">
              <a:spAutoFit/>
            </a:bodyPr>
            <a:lstStyle/>
            <a:p>
              <a:pPr eaLnBrk="1" hangingPunct="1">
                <a:defRPr/>
              </a:pPr>
              <a:r>
                <a:rPr lang="en-US" sz="1050" dirty="0">
                  <a:latin typeface="Arial" charset="0"/>
                  <a:cs typeface="Arial" charset="0"/>
                </a:rPr>
                <a:t>Hold check</a:t>
              </a:r>
              <a:endParaRPr lang="ru-RU" sz="1050" dirty="0">
                <a:latin typeface="Arial" charset="0"/>
                <a:cs typeface="Arial" charset="0"/>
              </a:endParaRPr>
            </a:p>
          </p:txBody>
        </p:sp>
        <p:sp>
          <p:nvSpPr>
            <p:cNvPr id="35" name="TextBox 34">
              <a:extLst>
                <a:ext uri="{FF2B5EF4-FFF2-40B4-BE49-F238E27FC236}">
                  <a16:creationId xmlns:a16="http://schemas.microsoft.com/office/drawing/2014/main" id="{79DEE806-16B5-4AAA-B2F7-60F7772651CA}"/>
                </a:ext>
              </a:extLst>
            </p:cNvPr>
            <p:cNvSpPr txBox="1"/>
            <p:nvPr/>
          </p:nvSpPr>
          <p:spPr>
            <a:xfrm>
              <a:off x="5189575" y="4740552"/>
              <a:ext cx="927111" cy="253941"/>
            </a:xfrm>
            <a:prstGeom prst="rect">
              <a:avLst/>
            </a:prstGeom>
            <a:noFill/>
          </p:spPr>
          <p:txBody>
            <a:bodyPr wrap="none">
              <a:spAutoFit/>
            </a:bodyPr>
            <a:lstStyle/>
            <a:p>
              <a:pPr eaLnBrk="1" hangingPunct="1">
                <a:defRPr/>
              </a:pPr>
              <a:r>
                <a:rPr lang="en-US" sz="1050" dirty="0">
                  <a:latin typeface="Arial" charset="0"/>
                  <a:cs typeface="Arial" charset="0"/>
                </a:rPr>
                <a:t>Setup check</a:t>
              </a:r>
              <a:endParaRPr lang="ru-RU" sz="1050" dirty="0">
                <a:latin typeface="Arial" charset="0"/>
                <a:cs typeface="Arial" charset="0"/>
              </a:endParaRPr>
            </a:p>
          </p:txBody>
        </p:sp>
        <p:sp>
          <p:nvSpPr>
            <p:cNvPr id="36" name="TextBox 35">
              <a:extLst>
                <a:ext uri="{FF2B5EF4-FFF2-40B4-BE49-F238E27FC236}">
                  <a16:creationId xmlns:a16="http://schemas.microsoft.com/office/drawing/2014/main" id="{6CDF4B63-C272-4E70-AA42-DE23F1002E99}"/>
                </a:ext>
              </a:extLst>
            </p:cNvPr>
            <p:cNvSpPr txBox="1"/>
            <p:nvPr/>
          </p:nvSpPr>
          <p:spPr>
            <a:xfrm>
              <a:off x="2400304" y="4670718"/>
              <a:ext cx="258766" cy="253941"/>
            </a:xfrm>
            <a:prstGeom prst="rect">
              <a:avLst/>
            </a:prstGeom>
            <a:noFill/>
          </p:spPr>
          <p:txBody>
            <a:bodyPr wrap="none">
              <a:spAutoFit/>
            </a:bodyPr>
            <a:lstStyle/>
            <a:p>
              <a:pPr eaLnBrk="1" hangingPunct="1">
                <a:defRPr/>
              </a:pPr>
              <a:r>
                <a:rPr lang="en-US" sz="1050" dirty="0">
                  <a:latin typeface="Arial" charset="0"/>
                  <a:cs typeface="Arial" charset="0"/>
                </a:rPr>
                <a:t>0</a:t>
              </a:r>
              <a:endParaRPr lang="ru-RU" dirty="0">
                <a:latin typeface="Arial" charset="0"/>
                <a:cs typeface="Arial" charset="0"/>
              </a:endParaRPr>
            </a:p>
          </p:txBody>
        </p:sp>
        <p:sp>
          <p:nvSpPr>
            <p:cNvPr id="37" name="TextBox 36">
              <a:extLst>
                <a:ext uri="{FF2B5EF4-FFF2-40B4-BE49-F238E27FC236}">
                  <a16:creationId xmlns:a16="http://schemas.microsoft.com/office/drawing/2014/main" id="{4CCB2D83-AD31-4AFD-AE92-D78381FB3D26}"/>
                </a:ext>
              </a:extLst>
            </p:cNvPr>
            <p:cNvSpPr txBox="1"/>
            <p:nvPr/>
          </p:nvSpPr>
          <p:spPr>
            <a:xfrm>
              <a:off x="4251351" y="4672306"/>
              <a:ext cx="260353" cy="253941"/>
            </a:xfrm>
            <a:prstGeom prst="rect">
              <a:avLst/>
            </a:prstGeom>
            <a:noFill/>
          </p:spPr>
          <p:txBody>
            <a:bodyPr wrap="none">
              <a:spAutoFit/>
            </a:bodyPr>
            <a:lstStyle/>
            <a:p>
              <a:pPr eaLnBrk="1" hangingPunct="1">
                <a:defRPr/>
              </a:pPr>
              <a:r>
                <a:rPr lang="en-US" sz="1050" dirty="0">
                  <a:latin typeface="Arial" charset="0"/>
                  <a:cs typeface="Arial" charset="0"/>
                </a:rPr>
                <a:t>6</a:t>
              </a:r>
              <a:endParaRPr lang="ru-RU" dirty="0">
                <a:latin typeface="Arial" charset="0"/>
                <a:cs typeface="Arial" charset="0"/>
              </a:endParaRPr>
            </a:p>
          </p:txBody>
        </p:sp>
        <p:sp>
          <p:nvSpPr>
            <p:cNvPr id="38" name="TextBox 37">
              <a:extLst>
                <a:ext uri="{FF2B5EF4-FFF2-40B4-BE49-F238E27FC236}">
                  <a16:creationId xmlns:a16="http://schemas.microsoft.com/office/drawing/2014/main" id="{65FECA41-9E5B-4969-8838-61987006B831}"/>
                </a:ext>
              </a:extLst>
            </p:cNvPr>
            <p:cNvSpPr txBox="1"/>
            <p:nvPr/>
          </p:nvSpPr>
          <p:spPr>
            <a:xfrm>
              <a:off x="6067473" y="4654847"/>
              <a:ext cx="336554" cy="253941"/>
            </a:xfrm>
            <a:prstGeom prst="rect">
              <a:avLst/>
            </a:prstGeom>
            <a:noFill/>
          </p:spPr>
          <p:txBody>
            <a:bodyPr wrap="none">
              <a:spAutoFit/>
            </a:bodyPr>
            <a:lstStyle/>
            <a:p>
              <a:pPr eaLnBrk="1" hangingPunct="1">
                <a:defRPr/>
              </a:pPr>
              <a:r>
                <a:rPr lang="en-US" sz="1050" dirty="0">
                  <a:latin typeface="Arial" charset="0"/>
                  <a:cs typeface="Arial" charset="0"/>
                </a:rPr>
                <a:t>12</a:t>
              </a:r>
              <a:endParaRPr lang="ru-RU" dirty="0">
                <a:latin typeface="Arial" charset="0"/>
                <a:cs typeface="Arial" charset="0"/>
              </a:endParaRPr>
            </a:p>
          </p:txBody>
        </p:sp>
        <p:sp>
          <p:nvSpPr>
            <p:cNvPr id="39" name="TextBox 38">
              <a:extLst>
                <a:ext uri="{FF2B5EF4-FFF2-40B4-BE49-F238E27FC236}">
                  <a16:creationId xmlns:a16="http://schemas.microsoft.com/office/drawing/2014/main" id="{3724767B-32F7-4F38-AF46-6FB2256F9AE3}"/>
                </a:ext>
              </a:extLst>
            </p:cNvPr>
            <p:cNvSpPr txBox="1"/>
            <p:nvPr/>
          </p:nvSpPr>
          <p:spPr>
            <a:xfrm>
              <a:off x="5815058" y="5548404"/>
              <a:ext cx="1003312" cy="253941"/>
            </a:xfrm>
            <a:prstGeom prst="rect">
              <a:avLst/>
            </a:prstGeom>
            <a:noFill/>
          </p:spPr>
          <p:txBody>
            <a:bodyPr wrap="none">
              <a:spAutoFit/>
            </a:bodyPr>
            <a:lstStyle/>
            <a:p>
              <a:pPr eaLnBrk="1" hangingPunct="1">
                <a:defRPr/>
              </a:pPr>
              <a:r>
                <a:rPr lang="en-US" sz="1050" dirty="0">
                  <a:latin typeface="Arial" charset="0"/>
                  <a:cs typeface="Arial" charset="0"/>
                </a:rPr>
                <a:t>Capture edge</a:t>
              </a:r>
              <a:endParaRPr lang="ru-RU" sz="1050" dirty="0">
                <a:latin typeface="Arial" charset="0"/>
                <a:cs typeface="Arial" charset="0"/>
              </a:endParaRPr>
            </a:p>
          </p:txBody>
        </p:sp>
        <p:cxnSp>
          <p:nvCxnSpPr>
            <p:cNvPr id="40" name="Elbow Connector 39">
              <a:extLst>
                <a:ext uri="{FF2B5EF4-FFF2-40B4-BE49-F238E27FC236}">
                  <a16:creationId xmlns:a16="http://schemas.microsoft.com/office/drawing/2014/main" id="{508C5149-40C2-4DFF-B795-7FF36FA6958E}"/>
                </a:ext>
              </a:extLst>
            </p:cNvPr>
            <p:cNvCxnSpPr/>
            <p:nvPr/>
          </p:nvCxnSpPr>
          <p:spPr bwMode="auto">
            <a:xfrm flipV="1">
              <a:off x="2509843" y="5073850"/>
              <a:ext cx="1862159" cy="474554"/>
            </a:xfrm>
            <a:prstGeom prst="bentConnector3">
              <a:avLst>
                <a:gd name="adj1" fmla="val -12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Elbow Connector 40">
              <a:extLst>
                <a:ext uri="{FF2B5EF4-FFF2-40B4-BE49-F238E27FC236}">
                  <a16:creationId xmlns:a16="http://schemas.microsoft.com/office/drawing/2014/main" id="{4EE847EA-1D1B-4036-BE9A-B56AADAEFBA4}"/>
                </a:ext>
              </a:extLst>
            </p:cNvPr>
            <p:cNvCxnSpPr/>
            <p:nvPr/>
          </p:nvCxnSpPr>
          <p:spPr bwMode="auto">
            <a:xfrm>
              <a:off x="4352952" y="5073850"/>
              <a:ext cx="1898673" cy="474554"/>
            </a:xfrm>
            <a:prstGeom prst="bentConnector3">
              <a:avLst>
                <a:gd name="adj1" fmla="val 16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070339E6-7547-4022-8607-7BF3FD248CC4}"/>
                </a:ext>
              </a:extLst>
            </p:cNvPr>
            <p:cNvCxnSpPr/>
            <p:nvPr/>
          </p:nvCxnSpPr>
          <p:spPr bwMode="auto">
            <a:xfrm rot="5400000" flipH="1" flipV="1">
              <a:off x="6233426" y="5092050"/>
              <a:ext cx="474554" cy="438155"/>
            </a:xfrm>
            <a:prstGeom prst="bentConnector3">
              <a:avLst>
                <a:gd name="adj1" fmla="val 9682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834" name="Straight Arrow Connector 42">
              <a:extLst>
                <a:ext uri="{FF2B5EF4-FFF2-40B4-BE49-F238E27FC236}">
                  <a16:creationId xmlns:a16="http://schemas.microsoft.com/office/drawing/2014/main" id="{D810D7AD-7B43-474C-8F1F-AA40FFD2E685}"/>
                </a:ext>
              </a:extLst>
            </p:cNvPr>
            <p:cNvCxnSpPr>
              <a:cxnSpLocks noChangeShapeType="1"/>
            </p:cNvCxnSpPr>
            <p:nvPr/>
          </p:nvCxnSpPr>
          <p:spPr bwMode="auto">
            <a:xfrm rot="5400000" flipH="1" flipV="1">
              <a:off x="2345041" y="5396821"/>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4835" name="Straight Arrow Connector 43">
              <a:extLst>
                <a:ext uri="{FF2B5EF4-FFF2-40B4-BE49-F238E27FC236}">
                  <a16:creationId xmlns:a16="http://schemas.microsoft.com/office/drawing/2014/main" id="{99109A6E-9ABE-4DD4-9A37-5FE6BFBDA06D}"/>
                </a:ext>
              </a:extLst>
            </p:cNvPr>
            <p:cNvCxnSpPr>
              <a:cxnSpLocks noChangeShapeType="1"/>
            </p:cNvCxnSpPr>
            <p:nvPr/>
          </p:nvCxnSpPr>
          <p:spPr bwMode="auto">
            <a:xfrm rot="5400000" flipH="1" flipV="1">
              <a:off x="6087305" y="5346814"/>
              <a:ext cx="328617"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4836" name="Straight Arrow Connector 44">
              <a:extLst>
                <a:ext uri="{FF2B5EF4-FFF2-40B4-BE49-F238E27FC236}">
                  <a16:creationId xmlns:a16="http://schemas.microsoft.com/office/drawing/2014/main" id="{5081CC94-68E6-443B-8F4F-6881B12BBDAF}"/>
                </a:ext>
              </a:extLst>
            </p:cNvPr>
            <p:cNvCxnSpPr>
              <a:cxnSpLocks noChangeShapeType="1"/>
            </p:cNvCxnSpPr>
            <p:nvPr/>
          </p:nvCxnSpPr>
          <p:spPr bwMode="auto">
            <a:xfrm rot="5400000">
              <a:off x="4231810" y="4283174"/>
              <a:ext cx="292104"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4837" name="Freeform 45">
              <a:extLst>
                <a:ext uri="{FF2B5EF4-FFF2-40B4-BE49-F238E27FC236}">
                  <a16:creationId xmlns:a16="http://schemas.microsoft.com/office/drawing/2014/main" id="{DB7E6A43-6EFC-49AC-877C-453A6568B7F2}"/>
                </a:ext>
              </a:extLst>
            </p:cNvPr>
            <p:cNvSpPr>
              <a:spLocks/>
            </p:cNvSpPr>
            <p:nvPr/>
          </p:nvSpPr>
          <p:spPr bwMode="auto">
            <a:xfrm>
              <a:off x="2591923" y="4362008"/>
              <a:ext cx="1689100" cy="1005417"/>
            </a:xfrm>
            <a:custGeom>
              <a:avLst/>
              <a:gdLst>
                <a:gd name="T0" fmla="*/ 1689100 w 1689100"/>
                <a:gd name="T1" fmla="*/ 33867 h 1005417"/>
                <a:gd name="T2" fmla="*/ 1492250 w 1689100"/>
                <a:gd name="T3" fmla="*/ 59267 h 1005417"/>
                <a:gd name="T4" fmla="*/ 1136650 w 1689100"/>
                <a:gd name="T5" fmla="*/ 389467 h 1005417"/>
                <a:gd name="T6" fmla="*/ 895350 w 1689100"/>
                <a:gd name="T7" fmla="*/ 668867 h 1005417"/>
                <a:gd name="T8" fmla="*/ 781050 w 1689100"/>
                <a:gd name="T9" fmla="*/ 795867 h 1005417"/>
                <a:gd name="T10" fmla="*/ 571500 w 1689100"/>
                <a:gd name="T11" fmla="*/ 935567 h 1005417"/>
                <a:gd name="T12" fmla="*/ 0 w 1689100"/>
                <a:gd name="T13" fmla="*/ 1005417 h 10054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89100" h="1005417">
                  <a:moveTo>
                    <a:pt x="1689100" y="33867"/>
                  </a:moveTo>
                  <a:cubicBezTo>
                    <a:pt x="1636712" y="16933"/>
                    <a:pt x="1584325" y="0"/>
                    <a:pt x="1492250" y="59267"/>
                  </a:cubicBezTo>
                  <a:cubicBezTo>
                    <a:pt x="1400175" y="118534"/>
                    <a:pt x="1236133" y="287867"/>
                    <a:pt x="1136650" y="389467"/>
                  </a:cubicBezTo>
                  <a:cubicBezTo>
                    <a:pt x="1037167" y="491067"/>
                    <a:pt x="954617" y="601134"/>
                    <a:pt x="895350" y="668867"/>
                  </a:cubicBezTo>
                  <a:cubicBezTo>
                    <a:pt x="836083" y="736600"/>
                    <a:pt x="835025" y="751417"/>
                    <a:pt x="781050" y="795867"/>
                  </a:cubicBezTo>
                  <a:cubicBezTo>
                    <a:pt x="727075" y="840317"/>
                    <a:pt x="701675" y="900642"/>
                    <a:pt x="571500" y="935567"/>
                  </a:cubicBezTo>
                  <a:cubicBezTo>
                    <a:pt x="441325" y="970492"/>
                    <a:pt x="220662" y="987954"/>
                    <a:pt x="0" y="1005417"/>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4838" name="Freeform 46">
              <a:extLst>
                <a:ext uri="{FF2B5EF4-FFF2-40B4-BE49-F238E27FC236}">
                  <a16:creationId xmlns:a16="http://schemas.microsoft.com/office/drawing/2014/main" id="{B88CD205-25E6-405B-987B-4FBDAACEF614}"/>
                </a:ext>
              </a:extLst>
            </p:cNvPr>
            <p:cNvSpPr>
              <a:spLocks/>
            </p:cNvSpPr>
            <p:nvPr/>
          </p:nvSpPr>
          <p:spPr bwMode="auto">
            <a:xfrm>
              <a:off x="4446123" y="4345075"/>
              <a:ext cx="1689100" cy="857250"/>
            </a:xfrm>
            <a:custGeom>
              <a:avLst/>
              <a:gdLst>
                <a:gd name="T0" fmla="*/ 0 w 1689100"/>
                <a:gd name="T1" fmla="*/ 0 h 857250"/>
                <a:gd name="T2" fmla="*/ 177800 w 1689100"/>
                <a:gd name="T3" fmla="*/ 19050 h 857250"/>
                <a:gd name="T4" fmla="*/ 368300 w 1689100"/>
                <a:gd name="T5" fmla="*/ 114300 h 857250"/>
                <a:gd name="T6" fmla="*/ 615950 w 1689100"/>
                <a:gd name="T7" fmla="*/ 349250 h 857250"/>
                <a:gd name="T8" fmla="*/ 920750 w 1689100"/>
                <a:gd name="T9" fmla="*/ 673100 h 857250"/>
                <a:gd name="T10" fmla="*/ 1206500 w 1689100"/>
                <a:gd name="T11" fmla="*/ 812800 h 857250"/>
                <a:gd name="T12" fmla="*/ 1689100 w 1689100"/>
                <a:gd name="T13" fmla="*/ 857250 h 8572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89100" h="857250">
                  <a:moveTo>
                    <a:pt x="0" y="0"/>
                  </a:moveTo>
                  <a:cubicBezTo>
                    <a:pt x="58208" y="0"/>
                    <a:pt x="116417" y="0"/>
                    <a:pt x="177800" y="19050"/>
                  </a:cubicBezTo>
                  <a:cubicBezTo>
                    <a:pt x="239183" y="38100"/>
                    <a:pt x="295275" y="59267"/>
                    <a:pt x="368300" y="114300"/>
                  </a:cubicBezTo>
                  <a:cubicBezTo>
                    <a:pt x="441325" y="169333"/>
                    <a:pt x="523875" y="256117"/>
                    <a:pt x="615950" y="349250"/>
                  </a:cubicBezTo>
                  <a:cubicBezTo>
                    <a:pt x="708025" y="442383"/>
                    <a:pt x="822325" y="595842"/>
                    <a:pt x="920750" y="673100"/>
                  </a:cubicBezTo>
                  <a:cubicBezTo>
                    <a:pt x="1019175" y="750358"/>
                    <a:pt x="1078442" y="782108"/>
                    <a:pt x="1206500" y="812800"/>
                  </a:cubicBezTo>
                  <a:cubicBezTo>
                    <a:pt x="1334558" y="843492"/>
                    <a:pt x="1511829" y="850371"/>
                    <a:pt x="1689100" y="8572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8" name="TextBox 47">
              <a:extLst>
                <a:ext uri="{FF2B5EF4-FFF2-40B4-BE49-F238E27FC236}">
                  <a16:creationId xmlns:a16="http://schemas.microsoft.com/office/drawing/2014/main" id="{920AD1FA-E206-4F93-9D1C-D98ABA5D990B}"/>
                </a:ext>
              </a:extLst>
            </p:cNvPr>
            <p:cNvSpPr txBox="1"/>
            <p:nvPr/>
          </p:nvSpPr>
          <p:spPr>
            <a:xfrm>
              <a:off x="2057400" y="4345356"/>
              <a:ext cx="357192" cy="253941"/>
            </a:xfrm>
            <a:prstGeom prst="rect">
              <a:avLst/>
            </a:prstGeom>
            <a:noFill/>
          </p:spPr>
          <p:txBody>
            <a:bodyPr wrap="none">
              <a:spAutoFit/>
            </a:bodyPr>
            <a:lstStyle/>
            <a:p>
              <a:pPr eaLnBrk="1" hangingPunct="1">
                <a:defRPr/>
              </a:pPr>
              <a:r>
                <a:rPr lang="en-US" sz="1050" dirty="0">
                  <a:latin typeface="Arial" charset="0"/>
                  <a:cs typeface="Arial" charset="0"/>
                </a:rPr>
                <a:t>C1</a:t>
              </a:r>
              <a:endParaRPr lang="ru-RU" sz="1050" dirty="0">
                <a:latin typeface="Arial" charset="0"/>
                <a:cs typeface="Arial" charset="0"/>
              </a:endParaRPr>
            </a:p>
          </p:txBody>
        </p:sp>
        <p:sp>
          <p:nvSpPr>
            <p:cNvPr id="49" name="TextBox 48">
              <a:extLst>
                <a:ext uri="{FF2B5EF4-FFF2-40B4-BE49-F238E27FC236}">
                  <a16:creationId xmlns:a16="http://schemas.microsoft.com/office/drawing/2014/main" id="{D38C89D4-2BEF-46D0-8176-007ED1BDF5E3}"/>
                </a:ext>
              </a:extLst>
            </p:cNvPr>
            <p:cNvSpPr txBox="1"/>
            <p:nvPr/>
          </p:nvSpPr>
          <p:spPr>
            <a:xfrm>
              <a:off x="2057400" y="5253197"/>
              <a:ext cx="358779" cy="253941"/>
            </a:xfrm>
            <a:prstGeom prst="rect">
              <a:avLst/>
            </a:prstGeom>
            <a:noFill/>
          </p:spPr>
          <p:txBody>
            <a:bodyPr wrap="none">
              <a:spAutoFit/>
            </a:bodyPr>
            <a:lstStyle/>
            <a:p>
              <a:pPr eaLnBrk="1" hangingPunct="1">
                <a:defRPr/>
              </a:pPr>
              <a:r>
                <a:rPr lang="en-US" sz="1050" dirty="0">
                  <a:latin typeface="Arial" charset="0"/>
                  <a:cs typeface="Arial" charset="0"/>
                </a:rPr>
                <a:t>C2</a:t>
              </a:r>
              <a:endParaRPr lang="ru-RU" sz="1050" dirty="0">
                <a:latin typeface="Arial" charset="0"/>
                <a:cs typeface="Arial" charset="0"/>
              </a:endParaRPr>
            </a:p>
          </p:txBody>
        </p:sp>
        <p:grpSp>
          <p:nvGrpSpPr>
            <p:cNvPr id="34841" name="Group 75">
              <a:extLst>
                <a:ext uri="{FF2B5EF4-FFF2-40B4-BE49-F238E27FC236}">
                  <a16:creationId xmlns:a16="http://schemas.microsoft.com/office/drawing/2014/main" id="{C2A26B04-1B67-4D87-B87A-35A80432D58E}"/>
                </a:ext>
              </a:extLst>
            </p:cNvPr>
            <p:cNvGrpSpPr>
              <a:grpSpLocks/>
            </p:cNvGrpSpPr>
            <p:nvPr/>
          </p:nvGrpSpPr>
          <p:grpSpPr bwMode="auto">
            <a:xfrm>
              <a:off x="2236295" y="2416988"/>
              <a:ext cx="3852978" cy="1258308"/>
              <a:chOff x="2546322" y="2416988"/>
              <a:chExt cx="3852978" cy="1258308"/>
            </a:xfrm>
          </p:grpSpPr>
          <p:sp>
            <p:nvSpPr>
              <p:cNvPr id="34842" name="Rectangle 5">
                <a:extLst>
                  <a:ext uri="{FF2B5EF4-FFF2-40B4-BE49-F238E27FC236}">
                    <a16:creationId xmlns:a16="http://schemas.microsoft.com/office/drawing/2014/main" id="{EA98BBAC-A2F0-41D8-A72C-7A76FE78EBC1}"/>
                  </a:ext>
                </a:extLst>
              </p:cNvPr>
              <p:cNvSpPr>
                <a:spLocks noChangeArrowheads="1"/>
              </p:cNvSpPr>
              <p:nvPr/>
            </p:nvSpPr>
            <p:spPr bwMode="auto">
              <a:xfrm>
                <a:off x="4207353" y="2529873"/>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4843" name="Isosceles Triangle 6">
                <a:extLst>
                  <a:ext uri="{FF2B5EF4-FFF2-40B4-BE49-F238E27FC236}">
                    <a16:creationId xmlns:a16="http://schemas.microsoft.com/office/drawing/2014/main" id="{3A29AAEB-97C3-4233-B86E-011CB969E7F5}"/>
                  </a:ext>
                </a:extLst>
              </p:cNvPr>
              <p:cNvSpPr>
                <a:spLocks noChangeArrowheads="1"/>
              </p:cNvSpPr>
              <p:nvPr/>
            </p:nvSpPr>
            <p:spPr bwMode="auto">
              <a:xfrm rot="5400000">
                <a:off x="4213401" y="3017769"/>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 name="TextBox 7">
                <a:extLst>
                  <a:ext uri="{FF2B5EF4-FFF2-40B4-BE49-F238E27FC236}">
                    <a16:creationId xmlns:a16="http://schemas.microsoft.com/office/drawing/2014/main" id="{BF3BD070-52C8-4B81-B5E2-2F938185707C}"/>
                  </a:ext>
                </a:extLst>
              </p:cNvPr>
              <p:cNvSpPr txBox="1"/>
              <p:nvPr/>
            </p:nvSpPr>
            <p:spPr>
              <a:xfrm>
                <a:off x="4126398" y="2540784"/>
                <a:ext cx="500069" cy="246006"/>
              </a:xfrm>
              <a:prstGeom prst="rect">
                <a:avLst/>
              </a:prstGeom>
              <a:noFill/>
            </p:spPr>
            <p:txBody>
              <a:bodyPr wrap="none">
                <a:spAutoFit/>
              </a:bodyPr>
              <a:lstStyle/>
              <a:p>
                <a:pPr eaLnBrk="1" hangingPunct="1">
                  <a:defRPr/>
                </a:pPr>
                <a:r>
                  <a:rPr lang="en-US" sz="500" dirty="0">
                    <a:latin typeface="Arial" charset="0"/>
                    <a:cs typeface="Arial" charset="0"/>
                  </a:rPr>
                  <a:t>   </a:t>
                </a:r>
                <a:r>
                  <a:rPr lang="en-US" sz="1000" dirty="0">
                    <a:latin typeface="Arial" charset="0"/>
                    <a:cs typeface="Arial" charset="0"/>
                  </a:rPr>
                  <a:t>D  Q</a:t>
                </a:r>
                <a:endParaRPr lang="en-US" sz="1050" dirty="0">
                  <a:latin typeface="Arial" charset="0"/>
                  <a:cs typeface="Arial" charset="0"/>
                </a:endParaRPr>
              </a:p>
            </p:txBody>
          </p:sp>
          <p:sp>
            <p:nvSpPr>
              <p:cNvPr id="9" name="TextBox 8">
                <a:extLst>
                  <a:ext uri="{FF2B5EF4-FFF2-40B4-BE49-F238E27FC236}">
                    <a16:creationId xmlns:a16="http://schemas.microsoft.com/office/drawing/2014/main" id="{A90B3E74-89E7-4015-B0F8-DAAD7B915D09}"/>
                  </a:ext>
                </a:extLst>
              </p:cNvPr>
              <p:cNvSpPr txBox="1">
                <a:spLocks noRot="1" noChangeAspect="1" noMove="1" noResize="1" noEditPoints="1" noAdjustHandles="1" noChangeArrowheads="1" noChangeShapeType="1" noTextEdit="1"/>
              </p:cNvSpPr>
              <p:nvPr/>
            </p:nvSpPr>
            <p:spPr>
              <a:xfrm>
                <a:off x="4185870" y="2916706"/>
                <a:ext cx="453970" cy="272960"/>
              </a:xfrm>
              <a:prstGeom prst="rect">
                <a:avLst/>
              </a:prstGeom>
              <a:blipFill rotWithShape="0">
                <a:blip r:embed="rId2"/>
                <a:stretch>
                  <a:fillRect/>
                </a:stretch>
              </a:blipFill>
            </p:spPr>
            <p:txBody>
              <a:bodyPr/>
              <a:lstStyle/>
              <a:p>
                <a:r>
                  <a:rPr lang="en-US">
                    <a:noFill/>
                  </a:rPr>
                  <a:t> </a:t>
                </a:r>
              </a:p>
            </p:txBody>
          </p:sp>
          <p:cxnSp>
            <p:nvCxnSpPr>
              <p:cNvPr id="34846" name="Straight Connector 9">
                <a:extLst>
                  <a:ext uri="{FF2B5EF4-FFF2-40B4-BE49-F238E27FC236}">
                    <a16:creationId xmlns:a16="http://schemas.microsoft.com/office/drawing/2014/main" id="{D01BF660-EF2C-450D-9387-7A25743FCAA1}"/>
                  </a:ext>
                </a:extLst>
              </p:cNvPr>
              <p:cNvCxnSpPr>
                <a:cxnSpLocks noChangeShapeType="1"/>
              </p:cNvCxnSpPr>
              <p:nvPr/>
            </p:nvCxnSpPr>
            <p:spPr bwMode="auto">
              <a:xfrm>
                <a:off x="4054533" y="2646237"/>
                <a:ext cx="150058" cy="0"/>
              </a:xfrm>
              <a:prstGeom prst="line">
                <a:avLst/>
              </a:prstGeom>
              <a:noFill/>
              <a:ln w="9525" algn="ctr">
                <a:solidFill>
                  <a:schemeClr val="tx1"/>
                </a:solidFill>
                <a:round/>
                <a:headEnd/>
                <a:tailEnd/>
              </a:ln>
            </p:spPr>
          </p:cxnSp>
          <p:cxnSp>
            <p:nvCxnSpPr>
              <p:cNvPr id="34847" name="Straight Connector 10">
                <a:extLst>
                  <a:ext uri="{FF2B5EF4-FFF2-40B4-BE49-F238E27FC236}">
                    <a16:creationId xmlns:a16="http://schemas.microsoft.com/office/drawing/2014/main" id="{D6639D90-EFF2-4834-A808-7A4473D33D6A}"/>
                  </a:ext>
                </a:extLst>
              </p:cNvPr>
              <p:cNvCxnSpPr>
                <a:cxnSpLocks noChangeShapeType="1"/>
              </p:cNvCxnSpPr>
              <p:nvPr/>
            </p:nvCxnSpPr>
            <p:spPr bwMode="auto">
              <a:xfrm>
                <a:off x="4561466" y="2650694"/>
                <a:ext cx="173161" cy="0"/>
              </a:xfrm>
              <a:prstGeom prst="line">
                <a:avLst/>
              </a:prstGeom>
              <a:noFill/>
              <a:ln w="9525" algn="ctr">
                <a:solidFill>
                  <a:schemeClr val="tx1"/>
                </a:solidFill>
                <a:round/>
                <a:headEnd/>
                <a:tailEnd/>
              </a:ln>
            </p:spPr>
          </p:cxnSp>
          <p:cxnSp>
            <p:nvCxnSpPr>
              <p:cNvPr id="34848" name="Straight Connector 11">
                <a:extLst>
                  <a:ext uri="{FF2B5EF4-FFF2-40B4-BE49-F238E27FC236}">
                    <a16:creationId xmlns:a16="http://schemas.microsoft.com/office/drawing/2014/main" id="{5CE59616-5542-4945-BD36-BA5F8FFFBCF6}"/>
                  </a:ext>
                </a:extLst>
              </p:cNvPr>
              <p:cNvCxnSpPr>
                <a:cxnSpLocks noChangeShapeType="1"/>
                <a:endCxn id="34843" idx="3"/>
              </p:cNvCxnSpPr>
              <p:nvPr/>
            </p:nvCxnSpPr>
            <p:spPr bwMode="auto">
              <a:xfrm>
                <a:off x="3821105" y="3044704"/>
                <a:ext cx="386246" cy="0"/>
              </a:xfrm>
              <a:prstGeom prst="line">
                <a:avLst/>
              </a:prstGeom>
              <a:noFill/>
              <a:ln w="9525" algn="ctr">
                <a:solidFill>
                  <a:schemeClr val="tx1"/>
                </a:solidFill>
                <a:round/>
                <a:headEnd/>
                <a:tailEnd/>
              </a:ln>
            </p:spPr>
          </p:cxnSp>
          <p:sp>
            <p:nvSpPr>
              <p:cNvPr id="34849" name="Rectangle 13">
                <a:extLst>
                  <a:ext uri="{FF2B5EF4-FFF2-40B4-BE49-F238E27FC236}">
                    <a16:creationId xmlns:a16="http://schemas.microsoft.com/office/drawing/2014/main" id="{8FF9459E-833F-4535-A444-FAEBFE3D780A}"/>
                  </a:ext>
                </a:extLst>
              </p:cNvPr>
              <p:cNvSpPr>
                <a:spLocks noChangeArrowheads="1"/>
              </p:cNvSpPr>
              <p:nvPr/>
            </p:nvSpPr>
            <p:spPr bwMode="auto">
              <a:xfrm>
                <a:off x="5872026" y="2540985"/>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4850" name="Isosceles Triangle 14">
                <a:extLst>
                  <a:ext uri="{FF2B5EF4-FFF2-40B4-BE49-F238E27FC236}">
                    <a16:creationId xmlns:a16="http://schemas.microsoft.com/office/drawing/2014/main" id="{89103964-1D4F-4F90-9927-E2D2932254CB}"/>
                  </a:ext>
                </a:extLst>
              </p:cNvPr>
              <p:cNvSpPr>
                <a:spLocks noChangeArrowheads="1"/>
              </p:cNvSpPr>
              <p:nvPr/>
            </p:nvSpPr>
            <p:spPr bwMode="auto">
              <a:xfrm rot="5400000">
                <a:off x="5878076" y="3028881"/>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6" name="TextBox 15">
                <a:extLst>
                  <a:ext uri="{FF2B5EF4-FFF2-40B4-BE49-F238E27FC236}">
                    <a16:creationId xmlns:a16="http://schemas.microsoft.com/office/drawing/2014/main" id="{0CC5666D-21C0-4E30-B857-B8C69583F6B7}"/>
                  </a:ext>
                </a:extLst>
              </p:cNvPr>
              <p:cNvSpPr txBox="1"/>
              <p:nvPr/>
            </p:nvSpPr>
            <p:spPr>
              <a:xfrm>
                <a:off x="5791706" y="2551895"/>
                <a:ext cx="500068" cy="246005"/>
              </a:xfrm>
              <a:prstGeom prst="rect">
                <a:avLst/>
              </a:prstGeom>
              <a:noFill/>
            </p:spPr>
            <p:txBody>
              <a:bodyPr wrap="none">
                <a:spAutoFit/>
              </a:bodyPr>
              <a:lstStyle/>
              <a:p>
                <a:pPr eaLnBrk="1" hangingPunct="1">
                  <a:defRPr/>
                </a:pPr>
                <a:r>
                  <a:rPr lang="en-US" sz="500" dirty="0">
                    <a:latin typeface="Arial" charset="0"/>
                    <a:cs typeface="Arial" charset="0"/>
                  </a:rPr>
                  <a:t>   </a:t>
                </a:r>
                <a:r>
                  <a:rPr lang="en-US" sz="1000" dirty="0">
                    <a:latin typeface="Arial" charset="0"/>
                    <a:cs typeface="Arial" charset="0"/>
                  </a:rPr>
                  <a:t>D  Q</a:t>
                </a:r>
                <a:endParaRPr lang="en-US" sz="1050" dirty="0">
                  <a:latin typeface="Arial" charset="0"/>
                  <a:cs typeface="Arial" charset="0"/>
                </a:endParaRPr>
              </a:p>
            </p:txBody>
          </p:sp>
          <p:sp>
            <p:nvSpPr>
              <p:cNvPr id="17" name="TextBox 16">
                <a:extLst>
                  <a:ext uri="{FF2B5EF4-FFF2-40B4-BE49-F238E27FC236}">
                    <a16:creationId xmlns:a16="http://schemas.microsoft.com/office/drawing/2014/main" id="{32A189C9-2A1A-4CC7-989F-392E13884A07}"/>
                  </a:ext>
                </a:extLst>
              </p:cNvPr>
              <p:cNvSpPr txBox="1"/>
              <p:nvPr/>
            </p:nvSpPr>
            <p:spPr>
              <a:xfrm>
                <a:off x="5863144" y="2924871"/>
                <a:ext cx="461969" cy="253941"/>
              </a:xfrm>
              <a:prstGeom prst="rect">
                <a:avLst/>
              </a:prstGeom>
              <a:noFill/>
            </p:spPr>
            <p:txBody>
              <a:bodyPr wrap="none">
                <a:spAutoFit/>
              </a:bodyPr>
              <a:lstStyle/>
              <a:p>
                <a:pPr eaLnBrk="1" hangingPunct="1">
                  <a:defRPr/>
                </a:pPr>
                <a:r>
                  <a:rPr lang="en-US" sz="1050" dirty="0">
                    <a:latin typeface="Arial" charset="0"/>
                    <a:cs typeface="Arial" charset="0"/>
                  </a:rPr>
                  <a:t>CLK</a:t>
                </a:r>
              </a:p>
            </p:txBody>
          </p:sp>
          <p:cxnSp>
            <p:nvCxnSpPr>
              <p:cNvPr id="34853" name="Straight Connector 17">
                <a:extLst>
                  <a:ext uri="{FF2B5EF4-FFF2-40B4-BE49-F238E27FC236}">
                    <a16:creationId xmlns:a16="http://schemas.microsoft.com/office/drawing/2014/main" id="{C91D7807-23D4-4709-9A49-0A8C1309608F}"/>
                  </a:ext>
                </a:extLst>
              </p:cNvPr>
              <p:cNvCxnSpPr>
                <a:cxnSpLocks noChangeShapeType="1"/>
              </p:cNvCxnSpPr>
              <p:nvPr/>
            </p:nvCxnSpPr>
            <p:spPr bwMode="auto">
              <a:xfrm>
                <a:off x="5719206" y="2657349"/>
                <a:ext cx="150058" cy="0"/>
              </a:xfrm>
              <a:prstGeom prst="line">
                <a:avLst/>
              </a:prstGeom>
              <a:noFill/>
              <a:ln w="9525" algn="ctr">
                <a:solidFill>
                  <a:schemeClr val="tx1"/>
                </a:solidFill>
                <a:round/>
                <a:headEnd/>
                <a:tailEnd/>
              </a:ln>
            </p:spPr>
          </p:cxnSp>
          <p:cxnSp>
            <p:nvCxnSpPr>
              <p:cNvPr id="34854" name="Straight Connector 18">
                <a:extLst>
                  <a:ext uri="{FF2B5EF4-FFF2-40B4-BE49-F238E27FC236}">
                    <a16:creationId xmlns:a16="http://schemas.microsoft.com/office/drawing/2014/main" id="{1DA78C75-750C-4717-A01D-1013C4C152AD}"/>
                  </a:ext>
                </a:extLst>
              </p:cNvPr>
              <p:cNvCxnSpPr>
                <a:cxnSpLocks noChangeShapeType="1"/>
              </p:cNvCxnSpPr>
              <p:nvPr/>
            </p:nvCxnSpPr>
            <p:spPr bwMode="auto">
              <a:xfrm>
                <a:off x="6226139" y="2661806"/>
                <a:ext cx="173161" cy="0"/>
              </a:xfrm>
              <a:prstGeom prst="line">
                <a:avLst/>
              </a:prstGeom>
              <a:noFill/>
              <a:ln w="9525" algn="ctr">
                <a:solidFill>
                  <a:schemeClr val="tx1"/>
                </a:solidFill>
                <a:round/>
                <a:headEnd/>
                <a:tailEnd/>
              </a:ln>
            </p:spPr>
          </p:cxnSp>
          <p:cxnSp>
            <p:nvCxnSpPr>
              <p:cNvPr id="34855" name="Straight Connector 19">
                <a:extLst>
                  <a:ext uri="{FF2B5EF4-FFF2-40B4-BE49-F238E27FC236}">
                    <a16:creationId xmlns:a16="http://schemas.microsoft.com/office/drawing/2014/main" id="{66B8CFA1-BCB3-4452-9411-6909F6BC08A0}"/>
                  </a:ext>
                </a:extLst>
              </p:cNvPr>
              <p:cNvCxnSpPr>
                <a:cxnSpLocks noChangeShapeType="1"/>
              </p:cNvCxnSpPr>
              <p:nvPr/>
            </p:nvCxnSpPr>
            <p:spPr bwMode="auto">
              <a:xfrm>
                <a:off x="5499602" y="3052481"/>
                <a:ext cx="369662" cy="0"/>
              </a:xfrm>
              <a:prstGeom prst="line">
                <a:avLst/>
              </a:prstGeom>
              <a:noFill/>
              <a:ln w="9525" algn="ctr">
                <a:solidFill>
                  <a:schemeClr val="tx1"/>
                </a:solidFill>
                <a:round/>
                <a:headEnd/>
                <a:tailEnd/>
              </a:ln>
            </p:spPr>
          </p:cxnSp>
          <p:sp>
            <p:nvSpPr>
              <p:cNvPr id="27" name="TextBox 26">
                <a:extLst>
                  <a:ext uri="{FF2B5EF4-FFF2-40B4-BE49-F238E27FC236}">
                    <a16:creationId xmlns:a16="http://schemas.microsoft.com/office/drawing/2014/main" id="{962EC7C7-1065-438A-9356-DCA51AC07638}"/>
                  </a:ext>
                </a:extLst>
              </p:cNvPr>
              <p:cNvSpPr txBox="1"/>
              <p:nvPr/>
            </p:nvSpPr>
            <p:spPr>
              <a:xfrm>
                <a:off x="2629368" y="3421644"/>
                <a:ext cx="447680" cy="253941"/>
              </a:xfrm>
              <a:prstGeom prst="rect">
                <a:avLst/>
              </a:prstGeom>
              <a:noFill/>
            </p:spPr>
            <p:txBody>
              <a:bodyPr wrap="none">
                <a:spAutoFit/>
              </a:bodyPr>
              <a:lstStyle/>
              <a:p>
                <a:pPr eaLnBrk="1" hangingPunct="1">
                  <a:defRPr/>
                </a:pPr>
                <a:r>
                  <a:rPr lang="en-US" sz="1050" dirty="0">
                    <a:latin typeface="Arial" charset="0"/>
                    <a:cs typeface="Arial" charset="0"/>
                  </a:rPr>
                  <a:t>CLK</a:t>
                </a:r>
                <a:endParaRPr lang="ru-RU" sz="1050" dirty="0">
                  <a:latin typeface="Arial" charset="0"/>
                  <a:cs typeface="Arial" charset="0"/>
                </a:endParaRPr>
              </a:p>
            </p:txBody>
          </p:sp>
          <p:cxnSp>
            <p:nvCxnSpPr>
              <p:cNvPr id="34857" name="Straight Connector 28">
                <a:extLst>
                  <a:ext uri="{FF2B5EF4-FFF2-40B4-BE49-F238E27FC236}">
                    <a16:creationId xmlns:a16="http://schemas.microsoft.com/office/drawing/2014/main" id="{A2E6BA3D-352B-4C32-9371-37CF28B03542}"/>
                  </a:ext>
                </a:extLst>
              </p:cNvPr>
              <p:cNvCxnSpPr>
                <a:cxnSpLocks noChangeShapeType="1"/>
              </p:cNvCxnSpPr>
              <p:nvPr/>
            </p:nvCxnSpPr>
            <p:spPr bwMode="auto">
              <a:xfrm>
                <a:off x="2546322" y="3637601"/>
                <a:ext cx="2953280" cy="0"/>
              </a:xfrm>
              <a:prstGeom prst="line">
                <a:avLst/>
              </a:prstGeom>
              <a:noFill/>
              <a:ln w="9525" algn="ctr">
                <a:solidFill>
                  <a:schemeClr val="tx1"/>
                </a:solidFill>
                <a:round/>
                <a:headEnd/>
                <a:tailEnd/>
              </a:ln>
            </p:spPr>
          </p:cxnSp>
          <p:sp>
            <p:nvSpPr>
              <p:cNvPr id="50" name="Cloud 49">
                <a:extLst>
                  <a:ext uri="{FF2B5EF4-FFF2-40B4-BE49-F238E27FC236}">
                    <a16:creationId xmlns:a16="http://schemas.microsoft.com/office/drawing/2014/main" id="{E452B435-2872-49CA-8ADA-EFFE2A5BE751}"/>
                  </a:ext>
                </a:extLst>
              </p:cNvPr>
              <p:cNvSpPr/>
              <p:nvPr/>
            </p:nvSpPr>
            <p:spPr bwMode="auto">
              <a:xfrm>
                <a:off x="4728068" y="2416988"/>
                <a:ext cx="995374" cy="46979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cxnSp>
            <p:nvCxnSpPr>
              <p:cNvPr id="34859" name="Straight Connector 51">
                <a:extLst>
                  <a:ext uri="{FF2B5EF4-FFF2-40B4-BE49-F238E27FC236}">
                    <a16:creationId xmlns:a16="http://schemas.microsoft.com/office/drawing/2014/main" id="{F69835EC-4E33-41C8-9C87-0131EAE0803B}"/>
                  </a:ext>
                </a:extLst>
              </p:cNvPr>
              <p:cNvCxnSpPr>
                <a:cxnSpLocks noChangeShapeType="1"/>
              </p:cNvCxnSpPr>
              <p:nvPr/>
            </p:nvCxnSpPr>
            <p:spPr bwMode="auto">
              <a:xfrm flipV="1">
                <a:off x="3816337" y="3040856"/>
                <a:ext cx="0" cy="596745"/>
              </a:xfrm>
              <a:prstGeom prst="line">
                <a:avLst/>
              </a:prstGeom>
              <a:noFill/>
              <a:ln w="9525" algn="ctr">
                <a:solidFill>
                  <a:schemeClr val="tx1"/>
                </a:solidFill>
                <a:round/>
                <a:headEnd/>
                <a:tailEnd/>
              </a:ln>
            </p:spPr>
          </p:cxnSp>
          <p:cxnSp>
            <p:nvCxnSpPr>
              <p:cNvPr id="34860" name="Straight Connector 54">
                <a:extLst>
                  <a:ext uri="{FF2B5EF4-FFF2-40B4-BE49-F238E27FC236}">
                    <a16:creationId xmlns:a16="http://schemas.microsoft.com/office/drawing/2014/main" id="{9FE25FE5-EAE1-435E-9CF9-85450CB5518C}"/>
                  </a:ext>
                </a:extLst>
              </p:cNvPr>
              <p:cNvCxnSpPr>
                <a:cxnSpLocks noChangeShapeType="1"/>
              </p:cNvCxnSpPr>
              <p:nvPr/>
            </p:nvCxnSpPr>
            <p:spPr bwMode="auto">
              <a:xfrm flipV="1">
                <a:off x="5499602" y="3048000"/>
                <a:ext cx="1086" cy="599375"/>
              </a:xfrm>
              <a:prstGeom prst="line">
                <a:avLst/>
              </a:prstGeom>
              <a:noFill/>
              <a:ln w="9525" algn="ctr">
                <a:solidFill>
                  <a:schemeClr val="tx1"/>
                </a:solidFill>
                <a:round/>
                <a:headEnd/>
                <a:tailEnd/>
              </a:ln>
            </p:spPr>
          </p:cxnSp>
          <p:sp>
            <p:nvSpPr>
              <p:cNvPr id="34861" name="Oval 27">
                <a:extLst>
                  <a:ext uri="{FF2B5EF4-FFF2-40B4-BE49-F238E27FC236}">
                    <a16:creationId xmlns:a16="http://schemas.microsoft.com/office/drawing/2014/main" id="{C1A5B0AB-B62D-43C1-B2A0-A41AB8E49143}"/>
                  </a:ext>
                </a:extLst>
              </p:cNvPr>
              <p:cNvSpPr>
                <a:spLocks noChangeArrowheads="1"/>
              </p:cNvSpPr>
              <p:nvPr/>
            </p:nvSpPr>
            <p:spPr bwMode="auto">
              <a:xfrm>
                <a:off x="4152422" y="3022914"/>
                <a:ext cx="45719" cy="45719"/>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72" name="TextBox 71">
                <a:extLst>
                  <a:ext uri="{FF2B5EF4-FFF2-40B4-BE49-F238E27FC236}">
                    <a16:creationId xmlns:a16="http://schemas.microsoft.com/office/drawing/2014/main" id="{2FA87811-D2D7-48F3-8646-483DCF893C32}"/>
                  </a:ext>
                </a:extLst>
              </p:cNvPr>
              <p:cNvSpPr txBox="1"/>
              <p:nvPr/>
            </p:nvSpPr>
            <p:spPr>
              <a:xfrm>
                <a:off x="3816832" y="3040732"/>
                <a:ext cx="357191" cy="253941"/>
              </a:xfrm>
              <a:prstGeom prst="rect">
                <a:avLst/>
              </a:prstGeom>
              <a:noFill/>
            </p:spPr>
            <p:txBody>
              <a:bodyPr wrap="none">
                <a:spAutoFit/>
              </a:bodyPr>
              <a:lstStyle/>
              <a:p>
                <a:pPr eaLnBrk="1" hangingPunct="1">
                  <a:defRPr/>
                </a:pPr>
                <a:r>
                  <a:rPr lang="en-US" sz="1050" dirty="0">
                    <a:latin typeface="Arial" charset="0"/>
                    <a:cs typeface="Arial" charset="0"/>
                  </a:rPr>
                  <a:t>C1</a:t>
                </a:r>
                <a:endParaRPr lang="ru-RU" sz="1050" dirty="0">
                  <a:latin typeface="Arial" charset="0"/>
                  <a:cs typeface="Arial" charset="0"/>
                </a:endParaRPr>
              </a:p>
            </p:txBody>
          </p:sp>
          <p:sp>
            <p:nvSpPr>
              <p:cNvPr id="73" name="TextBox 72">
                <a:extLst>
                  <a:ext uri="{FF2B5EF4-FFF2-40B4-BE49-F238E27FC236}">
                    <a16:creationId xmlns:a16="http://schemas.microsoft.com/office/drawing/2014/main" id="{E0CC61E5-3739-4892-986B-991FA1223E81}"/>
                  </a:ext>
                </a:extLst>
              </p:cNvPr>
              <p:cNvSpPr txBox="1"/>
              <p:nvPr/>
            </p:nvSpPr>
            <p:spPr>
              <a:xfrm>
                <a:off x="5536115" y="3069301"/>
                <a:ext cx="357192" cy="253941"/>
              </a:xfrm>
              <a:prstGeom prst="rect">
                <a:avLst/>
              </a:prstGeom>
              <a:noFill/>
            </p:spPr>
            <p:txBody>
              <a:bodyPr wrap="none">
                <a:spAutoFit/>
              </a:bodyPr>
              <a:lstStyle/>
              <a:p>
                <a:pPr eaLnBrk="1" hangingPunct="1">
                  <a:defRPr/>
                </a:pPr>
                <a:r>
                  <a:rPr lang="en-US" sz="1050" dirty="0">
                    <a:latin typeface="Arial" charset="0"/>
                    <a:cs typeface="Arial" charset="0"/>
                  </a:rPr>
                  <a:t>C2</a:t>
                </a:r>
                <a:endParaRPr lang="ru-RU" sz="1050" dirty="0">
                  <a:latin typeface="Arial" charset="0"/>
                  <a:cs typeface="Arial" charset="0"/>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50D2AA4-B48E-45AC-95FC-1AB4DE955CF6}"/>
              </a:ext>
            </a:extLst>
          </p:cNvPr>
          <p:cNvSpPr>
            <a:spLocks noGrp="1"/>
          </p:cNvSpPr>
          <p:nvPr>
            <p:ph type="title"/>
          </p:nvPr>
        </p:nvSpPr>
        <p:spPr/>
        <p:txBody>
          <a:bodyPr/>
          <a:lstStyle/>
          <a:p>
            <a:r>
              <a:rPr lang="en-US" altLang="en-US"/>
              <a:t>Slow to Fast Clock Domain</a:t>
            </a:r>
          </a:p>
        </p:txBody>
      </p:sp>
      <p:sp>
        <p:nvSpPr>
          <p:cNvPr id="3" name="Content Placeholder 2">
            <a:extLst>
              <a:ext uri="{FF2B5EF4-FFF2-40B4-BE49-F238E27FC236}">
                <a16:creationId xmlns:a16="http://schemas.microsoft.com/office/drawing/2014/main" id="{2C19B88A-14DB-4E33-9FB9-2C2A96437BE7}"/>
              </a:ext>
            </a:extLst>
          </p:cNvPr>
          <p:cNvSpPr>
            <a:spLocks noGrp="1"/>
          </p:cNvSpPr>
          <p:nvPr>
            <p:ph type="body" sz="quarter" idx="10"/>
          </p:nvPr>
        </p:nvSpPr>
        <p:spPr>
          <a:xfrm>
            <a:off x="457200" y="1188720"/>
            <a:ext cx="10182535" cy="935758"/>
          </a:xfrm>
          <a:solidFill>
            <a:schemeClr val="accent1">
              <a:lumMod val="20000"/>
              <a:lumOff val="80000"/>
            </a:schemeClr>
          </a:solidFill>
          <a:ln w="28575">
            <a:solidFill>
              <a:schemeClr val="accent1">
                <a:lumMod val="75000"/>
              </a:schemeClr>
            </a:solidFill>
          </a:ln>
        </p:spPr>
        <p:txBody>
          <a:bodyPr/>
          <a:lstStyle/>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CLK1 -</a:t>
            </a:r>
            <a:r>
              <a:rPr lang="en-US" sz="1600" dirty="0">
                <a:solidFill>
                  <a:srgbClr val="0000FF"/>
                </a:solidFill>
                <a:latin typeface="Courier New" pitchFamily="49" charset="0"/>
                <a:cs typeface="Courier New" pitchFamily="49" charset="0"/>
              </a:rPr>
              <a:t>period</a:t>
            </a:r>
            <a:r>
              <a:rPr lang="en-US" sz="1600" dirty="0">
                <a:latin typeface="Courier New" pitchFamily="49" charset="0"/>
                <a:cs typeface="Courier New" pitchFamily="49" charset="0"/>
              </a:rPr>
              <a:t> 20 -</a:t>
            </a:r>
            <a:r>
              <a:rPr lang="en-US" sz="1600" dirty="0">
                <a:solidFill>
                  <a:srgbClr val="0000FF"/>
                </a:solidFill>
                <a:latin typeface="Courier New" pitchFamily="49" charset="0"/>
                <a:cs typeface="Courier New" pitchFamily="49" charset="0"/>
              </a:rPr>
              <a:t>waveform</a:t>
            </a:r>
            <a:r>
              <a:rPr lang="en-US" sz="1600" dirty="0">
                <a:latin typeface="Courier New" pitchFamily="49" charset="0"/>
                <a:cs typeface="Courier New" pitchFamily="49" charset="0"/>
              </a:rPr>
              <a:t> {0 10}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CLK1]</a:t>
            </a:r>
          </a:p>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CLK2 -</a:t>
            </a:r>
            <a:r>
              <a:rPr lang="en-US" sz="1600" dirty="0">
                <a:solidFill>
                  <a:srgbClr val="0000FF"/>
                </a:solidFill>
                <a:latin typeface="Courier New" pitchFamily="49" charset="0"/>
                <a:cs typeface="Courier New" pitchFamily="49" charset="0"/>
              </a:rPr>
              <a:t>period</a:t>
            </a:r>
            <a:r>
              <a:rPr lang="en-US" sz="1600" dirty="0">
                <a:latin typeface="Courier New" pitchFamily="49" charset="0"/>
                <a:cs typeface="Courier New" pitchFamily="49" charset="0"/>
              </a:rPr>
              <a:t> 5 -</a:t>
            </a:r>
            <a:r>
              <a:rPr lang="en-US" sz="1600" dirty="0">
                <a:solidFill>
                  <a:srgbClr val="0000FF"/>
                </a:solidFill>
                <a:latin typeface="Courier New" pitchFamily="49" charset="0"/>
                <a:cs typeface="Courier New" pitchFamily="49" charset="0"/>
              </a:rPr>
              <a:t>waveform</a:t>
            </a:r>
            <a:r>
              <a:rPr lang="en-US" sz="1600" dirty="0">
                <a:latin typeface="Courier New" pitchFamily="49" charset="0"/>
                <a:cs typeface="Courier New" pitchFamily="49" charset="0"/>
              </a:rPr>
              <a:t> {0 2.5}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CLK2]</a:t>
            </a:r>
          </a:p>
        </p:txBody>
      </p:sp>
      <p:grpSp>
        <p:nvGrpSpPr>
          <p:cNvPr id="35844" name="Group 3">
            <a:extLst>
              <a:ext uri="{FF2B5EF4-FFF2-40B4-BE49-F238E27FC236}">
                <a16:creationId xmlns:a16="http://schemas.microsoft.com/office/drawing/2014/main" id="{F5A28607-49B2-4A84-907E-8BB6BAB5C471}"/>
              </a:ext>
            </a:extLst>
          </p:cNvPr>
          <p:cNvGrpSpPr>
            <a:grpSpLocks/>
          </p:cNvGrpSpPr>
          <p:nvPr/>
        </p:nvGrpSpPr>
        <p:grpSpPr bwMode="auto">
          <a:xfrm>
            <a:off x="3093503" y="2699019"/>
            <a:ext cx="5083175" cy="3305175"/>
            <a:chOff x="1691421" y="1418382"/>
            <a:chExt cx="5082087" cy="3305040"/>
          </a:xfrm>
        </p:grpSpPr>
        <p:sp>
          <p:nvSpPr>
            <p:cNvPr id="35845" name="Rectangle 6">
              <a:extLst>
                <a:ext uri="{FF2B5EF4-FFF2-40B4-BE49-F238E27FC236}">
                  <a16:creationId xmlns:a16="http://schemas.microsoft.com/office/drawing/2014/main" id="{BEE9730C-E145-439D-9197-65C7C3B68DD8}"/>
                </a:ext>
              </a:extLst>
            </p:cNvPr>
            <p:cNvSpPr>
              <a:spLocks noChangeArrowheads="1"/>
            </p:cNvSpPr>
            <p:nvPr/>
          </p:nvSpPr>
          <p:spPr bwMode="auto">
            <a:xfrm>
              <a:off x="5956301" y="1462856"/>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35846" name="Isosceles Triangle 7">
              <a:extLst>
                <a:ext uri="{FF2B5EF4-FFF2-40B4-BE49-F238E27FC236}">
                  <a16:creationId xmlns:a16="http://schemas.microsoft.com/office/drawing/2014/main" id="{E4408B94-54AC-43D5-9B08-290939E27D30}"/>
                </a:ext>
              </a:extLst>
            </p:cNvPr>
            <p:cNvSpPr>
              <a:spLocks noChangeArrowheads="1"/>
            </p:cNvSpPr>
            <p:nvPr/>
          </p:nvSpPr>
          <p:spPr bwMode="auto">
            <a:xfrm rot="5400000">
              <a:off x="5962351" y="1950752"/>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9" name="TextBox 8">
              <a:extLst>
                <a:ext uri="{FF2B5EF4-FFF2-40B4-BE49-F238E27FC236}">
                  <a16:creationId xmlns:a16="http://schemas.microsoft.com/office/drawing/2014/main" id="{649B09C9-A6CC-4849-8551-BF6A2A246615}"/>
                </a:ext>
              </a:extLst>
            </p:cNvPr>
            <p:cNvSpPr txBox="1"/>
            <p:nvPr/>
          </p:nvSpPr>
          <p:spPr>
            <a:xfrm>
              <a:off x="5875175" y="1473943"/>
              <a:ext cx="522175" cy="253990"/>
            </a:xfrm>
            <a:prstGeom prst="rect">
              <a:avLst/>
            </a:prstGeom>
            <a:noFill/>
            <a:ln w="9525">
              <a:noFill/>
            </a:ln>
          </p:spPr>
          <p:txBody>
            <a:bodyPr wrap="none">
              <a:spAutoFit/>
            </a:bodyPr>
            <a:lstStyle/>
            <a:p>
              <a:pPr eaLnBrk="1" hangingPunct="1">
                <a:defRPr/>
              </a:pPr>
              <a:r>
                <a:rPr lang="en-US" sz="600" dirty="0">
                  <a:solidFill>
                    <a:schemeClr val="bg1"/>
                  </a:solidFill>
                  <a:latin typeface="Arial" charset="0"/>
                  <a:cs typeface="Arial" charset="0"/>
                </a:rPr>
                <a:t>   </a:t>
              </a:r>
              <a:r>
                <a:rPr lang="en-US" sz="1050" dirty="0">
                  <a:solidFill>
                    <a:schemeClr val="bg1"/>
                  </a:solidFill>
                  <a:latin typeface="Arial" charset="0"/>
                  <a:cs typeface="Arial" charset="0"/>
                </a:rPr>
                <a:t>D  Q</a:t>
              </a:r>
              <a:endParaRPr lang="en-US" sz="1100" dirty="0">
                <a:solidFill>
                  <a:schemeClr val="bg1"/>
                </a:solidFill>
                <a:latin typeface="Arial" charset="0"/>
                <a:cs typeface="Arial" charset="0"/>
              </a:endParaRPr>
            </a:p>
          </p:txBody>
        </p:sp>
        <p:sp>
          <p:nvSpPr>
            <p:cNvPr id="35848" name="TextBox 9">
              <a:extLst>
                <a:ext uri="{FF2B5EF4-FFF2-40B4-BE49-F238E27FC236}">
                  <a16:creationId xmlns:a16="http://schemas.microsoft.com/office/drawing/2014/main" id="{1F402FEF-6F09-4D07-8166-00132B223B04}"/>
                </a:ext>
              </a:extLst>
            </p:cNvPr>
            <p:cNvSpPr txBox="1">
              <a:spLocks noChangeArrowheads="1"/>
            </p:cNvSpPr>
            <p:nvPr/>
          </p:nvSpPr>
          <p:spPr bwMode="auto">
            <a:xfrm>
              <a:off x="5929808" y="1794570"/>
              <a:ext cx="46038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solidFill>
                    <a:schemeClr val="bg1"/>
                  </a:solidFill>
                </a:rPr>
                <a:t>CLK</a:t>
              </a:r>
            </a:p>
          </p:txBody>
        </p:sp>
        <p:cxnSp>
          <p:nvCxnSpPr>
            <p:cNvPr id="35849" name="Straight Connector 10">
              <a:extLst>
                <a:ext uri="{FF2B5EF4-FFF2-40B4-BE49-F238E27FC236}">
                  <a16:creationId xmlns:a16="http://schemas.microsoft.com/office/drawing/2014/main" id="{195A61EE-7B16-43CA-9188-7399EB1E194A}"/>
                </a:ext>
              </a:extLst>
            </p:cNvPr>
            <p:cNvCxnSpPr>
              <a:cxnSpLocks noChangeShapeType="1"/>
            </p:cNvCxnSpPr>
            <p:nvPr/>
          </p:nvCxnSpPr>
          <p:spPr bwMode="auto">
            <a:xfrm>
              <a:off x="5803481" y="1579220"/>
              <a:ext cx="150058" cy="0"/>
            </a:xfrm>
            <a:prstGeom prst="line">
              <a:avLst/>
            </a:prstGeom>
            <a:noFill/>
            <a:ln w="9525" algn="ctr">
              <a:solidFill>
                <a:schemeClr val="tx1"/>
              </a:solidFill>
              <a:round/>
              <a:headEnd/>
              <a:tailEnd/>
            </a:ln>
          </p:spPr>
        </p:cxnSp>
        <p:cxnSp>
          <p:nvCxnSpPr>
            <p:cNvPr id="35850" name="Straight Connector 11">
              <a:extLst>
                <a:ext uri="{FF2B5EF4-FFF2-40B4-BE49-F238E27FC236}">
                  <a16:creationId xmlns:a16="http://schemas.microsoft.com/office/drawing/2014/main" id="{1287BB5B-AE53-495D-BA39-BD39ECB46C1C}"/>
                </a:ext>
              </a:extLst>
            </p:cNvPr>
            <p:cNvCxnSpPr>
              <a:cxnSpLocks noChangeShapeType="1"/>
            </p:cNvCxnSpPr>
            <p:nvPr/>
          </p:nvCxnSpPr>
          <p:spPr bwMode="auto">
            <a:xfrm>
              <a:off x="6310414" y="1583677"/>
              <a:ext cx="173161" cy="0"/>
            </a:xfrm>
            <a:prstGeom prst="line">
              <a:avLst/>
            </a:prstGeom>
            <a:noFill/>
            <a:ln w="9525" algn="ctr">
              <a:solidFill>
                <a:schemeClr val="tx1"/>
              </a:solidFill>
              <a:round/>
              <a:headEnd/>
              <a:tailEnd/>
            </a:ln>
          </p:spPr>
        </p:cxnSp>
        <p:cxnSp>
          <p:nvCxnSpPr>
            <p:cNvPr id="35851" name="Straight Connector 12">
              <a:extLst>
                <a:ext uri="{FF2B5EF4-FFF2-40B4-BE49-F238E27FC236}">
                  <a16:creationId xmlns:a16="http://schemas.microsoft.com/office/drawing/2014/main" id="{66F94F76-D51C-45B6-8A74-3860F56AB75A}"/>
                </a:ext>
              </a:extLst>
            </p:cNvPr>
            <p:cNvCxnSpPr>
              <a:cxnSpLocks noChangeShapeType="1"/>
            </p:cNvCxnSpPr>
            <p:nvPr/>
          </p:nvCxnSpPr>
          <p:spPr bwMode="auto">
            <a:xfrm>
              <a:off x="5803481" y="1982407"/>
              <a:ext cx="150058" cy="0"/>
            </a:xfrm>
            <a:prstGeom prst="line">
              <a:avLst/>
            </a:prstGeom>
            <a:noFill/>
            <a:ln w="9525" algn="ctr">
              <a:solidFill>
                <a:schemeClr val="tx1"/>
              </a:solidFill>
              <a:round/>
              <a:headEnd/>
              <a:tailEnd/>
            </a:ln>
          </p:spPr>
        </p:cxnSp>
        <p:sp>
          <p:nvSpPr>
            <p:cNvPr id="35852" name="Rectangle 14">
              <a:extLst>
                <a:ext uri="{FF2B5EF4-FFF2-40B4-BE49-F238E27FC236}">
                  <a16:creationId xmlns:a16="http://schemas.microsoft.com/office/drawing/2014/main" id="{01D36F54-803B-4E3D-AFF8-D63A307863A2}"/>
                </a:ext>
              </a:extLst>
            </p:cNvPr>
            <p:cNvSpPr>
              <a:spLocks noChangeArrowheads="1"/>
            </p:cNvSpPr>
            <p:nvPr/>
          </p:nvSpPr>
          <p:spPr bwMode="auto">
            <a:xfrm>
              <a:off x="4279084" y="1472381"/>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35853" name="Isosceles Triangle 15">
              <a:extLst>
                <a:ext uri="{FF2B5EF4-FFF2-40B4-BE49-F238E27FC236}">
                  <a16:creationId xmlns:a16="http://schemas.microsoft.com/office/drawing/2014/main" id="{21A4A396-636D-4E8E-85A9-DB3967C20320}"/>
                </a:ext>
              </a:extLst>
            </p:cNvPr>
            <p:cNvSpPr>
              <a:spLocks noChangeArrowheads="1"/>
            </p:cNvSpPr>
            <p:nvPr/>
          </p:nvSpPr>
          <p:spPr bwMode="auto">
            <a:xfrm rot="5400000">
              <a:off x="4285134" y="1960277"/>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17" name="TextBox 16">
              <a:extLst>
                <a:ext uri="{FF2B5EF4-FFF2-40B4-BE49-F238E27FC236}">
                  <a16:creationId xmlns:a16="http://schemas.microsoft.com/office/drawing/2014/main" id="{D32B0306-8D71-44EB-9F2A-854448DA4E01}"/>
                </a:ext>
              </a:extLst>
            </p:cNvPr>
            <p:cNvSpPr txBox="1"/>
            <p:nvPr/>
          </p:nvSpPr>
          <p:spPr>
            <a:xfrm>
              <a:off x="4197546" y="1483467"/>
              <a:ext cx="523763" cy="253990"/>
            </a:xfrm>
            <a:prstGeom prst="rect">
              <a:avLst/>
            </a:prstGeom>
            <a:noFill/>
            <a:ln w="9525">
              <a:noFill/>
            </a:ln>
          </p:spPr>
          <p:txBody>
            <a:bodyPr wrap="none">
              <a:spAutoFit/>
            </a:bodyPr>
            <a:lstStyle/>
            <a:p>
              <a:pPr eaLnBrk="1" hangingPunct="1">
                <a:defRPr/>
              </a:pPr>
              <a:r>
                <a:rPr lang="en-US" sz="600" dirty="0">
                  <a:solidFill>
                    <a:schemeClr val="bg1"/>
                  </a:solidFill>
                  <a:latin typeface="Arial" charset="0"/>
                  <a:cs typeface="Arial" charset="0"/>
                </a:rPr>
                <a:t>   </a:t>
              </a:r>
              <a:r>
                <a:rPr lang="en-US" sz="1050" dirty="0">
                  <a:solidFill>
                    <a:schemeClr val="bg1"/>
                  </a:solidFill>
                  <a:latin typeface="Arial" charset="0"/>
                  <a:cs typeface="Arial" charset="0"/>
                </a:rPr>
                <a:t>D  Q</a:t>
              </a:r>
              <a:endParaRPr lang="en-US" sz="1100" dirty="0">
                <a:solidFill>
                  <a:schemeClr val="bg1"/>
                </a:solidFill>
                <a:latin typeface="Arial" charset="0"/>
                <a:cs typeface="Arial" charset="0"/>
              </a:endParaRPr>
            </a:p>
          </p:txBody>
        </p:sp>
        <p:sp>
          <p:nvSpPr>
            <p:cNvPr id="35855" name="TextBox 17">
              <a:extLst>
                <a:ext uri="{FF2B5EF4-FFF2-40B4-BE49-F238E27FC236}">
                  <a16:creationId xmlns:a16="http://schemas.microsoft.com/office/drawing/2014/main" id="{49159AB0-7950-4E8D-A171-AC2FFAB4339B}"/>
                </a:ext>
              </a:extLst>
            </p:cNvPr>
            <p:cNvSpPr txBox="1">
              <a:spLocks noChangeArrowheads="1"/>
            </p:cNvSpPr>
            <p:nvPr/>
          </p:nvSpPr>
          <p:spPr bwMode="auto">
            <a:xfrm>
              <a:off x="4249881" y="1834955"/>
              <a:ext cx="46038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solidFill>
                    <a:schemeClr val="bg1"/>
                  </a:solidFill>
                </a:rPr>
                <a:t>CLK</a:t>
              </a:r>
            </a:p>
          </p:txBody>
        </p:sp>
        <p:cxnSp>
          <p:nvCxnSpPr>
            <p:cNvPr id="35856" name="Straight Connector 18">
              <a:extLst>
                <a:ext uri="{FF2B5EF4-FFF2-40B4-BE49-F238E27FC236}">
                  <a16:creationId xmlns:a16="http://schemas.microsoft.com/office/drawing/2014/main" id="{0CCAD704-0480-40D5-A0C3-08F1EB639ECB}"/>
                </a:ext>
              </a:extLst>
            </p:cNvPr>
            <p:cNvCxnSpPr>
              <a:cxnSpLocks noChangeShapeType="1"/>
            </p:cNvCxnSpPr>
            <p:nvPr/>
          </p:nvCxnSpPr>
          <p:spPr bwMode="auto">
            <a:xfrm>
              <a:off x="4126264" y="1588745"/>
              <a:ext cx="150058" cy="0"/>
            </a:xfrm>
            <a:prstGeom prst="line">
              <a:avLst/>
            </a:prstGeom>
            <a:noFill/>
            <a:ln w="9525" algn="ctr">
              <a:solidFill>
                <a:schemeClr val="tx1"/>
              </a:solidFill>
              <a:round/>
              <a:headEnd/>
              <a:tailEnd/>
            </a:ln>
          </p:spPr>
        </p:cxnSp>
        <p:cxnSp>
          <p:nvCxnSpPr>
            <p:cNvPr id="35857" name="Straight Connector 19">
              <a:extLst>
                <a:ext uri="{FF2B5EF4-FFF2-40B4-BE49-F238E27FC236}">
                  <a16:creationId xmlns:a16="http://schemas.microsoft.com/office/drawing/2014/main" id="{D54CF60B-804B-4777-9B64-BD5664E1FB09}"/>
                </a:ext>
              </a:extLst>
            </p:cNvPr>
            <p:cNvCxnSpPr>
              <a:cxnSpLocks noChangeShapeType="1"/>
            </p:cNvCxnSpPr>
            <p:nvPr/>
          </p:nvCxnSpPr>
          <p:spPr bwMode="auto">
            <a:xfrm>
              <a:off x="4642209" y="1575570"/>
              <a:ext cx="693747" cy="0"/>
            </a:xfrm>
            <a:prstGeom prst="line">
              <a:avLst/>
            </a:prstGeom>
            <a:noFill/>
            <a:ln w="9525" algn="ctr">
              <a:solidFill>
                <a:schemeClr val="tx1"/>
              </a:solidFill>
              <a:round/>
              <a:headEnd/>
              <a:tailEnd/>
            </a:ln>
          </p:spPr>
        </p:cxnSp>
        <p:cxnSp>
          <p:nvCxnSpPr>
            <p:cNvPr id="35858" name="Straight Connector 20">
              <a:extLst>
                <a:ext uri="{FF2B5EF4-FFF2-40B4-BE49-F238E27FC236}">
                  <a16:creationId xmlns:a16="http://schemas.microsoft.com/office/drawing/2014/main" id="{58621956-75ED-48BE-8F79-64E8473D3AAA}"/>
                </a:ext>
              </a:extLst>
            </p:cNvPr>
            <p:cNvCxnSpPr>
              <a:cxnSpLocks noChangeShapeType="1"/>
            </p:cNvCxnSpPr>
            <p:nvPr/>
          </p:nvCxnSpPr>
          <p:spPr bwMode="auto">
            <a:xfrm>
              <a:off x="3397595" y="1993089"/>
              <a:ext cx="876312" cy="0"/>
            </a:xfrm>
            <a:prstGeom prst="line">
              <a:avLst/>
            </a:prstGeom>
            <a:noFill/>
            <a:ln w="9525" algn="ctr">
              <a:solidFill>
                <a:schemeClr val="tx1"/>
              </a:solidFill>
              <a:round/>
              <a:headEnd/>
              <a:tailEnd/>
            </a:ln>
          </p:spPr>
        </p:cxnSp>
        <p:sp>
          <p:nvSpPr>
            <p:cNvPr id="35859" name="Rectangle 23">
              <a:extLst>
                <a:ext uri="{FF2B5EF4-FFF2-40B4-BE49-F238E27FC236}">
                  <a16:creationId xmlns:a16="http://schemas.microsoft.com/office/drawing/2014/main" id="{77783070-1981-49D5-8D79-A9BED26E49C8}"/>
                </a:ext>
              </a:extLst>
            </p:cNvPr>
            <p:cNvSpPr>
              <a:spLocks noChangeArrowheads="1"/>
            </p:cNvSpPr>
            <p:nvPr/>
          </p:nvSpPr>
          <p:spPr bwMode="auto">
            <a:xfrm>
              <a:off x="2713374" y="1874024"/>
              <a:ext cx="693747" cy="255591"/>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2800"/>
            </a:p>
          </p:txBody>
        </p:sp>
        <p:sp>
          <p:nvSpPr>
            <p:cNvPr id="25" name="TextBox 24">
              <a:extLst>
                <a:ext uri="{FF2B5EF4-FFF2-40B4-BE49-F238E27FC236}">
                  <a16:creationId xmlns:a16="http://schemas.microsoft.com/office/drawing/2014/main" id="{56D38023-7241-4011-B1BC-1F923DDC004E}"/>
                </a:ext>
              </a:extLst>
            </p:cNvPr>
            <p:cNvSpPr txBox="1"/>
            <p:nvPr/>
          </p:nvSpPr>
          <p:spPr>
            <a:xfrm>
              <a:off x="2658001" y="1886676"/>
              <a:ext cx="923727" cy="253990"/>
            </a:xfrm>
            <a:prstGeom prst="rect">
              <a:avLst/>
            </a:prstGeom>
            <a:noFill/>
            <a:ln w="9525">
              <a:noFill/>
            </a:ln>
          </p:spPr>
          <p:txBody>
            <a:bodyPr>
              <a:spAutoFit/>
            </a:bodyPr>
            <a:lstStyle/>
            <a:p>
              <a:pPr eaLnBrk="1" hangingPunct="1">
                <a:defRPr/>
              </a:pPr>
              <a:r>
                <a:rPr lang="en-US" sz="1050" dirty="0">
                  <a:solidFill>
                    <a:schemeClr val="bg1"/>
                  </a:solidFill>
                  <a:latin typeface="Arial" charset="0"/>
                  <a:cs typeface="Arial" charset="0"/>
                </a:rPr>
                <a:t>Divide by 4</a:t>
              </a:r>
              <a:endParaRPr lang="ru-RU" sz="1050" dirty="0">
                <a:solidFill>
                  <a:schemeClr val="bg1"/>
                </a:solidFill>
                <a:latin typeface="Arial" charset="0"/>
                <a:cs typeface="Arial" charset="0"/>
              </a:endParaRPr>
            </a:p>
          </p:txBody>
        </p:sp>
        <p:cxnSp>
          <p:nvCxnSpPr>
            <p:cNvPr id="35861" name="Elbow Connector 25">
              <a:extLst>
                <a:ext uri="{FF2B5EF4-FFF2-40B4-BE49-F238E27FC236}">
                  <a16:creationId xmlns:a16="http://schemas.microsoft.com/office/drawing/2014/main" id="{B7B51C00-CADE-4325-BD11-B49B68008755}"/>
                </a:ext>
              </a:extLst>
            </p:cNvPr>
            <p:cNvCxnSpPr>
              <a:cxnSpLocks noChangeShapeType="1"/>
            </p:cNvCxnSpPr>
            <p:nvPr/>
          </p:nvCxnSpPr>
          <p:spPr bwMode="auto">
            <a:xfrm rot="10800000" flipV="1">
              <a:off x="1935484" y="1983562"/>
              <a:ext cx="3870378" cy="474669"/>
            </a:xfrm>
            <a:prstGeom prst="bentConnector3">
              <a:avLst>
                <a:gd name="adj1" fmla="val 1639"/>
              </a:avLst>
            </a:prstGeom>
            <a:noFill/>
            <a:ln w="9525" algn="ctr">
              <a:solidFill>
                <a:schemeClr val="tx1"/>
              </a:solidFill>
              <a:round/>
              <a:headEnd/>
              <a:tailEnd/>
            </a:ln>
          </p:spPr>
        </p:cxnSp>
        <p:cxnSp>
          <p:nvCxnSpPr>
            <p:cNvPr id="35862" name="Shape 26">
              <a:extLst>
                <a:ext uri="{FF2B5EF4-FFF2-40B4-BE49-F238E27FC236}">
                  <a16:creationId xmlns:a16="http://schemas.microsoft.com/office/drawing/2014/main" id="{379CF700-C2FF-4FAD-8EBB-8D78B25C682D}"/>
                </a:ext>
              </a:extLst>
            </p:cNvPr>
            <p:cNvCxnSpPr>
              <a:cxnSpLocks noChangeShapeType="1"/>
            </p:cNvCxnSpPr>
            <p:nvPr/>
          </p:nvCxnSpPr>
          <p:spPr bwMode="auto">
            <a:xfrm rot="10800000" flipV="1">
              <a:off x="2383166" y="1998966"/>
              <a:ext cx="330208" cy="459266"/>
            </a:xfrm>
            <a:prstGeom prst="bentConnector2">
              <a:avLst/>
            </a:prstGeom>
            <a:noFill/>
            <a:ln w="9525" algn="ctr">
              <a:solidFill>
                <a:schemeClr val="tx1"/>
              </a:solidFill>
              <a:round/>
              <a:headEnd/>
              <a:tailEnd/>
            </a:ln>
          </p:spPr>
        </p:cxnSp>
        <p:sp>
          <p:nvSpPr>
            <p:cNvPr id="35863" name="TextBox 27">
              <a:extLst>
                <a:ext uri="{FF2B5EF4-FFF2-40B4-BE49-F238E27FC236}">
                  <a16:creationId xmlns:a16="http://schemas.microsoft.com/office/drawing/2014/main" id="{B5989521-742E-415B-A29C-4CE923760B62}"/>
                </a:ext>
              </a:extLst>
            </p:cNvPr>
            <p:cNvSpPr txBox="1">
              <a:spLocks noChangeArrowheads="1"/>
            </p:cNvSpPr>
            <p:nvPr/>
          </p:nvSpPr>
          <p:spPr bwMode="auto">
            <a:xfrm>
              <a:off x="3400767" y="1779718"/>
              <a:ext cx="5389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CLK1</a:t>
              </a:r>
              <a:endParaRPr lang="ru-RU" altLang="en-US" sz="1100"/>
            </a:p>
          </p:txBody>
        </p:sp>
        <p:sp>
          <p:nvSpPr>
            <p:cNvPr id="35864" name="TextBox 28">
              <a:extLst>
                <a:ext uri="{FF2B5EF4-FFF2-40B4-BE49-F238E27FC236}">
                  <a16:creationId xmlns:a16="http://schemas.microsoft.com/office/drawing/2014/main" id="{2E8AFA4B-2320-4F7B-9E80-CC67A8B57973}"/>
                </a:ext>
              </a:extLst>
            </p:cNvPr>
            <p:cNvSpPr txBox="1">
              <a:spLocks noChangeArrowheads="1"/>
            </p:cNvSpPr>
            <p:nvPr/>
          </p:nvSpPr>
          <p:spPr bwMode="auto">
            <a:xfrm>
              <a:off x="1835471" y="2195650"/>
              <a:ext cx="5389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CLK2</a:t>
              </a:r>
              <a:endParaRPr lang="ru-RU" altLang="en-US" sz="1100"/>
            </a:p>
          </p:txBody>
        </p:sp>
        <p:cxnSp>
          <p:nvCxnSpPr>
            <p:cNvPr id="31" name="Elbow Connector 30">
              <a:extLst>
                <a:ext uri="{FF2B5EF4-FFF2-40B4-BE49-F238E27FC236}">
                  <a16:creationId xmlns:a16="http://schemas.microsoft.com/office/drawing/2014/main" id="{627CE07E-4D9B-4C2F-ADC6-BE7F9501DED1}"/>
                </a:ext>
              </a:extLst>
            </p:cNvPr>
            <p:cNvCxnSpPr/>
            <p:nvPr/>
          </p:nvCxnSpPr>
          <p:spPr bwMode="auto">
            <a:xfrm flipV="1">
              <a:off x="2738947" y="3042329"/>
              <a:ext cx="2007757" cy="474643"/>
            </a:xfrm>
            <a:prstGeom prst="bentConnector3">
              <a:avLst>
                <a:gd name="adj1" fmla="val 1181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Elbow Connector 31">
              <a:extLst>
                <a:ext uri="{FF2B5EF4-FFF2-40B4-BE49-F238E27FC236}">
                  <a16:creationId xmlns:a16="http://schemas.microsoft.com/office/drawing/2014/main" id="{EEEBAF0A-F5BE-4593-86C7-6DC4ABEFF02C}"/>
                </a:ext>
              </a:extLst>
            </p:cNvPr>
            <p:cNvCxnSpPr/>
            <p:nvPr/>
          </p:nvCxnSpPr>
          <p:spPr bwMode="auto">
            <a:xfrm>
              <a:off x="4746704" y="3042329"/>
              <a:ext cx="1825234" cy="474643"/>
            </a:xfrm>
            <a:prstGeom prst="bentConnector3">
              <a:avLst>
                <a:gd name="adj1" fmla="val -8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AFBB2C04-D02A-473E-80C9-00F9837CC031}"/>
                </a:ext>
              </a:extLst>
            </p:cNvPr>
            <p:cNvCxnSpPr/>
            <p:nvPr/>
          </p:nvCxnSpPr>
          <p:spPr bwMode="auto">
            <a:xfrm rot="5400000" flipH="1" flipV="1">
              <a:off x="6389374" y="3224893"/>
              <a:ext cx="474643" cy="109515"/>
            </a:xfrm>
            <a:prstGeom prst="bentConnector3">
              <a:avLst>
                <a:gd name="adj1" fmla="val 10016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868" name="Straight Connector 33">
              <a:extLst>
                <a:ext uri="{FF2B5EF4-FFF2-40B4-BE49-F238E27FC236}">
                  <a16:creationId xmlns:a16="http://schemas.microsoft.com/office/drawing/2014/main" id="{2E6051BD-E215-41E3-9844-F7280B81BBE1}"/>
                </a:ext>
              </a:extLst>
            </p:cNvPr>
            <p:cNvCxnSpPr>
              <a:cxnSpLocks noChangeShapeType="1"/>
            </p:cNvCxnSpPr>
            <p:nvPr/>
          </p:nvCxnSpPr>
          <p:spPr bwMode="auto">
            <a:xfrm rot="5400000">
              <a:off x="2776873" y="2856701"/>
              <a:ext cx="401643"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5869" name="Straight Connector 34">
              <a:extLst>
                <a:ext uri="{FF2B5EF4-FFF2-40B4-BE49-F238E27FC236}">
                  <a16:creationId xmlns:a16="http://schemas.microsoft.com/office/drawing/2014/main" id="{F5DB5860-34AB-408F-BC7C-AF921A03EB70}"/>
                </a:ext>
              </a:extLst>
            </p:cNvPr>
            <p:cNvCxnSpPr>
              <a:cxnSpLocks noChangeShapeType="1"/>
            </p:cNvCxnSpPr>
            <p:nvPr/>
          </p:nvCxnSpPr>
          <p:spPr bwMode="auto">
            <a:xfrm rot="5400000">
              <a:off x="6376576" y="2832093"/>
              <a:ext cx="401643"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5870" name="Straight Arrow Connector 35">
              <a:extLst>
                <a:ext uri="{FF2B5EF4-FFF2-40B4-BE49-F238E27FC236}">
                  <a16:creationId xmlns:a16="http://schemas.microsoft.com/office/drawing/2014/main" id="{51B91D05-332E-44D5-9864-CB4CF41C7034}"/>
                </a:ext>
              </a:extLst>
            </p:cNvPr>
            <p:cNvCxnSpPr>
              <a:cxnSpLocks noChangeShapeType="1"/>
            </p:cNvCxnSpPr>
            <p:nvPr/>
          </p:nvCxnSpPr>
          <p:spPr bwMode="auto">
            <a:xfrm>
              <a:off x="2984835" y="2823362"/>
              <a:ext cx="3578274"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35871" name="TextBox 36">
              <a:extLst>
                <a:ext uri="{FF2B5EF4-FFF2-40B4-BE49-F238E27FC236}">
                  <a16:creationId xmlns:a16="http://schemas.microsoft.com/office/drawing/2014/main" id="{5554466D-D9B8-48E1-9425-476619432548}"/>
                </a:ext>
              </a:extLst>
            </p:cNvPr>
            <p:cNvSpPr txBox="1">
              <a:spLocks noChangeArrowheads="1"/>
            </p:cNvSpPr>
            <p:nvPr/>
          </p:nvSpPr>
          <p:spPr bwMode="auto">
            <a:xfrm>
              <a:off x="3897214" y="2604128"/>
              <a:ext cx="16498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Common base period</a:t>
              </a:r>
              <a:endParaRPr lang="ru-RU" altLang="en-US" sz="1200"/>
            </a:p>
          </p:txBody>
        </p:sp>
        <p:sp>
          <p:nvSpPr>
            <p:cNvPr id="35872" name="TextBox 37">
              <a:extLst>
                <a:ext uri="{FF2B5EF4-FFF2-40B4-BE49-F238E27FC236}">
                  <a16:creationId xmlns:a16="http://schemas.microsoft.com/office/drawing/2014/main" id="{437EB5BC-23DF-4508-822B-1F9865F8A1E2}"/>
                </a:ext>
              </a:extLst>
            </p:cNvPr>
            <p:cNvSpPr txBox="1">
              <a:spLocks noChangeArrowheads="1"/>
            </p:cNvSpPr>
            <p:nvPr/>
          </p:nvSpPr>
          <p:spPr bwMode="auto">
            <a:xfrm>
              <a:off x="1691421" y="3093242"/>
              <a:ext cx="10791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Launch clock</a:t>
              </a:r>
            </a:p>
            <a:p>
              <a:pPr algn="ctr" eaLnBrk="1" hangingPunct="1"/>
              <a:r>
                <a:rPr lang="en-US" altLang="en-US" sz="1200"/>
                <a:t>CLK1</a:t>
              </a:r>
              <a:endParaRPr lang="ru-RU" altLang="en-US" sz="1200"/>
            </a:p>
          </p:txBody>
        </p:sp>
        <p:sp>
          <p:nvSpPr>
            <p:cNvPr id="35873" name="TextBox 38">
              <a:extLst>
                <a:ext uri="{FF2B5EF4-FFF2-40B4-BE49-F238E27FC236}">
                  <a16:creationId xmlns:a16="http://schemas.microsoft.com/office/drawing/2014/main" id="{22E92F28-9804-4FB1-BF00-8FB997F5899F}"/>
                </a:ext>
              </a:extLst>
            </p:cNvPr>
            <p:cNvSpPr txBox="1">
              <a:spLocks noChangeArrowheads="1"/>
            </p:cNvSpPr>
            <p:nvPr/>
          </p:nvSpPr>
          <p:spPr bwMode="auto">
            <a:xfrm>
              <a:off x="1694585" y="4002837"/>
              <a:ext cx="11224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Capture clock</a:t>
              </a:r>
            </a:p>
            <a:p>
              <a:pPr algn="ctr" eaLnBrk="1" hangingPunct="1"/>
              <a:r>
                <a:rPr lang="en-US" altLang="en-US" sz="1200"/>
                <a:t>CLK2</a:t>
              </a:r>
              <a:endParaRPr lang="ru-RU" altLang="en-US" sz="1200"/>
            </a:p>
          </p:txBody>
        </p:sp>
        <p:sp>
          <p:nvSpPr>
            <p:cNvPr id="35874" name="TextBox 39">
              <a:extLst>
                <a:ext uri="{FF2B5EF4-FFF2-40B4-BE49-F238E27FC236}">
                  <a16:creationId xmlns:a16="http://schemas.microsoft.com/office/drawing/2014/main" id="{3F6A3956-3DED-4DA5-8497-41D9E8718669}"/>
                </a:ext>
              </a:extLst>
            </p:cNvPr>
            <p:cNvSpPr txBox="1">
              <a:spLocks noChangeArrowheads="1"/>
            </p:cNvSpPr>
            <p:nvPr/>
          </p:nvSpPr>
          <p:spPr bwMode="auto">
            <a:xfrm>
              <a:off x="2563681" y="3553622"/>
              <a:ext cx="8835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100"/>
            </a:p>
            <a:p>
              <a:pPr algn="ctr" eaLnBrk="1" hangingPunct="1"/>
              <a:r>
                <a:rPr lang="en-US" altLang="en-US" sz="1100"/>
                <a:t>Hold check</a:t>
              </a:r>
              <a:endParaRPr lang="ru-RU" altLang="en-US" sz="1100"/>
            </a:p>
          </p:txBody>
        </p:sp>
        <p:sp>
          <p:nvSpPr>
            <p:cNvPr id="35875" name="TextBox 40">
              <a:extLst>
                <a:ext uri="{FF2B5EF4-FFF2-40B4-BE49-F238E27FC236}">
                  <a16:creationId xmlns:a16="http://schemas.microsoft.com/office/drawing/2014/main" id="{E1A4240A-7BAB-419A-B300-BA371F67F73C}"/>
                </a:ext>
              </a:extLst>
            </p:cNvPr>
            <p:cNvSpPr txBox="1">
              <a:spLocks noChangeArrowheads="1"/>
            </p:cNvSpPr>
            <p:nvPr/>
          </p:nvSpPr>
          <p:spPr bwMode="auto">
            <a:xfrm>
              <a:off x="3540787" y="3692122"/>
              <a:ext cx="96051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Setup check</a:t>
              </a:r>
              <a:endParaRPr lang="ru-RU" altLang="en-US" sz="1100"/>
            </a:p>
          </p:txBody>
        </p:sp>
        <p:cxnSp>
          <p:nvCxnSpPr>
            <p:cNvPr id="42" name="Elbow Connector 41">
              <a:extLst>
                <a:ext uri="{FF2B5EF4-FFF2-40B4-BE49-F238E27FC236}">
                  <a16:creationId xmlns:a16="http://schemas.microsoft.com/office/drawing/2014/main" id="{3ACBE7C8-5370-4FB0-93DB-A0DDAB7EC249}"/>
                </a:ext>
              </a:extLst>
            </p:cNvPr>
            <p:cNvCxnSpPr/>
            <p:nvPr/>
          </p:nvCxnSpPr>
          <p:spPr bwMode="auto">
            <a:xfrm flipV="1">
              <a:off x="2702442" y="3991615"/>
              <a:ext cx="730094" cy="438132"/>
            </a:xfrm>
            <a:prstGeom prst="bentConnector3">
              <a:avLst>
                <a:gd name="adj1" fmla="val 3760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8D16ACBA-688D-4EE3-BEDC-AADA6BC9EE3E}"/>
                </a:ext>
              </a:extLst>
            </p:cNvPr>
            <p:cNvCxnSpPr/>
            <p:nvPr/>
          </p:nvCxnSpPr>
          <p:spPr bwMode="auto">
            <a:xfrm rot="16200000" flipH="1">
              <a:off x="3432497" y="3991653"/>
              <a:ext cx="438132" cy="438056"/>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D478FA2C-7368-4026-8EE9-D6C50BC10AC5}"/>
                </a:ext>
              </a:extLst>
            </p:cNvPr>
            <p:cNvCxnSpPr/>
            <p:nvPr/>
          </p:nvCxnSpPr>
          <p:spPr bwMode="auto">
            <a:xfrm flipV="1">
              <a:off x="3870591" y="3991615"/>
              <a:ext cx="474561" cy="438132"/>
            </a:xfrm>
            <a:prstGeom prst="bentConnector3">
              <a:avLst>
                <a:gd name="adj1" fmla="val -16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Elbow Connector 44">
              <a:extLst>
                <a:ext uri="{FF2B5EF4-FFF2-40B4-BE49-F238E27FC236}">
                  <a16:creationId xmlns:a16="http://schemas.microsoft.com/office/drawing/2014/main" id="{41D5AA62-768E-4C5C-AE12-4570AB949106}"/>
                </a:ext>
              </a:extLst>
            </p:cNvPr>
            <p:cNvCxnSpPr/>
            <p:nvPr/>
          </p:nvCxnSpPr>
          <p:spPr bwMode="auto">
            <a:xfrm rot="16200000" flipH="1">
              <a:off x="4345115" y="3991653"/>
              <a:ext cx="438132" cy="438056"/>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04DC0ACB-FE91-4BED-AEA8-E3D8AA7C4759}"/>
                </a:ext>
              </a:extLst>
            </p:cNvPr>
            <p:cNvCxnSpPr/>
            <p:nvPr/>
          </p:nvCxnSpPr>
          <p:spPr bwMode="auto">
            <a:xfrm rot="5400000" flipH="1" flipV="1">
              <a:off x="4783171" y="3991653"/>
              <a:ext cx="438132" cy="438056"/>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Elbow Connector 46">
              <a:extLst>
                <a:ext uri="{FF2B5EF4-FFF2-40B4-BE49-F238E27FC236}">
                  <a16:creationId xmlns:a16="http://schemas.microsoft.com/office/drawing/2014/main" id="{43565C10-CAFF-41FD-9AF1-75A7138E6D7D}"/>
                </a:ext>
              </a:extLst>
            </p:cNvPr>
            <p:cNvCxnSpPr/>
            <p:nvPr/>
          </p:nvCxnSpPr>
          <p:spPr bwMode="auto">
            <a:xfrm rot="16200000" flipH="1">
              <a:off x="5221227" y="3991653"/>
              <a:ext cx="438132" cy="438056"/>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67A26188-63EF-429D-BE2B-50A2CA6949FD}"/>
                </a:ext>
              </a:extLst>
            </p:cNvPr>
            <p:cNvCxnSpPr/>
            <p:nvPr/>
          </p:nvCxnSpPr>
          <p:spPr bwMode="auto">
            <a:xfrm rot="5400000" flipH="1" flipV="1">
              <a:off x="5659284" y="3991653"/>
              <a:ext cx="438132" cy="438056"/>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Elbow Connector 48">
              <a:extLst>
                <a:ext uri="{FF2B5EF4-FFF2-40B4-BE49-F238E27FC236}">
                  <a16:creationId xmlns:a16="http://schemas.microsoft.com/office/drawing/2014/main" id="{4A94160D-1806-4ED8-A878-F3215A114A11}"/>
                </a:ext>
              </a:extLst>
            </p:cNvPr>
            <p:cNvCxnSpPr/>
            <p:nvPr/>
          </p:nvCxnSpPr>
          <p:spPr bwMode="auto">
            <a:xfrm>
              <a:off x="6097378" y="3991615"/>
              <a:ext cx="474560" cy="438132"/>
            </a:xfrm>
            <a:prstGeom prst="bentConnector3">
              <a:avLst>
                <a:gd name="adj1" fmla="val -16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5BF79752-FC42-41D2-AAC4-4FECC5BD9D75}"/>
                </a:ext>
              </a:extLst>
            </p:cNvPr>
            <p:cNvCxnSpPr/>
            <p:nvPr/>
          </p:nvCxnSpPr>
          <p:spPr bwMode="auto">
            <a:xfrm rot="5400000" flipH="1" flipV="1">
              <a:off x="6407629" y="4155924"/>
              <a:ext cx="438132" cy="109515"/>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5885" name="Freeform 50">
              <a:extLst>
                <a:ext uri="{FF2B5EF4-FFF2-40B4-BE49-F238E27FC236}">
                  <a16:creationId xmlns:a16="http://schemas.microsoft.com/office/drawing/2014/main" id="{20C4C8BA-CA21-4475-8212-BB2E74F0DE1C}"/>
                </a:ext>
              </a:extLst>
            </p:cNvPr>
            <p:cNvSpPr>
              <a:spLocks/>
            </p:cNvSpPr>
            <p:nvPr/>
          </p:nvSpPr>
          <p:spPr bwMode="auto">
            <a:xfrm>
              <a:off x="3008668" y="3364692"/>
              <a:ext cx="804863" cy="801688"/>
            </a:xfrm>
            <a:custGeom>
              <a:avLst/>
              <a:gdLst>
                <a:gd name="T0" fmla="*/ 0 w 804863"/>
                <a:gd name="T1" fmla="*/ 11113 h 801688"/>
                <a:gd name="T2" fmla="*/ 233363 w 804863"/>
                <a:gd name="T3" fmla="*/ 44450 h 801688"/>
                <a:gd name="T4" fmla="*/ 428625 w 804863"/>
                <a:gd name="T5" fmla="*/ 277813 h 801688"/>
                <a:gd name="T6" fmla="*/ 619125 w 804863"/>
                <a:gd name="T7" fmla="*/ 639763 h 801688"/>
                <a:gd name="T8" fmla="*/ 714375 w 804863"/>
                <a:gd name="T9" fmla="*/ 763588 h 801688"/>
                <a:gd name="T10" fmla="*/ 804863 w 804863"/>
                <a:gd name="T11" fmla="*/ 801688 h 8016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4863" h="801688">
                  <a:moveTo>
                    <a:pt x="0" y="11113"/>
                  </a:moveTo>
                  <a:cubicBezTo>
                    <a:pt x="80963" y="5556"/>
                    <a:pt x="161926" y="0"/>
                    <a:pt x="233363" y="44450"/>
                  </a:cubicBezTo>
                  <a:cubicBezTo>
                    <a:pt x="304800" y="88900"/>
                    <a:pt x="364331" y="178594"/>
                    <a:pt x="428625" y="277813"/>
                  </a:cubicBezTo>
                  <a:cubicBezTo>
                    <a:pt x="492919" y="377032"/>
                    <a:pt x="571500" y="558801"/>
                    <a:pt x="619125" y="639763"/>
                  </a:cubicBezTo>
                  <a:cubicBezTo>
                    <a:pt x="666750" y="720726"/>
                    <a:pt x="683419" y="736600"/>
                    <a:pt x="714375" y="763588"/>
                  </a:cubicBezTo>
                  <a:cubicBezTo>
                    <a:pt x="745331" y="790576"/>
                    <a:pt x="775097" y="796132"/>
                    <a:pt x="804863" y="801688"/>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886" name="Freeform 51">
              <a:extLst>
                <a:ext uri="{FF2B5EF4-FFF2-40B4-BE49-F238E27FC236}">
                  <a16:creationId xmlns:a16="http://schemas.microsoft.com/office/drawing/2014/main" id="{4D73FCF7-AA0E-48EF-A69F-36F21896EE6A}"/>
                </a:ext>
              </a:extLst>
            </p:cNvPr>
            <p:cNvSpPr>
              <a:spLocks/>
            </p:cNvSpPr>
            <p:nvPr/>
          </p:nvSpPr>
          <p:spPr bwMode="auto">
            <a:xfrm>
              <a:off x="2657831" y="3256742"/>
              <a:ext cx="255587" cy="852488"/>
            </a:xfrm>
            <a:custGeom>
              <a:avLst/>
              <a:gdLst>
                <a:gd name="T0" fmla="*/ 255587 w 255587"/>
                <a:gd name="T1" fmla="*/ 0 h 852488"/>
                <a:gd name="T2" fmla="*/ 79375 w 255587"/>
                <a:gd name="T3" fmla="*/ 166688 h 852488"/>
                <a:gd name="T4" fmla="*/ 3175 w 255587"/>
                <a:gd name="T5" fmla="*/ 481013 h 852488"/>
                <a:gd name="T6" fmla="*/ 98425 w 255587"/>
                <a:gd name="T7" fmla="*/ 766763 h 852488"/>
                <a:gd name="T8" fmla="*/ 246062 w 255587"/>
                <a:gd name="T9" fmla="*/ 852488 h 8524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587" h="852488">
                  <a:moveTo>
                    <a:pt x="255587" y="0"/>
                  </a:moveTo>
                  <a:cubicBezTo>
                    <a:pt x="188515" y="43259"/>
                    <a:pt x="121444" y="86519"/>
                    <a:pt x="79375" y="166688"/>
                  </a:cubicBezTo>
                  <a:cubicBezTo>
                    <a:pt x="37306" y="246857"/>
                    <a:pt x="0" y="381001"/>
                    <a:pt x="3175" y="481013"/>
                  </a:cubicBezTo>
                  <a:cubicBezTo>
                    <a:pt x="6350" y="581025"/>
                    <a:pt x="57944" y="704851"/>
                    <a:pt x="98425" y="766763"/>
                  </a:cubicBezTo>
                  <a:cubicBezTo>
                    <a:pt x="138906" y="828675"/>
                    <a:pt x="246062" y="852488"/>
                    <a:pt x="246062" y="852488"/>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5887" name="Straight Arrow Connector 52">
              <a:extLst>
                <a:ext uri="{FF2B5EF4-FFF2-40B4-BE49-F238E27FC236}">
                  <a16:creationId xmlns:a16="http://schemas.microsoft.com/office/drawing/2014/main" id="{C9C9A90B-3812-424B-9EEA-9CD2C99E7C4C}"/>
                </a:ext>
              </a:extLst>
            </p:cNvPr>
            <p:cNvCxnSpPr>
              <a:cxnSpLocks noChangeShapeType="1"/>
            </p:cNvCxnSpPr>
            <p:nvPr/>
          </p:nvCxnSpPr>
          <p:spPr bwMode="auto">
            <a:xfrm rot="5400000" flipH="1" flipV="1">
              <a:off x="2830848" y="3298031"/>
              <a:ext cx="292104"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5888" name="Straight Arrow Connector 53">
              <a:extLst>
                <a:ext uri="{FF2B5EF4-FFF2-40B4-BE49-F238E27FC236}">
                  <a16:creationId xmlns:a16="http://schemas.microsoft.com/office/drawing/2014/main" id="{23737B6F-E3C6-4173-AC5D-DCBB63172D3F}"/>
                </a:ext>
              </a:extLst>
            </p:cNvPr>
            <p:cNvCxnSpPr>
              <a:cxnSpLocks noChangeShapeType="1"/>
            </p:cNvCxnSpPr>
            <p:nvPr/>
          </p:nvCxnSpPr>
          <p:spPr bwMode="auto">
            <a:xfrm rot="5400000" flipH="1" flipV="1">
              <a:off x="2836405" y="4246575"/>
              <a:ext cx="292104"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5889" name="Straight Arrow Connector 54">
              <a:extLst>
                <a:ext uri="{FF2B5EF4-FFF2-40B4-BE49-F238E27FC236}">
                  <a16:creationId xmlns:a16="http://schemas.microsoft.com/office/drawing/2014/main" id="{818A4153-80D4-4067-84B8-25567E1D25FF}"/>
                </a:ext>
              </a:extLst>
            </p:cNvPr>
            <p:cNvCxnSpPr>
              <a:cxnSpLocks noChangeShapeType="1"/>
            </p:cNvCxnSpPr>
            <p:nvPr/>
          </p:nvCxnSpPr>
          <p:spPr bwMode="auto">
            <a:xfrm rot="5400000" flipH="1" flipV="1">
              <a:off x="3725415" y="4200536"/>
              <a:ext cx="292104"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5890" name="Straight Arrow Connector 55">
              <a:extLst>
                <a:ext uri="{FF2B5EF4-FFF2-40B4-BE49-F238E27FC236}">
                  <a16:creationId xmlns:a16="http://schemas.microsoft.com/office/drawing/2014/main" id="{10989368-66C8-4CF1-93DE-DC3541EC0218}"/>
                </a:ext>
              </a:extLst>
            </p:cNvPr>
            <p:cNvCxnSpPr>
              <a:cxnSpLocks noChangeShapeType="1"/>
            </p:cNvCxnSpPr>
            <p:nvPr/>
          </p:nvCxnSpPr>
          <p:spPr bwMode="auto">
            <a:xfrm rot="5400000" flipH="1" flipV="1">
              <a:off x="5514552" y="4208471"/>
              <a:ext cx="292104"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5891" name="TextBox 56">
              <a:extLst>
                <a:ext uri="{FF2B5EF4-FFF2-40B4-BE49-F238E27FC236}">
                  <a16:creationId xmlns:a16="http://schemas.microsoft.com/office/drawing/2014/main" id="{7A7FB2F9-8473-4BAB-B687-99948C99499D}"/>
                </a:ext>
              </a:extLst>
            </p:cNvPr>
            <p:cNvSpPr txBox="1">
              <a:spLocks noChangeArrowheads="1"/>
            </p:cNvSpPr>
            <p:nvPr/>
          </p:nvSpPr>
          <p:spPr bwMode="auto">
            <a:xfrm>
              <a:off x="2853072" y="4401356"/>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0</a:t>
              </a:r>
              <a:endParaRPr lang="ru-RU" altLang="en-US" sz="1100"/>
            </a:p>
          </p:txBody>
        </p:sp>
        <p:sp>
          <p:nvSpPr>
            <p:cNvPr id="35892" name="TextBox 57">
              <a:extLst>
                <a:ext uri="{FF2B5EF4-FFF2-40B4-BE49-F238E27FC236}">
                  <a16:creationId xmlns:a16="http://schemas.microsoft.com/office/drawing/2014/main" id="{D5D5D94E-F02E-4F54-8D26-D8E1652BE70D}"/>
                </a:ext>
              </a:extLst>
            </p:cNvPr>
            <p:cNvSpPr txBox="1">
              <a:spLocks noChangeArrowheads="1"/>
            </p:cNvSpPr>
            <p:nvPr/>
          </p:nvSpPr>
          <p:spPr bwMode="auto">
            <a:xfrm>
              <a:off x="3748782" y="4407710"/>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5</a:t>
              </a:r>
              <a:endParaRPr lang="ru-RU" altLang="en-US" sz="1100"/>
            </a:p>
          </p:txBody>
        </p:sp>
        <p:sp>
          <p:nvSpPr>
            <p:cNvPr id="35893" name="TextBox 58">
              <a:extLst>
                <a:ext uri="{FF2B5EF4-FFF2-40B4-BE49-F238E27FC236}">
                  <a16:creationId xmlns:a16="http://schemas.microsoft.com/office/drawing/2014/main" id="{856DC39A-206B-4CBA-BDDD-28073C7B7130}"/>
                </a:ext>
              </a:extLst>
            </p:cNvPr>
            <p:cNvSpPr txBox="1">
              <a:spLocks noChangeArrowheads="1"/>
            </p:cNvSpPr>
            <p:nvPr/>
          </p:nvSpPr>
          <p:spPr bwMode="auto">
            <a:xfrm>
              <a:off x="6390070" y="4415645"/>
              <a:ext cx="3834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20</a:t>
              </a:r>
              <a:endParaRPr lang="ru-RU" altLang="en-US" sz="1100"/>
            </a:p>
          </p:txBody>
        </p:sp>
        <p:sp>
          <p:nvSpPr>
            <p:cNvPr id="60" name="Cloud 59">
              <a:extLst>
                <a:ext uri="{FF2B5EF4-FFF2-40B4-BE49-F238E27FC236}">
                  <a16:creationId xmlns:a16="http://schemas.microsoft.com/office/drawing/2014/main" id="{838CE23F-1D7E-405F-889C-A0A83871F13E}"/>
                </a:ext>
              </a:extLst>
            </p:cNvPr>
            <p:cNvSpPr/>
            <p:nvPr/>
          </p:nvSpPr>
          <p:spPr bwMode="auto">
            <a:xfrm>
              <a:off x="5221265" y="1418382"/>
              <a:ext cx="604708" cy="301613"/>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200" dirty="0">
                <a:latin typeface="Arial" charset="0"/>
                <a:cs typeface="Arial" charset="0"/>
              </a:endParaRPr>
            </a:p>
            <a:p>
              <a:pPr algn="ctr" eaLnBrk="1" hangingPunct="1">
                <a:defRPr/>
              </a:pPr>
              <a:endParaRPr lang="en-US" sz="1200" dirty="0">
                <a:latin typeface="Arial" charset="0"/>
                <a:cs typeface="Arial"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84AAB7C-5CC4-4912-AB45-1EC5D8039F49}"/>
              </a:ext>
            </a:extLst>
          </p:cNvPr>
          <p:cNvSpPr>
            <a:spLocks noGrp="1"/>
          </p:cNvSpPr>
          <p:nvPr>
            <p:ph type="title"/>
          </p:nvPr>
        </p:nvSpPr>
        <p:spPr/>
        <p:txBody>
          <a:bodyPr/>
          <a:lstStyle/>
          <a:p>
            <a:r>
              <a:rPr lang="en-US" altLang="en-US"/>
              <a:t>Fast to Slow Clock Domain</a:t>
            </a:r>
            <a:endParaRPr lang="en-US" altLang="en-US" b="0"/>
          </a:p>
        </p:txBody>
      </p:sp>
      <p:sp>
        <p:nvSpPr>
          <p:cNvPr id="3" name="Content Placeholder 2">
            <a:extLst>
              <a:ext uri="{FF2B5EF4-FFF2-40B4-BE49-F238E27FC236}">
                <a16:creationId xmlns:a16="http://schemas.microsoft.com/office/drawing/2014/main" id="{213C8535-96BF-4470-AE69-DDC10F0E3C73}"/>
              </a:ext>
            </a:extLst>
          </p:cNvPr>
          <p:cNvSpPr>
            <a:spLocks noGrp="1"/>
          </p:cNvSpPr>
          <p:nvPr>
            <p:ph type="body" sz="quarter" idx="10"/>
          </p:nvPr>
        </p:nvSpPr>
        <p:spPr>
          <a:xfrm>
            <a:off x="457200" y="1188720"/>
            <a:ext cx="10193559" cy="806770"/>
          </a:xfrm>
          <a:solidFill>
            <a:schemeClr val="accent1">
              <a:lumMod val="20000"/>
              <a:lumOff val="80000"/>
            </a:schemeClr>
          </a:solidFill>
          <a:ln w="28575">
            <a:solidFill>
              <a:schemeClr val="accent1">
                <a:lumMod val="75000"/>
              </a:schemeClr>
            </a:solidFill>
          </a:ln>
        </p:spPr>
        <p:txBody>
          <a:bodyPr/>
          <a:lstStyle/>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 </a:t>
            </a:r>
            <a:r>
              <a:rPr lang="en-US" sz="1600" dirty="0">
                <a:latin typeface="Courier New" pitchFamily="49" charset="0"/>
                <a:cs typeface="Courier New" pitchFamily="49" charset="0"/>
              </a:rPr>
              <a:t>CLK1 -</a:t>
            </a:r>
            <a:r>
              <a:rPr lang="en-US" sz="1600" dirty="0">
                <a:solidFill>
                  <a:srgbClr val="0000FF"/>
                </a:solidFill>
                <a:latin typeface="Courier New" pitchFamily="49" charset="0"/>
                <a:cs typeface="Courier New" pitchFamily="49" charset="0"/>
              </a:rPr>
              <a:t>period</a:t>
            </a:r>
            <a:r>
              <a:rPr lang="en-US" sz="1600" dirty="0">
                <a:latin typeface="Courier New" pitchFamily="49" charset="0"/>
                <a:cs typeface="Courier New" pitchFamily="49" charset="0"/>
              </a:rPr>
              <a:t> 5 -</a:t>
            </a:r>
            <a:r>
              <a:rPr lang="en-US" sz="1600" dirty="0">
                <a:solidFill>
                  <a:srgbClr val="0000FF"/>
                </a:solidFill>
                <a:latin typeface="Courier New" pitchFamily="49" charset="0"/>
                <a:cs typeface="Courier New" pitchFamily="49" charset="0"/>
              </a:rPr>
              <a:t>waveform </a:t>
            </a:r>
            <a:r>
              <a:rPr lang="en-US" sz="1600" dirty="0">
                <a:latin typeface="Courier New" pitchFamily="49" charset="0"/>
                <a:cs typeface="Courier New" pitchFamily="49" charset="0"/>
              </a:rPr>
              <a:t>{0 2.5} [</a:t>
            </a:r>
            <a:r>
              <a:rPr lang="en-US" sz="1600" dirty="0" err="1">
                <a:solidFill>
                  <a:srgbClr val="0000FF"/>
                </a:solidFill>
                <a:latin typeface="Courier New" pitchFamily="49" charset="0"/>
                <a:cs typeface="Courier New" pitchFamily="49" charset="0"/>
              </a:rPr>
              <a:t>get_ports</a:t>
            </a:r>
            <a:r>
              <a:rPr lang="en-US" sz="1600" dirty="0">
                <a:solidFill>
                  <a:srgbClr val="0000FF"/>
                </a:solidFill>
                <a:latin typeface="Courier New" pitchFamily="49" charset="0"/>
                <a:cs typeface="Courier New" pitchFamily="49" charset="0"/>
              </a:rPr>
              <a:t> </a:t>
            </a:r>
            <a:r>
              <a:rPr lang="en-US" sz="1600" dirty="0">
                <a:latin typeface="Courier New" pitchFamily="49" charset="0"/>
                <a:cs typeface="Courier New" pitchFamily="49" charset="0"/>
              </a:rPr>
              <a:t>CLK1]</a:t>
            </a:r>
          </a:p>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-name</a:t>
            </a:r>
            <a:r>
              <a:rPr lang="en-US" sz="1600" dirty="0">
                <a:latin typeface="Courier New" pitchFamily="49" charset="0"/>
                <a:cs typeface="Courier New" pitchFamily="49" charset="0"/>
              </a:rPr>
              <a:t> CLK2 -</a:t>
            </a:r>
            <a:r>
              <a:rPr lang="en-US" sz="1600" dirty="0">
                <a:solidFill>
                  <a:srgbClr val="0000FF"/>
                </a:solidFill>
                <a:latin typeface="Courier New" pitchFamily="49" charset="0"/>
                <a:cs typeface="Courier New" pitchFamily="49" charset="0"/>
              </a:rPr>
              <a:t>period</a:t>
            </a:r>
            <a:r>
              <a:rPr lang="en-US" sz="1600" dirty="0">
                <a:latin typeface="Courier New" pitchFamily="49" charset="0"/>
                <a:cs typeface="Courier New" pitchFamily="49" charset="0"/>
              </a:rPr>
              <a:t> 20 -</a:t>
            </a:r>
            <a:r>
              <a:rPr lang="en-US" sz="1600" dirty="0">
                <a:solidFill>
                  <a:srgbClr val="0000FF"/>
                </a:solidFill>
                <a:latin typeface="Courier New" pitchFamily="49" charset="0"/>
                <a:cs typeface="Courier New" pitchFamily="49" charset="0"/>
              </a:rPr>
              <a:t>waveform</a:t>
            </a:r>
            <a:r>
              <a:rPr lang="en-US" sz="1600" dirty="0">
                <a:latin typeface="Courier New" pitchFamily="49" charset="0"/>
                <a:cs typeface="Courier New" pitchFamily="49" charset="0"/>
              </a:rPr>
              <a:t> {0 10}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CLK2]</a:t>
            </a:r>
          </a:p>
        </p:txBody>
      </p:sp>
      <p:sp>
        <p:nvSpPr>
          <p:cNvPr id="36868" name="Rectangle 5">
            <a:extLst>
              <a:ext uri="{FF2B5EF4-FFF2-40B4-BE49-F238E27FC236}">
                <a16:creationId xmlns:a16="http://schemas.microsoft.com/office/drawing/2014/main" id="{18EE90ED-2541-45B1-A121-692962730632}"/>
              </a:ext>
            </a:extLst>
          </p:cNvPr>
          <p:cNvSpPr>
            <a:spLocks noChangeArrowheads="1"/>
          </p:cNvSpPr>
          <p:nvPr/>
        </p:nvSpPr>
        <p:spPr bwMode="auto">
          <a:xfrm>
            <a:off x="7458938" y="2751636"/>
            <a:ext cx="358775" cy="6207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6869" name="Isosceles Triangle 6">
            <a:extLst>
              <a:ext uri="{FF2B5EF4-FFF2-40B4-BE49-F238E27FC236}">
                <a16:creationId xmlns:a16="http://schemas.microsoft.com/office/drawing/2014/main" id="{59EE1E55-004E-4546-B638-CD843028D00A}"/>
              </a:ext>
            </a:extLst>
          </p:cNvPr>
          <p:cNvSpPr>
            <a:spLocks noChangeArrowheads="1"/>
          </p:cNvSpPr>
          <p:nvPr/>
        </p:nvSpPr>
        <p:spPr bwMode="auto">
          <a:xfrm rot="5400000">
            <a:off x="7465288" y="3238999"/>
            <a:ext cx="53975" cy="66675"/>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 name="TextBox 7">
            <a:extLst>
              <a:ext uri="{FF2B5EF4-FFF2-40B4-BE49-F238E27FC236}">
                <a16:creationId xmlns:a16="http://schemas.microsoft.com/office/drawing/2014/main" id="{9E672091-4F02-4B72-B4F8-5DAF5C1D4BEE}"/>
              </a:ext>
            </a:extLst>
          </p:cNvPr>
          <p:cNvSpPr txBox="1"/>
          <p:nvPr/>
        </p:nvSpPr>
        <p:spPr>
          <a:xfrm>
            <a:off x="7377975" y="2761161"/>
            <a:ext cx="500063" cy="246062"/>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9" name="TextBox 8">
            <a:extLst>
              <a:ext uri="{FF2B5EF4-FFF2-40B4-BE49-F238E27FC236}">
                <a16:creationId xmlns:a16="http://schemas.microsoft.com/office/drawing/2014/main" id="{5750DD0A-7065-4CE5-9539-F9B0113ADBAA}"/>
              </a:ext>
            </a:extLst>
          </p:cNvPr>
          <p:cNvSpPr txBox="1"/>
          <p:nvPr/>
        </p:nvSpPr>
        <p:spPr>
          <a:xfrm>
            <a:off x="7452588" y="3119936"/>
            <a:ext cx="447675" cy="254000"/>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6872" name="Straight Connector 9">
            <a:extLst>
              <a:ext uri="{FF2B5EF4-FFF2-40B4-BE49-F238E27FC236}">
                <a16:creationId xmlns:a16="http://schemas.microsoft.com/office/drawing/2014/main" id="{DD9F7916-F481-4775-9E0C-DA13A45460EB}"/>
              </a:ext>
            </a:extLst>
          </p:cNvPr>
          <p:cNvCxnSpPr>
            <a:cxnSpLocks noChangeShapeType="1"/>
          </p:cNvCxnSpPr>
          <p:nvPr/>
        </p:nvCxnSpPr>
        <p:spPr bwMode="auto">
          <a:xfrm>
            <a:off x="7306538" y="2867523"/>
            <a:ext cx="149225" cy="0"/>
          </a:xfrm>
          <a:prstGeom prst="line">
            <a:avLst/>
          </a:prstGeom>
          <a:noFill/>
          <a:ln w="9525" algn="ctr">
            <a:solidFill>
              <a:schemeClr val="tx1"/>
            </a:solidFill>
            <a:round/>
            <a:headEnd/>
            <a:tailEnd/>
          </a:ln>
        </p:spPr>
      </p:cxnSp>
      <p:cxnSp>
        <p:nvCxnSpPr>
          <p:cNvPr id="36873" name="Straight Connector 10">
            <a:extLst>
              <a:ext uri="{FF2B5EF4-FFF2-40B4-BE49-F238E27FC236}">
                <a16:creationId xmlns:a16="http://schemas.microsoft.com/office/drawing/2014/main" id="{C75F590E-9286-43C6-A17B-9B21E128F581}"/>
              </a:ext>
            </a:extLst>
          </p:cNvPr>
          <p:cNvCxnSpPr>
            <a:cxnSpLocks noChangeShapeType="1"/>
          </p:cNvCxnSpPr>
          <p:nvPr/>
        </p:nvCxnSpPr>
        <p:spPr bwMode="auto">
          <a:xfrm>
            <a:off x="7812949" y="2872286"/>
            <a:ext cx="173038" cy="0"/>
          </a:xfrm>
          <a:prstGeom prst="line">
            <a:avLst/>
          </a:prstGeom>
          <a:noFill/>
          <a:ln w="9525" algn="ctr">
            <a:solidFill>
              <a:schemeClr val="tx1"/>
            </a:solidFill>
            <a:round/>
            <a:headEnd/>
            <a:tailEnd/>
          </a:ln>
        </p:spPr>
      </p:cxnSp>
      <p:cxnSp>
        <p:nvCxnSpPr>
          <p:cNvPr id="36874" name="Straight Connector 11">
            <a:extLst>
              <a:ext uri="{FF2B5EF4-FFF2-40B4-BE49-F238E27FC236}">
                <a16:creationId xmlns:a16="http://schemas.microsoft.com/office/drawing/2014/main" id="{AA8D77B8-02D2-41BE-96FB-9BD300A441DA}"/>
              </a:ext>
            </a:extLst>
          </p:cNvPr>
          <p:cNvCxnSpPr>
            <a:cxnSpLocks noChangeShapeType="1"/>
          </p:cNvCxnSpPr>
          <p:nvPr/>
        </p:nvCxnSpPr>
        <p:spPr bwMode="auto">
          <a:xfrm>
            <a:off x="7306538" y="3270748"/>
            <a:ext cx="149225" cy="0"/>
          </a:xfrm>
          <a:prstGeom prst="line">
            <a:avLst/>
          </a:prstGeom>
          <a:noFill/>
          <a:ln w="9525" algn="ctr">
            <a:solidFill>
              <a:schemeClr val="tx1"/>
            </a:solidFill>
            <a:round/>
            <a:headEnd/>
            <a:tailEnd/>
          </a:ln>
        </p:spPr>
      </p:cxnSp>
      <p:sp>
        <p:nvSpPr>
          <p:cNvPr id="36875" name="Rectangle 13">
            <a:extLst>
              <a:ext uri="{FF2B5EF4-FFF2-40B4-BE49-F238E27FC236}">
                <a16:creationId xmlns:a16="http://schemas.microsoft.com/office/drawing/2014/main" id="{61119035-6921-4B04-B7FC-46C65774CA36}"/>
              </a:ext>
            </a:extLst>
          </p:cNvPr>
          <p:cNvSpPr>
            <a:spLocks noChangeArrowheads="1"/>
          </p:cNvSpPr>
          <p:nvPr/>
        </p:nvSpPr>
        <p:spPr bwMode="auto">
          <a:xfrm>
            <a:off x="5780950" y="2761161"/>
            <a:ext cx="358775" cy="6207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6876" name="Isosceles Triangle 14">
            <a:extLst>
              <a:ext uri="{FF2B5EF4-FFF2-40B4-BE49-F238E27FC236}">
                <a16:creationId xmlns:a16="http://schemas.microsoft.com/office/drawing/2014/main" id="{344C8C58-5D54-4A90-AB31-ABF8648D608D}"/>
              </a:ext>
            </a:extLst>
          </p:cNvPr>
          <p:cNvSpPr>
            <a:spLocks noChangeArrowheads="1"/>
          </p:cNvSpPr>
          <p:nvPr/>
        </p:nvSpPr>
        <p:spPr bwMode="auto">
          <a:xfrm rot="5400000">
            <a:off x="5788094" y="3247730"/>
            <a:ext cx="53975" cy="68263"/>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6" name="TextBox 15">
            <a:extLst>
              <a:ext uri="{FF2B5EF4-FFF2-40B4-BE49-F238E27FC236}">
                <a16:creationId xmlns:a16="http://schemas.microsoft.com/office/drawing/2014/main" id="{763480FA-AD12-4DE9-A229-A5F83B1D9B8B}"/>
              </a:ext>
            </a:extLst>
          </p:cNvPr>
          <p:cNvSpPr txBox="1"/>
          <p:nvPr/>
        </p:nvSpPr>
        <p:spPr>
          <a:xfrm>
            <a:off x="5699987" y="2770686"/>
            <a:ext cx="500062" cy="246062"/>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7" name="TextBox 16">
            <a:extLst>
              <a:ext uri="{FF2B5EF4-FFF2-40B4-BE49-F238E27FC236}">
                <a16:creationId xmlns:a16="http://schemas.microsoft.com/office/drawing/2014/main" id="{FC772C7A-9B88-46ED-9332-814890C011AF}"/>
              </a:ext>
            </a:extLst>
          </p:cNvPr>
          <p:cNvSpPr txBox="1"/>
          <p:nvPr/>
        </p:nvSpPr>
        <p:spPr>
          <a:xfrm>
            <a:off x="5774600" y="3143748"/>
            <a:ext cx="447675" cy="254000"/>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6879" name="Straight Connector 17">
            <a:extLst>
              <a:ext uri="{FF2B5EF4-FFF2-40B4-BE49-F238E27FC236}">
                <a16:creationId xmlns:a16="http://schemas.microsoft.com/office/drawing/2014/main" id="{35863110-570C-4029-8299-DB8D74A5825F}"/>
              </a:ext>
            </a:extLst>
          </p:cNvPr>
          <p:cNvCxnSpPr>
            <a:cxnSpLocks noChangeShapeType="1"/>
          </p:cNvCxnSpPr>
          <p:nvPr/>
        </p:nvCxnSpPr>
        <p:spPr bwMode="auto">
          <a:xfrm>
            <a:off x="5628550" y="2877048"/>
            <a:ext cx="150813" cy="0"/>
          </a:xfrm>
          <a:prstGeom prst="line">
            <a:avLst/>
          </a:prstGeom>
          <a:noFill/>
          <a:ln w="9525" algn="ctr">
            <a:solidFill>
              <a:schemeClr val="tx1"/>
            </a:solidFill>
            <a:round/>
            <a:headEnd/>
            <a:tailEnd/>
          </a:ln>
        </p:spPr>
      </p:cxnSp>
      <p:cxnSp>
        <p:nvCxnSpPr>
          <p:cNvPr id="36880" name="Straight Connector 18">
            <a:extLst>
              <a:ext uri="{FF2B5EF4-FFF2-40B4-BE49-F238E27FC236}">
                <a16:creationId xmlns:a16="http://schemas.microsoft.com/office/drawing/2014/main" id="{8B2E8F3E-97B4-4C25-8464-97302A267A5F}"/>
              </a:ext>
            </a:extLst>
          </p:cNvPr>
          <p:cNvCxnSpPr>
            <a:cxnSpLocks noChangeShapeType="1"/>
          </p:cNvCxnSpPr>
          <p:nvPr/>
        </p:nvCxnSpPr>
        <p:spPr bwMode="auto">
          <a:xfrm>
            <a:off x="6144488" y="2864348"/>
            <a:ext cx="693737" cy="0"/>
          </a:xfrm>
          <a:prstGeom prst="line">
            <a:avLst/>
          </a:prstGeom>
          <a:noFill/>
          <a:ln w="9525" algn="ctr">
            <a:solidFill>
              <a:schemeClr val="tx1"/>
            </a:solidFill>
            <a:round/>
            <a:headEnd/>
            <a:tailEnd/>
          </a:ln>
        </p:spPr>
      </p:cxnSp>
      <p:sp>
        <p:nvSpPr>
          <p:cNvPr id="36881" name="TextBox 23">
            <a:extLst>
              <a:ext uri="{FF2B5EF4-FFF2-40B4-BE49-F238E27FC236}">
                <a16:creationId xmlns:a16="http://schemas.microsoft.com/office/drawing/2014/main" id="{D95A7E77-ED0A-4365-9843-5FE70F1A09A2}"/>
              </a:ext>
            </a:extLst>
          </p:cNvPr>
          <p:cNvSpPr txBox="1">
            <a:spLocks noChangeArrowheads="1"/>
          </p:cNvSpPr>
          <p:nvPr/>
        </p:nvSpPr>
        <p:spPr bwMode="auto">
          <a:xfrm>
            <a:off x="4903063" y="3418387"/>
            <a:ext cx="4730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CLK2</a:t>
            </a:r>
            <a:endParaRPr lang="ru-RU" altLang="en-US"/>
          </a:p>
        </p:txBody>
      </p:sp>
      <p:sp>
        <p:nvSpPr>
          <p:cNvPr id="36882" name="TextBox 24">
            <a:extLst>
              <a:ext uri="{FF2B5EF4-FFF2-40B4-BE49-F238E27FC236}">
                <a16:creationId xmlns:a16="http://schemas.microsoft.com/office/drawing/2014/main" id="{7103337E-F4A6-4611-A6A2-428E39B10819}"/>
              </a:ext>
            </a:extLst>
          </p:cNvPr>
          <p:cNvSpPr txBox="1">
            <a:spLocks noChangeArrowheads="1"/>
          </p:cNvSpPr>
          <p:nvPr/>
        </p:nvSpPr>
        <p:spPr bwMode="auto">
          <a:xfrm>
            <a:off x="3328263" y="3053262"/>
            <a:ext cx="4730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CLK1</a:t>
            </a:r>
            <a:endParaRPr lang="ru-RU" altLang="en-US"/>
          </a:p>
        </p:txBody>
      </p:sp>
      <p:cxnSp>
        <p:nvCxnSpPr>
          <p:cNvPr id="36883" name="Straight Connector 26">
            <a:extLst>
              <a:ext uri="{FF2B5EF4-FFF2-40B4-BE49-F238E27FC236}">
                <a16:creationId xmlns:a16="http://schemas.microsoft.com/office/drawing/2014/main" id="{57D51E24-E00A-453D-A39A-7FE8054CA499}"/>
              </a:ext>
            </a:extLst>
          </p:cNvPr>
          <p:cNvCxnSpPr>
            <a:cxnSpLocks noChangeShapeType="1"/>
            <a:stCxn id="36876" idx="3"/>
          </p:cNvCxnSpPr>
          <p:nvPr/>
        </p:nvCxnSpPr>
        <p:spPr bwMode="auto">
          <a:xfrm rot="10800000">
            <a:off x="3328263" y="3281861"/>
            <a:ext cx="2452687" cy="0"/>
          </a:xfrm>
          <a:prstGeom prst="line">
            <a:avLst/>
          </a:prstGeom>
          <a:noFill/>
          <a:ln w="9525" algn="ctr">
            <a:solidFill>
              <a:schemeClr val="tx1"/>
            </a:solidFill>
            <a:round/>
            <a:headEnd/>
            <a:tailEnd/>
          </a:ln>
        </p:spPr>
      </p:cxnSp>
      <p:cxnSp>
        <p:nvCxnSpPr>
          <p:cNvPr id="29" name="Elbow Connector 28">
            <a:extLst>
              <a:ext uri="{FF2B5EF4-FFF2-40B4-BE49-F238E27FC236}">
                <a16:creationId xmlns:a16="http://schemas.microsoft.com/office/drawing/2014/main" id="{366B3CE6-F15C-40DD-B25A-F26791276E93}"/>
              </a:ext>
            </a:extLst>
          </p:cNvPr>
          <p:cNvCxnSpPr/>
          <p:nvPr/>
        </p:nvCxnSpPr>
        <p:spPr bwMode="auto">
          <a:xfrm flipV="1">
            <a:off x="3807688" y="4088311"/>
            <a:ext cx="758825" cy="438150"/>
          </a:xfrm>
          <a:prstGeom prst="bentConnector3">
            <a:avLst>
              <a:gd name="adj1" fmla="val 3760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Elbow Connector 29">
            <a:extLst>
              <a:ext uri="{FF2B5EF4-FFF2-40B4-BE49-F238E27FC236}">
                <a16:creationId xmlns:a16="http://schemas.microsoft.com/office/drawing/2014/main" id="{67C55E69-8A1A-487C-A074-F1A06B93361A}"/>
              </a:ext>
            </a:extLst>
          </p:cNvPr>
          <p:cNvCxnSpPr/>
          <p:nvPr/>
        </p:nvCxnSpPr>
        <p:spPr bwMode="auto">
          <a:xfrm rot="16200000" flipH="1">
            <a:off x="4574450" y="4080374"/>
            <a:ext cx="438150" cy="454025"/>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5FB1E582-2797-4BE9-BD02-7C49F4BB2451}"/>
              </a:ext>
            </a:extLst>
          </p:cNvPr>
          <p:cNvCxnSpPr/>
          <p:nvPr/>
        </p:nvCxnSpPr>
        <p:spPr bwMode="auto">
          <a:xfrm flipV="1">
            <a:off x="5020537" y="4088311"/>
            <a:ext cx="493712" cy="438150"/>
          </a:xfrm>
          <a:prstGeom prst="bentConnector3">
            <a:avLst>
              <a:gd name="adj1" fmla="val -16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Elbow Connector 31">
            <a:extLst>
              <a:ext uri="{FF2B5EF4-FFF2-40B4-BE49-F238E27FC236}">
                <a16:creationId xmlns:a16="http://schemas.microsoft.com/office/drawing/2014/main" id="{C4D43560-573A-42DC-8215-C518FFA34360}"/>
              </a:ext>
            </a:extLst>
          </p:cNvPr>
          <p:cNvCxnSpPr/>
          <p:nvPr/>
        </p:nvCxnSpPr>
        <p:spPr bwMode="auto">
          <a:xfrm rot="16200000" flipH="1">
            <a:off x="5522187" y="4080374"/>
            <a:ext cx="438150" cy="454025"/>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1BC3B641-0BFD-4F56-9976-E125D2958AB1}"/>
              </a:ext>
            </a:extLst>
          </p:cNvPr>
          <p:cNvCxnSpPr/>
          <p:nvPr/>
        </p:nvCxnSpPr>
        <p:spPr bwMode="auto">
          <a:xfrm rot="5400000" flipH="1" flipV="1">
            <a:off x="5977006" y="4079580"/>
            <a:ext cx="438150" cy="455613"/>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59A71750-B86E-4BC8-B5E9-3954F237234D}"/>
              </a:ext>
            </a:extLst>
          </p:cNvPr>
          <p:cNvCxnSpPr/>
          <p:nvPr/>
        </p:nvCxnSpPr>
        <p:spPr bwMode="auto">
          <a:xfrm rot="16200000" flipH="1">
            <a:off x="6431825" y="4080374"/>
            <a:ext cx="438150" cy="454025"/>
          </a:xfrm>
          <a:prstGeom prst="bentConnector3">
            <a:avLst>
              <a:gd name="adj1" fmla="val 10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13994339-FA46-44EA-9AF7-53C3D43272DE}"/>
              </a:ext>
            </a:extLst>
          </p:cNvPr>
          <p:cNvCxnSpPr/>
          <p:nvPr/>
        </p:nvCxnSpPr>
        <p:spPr bwMode="auto">
          <a:xfrm rot="5400000" flipH="1" flipV="1">
            <a:off x="6886643" y="4079580"/>
            <a:ext cx="438150" cy="455612"/>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662AE9B1-0DF4-4192-A3CC-52FD06DC9241}"/>
              </a:ext>
            </a:extLst>
          </p:cNvPr>
          <p:cNvCxnSpPr/>
          <p:nvPr/>
        </p:nvCxnSpPr>
        <p:spPr bwMode="auto">
          <a:xfrm>
            <a:off x="7333525" y="4088311"/>
            <a:ext cx="493713" cy="438150"/>
          </a:xfrm>
          <a:prstGeom prst="bentConnector3">
            <a:avLst>
              <a:gd name="adj1" fmla="val -16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C55DC82D-A832-476A-BE81-73BA36BE7EEA}"/>
              </a:ext>
            </a:extLst>
          </p:cNvPr>
          <p:cNvCxnSpPr/>
          <p:nvPr/>
        </p:nvCxnSpPr>
        <p:spPr bwMode="auto">
          <a:xfrm rot="5400000" flipH="1" flipV="1">
            <a:off x="7664518" y="4251030"/>
            <a:ext cx="438150" cy="112712"/>
          </a:xfrm>
          <a:prstGeom prst="bentConnector3">
            <a:avLst>
              <a:gd name="adj1" fmla="val 9999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893" name="Straight Arrow Connector 37">
            <a:extLst>
              <a:ext uri="{FF2B5EF4-FFF2-40B4-BE49-F238E27FC236}">
                <a16:creationId xmlns:a16="http://schemas.microsoft.com/office/drawing/2014/main" id="{60E61167-1FD3-431A-8205-300DAC3256D8}"/>
              </a:ext>
            </a:extLst>
          </p:cNvPr>
          <p:cNvCxnSpPr>
            <a:cxnSpLocks noChangeShapeType="1"/>
          </p:cNvCxnSpPr>
          <p:nvPr/>
        </p:nvCxnSpPr>
        <p:spPr bwMode="auto">
          <a:xfrm rot="5400000" flipH="1" flipV="1">
            <a:off x="3946593" y="4343104"/>
            <a:ext cx="292100"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6894" name="Straight Arrow Connector 38">
            <a:extLst>
              <a:ext uri="{FF2B5EF4-FFF2-40B4-BE49-F238E27FC236}">
                <a16:creationId xmlns:a16="http://schemas.microsoft.com/office/drawing/2014/main" id="{FAA222EA-4D5B-45AF-B99A-7FA2EE576100}"/>
              </a:ext>
            </a:extLst>
          </p:cNvPr>
          <p:cNvCxnSpPr>
            <a:cxnSpLocks noChangeShapeType="1"/>
          </p:cNvCxnSpPr>
          <p:nvPr/>
        </p:nvCxnSpPr>
        <p:spPr bwMode="auto">
          <a:xfrm rot="5400000" flipH="1" flipV="1">
            <a:off x="4875281" y="4297068"/>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6895" name="Straight Arrow Connector 39">
            <a:extLst>
              <a:ext uri="{FF2B5EF4-FFF2-40B4-BE49-F238E27FC236}">
                <a16:creationId xmlns:a16="http://schemas.microsoft.com/office/drawing/2014/main" id="{27C66F23-48A0-4242-A09E-642EAB6BE246}"/>
              </a:ext>
            </a:extLst>
          </p:cNvPr>
          <p:cNvCxnSpPr>
            <a:cxnSpLocks noChangeShapeType="1"/>
          </p:cNvCxnSpPr>
          <p:nvPr/>
        </p:nvCxnSpPr>
        <p:spPr bwMode="auto">
          <a:xfrm rot="5400000" flipH="1" flipV="1">
            <a:off x="6733450" y="4304211"/>
            <a:ext cx="292100" cy="3175"/>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6896" name="Straight Arrow Connector 40">
            <a:extLst>
              <a:ext uri="{FF2B5EF4-FFF2-40B4-BE49-F238E27FC236}">
                <a16:creationId xmlns:a16="http://schemas.microsoft.com/office/drawing/2014/main" id="{49895C62-E121-440A-8471-5310F4F05DC8}"/>
              </a:ext>
            </a:extLst>
          </p:cNvPr>
          <p:cNvCxnSpPr>
            <a:cxnSpLocks noChangeShapeType="1"/>
          </p:cNvCxnSpPr>
          <p:nvPr/>
        </p:nvCxnSpPr>
        <p:spPr bwMode="auto">
          <a:xfrm rot="5400000" flipH="1" flipV="1">
            <a:off x="5823018" y="4311354"/>
            <a:ext cx="292100"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6897" name="Straight Arrow Connector 41">
            <a:extLst>
              <a:ext uri="{FF2B5EF4-FFF2-40B4-BE49-F238E27FC236}">
                <a16:creationId xmlns:a16="http://schemas.microsoft.com/office/drawing/2014/main" id="{2DB1C8C1-5B9A-438A-BBDD-F8FB8626AD7A}"/>
              </a:ext>
            </a:extLst>
          </p:cNvPr>
          <p:cNvCxnSpPr>
            <a:cxnSpLocks noChangeShapeType="1"/>
          </p:cNvCxnSpPr>
          <p:nvPr/>
        </p:nvCxnSpPr>
        <p:spPr bwMode="auto">
          <a:xfrm rot="5400000" flipH="1" flipV="1">
            <a:off x="7678806" y="4305005"/>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3" name="Elbow Connector 42">
            <a:extLst>
              <a:ext uri="{FF2B5EF4-FFF2-40B4-BE49-F238E27FC236}">
                <a16:creationId xmlns:a16="http://schemas.microsoft.com/office/drawing/2014/main" id="{356EDBE6-AE37-4659-87F5-3BAF205D3F44}"/>
              </a:ext>
            </a:extLst>
          </p:cNvPr>
          <p:cNvCxnSpPr/>
          <p:nvPr/>
        </p:nvCxnSpPr>
        <p:spPr bwMode="auto">
          <a:xfrm flipV="1">
            <a:off x="4112488" y="4805861"/>
            <a:ext cx="1862137" cy="474662"/>
          </a:xfrm>
          <a:prstGeom prst="bentConnector3">
            <a:avLst>
              <a:gd name="adj1" fmla="val -12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2C989D68-18F7-48B6-841E-D28F9110004E}"/>
              </a:ext>
            </a:extLst>
          </p:cNvPr>
          <p:cNvCxnSpPr/>
          <p:nvPr/>
        </p:nvCxnSpPr>
        <p:spPr bwMode="auto">
          <a:xfrm>
            <a:off x="5980974" y="4805861"/>
            <a:ext cx="1862138" cy="474662"/>
          </a:xfrm>
          <a:prstGeom prst="bentConnector3">
            <a:avLst>
              <a:gd name="adj1" fmla="val -12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Elbow Connector 44">
            <a:extLst>
              <a:ext uri="{FF2B5EF4-FFF2-40B4-BE49-F238E27FC236}">
                <a16:creationId xmlns:a16="http://schemas.microsoft.com/office/drawing/2014/main" id="{96C421C7-FBFB-42A4-B315-F0275549442C}"/>
              </a:ext>
            </a:extLst>
          </p:cNvPr>
          <p:cNvCxnSpPr/>
          <p:nvPr/>
        </p:nvCxnSpPr>
        <p:spPr bwMode="auto">
          <a:xfrm rot="5400000" flipH="1" flipV="1">
            <a:off x="7678806" y="4970167"/>
            <a:ext cx="474662" cy="146050"/>
          </a:xfrm>
          <a:prstGeom prst="bentConnector3">
            <a:avLst>
              <a:gd name="adj1" fmla="val 1008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901" name="Straight Connector 45">
            <a:extLst>
              <a:ext uri="{FF2B5EF4-FFF2-40B4-BE49-F238E27FC236}">
                <a16:creationId xmlns:a16="http://schemas.microsoft.com/office/drawing/2014/main" id="{9B82EFD1-38B8-4179-9553-4A48EA41BBB4}"/>
              </a:ext>
            </a:extLst>
          </p:cNvPr>
          <p:cNvCxnSpPr>
            <a:cxnSpLocks noChangeShapeType="1"/>
          </p:cNvCxnSpPr>
          <p:nvPr/>
        </p:nvCxnSpPr>
        <p:spPr bwMode="auto">
          <a:xfrm rot="5400000" flipH="1" flipV="1">
            <a:off x="4624456" y="4878092"/>
            <a:ext cx="803275"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6902" name="Straight Connector 46">
            <a:extLst>
              <a:ext uri="{FF2B5EF4-FFF2-40B4-BE49-F238E27FC236}">
                <a16:creationId xmlns:a16="http://schemas.microsoft.com/office/drawing/2014/main" id="{D9065727-2BA8-4CAF-80AE-4BEFA9141F51}"/>
              </a:ext>
            </a:extLst>
          </p:cNvPr>
          <p:cNvCxnSpPr>
            <a:cxnSpLocks noChangeShapeType="1"/>
          </p:cNvCxnSpPr>
          <p:nvPr/>
        </p:nvCxnSpPr>
        <p:spPr bwMode="auto">
          <a:xfrm rot="5400000" flipH="1" flipV="1">
            <a:off x="6485006" y="4793955"/>
            <a:ext cx="803275"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36903" name="Freeform 47">
            <a:extLst>
              <a:ext uri="{FF2B5EF4-FFF2-40B4-BE49-F238E27FC236}">
                <a16:creationId xmlns:a16="http://schemas.microsoft.com/office/drawing/2014/main" id="{F3430B0C-E1F6-46AD-A1C2-09E83FFC291F}"/>
              </a:ext>
            </a:extLst>
          </p:cNvPr>
          <p:cNvSpPr>
            <a:spLocks/>
          </p:cNvSpPr>
          <p:nvPr/>
        </p:nvSpPr>
        <p:spPr bwMode="auto">
          <a:xfrm>
            <a:off x="4136300" y="4469312"/>
            <a:ext cx="258763" cy="706437"/>
          </a:xfrm>
          <a:custGeom>
            <a:avLst/>
            <a:gdLst>
              <a:gd name="T0" fmla="*/ 0 w 259292"/>
              <a:gd name="T1" fmla="*/ 0 h 706967"/>
              <a:gd name="T2" fmla="*/ 120650 w 259292"/>
              <a:gd name="T3" fmla="*/ 146050 h 706967"/>
              <a:gd name="T4" fmla="*/ 228600 w 259292"/>
              <a:gd name="T5" fmla="*/ 349250 h 706967"/>
              <a:gd name="T6" fmla="*/ 254000 w 259292"/>
              <a:gd name="T7" fmla="*/ 577850 h 706967"/>
              <a:gd name="T8" fmla="*/ 196850 w 259292"/>
              <a:gd name="T9" fmla="*/ 685800 h 706967"/>
              <a:gd name="T10" fmla="*/ 76200 w 259292"/>
              <a:gd name="T11" fmla="*/ 704850 h 7069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9292" h="706967">
                <a:moveTo>
                  <a:pt x="0" y="0"/>
                </a:moveTo>
                <a:cubicBezTo>
                  <a:pt x="41275" y="43921"/>
                  <a:pt x="82550" y="87842"/>
                  <a:pt x="120650" y="146050"/>
                </a:cubicBezTo>
                <a:cubicBezTo>
                  <a:pt x="158750" y="204258"/>
                  <a:pt x="206375" y="277283"/>
                  <a:pt x="228600" y="349250"/>
                </a:cubicBezTo>
                <a:cubicBezTo>
                  <a:pt x="250825" y="421217"/>
                  <a:pt x="259292" y="521758"/>
                  <a:pt x="254000" y="577850"/>
                </a:cubicBezTo>
                <a:cubicBezTo>
                  <a:pt x="248708" y="633942"/>
                  <a:pt x="226483" y="664633"/>
                  <a:pt x="196850" y="685800"/>
                </a:cubicBezTo>
                <a:cubicBezTo>
                  <a:pt x="167217" y="706967"/>
                  <a:pt x="121708" y="705908"/>
                  <a:pt x="76200" y="7048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6904" name="Straight Arrow Connector 48">
            <a:extLst>
              <a:ext uri="{FF2B5EF4-FFF2-40B4-BE49-F238E27FC236}">
                <a16:creationId xmlns:a16="http://schemas.microsoft.com/office/drawing/2014/main" id="{7F9CC043-9142-4F9C-96C3-58D6EC112810}"/>
              </a:ext>
            </a:extLst>
          </p:cNvPr>
          <p:cNvCxnSpPr>
            <a:cxnSpLocks noChangeShapeType="1"/>
          </p:cNvCxnSpPr>
          <p:nvPr/>
        </p:nvCxnSpPr>
        <p:spPr bwMode="auto">
          <a:xfrm rot="5400000" flipH="1" flipV="1">
            <a:off x="3968818" y="5022554"/>
            <a:ext cx="292100"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6905" name="Straight Arrow Connector 49">
            <a:extLst>
              <a:ext uri="{FF2B5EF4-FFF2-40B4-BE49-F238E27FC236}">
                <a16:creationId xmlns:a16="http://schemas.microsoft.com/office/drawing/2014/main" id="{7C95A3DC-3731-4FB9-8765-A5517F808FD7}"/>
              </a:ext>
            </a:extLst>
          </p:cNvPr>
          <p:cNvCxnSpPr>
            <a:cxnSpLocks noChangeShapeType="1"/>
          </p:cNvCxnSpPr>
          <p:nvPr/>
        </p:nvCxnSpPr>
        <p:spPr bwMode="auto">
          <a:xfrm rot="5400000" flipH="1" flipV="1">
            <a:off x="7702618" y="5047954"/>
            <a:ext cx="292100"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6906" name="Freeform 50">
            <a:extLst>
              <a:ext uri="{FF2B5EF4-FFF2-40B4-BE49-F238E27FC236}">
                <a16:creationId xmlns:a16="http://schemas.microsoft.com/office/drawing/2014/main" id="{FF1D240D-1939-4C6D-B09F-FC847F6EE260}"/>
              </a:ext>
            </a:extLst>
          </p:cNvPr>
          <p:cNvSpPr>
            <a:spLocks/>
          </p:cNvSpPr>
          <p:nvPr/>
        </p:nvSpPr>
        <p:spPr bwMode="auto">
          <a:xfrm>
            <a:off x="4117249" y="4399461"/>
            <a:ext cx="3651250" cy="749300"/>
          </a:xfrm>
          <a:custGeom>
            <a:avLst/>
            <a:gdLst>
              <a:gd name="T0" fmla="*/ 0 w 3651250"/>
              <a:gd name="T1" fmla="*/ 0 h 749300"/>
              <a:gd name="T2" fmla="*/ 438150 w 3651250"/>
              <a:gd name="T3" fmla="*/ 273050 h 749300"/>
              <a:gd name="T4" fmla="*/ 1060450 w 3651250"/>
              <a:gd name="T5" fmla="*/ 539750 h 749300"/>
              <a:gd name="T6" fmla="*/ 1771650 w 3651250"/>
              <a:gd name="T7" fmla="*/ 698500 h 749300"/>
              <a:gd name="T8" fmla="*/ 2692400 w 3651250"/>
              <a:gd name="T9" fmla="*/ 742950 h 749300"/>
              <a:gd name="T10" fmla="*/ 3651250 w 3651250"/>
              <a:gd name="T11" fmla="*/ 736600 h 749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51250" h="749300">
                <a:moveTo>
                  <a:pt x="0" y="0"/>
                </a:moveTo>
                <a:cubicBezTo>
                  <a:pt x="130704" y="91546"/>
                  <a:pt x="261408" y="183092"/>
                  <a:pt x="438150" y="273050"/>
                </a:cubicBezTo>
                <a:cubicBezTo>
                  <a:pt x="614892" y="363008"/>
                  <a:pt x="838200" y="468842"/>
                  <a:pt x="1060450" y="539750"/>
                </a:cubicBezTo>
                <a:cubicBezTo>
                  <a:pt x="1282700" y="610658"/>
                  <a:pt x="1499658" y="664633"/>
                  <a:pt x="1771650" y="698500"/>
                </a:cubicBezTo>
                <a:cubicBezTo>
                  <a:pt x="2043642" y="732367"/>
                  <a:pt x="2379133" y="736600"/>
                  <a:pt x="2692400" y="742950"/>
                </a:cubicBezTo>
                <a:cubicBezTo>
                  <a:pt x="3005667" y="749300"/>
                  <a:pt x="3328458" y="742950"/>
                  <a:pt x="3651250" y="7366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6907" name="Freeform 51">
            <a:extLst>
              <a:ext uri="{FF2B5EF4-FFF2-40B4-BE49-F238E27FC236}">
                <a16:creationId xmlns:a16="http://schemas.microsoft.com/office/drawing/2014/main" id="{077880E1-70E9-404F-9C9D-BBADC8B66D15}"/>
              </a:ext>
            </a:extLst>
          </p:cNvPr>
          <p:cNvSpPr>
            <a:spLocks/>
          </p:cNvSpPr>
          <p:nvPr/>
        </p:nvSpPr>
        <p:spPr bwMode="auto">
          <a:xfrm>
            <a:off x="5044349" y="4335961"/>
            <a:ext cx="2730500" cy="685800"/>
          </a:xfrm>
          <a:custGeom>
            <a:avLst/>
            <a:gdLst>
              <a:gd name="T0" fmla="*/ 0 w 2730500"/>
              <a:gd name="T1" fmla="*/ 0 h 685800"/>
              <a:gd name="T2" fmla="*/ 1047750 w 2730500"/>
              <a:gd name="T3" fmla="*/ 361950 h 685800"/>
              <a:gd name="T4" fmla="*/ 2203450 w 2730500"/>
              <a:gd name="T5" fmla="*/ 596900 h 685800"/>
              <a:gd name="T6" fmla="*/ 2730500 w 2730500"/>
              <a:gd name="T7" fmla="*/ 685800 h 685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30500" h="685800">
                <a:moveTo>
                  <a:pt x="0" y="0"/>
                </a:moveTo>
                <a:cubicBezTo>
                  <a:pt x="340254" y="131233"/>
                  <a:pt x="680508" y="262467"/>
                  <a:pt x="1047750" y="361950"/>
                </a:cubicBezTo>
                <a:cubicBezTo>
                  <a:pt x="1414992" y="461433"/>
                  <a:pt x="1922992" y="542925"/>
                  <a:pt x="2203450" y="596900"/>
                </a:cubicBezTo>
                <a:cubicBezTo>
                  <a:pt x="2483908" y="650875"/>
                  <a:pt x="2607204" y="668337"/>
                  <a:pt x="2730500" y="6858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6908" name="Freeform 52">
            <a:extLst>
              <a:ext uri="{FF2B5EF4-FFF2-40B4-BE49-F238E27FC236}">
                <a16:creationId xmlns:a16="http://schemas.microsoft.com/office/drawing/2014/main" id="{4D91C6B9-A6E5-4154-8D2D-13D66905A64B}"/>
              </a:ext>
            </a:extLst>
          </p:cNvPr>
          <p:cNvSpPr>
            <a:spLocks/>
          </p:cNvSpPr>
          <p:nvPr/>
        </p:nvSpPr>
        <p:spPr bwMode="auto">
          <a:xfrm>
            <a:off x="5996849" y="4297861"/>
            <a:ext cx="1758950" cy="647700"/>
          </a:xfrm>
          <a:custGeom>
            <a:avLst/>
            <a:gdLst>
              <a:gd name="T0" fmla="*/ 0 w 1758950"/>
              <a:gd name="T1" fmla="*/ 0 h 647700"/>
              <a:gd name="T2" fmla="*/ 285750 w 1758950"/>
              <a:gd name="T3" fmla="*/ 222250 h 647700"/>
              <a:gd name="T4" fmla="*/ 666750 w 1758950"/>
              <a:gd name="T5" fmla="*/ 393700 h 647700"/>
              <a:gd name="T6" fmla="*/ 1282700 w 1758950"/>
              <a:gd name="T7" fmla="*/ 546100 h 647700"/>
              <a:gd name="T8" fmla="*/ 1758950 w 1758950"/>
              <a:gd name="T9" fmla="*/ 647700 h 64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8950" h="647700">
                <a:moveTo>
                  <a:pt x="0" y="0"/>
                </a:moveTo>
                <a:cubicBezTo>
                  <a:pt x="87312" y="78316"/>
                  <a:pt x="174625" y="156633"/>
                  <a:pt x="285750" y="222250"/>
                </a:cubicBezTo>
                <a:cubicBezTo>
                  <a:pt x="396875" y="287867"/>
                  <a:pt x="500592" y="339725"/>
                  <a:pt x="666750" y="393700"/>
                </a:cubicBezTo>
                <a:cubicBezTo>
                  <a:pt x="832908" y="447675"/>
                  <a:pt x="1100667" y="503767"/>
                  <a:pt x="1282700" y="546100"/>
                </a:cubicBezTo>
                <a:cubicBezTo>
                  <a:pt x="1464733" y="588433"/>
                  <a:pt x="1611841" y="618066"/>
                  <a:pt x="1758950" y="6477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6909" name="Straight Arrow Connector 53">
            <a:extLst>
              <a:ext uri="{FF2B5EF4-FFF2-40B4-BE49-F238E27FC236}">
                <a16:creationId xmlns:a16="http://schemas.microsoft.com/office/drawing/2014/main" id="{4842BB65-EA7B-41F3-A8D7-F736BFCFBE18}"/>
              </a:ext>
            </a:extLst>
          </p:cNvPr>
          <p:cNvCxnSpPr>
            <a:cxnSpLocks noChangeShapeType="1"/>
          </p:cNvCxnSpPr>
          <p:nvPr/>
        </p:nvCxnSpPr>
        <p:spPr bwMode="auto">
          <a:xfrm>
            <a:off x="6893787" y="4307387"/>
            <a:ext cx="912812" cy="547687"/>
          </a:xfrm>
          <a:prstGeom prst="straightConnector1">
            <a:avLst/>
          </a:prstGeom>
          <a:noFill/>
          <a:ln w="9525" algn="ctr">
            <a:solidFill>
              <a:srgbClr val="0000FF"/>
            </a:solidFill>
            <a:round/>
            <a:headEnd/>
            <a:tailEnd type="triangle" w="med" len="med"/>
          </a:ln>
        </p:spPr>
      </p:cxnSp>
      <p:sp>
        <p:nvSpPr>
          <p:cNvPr id="36910" name="TextBox 54">
            <a:extLst>
              <a:ext uri="{FF2B5EF4-FFF2-40B4-BE49-F238E27FC236}">
                <a16:creationId xmlns:a16="http://schemas.microsoft.com/office/drawing/2014/main" id="{BF8144C2-1080-4B6F-A6F7-E50DAD81D1F3}"/>
              </a:ext>
            </a:extLst>
          </p:cNvPr>
          <p:cNvSpPr txBox="1">
            <a:spLocks noChangeArrowheads="1"/>
          </p:cNvSpPr>
          <p:nvPr/>
        </p:nvSpPr>
        <p:spPr bwMode="auto">
          <a:xfrm>
            <a:off x="3091724" y="4040686"/>
            <a:ext cx="928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Launch clock</a:t>
            </a:r>
          </a:p>
          <a:p>
            <a:pPr algn="ctr" eaLnBrk="1" hangingPunct="1"/>
            <a:r>
              <a:rPr lang="en-US" altLang="en-US" sz="1000"/>
              <a:t>CLK1</a:t>
            </a:r>
            <a:endParaRPr lang="ru-RU" altLang="en-US" sz="1000"/>
          </a:p>
        </p:txBody>
      </p:sp>
      <p:sp>
        <p:nvSpPr>
          <p:cNvPr id="36911" name="TextBox 55">
            <a:extLst>
              <a:ext uri="{FF2B5EF4-FFF2-40B4-BE49-F238E27FC236}">
                <a16:creationId xmlns:a16="http://schemas.microsoft.com/office/drawing/2014/main" id="{4C6DCEFD-F5D4-426B-98F9-FF12CD57DAF1}"/>
              </a:ext>
            </a:extLst>
          </p:cNvPr>
          <p:cNvSpPr txBox="1">
            <a:spLocks noChangeArrowheads="1"/>
          </p:cNvSpPr>
          <p:nvPr/>
        </p:nvSpPr>
        <p:spPr bwMode="auto">
          <a:xfrm>
            <a:off x="3080612" y="4901111"/>
            <a:ext cx="96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Capture clock</a:t>
            </a:r>
          </a:p>
          <a:p>
            <a:pPr algn="ctr" eaLnBrk="1" hangingPunct="1"/>
            <a:r>
              <a:rPr lang="en-US" altLang="en-US" sz="1000"/>
              <a:t>CLK2</a:t>
            </a:r>
            <a:endParaRPr lang="ru-RU" altLang="en-US" sz="1000"/>
          </a:p>
        </p:txBody>
      </p:sp>
      <p:sp>
        <p:nvSpPr>
          <p:cNvPr id="36912" name="TextBox 56">
            <a:extLst>
              <a:ext uri="{FF2B5EF4-FFF2-40B4-BE49-F238E27FC236}">
                <a16:creationId xmlns:a16="http://schemas.microsoft.com/office/drawing/2014/main" id="{EAC936F4-900A-4424-AAC1-EC6B022679F8}"/>
              </a:ext>
            </a:extLst>
          </p:cNvPr>
          <p:cNvSpPr txBox="1">
            <a:spLocks noChangeArrowheads="1"/>
          </p:cNvSpPr>
          <p:nvPr/>
        </p:nvSpPr>
        <p:spPr bwMode="auto">
          <a:xfrm>
            <a:off x="4355375" y="4904286"/>
            <a:ext cx="4476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Hold</a:t>
            </a:r>
            <a:endParaRPr lang="ru-RU" altLang="en-US" sz="1000"/>
          </a:p>
        </p:txBody>
      </p:sp>
      <p:sp>
        <p:nvSpPr>
          <p:cNvPr id="36913" name="TextBox 57">
            <a:extLst>
              <a:ext uri="{FF2B5EF4-FFF2-40B4-BE49-F238E27FC236}">
                <a16:creationId xmlns:a16="http://schemas.microsoft.com/office/drawing/2014/main" id="{3F33ACAD-21ED-4D90-8B66-F5857DD4EE23}"/>
              </a:ext>
            </a:extLst>
          </p:cNvPr>
          <p:cNvSpPr txBox="1">
            <a:spLocks noChangeArrowheads="1"/>
          </p:cNvSpPr>
          <p:nvPr/>
        </p:nvSpPr>
        <p:spPr bwMode="auto">
          <a:xfrm>
            <a:off x="5203099" y="4524874"/>
            <a:ext cx="5857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Setup2</a:t>
            </a:r>
            <a:endParaRPr lang="ru-RU" altLang="en-US" sz="1000"/>
          </a:p>
        </p:txBody>
      </p:sp>
      <p:sp>
        <p:nvSpPr>
          <p:cNvPr id="36914" name="TextBox 58">
            <a:extLst>
              <a:ext uri="{FF2B5EF4-FFF2-40B4-BE49-F238E27FC236}">
                <a16:creationId xmlns:a16="http://schemas.microsoft.com/office/drawing/2014/main" id="{A2F24FBE-EF91-48E7-B2D3-66B2D3B587BC}"/>
              </a:ext>
            </a:extLst>
          </p:cNvPr>
          <p:cNvSpPr txBox="1">
            <a:spLocks noChangeArrowheads="1"/>
          </p:cNvSpPr>
          <p:nvPr/>
        </p:nvSpPr>
        <p:spPr bwMode="auto">
          <a:xfrm>
            <a:off x="5998438" y="4916986"/>
            <a:ext cx="5873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Setup1</a:t>
            </a:r>
            <a:endParaRPr lang="ru-RU" altLang="en-US" sz="1000"/>
          </a:p>
        </p:txBody>
      </p:sp>
      <p:sp>
        <p:nvSpPr>
          <p:cNvPr id="36915" name="TextBox 59">
            <a:extLst>
              <a:ext uri="{FF2B5EF4-FFF2-40B4-BE49-F238E27FC236}">
                <a16:creationId xmlns:a16="http://schemas.microsoft.com/office/drawing/2014/main" id="{030CD056-A8D9-4449-BF18-672F237E8280}"/>
              </a:ext>
            </a:extLst>
          </p:cNvPr>
          <p:cNvSpPr txBox="1">
            <a:spLocks noChangeArrowheads="1"/>
          </p:cNvSpPr>
          <p:nvPr/>
        </p:nvSpPr>
        <p:spPr bwMode="auto">
          <a:xfrm>
            <a:off x="6882675" y="4586786"/>
            <a:ext cx="587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Setup3</a:t>
            </a:r>
            <a:endParaRPr lang="ru-RU" altLang="en-US" sz="1000"/>
          </a:p>
        </p:txBody>
      </p:sp>
      <p:sp>
        <p:nvSpPr>
          <p:cNvPr id="36916" name="TextBox 60">
            <a:extLst>
              <a:ext uri="{FF2B5EF4-FFF2-40B4-BE49-F238E27FC236}">
                <a16:creationId xmlns:a16="http://schemas.microsoft.com/office/drawing/2014/main" id="{A4D0C1A7-0346-4165-A350-7B35593A7496}"/>
              </a:ext>
            </a:extLst>
          </p:cNvPr>
          <p:cNvSpPr txBox="1">
            <a:spLocks noChangeArrowheads="1"/>
          </p:cNvSpPr>
          <p:nvPr/>
        </p:nvSpPr>
        <p:spPr bwMode="auto">
          <a:xfrm>
            <a:off x="6854099" y="4113711"/>
            <a:ext cx="5270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800"/>
              <a:t>Setup4</a:t>
            </a:r>
            <a:endParaRPr lang="ru-RU" altLang="en-US" sz="1000"/>
          </a:p>
        </p:txBody>
      </p:sp>
      <p:sp>
        <p:nvSpPr>
          <p:cNvPr id="36917" name="TextBox 61">
            <a:extLst>
              <a:ext uri="{FF2B5EF4-FFF2-40B4-BE49-F238E27FC236}">
                <a16:creationId xmlns:a16="http://schemas.microsoft.com/office/drawing/2014/main" id="{DCA5A95A-7EE5-4396-AA72-CC4062AFBC82}"/>
              </a:ext>
            </a:extLst>
          </p:cNvPr>
          <p:cNvSpPr txBox="1">
            <a:spLocks noChangeArrowheads="1"/>
          </p:cNvSpPr>
          <p:nvPr/>
        </p:nvSpPr>
        <p:spPr bwMode="auto">
          <a:xfrm>
            <a:off x="3974374" y="5240837"/>
            <a:ext cx="40640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0                            5                          10                         15                          20</a:t>
            </a:r>
            <a:endParaRPr lang="ru-RU" altLang="en-US"/>
          </a:p>
        </p:txBody>
      </p:sp>
      <p:sp>
        <p:nvSpPr>
          <p:cNvPr id="63" name="Cloud 62">
            <a:extLst>
              <a:ext uri="{FF2B5EF4-FFF2-40B4-BE49-F238E27FC236}">
                <a16:creationId xmlns:a16="http://schemas.microsoft.com/office/drawing/2014/main" id="{BEF6959B-F9A6-4F59-A0E1-58427E6FCAE4}"/>
              </a:ext>
            </a:extLst>
          </p:cNvPr>
          <p:cNvSpPr/>
          <p:nvPr/>
        </p:nvSpPr>
        <p:spPr bwMode="auto">
          <a:xfrm>
            <a:off x="6687412" y="2697661"/>
            <a:ext cx="622300" cy="30956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cxnSp>
        <p:nvCxnSpPr>
          <p:cNvPr id="36919" name="Straight Connector 19">
            <a:extLst>
              <a:ext uri="{FF2B5EF4-FFF2-40B4-BE49-F238E27FC236}">
                <a16:creationId xmlns:a16="http://schemas.microsoft.com/office/drawing/2014/main" id="{B8542062-9F87-48B2-87B1-3D1F3A03A202}"/>
              </a:ext>
            </a:extLst>
          </p:cNvPr>
          <p:cNvCxnSpPr>
            <a:cxnSpLocks noChangeShapeType="1"/>
          </p:cNvCxnSpPr>
          <p:nvPr/>
        </p:nvCxnSpPr>
        <p:spPr bwMode="auto">
          <a:xfrm>
            <a:off x="3872774" y="3278687"/>
            <a:ext cx="0" cy="357187"/>
          </a:xfrm>
          <a:prstGeom prst="line">
            <a:avLst/>
          </a:prstGeom>
          <a:noFill/>
          <a:ln w="9525" algn="ctr">
            <a:solidFill>
              <a:schemeClr val="tx1"/>
            </a:solidFill>
            <a:round/>
            <a:headEnd/>
            <a:tailEnd/>
          </a:ln>
        </p:spPr>
      </p:cxnSp>
      <p:cxnSp>
        <p:nvCxnSpPr>
          <p:cNvPr id="36920" name="Straight Connector 64">
            <a:extLst>
              <a:ext uri="{FF2B5EF4-FFF2-40B4-BE49-F238E27FC236}">
                <a16:creationId xmlns:a16="http://schemas.microsoft.com/office/drawing/2014/main" id="{08CDED1A-21FB-4329-9926-C87F9726FC9E}"/>
              </a:ext>
            </a:extLst>
          </p:cNvPr>
          <p:cNvCxnSpPr>
            <a:cxnSpLocks noChangeShapeType="1"/>
          </p:cNvCxnSpPr>
          <p:nvPr/>
        </p:nvCxnSpPr>
        <p:spPr bwMode="auto">
          <a:xfrm>
            <a:off x="3872775" y="3639048"/>
            <a:ext cx="3433763" cy="0"/>
          </a:xfrm>
          <a:prstGeom prst="line">
            <a:avLst/>
          </a:prstGeom>
          <a:noFill/>
          <a:ln w="9525" algn="ctr">
            <a:solidFill>
              <a:schemeClr val="tx1"/>
            </a:solidFill>
            <a:round/>
            <a:headEnd/>
            <a:tailEnd/>
          </a:ln>
        </p:spPr>
      </p:cxnSp>
      <p:cxnSp>
        <p:nvCxnSpPr>
          <p:cNvPr id="36921" name="Straight Connector 68">
            <a:extLst>
              <a:ext uri="{FF2B5EF4-FFF2-40B4-BE49-F238E27FC236}">
                <a16:creationId xmlns:a16="http://schemas.microsoft.com/office/drawing/2014/main" id="{353CBCB0-C7D1-4E20-A11B-BFD69DEE40C9}"/>
              </a:ext>
            </a:extLst>
          </p:cNvPr>
          <p:cNvCxnSpPr>
            <a:cxnSpLocks noChangeShapeType="1"/>
          </p:cNvCxnSpPr>
          <p:nvPr/>
        </p:nvCxnSpPr>
        <p:spPr bwMode="auto">
          <a:xfrm flipV="1">
            <a:off x="7306537" y="3270749"/>
            <a:ext cx="0" cy="365125"/>
          </a:xfrm>
          <a:prstGeom prst="line">
            <a:avLst/>
          </a:prstGeom>
          <a:noFill/>
          <a:ln w="9525" algn="ctr">
            <a:solidFill>
              <a:schemeClr val="tx1"/>
            </a:solidFill>
            <a:round/>
            <a:headEnd/>
            <a:tailEnd/>
          </a:ln>
        </p:spPr>
      </p:cxnSp>
      <p:sp>
        <p:nvSpPr>
          <p:cNvPr id="36922" name="Rectangle 21">
            <a:extLst>
              <a:ext uri="{FF2B5EF4-FFF2-40B4-BE49-F238E27FC236}">
                <a16:creationId xmlns:a16="http://schemas.microsoft.com/office/drawing/2014/main" id="{15C131C2-C814-481F-B4D6-C1E6C7440698}"/>
              </a:ext>
            </a:extLst>
          </p:cNvPr>
          <p:cNvSpPr>
            <a:spLocks noChangeArrowheads="1"/>
          </p:cNvSpPr>
          <p:nvPr/>
        </p:nvSpPr>
        <p:spPr bwMode="auto">
          <a:xfrm>
            <a:off x="4215674" y="3512048"/>
            <a:ext cx="693738" cy="25558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923" name="TextBox 75">
            <a:extLst>
              <a:ext uri="{FF2B5EF4-FFF2-40B4-BE49-F238E27FC236}">
                <a16:creationId xmlns:a16="http://schemas.microsoft.com/office/drawing/2014/main" id="{DA1373DC-EE03-4921-94B8-90B7E01E6CB2}"/>
              </a:ext>
            </a:extLst>
          </p:cNvPr>
          <p:cNvSpPr txBox="1">
            <a:spLocks noChangeArrowheads="1"/>
          </p:cNvSpPr>
          <p:nvPr/>
        </p:nvSpPr>
        <p:spPr bwMode="auto">
          <a:xfrm>
            <a:off x="4210912" y="3527923"/>
            <a:ext cx="7032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dirty="0"/>
              <a:t>Divide </a:t>
            </a:r>
            <a:r>
              <a:rPr lang="en-US" altLang="en-US" sz="800" dirty="0">
                <a:solidFill>
                  <a:schemeClr val="bg1"/>
                </a:solidFill>
              </a:rPr>
              <a:t>by</a:t>
            </a:r>
            <a:r>
              <a:rPr lang="en-US" altLang="en-US" sz="800" dirty="0"/>
              <a:t> 4</a:t>
            </a:r>
            <a:endParaRPr lang="ru-RU" alt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D8F6240-6EDC-4906-9B52-41AC395F6BA4}"/>
              </a:ext>
            </a:extLst>
          </p:cNvPr>
          <p:cNvSpPr>
            <a:spLocks noGrp="1"/>
          </p:cNvSpPr>
          <p:nvPr>
            <p:ph type="title"/>
          </p:nvPr>
        </p:nvSpPr>
        <p:spPr/>
        <p:txBody>
          <a:bodyPr/>
          <a:lstStyle/>
          <a:p>
            <a:r>
              <a:rPr lang="en-US" altLang="en-US"/>
              <a:t>Phase Shifted Multiple Clocks</a:t>
            </a:r>
          </a:p>
        </p:txBody>
      </p:sp>
      <p:sp>
        <p:nvSpPr>
          <p:cNvPr id="3" name="Content Placeholder 2">
            <a:extLst>
              <a:ext uri="{FF2B5EF4-FFF2-40B4-BE49-F238E27FC236}">
                <a16:creationId xmlns:a16="http://schemas.microsoft.com/office/drawing/2014/main" id="{478F5472-1434-472D-88E0-923F48AD031B}"/>
              </a:ext>
            </a:extLst>
          </p:cNvPr>
          <p:cNvSpPr>
            <a:spLocks noGrp="1"/>
          </p:cNvSpPr>
          <p:nvPr>
            <p:ph type="body" sz="quarter" idx="10"/>
          </p:nvPr>
        </p:nvSpPr>
        <p:spPr>
          <a:xfrm>
            <a:off x="457200" y="1188720"/>
            <a:ext cx="10251194" cy="871483"/>
          </a:xfrm>
          <a:solidFill>
            <a:schemeClr val="accent1">
              <a:lumMod val="20000"/>
              <a:lumOff val="80000"/>
            </a:schemeClr>
          </a:solidFill>
          <a:ln w="28575">
            <a:solidFill>
              <a:schemeClr val="accent1">
                <a:lumMod val="75000"/>
              </a:schemeClr>
            </a:solidFill>
          </a:ln>
        </p:spPr>
        <p:txBody>
          <a:bodyPr/>
          <a:lstStyle/>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-period </a:t>
            </a:r>
            <a:r>
              <a:rPr lang="en-US" sz="1600" dirty="0">
                <a:latin typeface="Courier New" pitchFamily="49" charset="0"/>
                <a:cs typeface="Courier New" pitchFamily="49" charset="0"/>
              </a:rPr>
              <a:t>2.0 -</a:t>
            </a:r>
            <a:r>
              <a:rPr lang="en-US" sz="1600" dirty="0">
                <a:solidFill>
                  <a:srgbClr val="0000FF"/>
                </a:solidFill>
                <a:latin typeface="Courier New" pitchFamily="49" charset="0"/>
                <a:cs typeface="Courier New" pitchFamily="49" charset="0"/>
              </a:rPr>
              <a:t>waveform</a:t>
            </a:r>
            <a:r>
              <a:rPr lang="en-US" sz="1600" dirty="0">
                <a:latin typeface="Courier New" pitchFamily="49" charset="0"/>
                <a:cs typeface="Courier New" pitchFamily="49" charset="0"/>
              </a:rPr>
              <a:t> {0 1.0}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CLK1]</a:t>
            </a:r>
          </a:p>
          <a:p>
            <a:pPr>
              <a:buFont typeface="Wingdings" panose="05000000000000000000" pitchFamily="2" charset="2"/>
              <a:buNone/>
              <a:defRPr/>
            </a:pPr>
            <a:r>
              <a:rPr lang="en-US" sz="1600" dirty="0" err="1">
                <a:solidFill>
                  <a:srgbClr val="0000FF"/>
                </a:solidFill>
                <a:latin typeface="Courier New" pitchFamily="49" charset="0"/>
                <a:cs typeface="Courier New" pitchFamily="49" charset="0"/>
              </a:rPr>
              <a:t>create_clock</a:t>
            </a:r>
            <a:r>
              <a:rPr lang="en-US" sz="1600" dirty="0">
                <a:solidFill>
                  <a:srgbClr val="0000FF"/>
                </a:solidFill>
                <a:latin typeface="Courier New" pitchFamily="49" charset="0"/>
                <a:cs typeface="Courier New" pitchFamily="49" charset="0"/>
              </a:rPr>
              <a:t> -period </a:t>
            </a:r>
            <a:r>
              <a:rPr lang="en-US" sz="1600" dirty="0">
                <a:latin typeface="Courier New" pitchFamily="49" charset="0"/>
                <a:cs typeface="Courier New" pitchFamily="49" charset="0"/>
              </a:rPr>
              <a:t>2.0 -</a:t>
            </a:r>
            <a:r>
              <a:rPr lang="en-US" sz="1600" dirty="0">
                <a:solidFill>
                  <a:srgbClr val="0000FF"/>
                </a:solidFill>
                <a:latin typeface="Courier New" pitchFamily="49" charset="0"/>
                <a:cs typeface="Courier New" pitchFamily="49" charset="0"/>
              </a:rPr>
              <a:t>waveform</a:t>
            </a:r>
            <a:r>
              <a:rPr lang="en-US" sz="1600" dirty="0">
                <a:latin typeface="Courier New" pitchFamily="49" charset="0"/>
                <a:cs typeface="Courier New" pitchFamily="49" charset="0"/>
              </a:rPr>
              <a:t> {0.5 1.5}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CLK90]</a:t>
            </a:r>
          </a:p>
        </p:txBody>
      </p:sp>
      <p:grpSp>
        <p:nvGrpSpPr>
          <p:cNvPr id="37892" name="Group 26">
            <a:extLst>
              <a:ext uri="{FF2B5EF4-FFF2-40B4-BE49-F238E27FC236}">
                <a16:creationId xmlns:a16="http://schemas.microsoft.com/office/drawing/2014/main" id="{5330DDC4-0A7A-4E68-9C9C-3C1FE70750F9}"/>
              </a:ext>
            </a:extLst>
          </p:cNvPr>
          <p:cNvGrpSpPr>
            <a:grpSpLocks/>
          </p:cNvGrpSpPr>
          <p:nvPr/>
        </p:nvGrpSpPr>
        <p:grpSpPr bwMode="auto">
          <a:xfrm>
            <a:off x="3090902" y="2572067"/>
            <a:ext cx="4778375" cy="3097213"/>
            <a:chOff x="2111340" y="2675632"/>
            <a:chExt cx="4778381" cy="3096700"/>
          </a:xfrm>
        </p:grpSpPr>
        <p:sp>
          <p:nvSpPr>
            <p:cNvPr id="37893" name="Rectangle 5">
              <a:extLst>
                <a:ext uri="{FF2B5EF4-FFF2-40B4-BE49-F238E27FC236}">
                  <a16:creationId xmlns:a16="http://schemas.microsoft.com/office/drawing/2014/main" id="{AD9601CF-BFD5-4309-8CEE-C081C4E985F7}"/>
                </a:ext>
              </a:extLst>
            </p:cNvPr>
            <p:cNvSpPr>
              <a:spLocks noChangeArrowheads="1"/>
            </p:cNvSpPr>
            <p:nvPr/>
          </p:nvSpPr>
          <p:spPr bwMode="auto">
            <a:xfrm>
              <a:off x="6125967" y="2704449"/>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7894" name="Isosceles Triangle 6">
              <a:extLst>
                <a:ext uri="{FF2B5EF4-FFF2-40B4-BE49-F238E27FC236}">
                  <a16:creationId xmlns:a16="http://schemas.microsoft.com/office/drawing/2014/main" id="{6E1FCAFC-887B-4CB1-A253-11333C4090D1}"/>
                </a:ext>
              </a:extLst>
            </p:cNvPr>
            <p:cNvSpPr>
              <a:spLocks noChangeArrowheads="1"/>
            </p:cNvSpPr>
            <p:nvPr/>
          </p:nvSpPr>
          <p:spPr bwMode="auto">
            <a:xfrm rot="5400000">
              <a:off x="6132017" y="3192345"/>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 name="TextBox 7">
              <a:extLst>
                <a:ext uri="{FF2B5EF4-FFF2-40B4-BE49-F238E27FC236}">
                  <a16:creationId xmlns:a16="http://schemas.microsoft.com/office/drawing/2014/main" id="{025A45B3-4CB8-457B-882F-8F826A0598BD}"/>
                </a:ext>
              </a:extLst>
            </p:cNvPr>
            <p:cNvSpPr txBox="1"/>
            <p:nvPr/>
          </p:nvSpPr>
          <p:spPr>
            <a:xfrm>
              <a:off x="6045170" y="2715313"/>
              <a:ext cx="500063" cy="246021"/>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9" name="TextBox 8">
              <a:extLst>
                <a:ext uri="{FF2B5EF4-FFF2-40B4-BE49-F238E27FC236}">
                  <a16:creationId xmlns:a16="http://schemas.microsoft.com/office/drawing/2014/main" id="{6F76D05C-439D-4468-BA3C-11007C877852}"/>
                </a:ext>
              </a:extLst>
            </p:cNvPr>
            <p:cNvSpPr txBox="1"/>
            <p:nvPr/>
          </p:nvSpPr>
          <p:spPr>
            <a:xfrm>
              <a:off x="6119782" y="3047045"/>
              <a:ext cx="461964" cy="253958"/>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7897" name="Straight Connector 9">
              <a:extLst>
                <a:ext uri="{FF2B5EF4-FFF2-40B4-BE49-F238E27FC236}">
                  <a16:creationId xmlns:a16="http://schemas.microsoft.com/office/drawing/2014/main" id="{5837E508-29DB-4B34-9F81-95E21612920D}"/>
                </a:ext>
              </a:extLst>
            </p:cNvPr>
            <p:cNvCxnSpPr>
              <a:cxnSpLocks noChangeShapeType="1"/>
            </p:cNvCxnSpPr>
            <p:nvPr/>
          </p:nvCxnSpPr>
          <p:spPr bwMode="auto">
            <a:xfrm>
              <a:off x="5973147" y="2820813"/>
              <a:ext cx="150058" cy="0"/>
            </a:xfrm>
            <a:prstGeom prst="line">
              <a:avLst/>
            </a:prstGeom>
            <a:noFill/>
            <a:ln w="9525" algn="ctr">
              <a:solidFill>
                <a:schemeClr val="tx1"/>
              </a:solidFill>
              <a:round/>
              <a:headEnd/>
              <a:tailEnd/>
            </a:ln>
          </p:spPr>
        </p:cxnSp>
        <p:cxnSp>
          <p:nvCxnSpPr>
            <p:cNvPr id="37898" name="Straight Connector 10">
              <a:extLst>
                <a:ext uri="{FF2B5EF4-FFF2-40B4-BE49-F238E27FC236}">
                  <a16:creationId xmlns:a16="http://schemas.microsoft.com/office/drawing/2014/main" id="{027D40B4-8E66-4637-B4BA-2545463852C2}"/>
                </a:ext>
              </a:extLst>
            </p:cNvPr>
            <p:cNvCxnSpPr>
              <a:cxnSpLocks noChangeShapeType="1"/>
            </p:cNvCxnSpPr>
            <p:nvPr/>
          </p:nvCxnSpPr>
          <p:spPr bwMode="auto">
            <a:xfrm>
              <a:off x="6480080" y="2825270"/>
              <a:ext cx="173161" cy="0"/>
            </a:xfrm>
            <a:prstGeom prst="line">
              <a:avLst/>
            </a:prstGeom>
            <a:noFill/>
            <a:ln w="9525" algn="ctr">
              <a:solidFill>
                <a:schemeClr val="tx1"/>
              </a:solidFill>
              <a:round/>
              <a:headEnd/>
              <a:tailEnd/>
            </a:ln>
          </p:spPr>
        </p:cxnSp>
        <p:cxnSp>
          <p:nvCxnSpPr>
            <p:cNvPr id="37899" name="Straight Connector 11">
              <a:extLst>
                <a:ext uri="{FF2B5EF4-FFF2-40B4-BE49-F238E27FC236}">
                  <a16:creationId xmlns:a16="http://schemas.microsoft.com/office/drawing/2014/main" id="{2046F146-C9F5-489D-8908-9C8069AA33DB}"/>
                </a:ext>
              </a:extLst>
            </p:cNvPr>
            <p:cNvCxnSpPr>
              <a:cxnSpLocks noChangeShapeType="1"/>
            </p:cNvCxnSpPr>
            <p:nvPr/>
          </p:nvCxnSpPr>
          <p:spPr bwMode="auto">
            <a:xfrm>
              <a:off x="5973147" y="3224000"/>
              <a:ext cx="150058" cy="0"/>
            </a:xfrm>
            <a:prstGeom prst="line">
              <a:avLst/>
            </a:prstGeom>
            <a:noFill/>
            <a:ln w="9525" algn="ctr">
              <a:solidFill>
                <a:schemeClr val="tx1"/>
              </a:solidFill>
              <a:round/>
              <a:headEnd/>
              <a:tailEnd/>
            </a:ln>
          </p:spPr>
        </p:cxnSp>
        <p:sp>
          <p:nvSpPr>
            <p:cNvPr id="37900" name="Rectangle 13">
              <a:extLst>
                <a:ext uri="{FF2B5EF4-FFF2-40B4-BE49-F238E27FC236}">
                  <a16:creationId xmlns:a16="http://schemas.microsoft.com/office/drawing/2014/main" id="{5A910A67-A336-4D81-B7F5-E585E45F3A9A}"/>
                </a:ext>
              </a:extLst>
            </p:cNvPr>
            <p:cNvSpPr>
              <a:spLocks noChangeArrowheads="1"/>
            </p:cNvSpPr>
            <p:nvPr/>
          </p:nvSpPr>
          <p:spPr bwMode="auto">
            <a:xfrm>
              <a:off x="4448750" y="2713974"/>
              <a:ext cx="358362" cy="62072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6" name="TextBox 15">
              <a:extLst>
                <a:ext uri="{FF2B5EF4-FFF2-40B4-BE49-F238E27FC236}">
                  <a16:creationId xmlns:a16="http://schemas.microsoft.com/office/drawing/2014/main" id="{748CA921-4C5E-4AAF-A2A9-B8A3B40D7763}"/>
                </a:ext>
              </a:extLst>
            </p:cNvPr>
            <p:cNvSpPr txBox="1"/>
            <p:nvPr/>
          </p:nvSpPr>
          <p:spPr>
            <a:xfrm>
              <a:off x="4367180" y="2724837"/>
              <a:ext cx="500064" cy="246021"/>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7" name="TextBox 16">
              <a:extLst>
                <a:ext uri="{FF2B5EF4-FFF2-40B4-BE49-F238E27FC236}">
                  <a16:creationId xmlns:a16="http://schemas.microsoft.com/office/drawing/2014/main" id="{2C0EFA3D-5DC6-4790-A6D8-09179B76DAEE}"/>
                </a:ext>
              </a:extLst>
            </p:cNvPr>
            <p:cNvSpPr txBox="1"/>
            <p:nvPr/>
          </p:nvSpPr>
          <p:spPr>
            <a:xfrm>
              <a:off x="4427505" y="3096250"/>
              <a:ext cx="461964" cy="253958"/>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37903" name="Straight Connector 17">
              <a:extLst>
                <a:ext uri="{FF2B5EF4-FFF2-40B4-BE49-F238E27FC236}">
                  <a16:creationId xmlns:a16="http://schemas.microsoft.com/office/drawing/2014/main" id="{8E4F0F0C-AB14-43F8-B9E8-788F4CD6ED84}"/>
                </a:ext>
              </a:extLst>
            </p:cNvPr>
            <p:cNvCxnSpPr>
              <a:cxnSpLocks noChangeShapeType="1"/>
            </p:cNvCxnSpPr>
            <p:nvPr/>
          </p:nvCxnSpPr>
          <p:spPr bwMode="auto">
            <a:xfrm>
              <a:off x="4295930" y="2830338"/>
              <a:ext cx="150058" cy="0"/>
            </a:xfrm>
            <a:prstGeom prst="line">
              <a:avLst/>
            </a:prstGeom>
            <a:noFill/>
            <a:ln w="9525" algn="ctr">
              <a:solidFill>
                <a:schemeClr val="tx1"/>
              </a:solidFill>
              <a:round/>
              <a:headEnd/>
              <a:tailEnd/>
            </a:ln>
          </p:spPr>
        </p:cxnSp>
        <p:cxnSp>
          <p:nvCxnSpPr>
            <p:cNvPr id="37904" name="Straight Connector 18">
              <a:extLst>
                <a:ext uri="{FF2B5EF4-FFF2-40B4-BE49-F238E27FC236}">
                  <a16:creationId xmlns:a16="http://schemas.microsoft.com/office/drawing/2014/main" id="{36BDE6A6-A2B8-4B79-B5F1-19886C96CEDD}"/>
                </a:ext>
              </a:extLst>
            </p:cNvPr>
            <p:cNvCxnSpPr>
              <a:cxnSpLocks noChangeShapeType="1"/>
            </p:cNvCxnSpPr>
            <p:nvPr/>
          </p:nvCxnSpPr>
          <p:spPr bwMode="auto">
            <a:xfrm>
              <a:off x="4811875" y="2817163"/>
              <a:ext cx="693747" cy="0"/>
            </a:xfrm>
            <a:prstGeom prst="line">
              <a:avLst/>
            </a:prstGeom>
            <a:noFill/>
            <a:ln w="9525" algn="ctr">
              <a:solidFill>
                <a:schemeClr val="tx1"/>
              </a:solidFill>
              <a:round/>
              <a:headEnd/>
              <a:tailEnd/>
            </a:ln>
          </p:spPr>
        </p:cxnSp>
        <p:sp>
          <p:nvSpPr>
            <p:cNvPr id="37905" name="TextBox 24">
              <a:extLst>
                <a:ext uri="{FF2B5EF4-FFF2-40B4-BE49-F238E27FC236}">
                  <a16:creationId xmlns:a16="http://schemas.microsoft.com/office/drawing/2014/main" id="{2917868E-248D-4E96-A876-9EE9BE2B731B}"/>
                </a:ext>
              </a:extLst>
            </p:cNvPr>
            <p:cNvSpPr txBox="1">
              <a:spLocks noChangeArrowheads="1"/>
            </p:cNvSpPr>
            <p:nvPr/>
          </p:nvSpPr>
          <p:spPr bwMode="auto">
            <a:xfrm>
              <a:off x="2360741" y="3006077"/>
              <a:ext cx="4732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CLK1</a:t>
              </a:r>
              <a:endParaRPr lang="ru-RU" altLang="en-US"/>
            </a:p>
          </p:txBody>
        </p:sp>
        <p:cxnSp>
          <p:nvCxnSpPr>
            <p:cNvPr id="33" name="Elbow Connector 32">
              <a:extLst>
                <a:ext uri="{FF2B5EF4-FFF2-40B4-BE49-F238E27FC236}">
                  <a16:creationId xmlns:a16="http://schemas.microsoft.com/office/drawing/2014/main" id="{81BC135A-F46E-4495-9F74-B522E6CFDA0D}"/>
                </a:ext>
              </a:extLst>
            </p:cNvPr>
            <p:cNvCxnSpPr/>
            <p:nvPr/>
          </p:nvCxnSpPr>
          <p:spPr bwMode="auto">
            <a:xfrm flipV="1">
              <a:off x="2928903" y="4159699"/>
              <a:ext cx="912814" cy="474583"/>
            </a:xfrm>
            <a:prstGeom prst="bentConnector3">
              <a:avLst>
                <a:gd name="adj1" fmla="val -175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09A37636-E71E-4C1B-87D0-CB204CA55397}"/>
                </a:ext>
              </a:extLst>
            </p:cNvPr>
            <p:cNvCxnSpPr/>
            <p:nvPr/>
          </p:nvCxnSpPr>
          <p:spPr bwMode="auto">
            <a:xfrm>
              <a:off x="3841717" y="4159699"/>
              <a:ext cx="949326" cy="474583"/>
            </a:xfrm>
            <a:prstGeom prst="bentConnector3">
              <a:avLst>
                <a:gd name="adj1" fmla="val -16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F77BFB20-7576-4CBF-B2B5-9B77B4166E31}"/>
                </a:ext>
              </a:extLst>
            </p:cNvPr>
            <p:cNvCxnSpPr/>
            <p:nvPr/>
          </p:nvCxnSpPr>
          <p:spPr bwMode="auto">
            <a:xfrm flipV="1">
              <a:off x="4791043" y="4159699"/>
              <a:ext cx="912813" cy="474583"/>
            </a:xfrm>
            <a:prstGeom prst="bentConnector3">
              <a:avLst>
                <a:gd name="adj1" fmla="val -175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C258EE12-5E73-4B46-B95D-8B4AAF301749}"/>
                </a:ext>
              </a:extLst>
            </p:cNvPr>
            <p:cNvCxnSpPr/>
            <p:nvPr/>
          </p:nvCxnSpPr>
          <p:spPr bwMode="auto">
            <a:xfrm>
              <a:off x="5703857" y="4159699"/>
              <a:ext cx="949326" cy="474583"/>
            </a:xfrm>
            <a:prstGeom prst="bentConnector3">
              <a:avLst>
                <a:gd name="adj1" fmla="val -16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ECE933A9-CB94-4EB0-8895-91520B84B444}"/>
                </a:ext>
              </a:extLst>
            </p:cNvPr>
            <p:cNvCxnSpPr/>
            <p:nvPr/>
          </p:nvCxnSpPr>
          <p:spPr bwMode="auto">
            <a:xfrm rot="5400000" flipH="1" flipV="1">
              <a:off x="6488916" y="4323966"/>
              <a:ext cx="474583" cy="146050"/>
            </a:xfrm>
            <a:prstGeom prst="bentConnector3">
              <a:avLst>
                <a:gd name="adj1" fmla="val 9916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E9A01628-34D2-4138-A075-E0AF0C492E60}"/>
                </a:ext>
              </a:extLst>
            </p:cNvPr>
            <p:cNvCxnSpPr/>
            <p:nvPr/>
          </p:nvCxnSpPr>
          <p:spPr bwMode="auto">
            <a:xfrm flipV="1">
              <a:off x="2892391" y="5086646"/>
              <a:ext cx="1423989" cy="474583"/>
            </a:xfrm>
            <a:prstGeom prst="bentConnector3">
              <a:avLst>
                <a:gd name="adj1" fmla="val 3327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3D996D81-88DC-4940-B2C7-6F7A1928087E}"/>
                </a:ext>
              </a:extLst>
            </p:cNvPr>
            <p:cNvCxnSpPr/>
            <p:nvPr/>
          </p:nvCxnSpPr>
          <p:spPr bwMode="auto">
            <a:xfrm>
              <a:off x="4306855" y="5086646"/>
              <a:ext cx="912814" cy="474583"/>
            </a:xfrm>
            <a:prstGeom prst="bentConnector3">
              <a:avLst>
                <a:gd name="adj1" fmla="val -8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7F41A951-5D6D-44A9-8560-86C3C2CFBDA8}"/>
                </a:ext>
              </a:extLst>
            </p:cNvPr>
            <p:cNvCxnSpPr/>
            <p:nvPr/>
          </p:nvCxnSpPr>
          <p:spPr bwMode="auto">
            <a:xfrm flipV="1">
              <a:off x="5229194" y="5072360"/>
              <a:ext cx="949326" cy="474584"/>
            </a:xfrm>
            <a:prstGeom prst="bentConnector3">
              <a:avLst>
                <a:gd name="adj1" fmla="val -16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Elbow Connector 40">
              <a:extLst>
                <a:ext uri="{FF2B5EF4-FFF2-40B4-BE49-F238E27FC236}">
                  <a16:creationId xmlns:a16="http://schemas.microsoft.com/office/drawing/2014/main" id="{77ADDB9F-80C7-415C-A9BC-169990BE725D}"/>
                </a:ext>
              </a:extLst>
            </p:cNvPr>
            <p:cNvCxnSpPr/>
            <p:nvPr/>
          </p:nvCxnSpPr>
          <p:spPr bwMode="auto">
            <a:xfrm>
              <a:off x="6178520" y="5072360"/>
              <a:ext cx="693738" cy="474584"/>
            </a:xfrm>
            <a:prstGeom prst="bentConnector3">
              <a:avLst>
                <a:gd name="adj1" fmla="val -8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EF312364-4E73-4CC1-85C8-9FBBF39F2ED3}"/>
                </a:ext>
              </a:extLst>
            </p:cNvPr>
            <p:cNvSpPr txBox="1"/>
            <p:nvPr/>
          </p:nvSpPr>
          <p:spPr>
            <a:xfrm>
              <a:off x="2116102" y="4259695"/>
              <a:ext cx="522289" cy="253958"/>
            </a:xfrm>
            <a:prstGeom prst="rect">
              <a:avLst/>
            </a:prstGeom>
            <a:noFill/>
          </p:spPr>
          <p:txBody>
            <a:bodyPr wrap="none">
              <a:spAutoFit/>
            </a:bodyPr>
            <a:lstStyle/>
            <a:p>
              <a:pPr eaLnBrk="1" hangingPunct="1">
                <a:defRPr/>
              </a:pPr>
              <a:r>
                <a:rPr lang="en-US" sz="1050" dirty="0">
                  <a:latin typeface="Arial" charset="0"/>
                  <a:cs typeface="Arial" charset="0"/>
                </a:rPr>
                <a:t>CLK1</a:t>
              </a:r>
              <a:endParaRPr lang="ru-RU" sz="1050" dirty="0">
                <a:latin typeface="Arial" charset="0"/>
                <a:cs typeface="Arial" charset="0"/>
              </a:endParaRPr>
            </a:p>
          </p:txBody>
        </p:sp>
        <p:sp>
          <p:nvSpPr>
            <p:cNvPr id="43" name="TextBox 42">
              <a:extLst>
                <a:ext uri="{FF2B5EF4-FFF2-40B4-BE49-F238E27FC236}">
                  <a16:creationId xmlns:a16="http://schemas.microsoft.com/office/drawing/2014/main" id="{1EF6F48F-F905-45C4-A6D2-E51D61E10718}"/>
                </a:ext>
              </a:extLst>
            </p:cNvPr>
            <p:cNvSpPr txBox="1"/>
            <p:nvPr/>
          </p:nvSpPr>
          <p:spPr>
            <a:xfrm>
              <a:off x="2111340" y="5169182"/>
              <a:ext cx="522288" cy="253958"/>
            </a:xfrm>
            <a:prstGeom prst="rect">
              <a:avLst/>
            </a:prstGeom>
            <a:noFill/>
          </p:spPr>
          <p:txBody>
            <a:bodyPr wrap="none">
              <a:spAutoFit/>
            </a:bodyPr>
            <a:lstStyle/>
            <a:p>
              <a:pPr eaLnBrk="1" hangingPunct="1">
                <a:defRPr/>
              </a:pPr>
              <a:r>
                <a:rPr lang="en-US" sz="1050" dirty="0">
                  <a:latin typeface="Arial" charset="0"/>
                  <a:cs typeface="Arial" charset="0"/>
                </a:rPr>
                <a:t>CLK2</a:t>
              </a:r>
              <a:endParaRPr lang="ru-RU" sz="1050" dirty="0">
                <a:latin typeface="Arial" charset="0"/>
                <a:cs typeface="Arial" charset="0"/>
              </a:endParaRPr>
            </a:p>
          </p:txBody>
        </p:sp>
        <p:sp>
          <p:nvSpPr>
            <p:cNvPr id="37917" name="TextBox 43">
              <a:extLst>
                <a:ext uri="{FF2B5EF4-FFF2-40B4-BE49-F238E27FC236}">
                  <a16:creationId xmlns:a16="http://schemas.microsoft.com/office/drawing/2014/main" id="{1EA7E6B9-792D-48F7-9943-265C1092F1BB}"/>
                </a:ext>
              </a:extLst>
            </p:cNvPr>
            <p:cNvSpPr txBox="1">
              <a:spLocks noChangeArrowheads="1"/>
            </p:cNvSpPr>
            <p:nvPr/>
          </p:nvSpPr>
          <p:spPr bwMode="auto">
            <a:xfrm>
              <a:off x="3187678" y="5526111"/>
              <a:ext cx="32175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0.5                      1.5                      2.5                      3.5</a:t>
              </a:r>
              <a:endParaRPr lang="ru-RU" altLang="en-US" sz="1000"/>
            </a:p>
          </p:txBody>
        </p:sp>
        <p:sp>
          <p:nvSpPr>
            <p:cNvPr id="45" name="TextBox 44">
              <a:extLst>
                <a:ext uri="{FF2B5EF4-FFF2-40B4-BE49-F238E27FC236}">
                  <a16:creationId xmlns:a16="http://schemas.microsoft.com/office/drawing/2014/main" id="{3A0E8933-A632-4B2D-8A58-DD939C07824F}"/>
                </a:ext>
              </a:extLst>
            </p:cNvPr>
            <p:cNvSpPr txBox="1"/>
            <p:nvPr/>
          </p:nvSpPr>
          <p:spPr>
            <a:xfrm>
              <a:off x="2819366" y="4597777"/>
              <a:ext cx="4070355" cy="253958"/>
            </a:xfrm>
            <a:prstGeom prst="rect">
              <a:avLst/>
            </a:prstGeom>
            <a:noFill/>
          </p:spPr>
          <p:txBody>
            <a:bodyPr wrap="none">
              <a:spAutoFit/>
            </a:bodyPr>
            <a:lstStyle/>
            <a:p>
              <a:pPr eaLnBrk="1" hangingPunct="1">
                <a:defRPr/>
              </a:pPr>
              <a:r>
                <a:rPr lang="en-US" sz="1050" dirty="0">
                  <a:latin typeface="Arial" charset="0"/>
                  <a:cs typeface="Arial" charset="0"/>
                </a:rPr>
                <a:t>0                     1.0                     2.0                    3.0                     4.0</a:t>
              </a:r>
              <a:endParaRPr lang="ru-RU" sz="1050" dirty="0">
                <a:latin typeface="Arial" charset="0"/>
                <a:cs typeface="Arial" charset="0"/>
              </a:endParaRPr>
            </a:p>
          </p:txBody>
        </p:sp>
        <p:sp>
          <p:nvSpPr>
            <p:cNvPr id="37919" name="TextBox 45">
              <a:extLst>
                <a:ext uri="{FF2B5EF4-FFF2-40B4-BE49-F238E27FC236}">
                  <a16:creationId xmlns:a16="http://schemas.microsoft.com/office/drawing/2014/main" id="{36432002-9FC4-45EF-8484-E5FBFE4210C7}"/>
                </a:ext>
              </a:extLst>
            </p:cNvPr>
            <p:cNvSpPr txBox="1">
              <a:spLocks noChangeArrowheads="1"/>
            </p:cNvSpPr>
            <p:nvPr/>
          </p:nvSpPr>
          <p:spPr bwMode="auto">
            <a:xfrm>
              <a:off x="3038454" y="4700601"/>
              <a:ext cx="51648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Setup</a:t>
              </a:r>
              <a:endParaRPr lang="ru-RU" altLang="en-US" sz="1000"/>
            </a:p>
          </p:txBody>
        </p:sp>
        <p:sp>
          <p:nvSpPr>
            <p:cNvPr id="37920" name="TextBox 46">
              <a:extLst>
                <a:ext uri="{FF2B5EF4-FFF2-40B4-BE49-F238E27FC236}">
                  <a16:creationId xmlns:a16="http://schemas.microsoft.com/office/drawing/2014/main" id="{D63561A6-F1F8-4EF1-B564-98556F7BCD7A}"/>
                </a:ext>
              </a:extLst>
            </p:cNvPr>
            <p:cNvSpPr txBox="1">
              <a:spLocks noChangeArrowheads="1"/>
            </p:cNvSpPr>
            <p:nvPr/>
          </p:nvSpPr>
          <p:spPr bwMode="auto">
            <a:xfrm>
              <a:off x="4183873" y="4743468"/>
              <a:ext cx="44755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Hold</a:t>
              </a:r>
              <a:endParaRPr lang="ru-RU" altLang="en-US" sz="1000"/>
            </a:p>
          </p:txBody>
        </p:sp>
        <p:cxnSp>
          <p:nvCxnSpPr>
            <p:cNvPr id="37921" name="Straight Arrow Connector 47">
              <a:extLst>
                <a:ext uri="{FF2B5EF4-FFF2-40B4-BE49-F238E27FC236}">
                  <a16:creationId xmlns:a16="http://schemas.microsoft.com/office/drawing/2014/main" id="{30E78389-D658-4383-9F93-35A3AC82020A}"/>
                </a:ext>
              </a:extLst>
            </p:cNvPr>
            <p:cNvCxnSpPr>
              <a:cxnSpLocks noChangeShapeType="1"/>
            </p:cNvCxnSpPr>
            <p:nvPr/>
          </p:nvCxnSpPr>
          <p:spPr bwMode="auto">
            <a:xfrm rot="5400000" flipH="1" flipV="1">
              <a:off x="2784453" y="4421991"/>
              <a:ext cx="255591"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7922" name="Straight Arrow Connector 48">
              <a:extLst>
                <a:ext uri="{FF2B5EF4-FFF2-40B4-BE49-F238E27FC236}">
                  <a16:creationId xmlns:a16="http://schemas.microsoft.com/office/drawing/2014/main" id="{00AEC43E-5906-4922-909B-11C97B71A32A}"/>
                </a:ext>
              </a:extLst>
            </p:cNvPr>
            <p:cNvCxnSpPr>
              <a:cxnSpLocks noChangeShapeType="1"/>
            </p:cNvCxnSpPr>
            <p:nvPr/>
          </p:nvCxnSpPr>
          <p:spPr bwMode="auto">
            <a:xfrm rot="5400000" flipH="1" flipV="1">
              <a:off x="4648198" y="4395801"/>
              <a:ext cx="255591"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37923" name="Straight Arrow Connector 49">
              <a:extLst>
                <a:ext uri="{FF2B5EF4-FFF2-40B4-BE49-F238E27FC236}">
                  <a16:creationId xmlns:a16="http://schemas.microsoft.com/office/drawing/2014/main" id="{C0B1A6A5-D6DA-41DF-A103-192661A0D90C}"/>
                </a:ext>
              </a:extLst>
            </p:cNvPr>
            <p:cNvCxnSpPr>
              <a:cxnSpLocks noChangeShapeType="1"/>
            </p:cNvCxnSpPr>
            <p:nvPr/>
          </p:nvCxnSpPr>
          <p:spPr bwMode="auto">
            <a:xfrm rot="5400000" flipH="1" flipV="1">
              <a:off x="3240070" y="5308626"/>
              <a:ext cx="255591" cy="158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7924" name="Freeform 50">
              <a:extLst>
                <a:ext uri="{FF2B5EF4-FFF2-40B4-BE49-F238E27FC236}">
                  <a16:creationId xmlns:a16="http://schemas.microsoft.com/office/drawing/2014/main" id="{5F943C87-03AB-4DDA-B92F-8758B58A2C5E}"/>
                </a:ext>
              </a:extLst>
            </p:cNvPr>
            <p:cNvSpPr>
              <a:spLocks/>
            </p:cNvSpPr>
            <p:nvPr/>
          </p:nvSpPr>
          <p:spPr bwMode="auto">
            <a:xfrm>
              <a:off x="2928938" y="4443413"/>
              <a:ext cx="371475" cy="865187"/>
            </a:xfrm>
            <a:custGeom>
              <a:avLst/>
              <a:gdLst>
                <a:gd name="T0" fmla="*/ 0 w 371475"/>
                <a:gd name="T1" fmla="*/ 0 h 865187"/>
                <a:gd name="T2" fmla="*/ 100012 w 371475"/>
                <a:gd name="T3" fmla="*/ 95250 h 865187"/>
                <a:gd name="T4" fmla="*/ 147637 w 371475"/>
                <a:gd name="T5" fmla="*/ 266700 h 865187"/>
                <a:gd name="T6" fmla="*/ 166687 w 371475"/>
                <a:gd name="T7" fmla="*/ 528637 h 865187"/>
                <a:gd name="T8" fmla="*/ 190500 w 371475"/>
                <a:gd name="T9" fmla="*/ 728662 h 865187"/>
                <a:gd name="T10" fmla="*/ 295275 w 371475"/>
                <a:gd name="T11" fmla="*/ 842962 h 865187"/>
                <a:gd name="T12" fmla="*/ 371475 w 371475"/>
                <a:gd name="T13" fmla="*/ 862012 h 8651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1475" h="865187">
                  <a:moveTo>
                    <a:pt x="0" y="0"/>
                  </a:moveTo>
                  <a:cubicBezTo>
                    <a:pt x="37703" y="25400"/>
                    <a:pt x="75406" y="50800"/>
                    <a:pt x="100012" y="95250"/>
                  </a:cubicBezTo>
                  <a:cubicBezTo>
                    <a:pt x="124618" y="139700"/>
                    <a:pt x="136525" y="194469"/>
                    <a:pt x="147637" y="266700"/>
                  </a:cubicBezTo>
                  <a:cubicBezTo>
                    <a:pt x="158750" y="338931"/>
                    <a:pt x="159543" y="451643"/>
                    <a:pt x="166687" y="528637"/>
                  </a:cubicBezTo>
                  <a:cubicBezTo>
                    <a:pt x="173831" y="605631"/>
                    <a:pt x="169069" y="676275"/>
                    <a:pt x="190500" y="728662"/>
                  </a:cubicBezTo>
                  <a:cubicBezTo>
                    <a:pt x="211931" y="781049"/>
                    <a:pt x="265113" y="820737"/>
                    <a:pt x="295275" y="842962"/>
                  </a:cubicBezTo>
                  <a:cubicBezTo>
                    <a:pt x="325437" y="865187"/>
                    <a:pt x="348456" y="863599"/>
                    <a:pt x="371475" y="862012"/>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7925" name="Freeform 51">
              <a:extLst>
                <a:ext uri="{FF2B5EF4-FFF2-40B4-BE49-F238E27FC236}">
                  <a16:creationId xmlns:a16="http://schemas.microsoft.com/office/drawing/2014/main" id="{33926F4A-B257-458E-B7FB-27E7C6B01C8F}"/>
                </a:ext>
              </a:extLst>
            </p:cNvPr>
            <p:cNvSpPr>
              <a:spLocks/>
            </p:cNvSpPr>
            <p:nvPr/>
          </p:nvSpPr>
          <p:spPr bwMode="auto">
            <a:xfrm>
              <a:off x="3435350" y="4391025"/>
              <a:ext cx="1295400" cy="985838"/>
            </a:xfrm>
            <a:custGeom>
              <a:avLst/>
              <a:gdLst>
                <a:gd name="T0" fmla="*/ 1295400 w 1295400"/>
                <a:gd name="T1" fmla="*/ 0 h 985838"/>
                <a:gd name="T2" fmla="*/ 1100138 w 1295400"/>
                <a:gd name="T3" fmla="*/ 38100 h 985838"/>
                <a:gd name="T4" fmla="*/ 919163 w 1295400"/>
                <a:gd name="T5" fmla="*/ 214313 h 985838"/>
                <a:gd name="T6" fmla="*/ 795338 w 1295400"/>
                <a:gd name="T7" fmla="*/ 452438 h 985838"/>
                <a:gd name="T8" fmla="*/ 642938 w 1295400"/>
                <a:gd name="T9" fmla="*/ 728663 h 985838"/>
                <a:gd name="T10" fmla="*/ 528638 w 1295400"/>
                <a:gd name="T11" fmla="*/ 857250 h 985838"/>
                <a:gd name="T12" fmla="*/ 357188 w 1295400"/>
                <a:gd name="T13" fmla="*/ 942975 h 985838"/>
                <a:gd name="T14" fmla="*/ 0 w 1295400"/>
                <a:gd name="T15" fmla="*/ 985838 h 9858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95400" h="985838">
                  <a:moveTo>
                    <a:pt x="1295400" y="0"/>
                  </a:moveTo>
                  <a:cubicBezTo>
                    <a:pt x="1229122" y="1190"/>
                    <a:pt x="1162844" y="2381"/>
                    <a:pt x="1100138" y="38100"/>
                  </a:cubicBezTo>
                  <a:cubicBezTo>
                    <a:pt x="1037432" y="73819"/>
                    <a:pt x="969963" y="145257"/>
                    <a:pt x="919163" y="214313"/>
                  </a:cubicBezTo>
                  <a:cubicBezTo>
                    <a:pt x="868363" y="283369"/>
                    <a:pt x="841375" y="366713"/>
                    <a:pt x="795338" y="452438"/>
                  </a:cubicBezTo>
                  <a:cubicBezTo>
                    <a:pt x="749301" y="538163"/>
                    <a:pt x="687388" y="661194"/>
                    <a:pt x="642938" y="728663"/>
                  </a:cubicBezTo>
                  <a:cubicBezTo>
                    <a:pt x="598488" y="796132"/>
                    <a:pt x="576263" y="821531"/>
                    <a:pt x="528638" y="857250"/>
                  </a:cubicBezTo>
                  <a:cubicBezTo>
                    <a:pt x="481013" y="892969"/>
                    <a:pt x="445294" y="921544"/>
                    <a:pt x="357188" y="942975"/>
                  </a:cubicBezTo>
                  <a:cubicBezTo>
                    <a:pt x="269082" y="964406"/>
                    <a:pt x="0" y="985838"/>
                    <a:pt x="0" y="985838"/>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54" name="Cloud 53">
              <a:extLst>
                <a:ext uri="{FF2B5EF4-FFF2-40B4-BE49-F238E27FC236}">
                  <a16:creationId xmlns:a16="http://schemas.microsoft.com/office/drawing/2014/main" id="{709B451E-CF00-4534-A092-1801F64CB0B0}"/>
                </a:ext>
              </a:extLst>
            </p:cNvPr>
            <p:cNvSpPr/>
            <p:nvPr/>
          </p:nvSpPr>
          <p:spPr bwMode="auto">
            <a:xfrm>
              <a:off x="5406994" y="2675632"/>
              <a:ext cx="584201" cy="29046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grpSp>
          <p:nvGrpSpPr>
            <p:cNvPr id="37927" name="Group 3">
              <a:extLst>
                <a:ext uri="{FF2B5EF4-FFF2-40B4-BE49-F238E27FC236}">
                  <a16:creationId xmlns:a16="http://schemas.microsoft.com/office/drawing/2014/main" id="{CD7E57D8-6575-4C04-8329-84962A1518A6}"/>
                </a:ext>
              </a:extLst>
            </p:cNvPr>
            <p:cNvGrpSpPr>
              <a:grpSpLocks/>
            </p:cNvGrpSpPr>
            <p:nvPr/>
          </p:nvGrpSpPr>
          <p:grpSpPr bwMode="auto">
            <a:xfrm>
              <a:off x="2201038" y="3222480"/>
              <a:ext cx="3773718" cy="514793"/>
              <a:chOff x="1903614" y="2052756"/>
              <a:chExt cx="3773718" cy="514793"/>
            </a:xfrm>
          </p:grpSpPr>
          <p:sp>
            <p:nvSpPr>
              <p:cNvPr id="37931" name="TextBox 55">
                <a:extLst>
                  <a:ext uri="{FF2B5EF4-FFF2-40B4-BE49-F238E27FC236}">
                    <a16:creationId xmlns:a16="http://schemas.microsoft.com/office/drawing/2014/main" id="{A7E55E59-742F-4F0B-9DE8-82CFD449E0AA}"/>
                  </a:ext>
                </a:extLst>
              </p:cNvPr>
              <p:cNvSpPr txBox="1">
                <a:spLocks noChangeArrowheads="1"/>
              </p:cNvSpPr>
              <p:nvPr/>
            </p:nvSpPr>
            <p:spPr bwMode="auto">
              <a:xfrm>
                <a:off x="3478434" y="2194848"/>
                <a:ext cx="53732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CLK90</a:t>
                </a:r>
                <a:endParaRPr lang="ru-RU" altLang="en-US"/>
              </a:p>
            </p:txBody>
          </p:sp>
          <p:cxnSp>
            <p:nvCxnSpPr>
              <p:cNvPr id="37932" name="Straight Connector 56">
                <a:extLst>
                  <a:ext uri="{FF2B5EF4-FFF2-40B4-BE49-F238E27FC236}">
                    <a16:creationId xmlns:a16="http://schemas.microsoft.com/office/drawing/2014/main" id="{E7F1FF4F-3B6C-429C-AB7F-C3360ADC6A06}"/>
                  </a:ext>
                </a:extLst>
              </p:cNvPr>
              <p:cNvCxnSpPr>
                <a:cxnSpLocks noChangeShapeType="1"/>
              </p:cNvCxnSpPr>
              <p:nvPr/>
            </p:nvCxnSpPr>
            <p:spPr bwMode="auto">
              <a:xfrm flipH="1">
                <a:off x="1903614" y="2058976"/>
                <a:ext cx="2281176" cy="0"/>
              </a:xfrm>
              <a:prstGeom prst="line">
                <a:avLst/>
              </a:prstGeom>
              <a:noFill/>
              <a:ln w="9525" algn="ctr">
                <a:solidFill>
                  <a:schemeClr val="tx1"/>
                </a:solidFill>
                <a:round/>
                <a:headEnd/>
                <a:tailEnd/>
              </a:ln>
            </p:spPr>
          </p:cxnSp>
          <p:cxnSp>
            <p:nvCxnSpPr>
              <p:cNvPr id="37933" name="Straight Connector 57">
                <a:extLst>
                  <a:ext uri="{FF2B5EF4-FFF2-40B4-BE49-F238E27FC236}">
                    <a16:creationId xmlns:a16="http://schemas.microsoft.com/office/drawing/2014/main" id="{F89E50B2-2F82-47BA-906E-E6B7EF4B8E6F}"/>
                  </a:ext>
                </a:extLst>
              </p:cNvPr>
              <p:cNvCxnSpPr>
                <a:cxnSpLocks noChangeShapeType="1"/>
              </p:cNvCxnSpPr>
              <p:nvPr/>
            </p:nvCxnSpPr>
            <p:spPr bwMode="auto">
              <a:xfrm>
                <a:off x="2447764" y="2055123"/>
                <a:ext cx="0" cy="357446"/>
              </a:xfrm>
              <a:prstGeom prst="line">
                <a:avLst/>
              </a:prstGeom>
              <a:noFill/>
              <a:ln w="9525" algn="ctr">
                <a:solidFill>
                  <a:schemeClr val="tx1"/>
                </a:solidFill>
                <a:round/>
                <a:headEnd/>
                <a:tailEnd/>
              </a:ln>
            </p:spPr>
          </p:cxnSp>
          <p:cxnSp>
            <p:nvCxnSpPr>
              <p:cNvPr id="37934" name="Straight Connector 58">
                <a:extLst>
                  <a:ext uri="{FF2B5EF4-FFF2-40B4-BE49-F238E27FC236}">
                    <a16:creationId xmlns:a16="http://schemas.microsoft.com/office/drawing/2014/main" id="{581172DE-B629-4253-9E03-8185E17954D2}"/>
                  </a:ext>
                </a:extLst>
              </p:cNvPr>
              <p:cNvCxnSpPr>
                <a:cxnSpLocks noChangeShapeType="1"/>
              </p:cNvCxnSpPr>
              <p:nvPr/>
            </p:nvCxnSpPr>
            <p:spPr bwMode="auto">
              <a:xfrm>
                <a:off x="2447764" y="2416949"/>
                <a:ext cx="3227959" cy="0"/>
              </a:xfrm>
              <a:prstGeom prst="line">
                <a:avLst/>
              </a:prstGeom>
              <a:noFill/>
              <a:ln w="9525" algn="ctr">
                <a:solidFill>
                  <a:schemeClr val="tx1"/>
                </a:solidFill>
                <a:round/>
                <a:headEnd/>
                <a:tailEnd/>
              </a:ln>
            </p:spPr>
          </p:cxnSp>
          <p:cxnSp>
            <p:nvCxnSpPr>
              <p:cNvPr id="37935" name="Straight Connector 59">
                <a:extLst>
                  <a:ext uri="{FF2B5EF4-FFF2-40B4-BE49-F238E27FC236}">
                    <a16:creationId xmlns:a16="http://schemas.microsoft.com/office/drawing/2014/main" id="{956926AF-FC53-48F2-BBB9-77250A6ED616}"/>
                  </a:ext>
                </a:extLst>
              </p:cNvPr>
              <p:cNvCxnSpPr>
                <a:cxnSpLocks noChangeShapeType="1"/>
              </p:cNvCxnSpPr>
              <p:nvPr/>
            </p:nvCxnSpPr>
            <p:spPr bwMode="auto">
              <a:xfrm flipV="1">
                <a:off x="5677332" y="2052756"/>
                <a:ext cx="0" cy="364193"/>
              </a:xfrm>
              <a:prstGeom prst="line">
                <a:avLst/>
              </a:prstGeom>
              <a:noFill/>
              <a:ln w="9525" algn="ctr">
                <a:solidFill>
                  <a:schemeClr val="tx1"/>
                </a:solidFill>
                <a:round/>
                <a:headEnd/>
                <a:tailEnd/>
              </a:ln>
            </p:spPr>
          </p:cxnSp>
          <p:sp>
            <p:nvSpPr>
              <p:cNvPr id="37936" name="Rectangle 61">
                <a:extLst>
                  <a:ext uri="{FF2B5EF4-FFF2-40B4-BE49-F238E27FC236}">
                    <a16:creationId xmlns:a16="http://schemas.microsoft.com/office/drawing/2014/main" id="{581F9916-A293-4723-AABF-AF1799B39660}"/>
                  </a:ext>
                </a:extLst>
              </p:cNvPr>
              <p:cNvSpPr>
                <a:spLocks noChangeArrowheads="1"/>
              </p:cNvSpPr>
              <p:nvPr/>
            </p:nvSpPr>
            <p:spPr bwMode="auto">
              <a:xfrm>
                <a:off x="2791041" y="2289154"/>
                <a:ext cx="693747" cy="255591"/>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4" name="Cloud 63">
                <a:extLst>
                  <a:ext uri="{FF2B5EF4-FFF2-40B4-BE49-F238E27FC236}">
                    <a16:creationId xmlns:a16="http://schemas.microsoft.com/office/drawing/2014/main" id="{E467FB3E-CF33-4789-97F7-C2D80D9FD0C1}"/>
                  </a:ext>
                </a:extLst>
              </p:cNvPr>
              <p:cNvSpPr/>
              <p:nvPr/>
            </p:nvSpPr>
            <p:spPr bwMode="auto">
              <a:xfrm>
                <a:off x="4511081" y="2258258"/>
                <a:ext cx="622301" cy="30951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grpSp>
        <p:sp>
          <p:nvSpPr>
            <p:cNvPr id="65" name="TextBox 64">
              <a:extLst>
                <a:ext uri="{FF2B5EF4-FFF2-40B4-BE49-F238E27FC236}">
                  <a16:creationId xmlns:a16="http://schemas.microsoft.com/office/drawing/2014/main" id="{07622250-38A7-40E2-8D63-E2A5813C3928}"/>
                </a:ext>
              </a:extLst>
            </p:cNvPr>
            <p:cNvSpPr txBox="1">
              <a:spLocks noRot="1" noChangeAspect="1" noMove="1" noResize="1" noEditPoints="1" noAdjustHandles="1" noChangeArrowheads="1" noChangeShapeType="1" noTextEdit="1"/>
            </p:cNvSpPr>
            <p:nvPr/>
          </p:nvSpPr>
          <p:spPr>
            <a:xfrm>
              <a:off x="3114675" y="3466877"/>
              <a:ext cx="759334" cy="230832"/>
            </a:xfrm>
            <a:prstGeom prst="rect">
              <a:avLst/>
            </a:prstGeom>
            <a:blipFill rotWithShape="0">
              <a:blip r:embed="rId2"/>
              <a:stretch>
                <a:fillRect b="-10526"/>
              </a:stretch>
            </a:blipFill>
            <a:ln w="9525">
              <a:noFill/>
            </a:ln>
          </p:spPr>
          <p:txBody>
            <a:bodyPr/>
            <a:lstStyle/>
            <a:p>
              <a:r>
                <a:rPr lang="en-US">
                  <a:solidFill>
                    <a:schemeClr val="bg1"/>
                  </a:solidFill>
                </a:rPr>
                <a:t> </a:t>
              </a:r>
            </a:p>
          </p:txBody>
        </p:sp>
        <p:sp>
          <p:nvSpPr>
            <p:cNvPr id="37929" name="Isosceles Triangle 14">
              <a:extLst>
                <a:ext uri="{FF2B5EF4-FFF2-40B4-BE49-F238E27FC236}">
                  <a16:creationId xmlns:a16="http://schemas.microsoft.com/office/drawing/2014/main" id="{7307E6F5-B9FB-49BF-8600-9243FCC9F988}"/>
                </a:ext>
              </a:extLst>
            </p:cNvPr>
            <p:cNvSpPr>
              <a:spLocks noChangeArrowheads="1"/>
            </p:cNvSpPr>
            <p:nvPr/>
          </p:nvSpPr>
          <p:spPr bwMode="auto">
            <a:xfrm rot="5400000">
              <a:off x="4454800" y="3201870"/>
              <a:ext cx="54828" cy="66929"/>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66" name="Cloud 65">
              <a:extLst>
                <a:ext uri="{FF2B5EF4-FFF2-40B4-BE49-F238E27FC236}">
                  <a16:creationId xmlns:a16="http://schemas.microsoft.com/office/drawing/2014/main" id="{F993326D-EBA2-40E5-9170-F21BBEF21F1F}"/>
                </a:ext>
              </a:extLst>
            </p:cNvPr>
            <p:cNvSpPr/>
            <p:nvPr/>
          </p:nvSpPr>
          <p:spPr bwMode="auto">
            <a:xfrm>
              <a:off x="3684554" y="3051808"/>
              <a:ext cx="622301" cy="309511"/>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15BD37D8-E7FA-428F-95D9-D1B18A5EB122}"/>
              </a:ext>
            </a:extLst>
          </p:cNvPr>
          <p:cNvSpPr>
            <a:spLocks noGrp="1"/>
          </p:cNvSpPr>
          <p:nvPr>
            <p:ph type="title"/>
          </p:nvPr>
        </p:nvSpPr>
        <p:spPr/>
        <p:txBody>
          <a:bodyPr/>
          <a:lstStyle/>
          <a:p>
            <a:r>
              <a:rPr lang="en-US" altLang="en-US"/>
              <a:t>Path Groups</a:t>
            </a:r>
          </a:p>
        </p:txBody>
      </p:sp>
      <p:sp>
        <p:nvSpPr>
          <p:cNvPr id="38915" name="Content Placeholder 2">
            <a:extLst>
              <a:ext uri="{FF2B5EF4-FFF2-40B4-BE49-F238E27FC236}">
                <a16:creationId xmlns:a16="http://schemas.microsoft.com/office/drawing/2014/main" id="{1BB75E94-3312-42CA-ACE6-5516D977578C}"/>
              </a:ext>
            </a:extLst>
          </p:cNvPr>
          <p:cNvSpPr>
            <a:spLocks noGrp="1"/>
          </p:cNvSpPr>
          <p:nvPr>
            <p:ph type="body" sz="quarter" idx="10"/>
          </p:nvPr>
        </p:nvSpPr>
        <p:spPr/>
        <p:txBody>
          <a:bodyPr/>
          <a:lstStyle/>
          <a:p>
            <a:r>
              <a:rPr lang="en-US" altLang="en-US"/>
              <a:t>Path group is created of  paths working with the same clock</a:t>
            </a:r>
          </a:p>
          <a:p>
            <a:r>
              <a:rPr lang="en-US" altLang="en-US"/>
              <a:t>Non-clocked  paths  are in default path group</a:t>
            </a:r>
          </a:p>
          <a:p>
            <a:r>
              <a:rPr lang="en-US" altLang="en-US"/>
              <a:t>The STA is performed on each path group separately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loud 48">
            <a:extLst>
              <a:ext uri="{FF2B5EF4-FFF2-40B4-BE49-F238E27FC236}">
                <a16:creationId xmlns:a16="http://schemas.microsoft.com/office/drawing/2014/main" id="{EC0C2977-2DA3-4087-8628-4EFD7B0A4BF2}"/>
              </a:ext>
            </a:extLst>
          </p:cNvPr>
          <p:cNvSpPr/>
          <p:nvPr/>
        </p:nvSpPr>
        <p:spPr bwMode="auto">
          <a:xfrm>
            <a:off x="5524500" y="3071814"/>
            <a:ext cx="668338"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grpSp>
        <p:nvGrpSpPr>
          <p:cNvPr id="39939" name="Группа 103">
            <a:extLst>
              <a:ext uri="{FF2B5EF4-FFF2-40B4-BE49-F238E27FC236}">
                <a16:creationId xmlns:a16="http://schemas.microsoft.com/office/drawing/2014/main" id="{08FE4DEA-D7B3-4B64-8512-F81411F1BAA4}"/>
              </a:ext>
            </a:extLst>
          </p:cNvPr>
          <p:cNvGrpSpPr>
            <a:grpSpLocks/>
          </p:cNvGrpSpPr>
          <p:nvPr/>
        </p:nvGrpSpPr>
        <p:grpSpPr bwMode="auto">
          <a:xfrm>
            <a:off x="6453189" y="2905125"/>
            <a:ext cx="714375" cy="1238250"/>
            <a:chOff x="3024490" y="2905122"/>
            <a:chExt cx="714004" cy="1238258"/>
          </a:xfrm>
        </p:grpSpPr>
        <p:grpSp>
          <p:nvGrpSpPr>
            <p:cNvPr id="39979" name="Группа 101">
              <a:extLst>
                <a:ext uri="{FF2B5EF4-FFF2-40B4-BE49-F238E27FC236}">
                  <a16:creationId xmlns:a16="http://schemas.microsoft.com/office/drawing/2014/main" id="{A3B4130E-6FEF-4EE4-9DA7-15728896B049}"/>
                </a:ext>
              </a:extLst>
            </p:cNvPr>
            <p:cNvGrpSpPr>
              <a:grpSpLocks/>
            </p:cNvGrpSpPr>
            <p:nvPr/>
          </p:nvGrpSpPr>
          <p:grpSpPr bwMode="auto">
            <a:xfrm>
              <a:off x="3024490" y="2905122"/>
              <a:ext cx="714004" cy="1238258"/>
              <a:chOff x="3000364" y="3000372"/>
              <a:chExt cx="457200" cy="762000"/>
            </a:xfrm>
          </p:grpSpPr>
          <p:sp>
            <p:nvSpPr>
              <p:cNvPr id="108" name="Rectangle 41">
                <a:extLst>
                  <a:ext uri="{FF2B5EF4-FFF2-40B4-BE49-F238E27FC236}">
                    <a16:creationId xmlns:a16="http://schemas.microsoft.com/office/drawing/2014/main" id="{8C61B2E1-991C-4EBF-96BA-14072E5D8BC5}"/>
                  </a:ext>
                </a:extLst>
              </p:cNvPr>
              <p:cNvSpPr/>
              <p:nvPr/>
            </p:nvSpPr>
            <p:spPr bwMode="auto">
              <a:xfrm>
                <a:off x="3000364" y="3000372"/>
                <a:ext cx="4572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109" name="Isosceles Triangle 42">
                <a:extLst>
                  <a:ext uri="{FF2B5EF4-FFF2-40B4-BE49-F238E27FC236}">
                    <a16:creationId xmlns:a16="http://schemas.microsoft.com/office/drawing/2014/main" id="{76FC11AB-AEC6-458E-BE41-1AC070292B88}"/>
                  </a:ext>
                </a:extLst>
              </p:cNvPr>
              <p:cNvSpPr/>
              <p:nvPr/>
            </p:nvSpPr>
            <p:spPr bwMode="auto">
              <a:xfrm rot="5400000">
                <a:off x="2962264" y="3571872"/>
                <a:ext cx="152400" cy="76200"/>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mj-lt"/>
                  <a:cs typeface="Arial" charset="0"/>
                </a:endParaRPr>
              </a:p>
            </p:txBody>
          </p:sp>
        </p:grpSp>
        <p:sp>
          <p:nvSpPr>
            <p:cNvPr id="106" name="TextBox 105">
              <a:extLst>
                <a:ext uri="{FF2B5EF4-FFF2-40B4-BE49-F238E27FC236}">
                  <a16:creationId xmlns:a16="http://schemas.microsoft.com/office/drawing/2014/main" id="{1B4C9D9C-56EE-49E5-A322-89ED095E747C}"/>
                </a:ext>
              </a:extLst>
            </p:cNvPr>
            <p:cNvSpPr txBox="1"/>
            <p:nvPr/>
          </p:nvSpPr>
          <p:spPr>
            <a:xfrm>
              <a:off x="3072090" y="3071811"/>
              <a:ext cx="631497" cy="276227"/>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D     Q</a:t>
              </a:r>
            </a:p>
          </p:txBody>
        </p:sp>
        <p:sp>
          <p:nvSpPr>
            <p:cNvPr id="107" name="TextBox 106">
              <a:extLst>
                <a:ext uri="{FF2B5EF4-FFF2-40B4-BE49-F238E27FC236}">
                  <a16:creationId xmlns:a16="http://schemas.microsoft.com/office/drawing/2014/main" id="{CFC6D11C-892B-4B20-8560-AF533285E04E}"/>
                </a:ext>
              </a:extLst>
            </p:cNvPr>
            <p:cNvSpPr txBox="1"/>
            <p:nvPr/>
          </p:nvSpPr>
          <p:spPr>
            <a:xfrm>
              <a:off x="3143490" y="3714752"/>
              <a:ext cx="434749" cy="307977"/>
            </a:xfrm>
            <a:prstGeom prst="rect">
              <a:avLst/>
            </a:prstGeom>
            <a:noFill/>
            <a:ln w="9525">
              <a:noFill/>
            </a:ln>
          </p:spPr>
          <p:txBody>
            <a:bodyPr wrap="none">
              <a:spAutoFit/>
            </a:bodyPr>
            <a:lstStyle/>
            <a:p>
              <a:pPr eaLnBrk="1" hangingPunct="1">
                <a:defRPr/>
              </a:pPr>
              <a:r>
                <a:rPr lang="en-US" sz="1400" dirty="0">
                  <a:solidFill>
                    <a:schemeClr val="bg1"/>
                  </a:solidFill>
                  <a:latin typeface="+mj-lt"/>
                  <a:cs typeface="Arial" charset="0"/>
                </a:rPr>
                <a:t>CK</a:t>
              </a:r>
            </a:p>
          </p:txBody>
        </p:sp>
      </p:grpSp>
      <p:sp>
        <p:nvSpPr>
          <p:cNvPr id="39940" name="Title 1">
            <a:extLst>
              <a:ext uri="{FF2B5EF4-FFF2-40B4-BE49-F238E27FC236}">
                <a16:creationId xmlns:a16="http://schemas.microsoft.com/office/drawing/2014/main" id="{091BCB53-E205-4886-B1FD-7E809C276E3E}"/>
              </a:ext>
            </a:extLst>
          </p:cNvPr>
          <p:cNvSpPr>
            <a:spLocks noGrp="1"/>
          </p:cNvSpPr>
          <p:nvPr>
            <p:ph type="title"/>
          </p:nvPr>
        </p:nvSpPr>
        <p:spPr/>
        <p:txBody>
          <a:bodyPr/>
          <a:lstStyle/>
          <a:p>
            <a:r>
              <a:rPr lang="en-US" altLang="en-US"/>
              <a:t>Path Groups (2)</a:t>
            </a:r>
          </a:p>
        </p:txBody>
      </p:sp>
      <p:cxnSp>
        <p:nvCxnSpPr>
          <p:cNvPr id="39941" name="Straight Connector 25">
            <a:extLst>
              <a:ext uri="{FF2B5EF4-FFF2-40B4-BE49-F238E27FC236}">
                <a16:creationId xmlns:a16="http://schemas.microsoft.com/office/drawing/2014/main" id="{68BF18DA-FC47-4D69-9289-6004519C6D67}"/>
              </a:ext>
            </a:extLst>
          </p:cNvPr>
          <p:cNvCxnSpPr>
            <a:cxnSpLocks noChangeShapeType="1"/>
          </p:cNvCxnSpPr>
          <p:nvPr/>
        </p:nvCxnSpPr>
        <p:spPr bwMode="auto">
          <a:xfrm rot="5400000">
            <a:off x="1593056" y="3178969"/>
            <a:ext cx="3354388"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9942" name="Straight Connector 26">
            <a:extLst>
              <a:ext uri="{FF2B5EF4-FFF2-40B4-BE49-F238E27FC236}">
                <a16:creationId xmlns:a16="http://schemas.microsoft.com/office/drawing/2014/main" id="{5A2E44EB-16C8-4FA8-9123-C159831EDA98}"/>
              </a:ext>
            </a:extLst>
          </p:cNvPr>
          <p:cNvCxnSpPr>
            <a:cxnSpLocks noChangeShapeType="1"/>
          </p:cNvCxnSpPr>
          <p:nvPr/>
        </p:nvCxnSpPr>
        <p:spPr bwMode="auto">
          <a:xfrm>
            <a:off x="3268664" y="4856163"/>
            <a:ext cx="5260975"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9943" name="Straight Connector 27">
            <a:extLst>
              <a:ext uri="{FF2B5EF4-FFF2-40B4-BE49-F238E27FC236}">
                <a16:creationId xmlns:a16="http://schemas.microsoft.com/office/drawing/2014/main" id="{5FA6978F-921B-46DF-A9EC-A05D195B134D}"/>
              </a:ext>
            </a:extLst>
          </p:cNvPr>
          <p:cNvCxnSpPr>
            <a:cxnSpLocks noChangeShapeType="1"/>
          </p:cNvCxnSpPr>
          <p:nvPr/>
        </p:nvCxnSpPr>
        <p:spPr bwMode="auto">
          <a:xfrm rot="5400000">
            <a:off x="6851651" y="3178176"/>
            <a:ext cx="3355975"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9944" name="Straight Connector 9">
            <a:extLst>
              <a:ext uri="{FF2B5EF4-FFF2-40B4-BE49-F238E27FC236}">
                <a16:creationId xmlns:a16="http://schemas.microsoft.com/office/drawing/2014/main" id="{D83B64C1-526B-4A5D-9155-15957671B04D}"/>
              </a:ext>
            </a:extLst>
          </p:cNvPr>
          <p:cNvCxnSpPr>
            <a:cxnSpLocks noChangeShapeType="1"/>
          </p:cNvCxnSpPr>
          <p:nvPr/>
        </p:nvCxnSpPr>
        <p:spPr bwMode="auto">
          <a:xfrm>
            <a:off x="8075614" y="3268663"/>
            <a:ext cx="454025" cy="0"/>
          </a:xfrm>
          <a:prstGeom prst="line">
            <a:avLst/>
          </a:prstGeom>
          <a:noFill/>
          <a:ln w="9525" algn="ctr">
            <a:solidFill>
              <a:schemeClr val="tx1"/>
            </a:solidFill>
            <a:round/>
            <a:headEnd/>
            <a:tailEnd/>
          </a:ln>
        </p:spPr>
      </p:cxnSp>
      <p:cxnSp>
        <p:nvCxnSpPr>
          <p:cNvPr id="39945" name="Straight Connector 10">
            <a:extLst>
              <a:ext uri="{FF2B5EF4-FFF2-40B4-BE49-F238E27FC236}">
                <a16:creationId xmlns:a16="http://schemas.microsoft.com/office/drawing/2014/main" id="{3519D6A0-FAA0-4396-94B7-BF55F1804880}"/>
              </a:ext>
            </a:extLst>
          </p:cNvPr>
          <p:cNvCxnSpPr>
            <a:cxnSpLocks noChangeShapeType="1"/>
          </p:cNvCxnSpPr>
          <p:nvPr/>
        </p:nvCxnSpPr>
        <p:spPr bwMode="auto">
          <a:xfrm>
            <a:off x="7169151" y="3287713"/>
            <a:ext cx="271463" cy="0"/>
          </a:xfrm>
          <a:prstGeom prst="line">
            <a:avLst/>
          </a:prstGeom>
          <a:noFill/>
          <a:ln w="9525" algn="ctr">
            <a:solidFill>
              <a:schemeClr val="tx1"/>
            </a:solidFill>
            <a:round/>
            <a:headEnd/>
            <a:tailEnd/>
          </a:ln>
        </p:spPr>
      </p:cxnSp>
      <p:cxnSp>
        <p:nvCxnSpPr>
          <p:cNvPr id="39946" name="Straight Connector 11">
            <a:extLst>
              <a:ext uri="{FF2B5EF4-FFF2-40B4-BE49-F238E27FC236}">
                <a16:creationId xmlns:a16="http://schemas.microsoft.com/office/drawing/2014/main" id="{F644648C-0A33-4626-8C1F-1DF97C08B4A4}"/>
              </a:ext>
            </a:extLst>
          </p:cNvPr>
          <p:cNvCxnSpPr>
            <a:cxnSpLocks noChangeShapeType="1"/>
          </p:cNvCxnSpPr>
          <p:nvPr/>
        </p:nvCxnSpPr>
        <p:spPr bwMode="auto">
          <a:xfrm>
            <a:off x="6170613" y="3268663"/>
            <a:ext cx="273050" cy="0"/>
          </a:xfrm>
          <a:prstGeom prst="line">
            <a:avLst/>
          </a:prstGeom>
          <a:noFill/>
          <a:ln w="9525" algn="ctr">
            <a:solidFill>
              <a:schemeClr val="tx1"/>
            </a:solidFill>
            <a:round/>
            <a:headEnd/>
            <a:tailEnd/>
          </a:ln>
        </p:spPr>
      </p:cxnSp>
      <p:cxnSp>
        <p:nvCxnSpPr>
          <p:cNvPr id="39947" name="Straight Connector 12">
            <a:extLst>
              <a:ext uri="{FF2B5EF4-FFF2-40B4-BE49-F238E27FC236}">
                <a16:creationId xmlns:a16="http://schemas.microsoft.com/office/drawing/2014/main" id="{21E84ACD-CA30-43B4-9337-7D7910427BFB}"/>
              </a:ext>
            </a:extLst>
          </p:cNvPr>
          <p:cNvCxnSpPr>
            <a:cxnSpLocks noChangeShapeType="1"/>
          </p:cNvCxnSpPr>
          <p:nvPr/>
        </p:nvCxnSpPr>
        <p:spPr bwMode="auto">
          <a:xfrm rot="10800000" flipV="1">
            <a:off x="5264151" y="3314700"/>
            <a:ext cx="271463" cy="0"/>
          </a:xfrm>
          <a:prstGeom prst="line">
            <a:avLst/>
          </a:prstGeom>
          <a:noFill/>
          <a:ln w="9525" algn="ctr">
            <a:solidFill>
              <a:schemeClr val="tx1"/>
            </a:solidFill>
            <a:round/>
            <a:headEnd/>
            <a:tailEnd/>
          </a:ln>
        </p:spPr>
      </p:cxnSp>
      <p:cxnSp>
        <p:nvCxnSpPr>
          <p:cNvPr id="39948" name="Straight Connector 13">
            <a:extLst>
              <a:ext uri="{FF2B5EF4-FFF2-40B4-BE49-F238E27FC236}">
                <a16:creationId xmlns:a16="http://schemas.microsoft.com/office/drawing/2014/main" id="{938109EA-56A3-4210-9BFB-BBB6F2CC4400}"/>
              </a:ext>
            </a:extLst>
          </p:cNvPr>
          <p:cNvCxnSpPr>
            <a:cxnSpLocks noChangeShapeType="1"/>
          </p:cNvCxnSpPr>
          <p:nvPr/>
        </p:nvCxnSpPr>
        <p:spPr bwMode="auto">
          <a:xfrm>
            <a:off x="4357689" y="3178175"/>
            <a:ext cx="180975" cy="0"/>
          </a:xfrm>
          <a:prstGeom prst="line">
            <a:avLst/>
          </a:prstGeom>
          <a:noFill/>
          <a:ln w="9525" algn="ctr">
            <a:solidFill>
              <a:schemeClr val="tx1"/>
            </a:solidFill>
            <a:round/>
            <a:headEnd/>
            <a:tailEnd/>
          </a:ln>
        </p:spPr>
      </p:cxnSp>
      <p:cxnSp>
        <p:nvCxnSpPr>
          <p:cNvPr id="39949" name="Straight Connector 14">
            <a:extLst>
              <a:ext uri="{FF2B5EF4-FFF2-40B4-BE49-F238E27FC236}">
                <a16:creationId xmlns:a16="http://schemas.microsoft.com/office/drawing/2014/main" id="{4DB78B9C-6167-4256-B72C-EE61F9BF843E}"/>
              </a:ext>
            </a:extLst>
          </p:cNvPr>
          <p:cNvCxnSpPr>
            <a:cxnSpLocks noChangeShapeType="1"/>
          </p:cNvCxnSpPr>
          <p:nvPr/>
        </p:nvCxnSpPr>
        <p:spPr bwMode="auto">
          <a:xfrm rot="5400000" flipH="1" flipV="1">
            <a:off x="5856288" y="4175125"/>
            <a:ext cx="635000" cy="0"/>
          </a:xfrm>
          <a:prstGeom prst="line">
            <a:avLst/>
          </a:prstGeom>
          <a:noFill/>
          <a:ln w="9525" algn="ctr">
            <a:solidFill>
              <a:schemeClr val="tx1"/>
            </a:solidFill>
            <a:round/>
            <a:headEnd/>
            <a:tailEnd/>
          </a:ln>
        </p:spPr>
      </p:cxnSp>
      <p:cxnSp>
        <p:nvCxnSpPr>
          <p:cNvPr id="39950" name="Straight Connector 15">
            <a:extLst>
              <a:ext uri="{FF2B5EF4-FFF2-40B4-BE49-F238E27FC236}">
                <a16:creationId xmlns:a16="http://schemas.microsoft.com/office/drawing/2014/main" id="{282D5A89-C3E6-448C-8626-A366C22CE499}"/>
              </a:ext>
            </a:extLst>
          </p:cNvPr>
          <p:cNvCxnSpPr>
            <a:cxnSpLocks noChangeShapeType="1"/>
          </p:cNvCxnSpPr>
          <p:nvPr/>
        </p:nvCxnSpPr>
        <p:spPr bwMode="auto">
          <a:xfrm>
            <a:off x="6172201" y="3857625"/>
            <a:ext cx="271463" cy="0"/>
          </a:xfrm>
          <a:prstGeom prst="line">
            <a:avLst/>
          </a:prstGeom>
          <a:noFill/>
          <a:ln w="9525" algn="ctr">
            <a:solidFill>
              <a:schemeClr val="tx1"/>
            </a:solidFill>
            <a:round/>
            <a:headEnd/>
            <a:tailEnd/>
          </a:ln>
        </p:spPr>
      </p:cxnSp>
      <p:cxnSp>
        <p:nvCxnSpPr>
          <p:cNvPr id="39951" name="Straight Connector 17">
            <a:extLst>
              <a:ext uri="{FF2B5EF4-FFF2-40B4-BE49-F238E27FC236}">
                <a16:creationId xmlns:a16="http://schemas.microsoft.com/office/drawing/2014/main" id="{DECE844C-DA09-479F-A91E-1DE775F74ED1}"/>
              </a:ext>
            </a:extLst>
          </p:cNvPr>
          <p:cNvCxnSpPr>
            <a:cxnSpLocks noChangeShapeType="1"/>
          </p:cNvCxnSpPr>
          <p:nvPr/>
        </p:nvCxnSpPr>
        <p:spPr bwMode="auto">
          <a:xfrm>
            <a:off x="3268664" y="3857625"/>
            <a:ext cx="1271587" cy="0"/>
          </a:xfrm>
          <a:prstGeom prst="line">
            <a:avLst/>
          </a:prstGeom>
          <a:noFill/>
          <a:ln w="9525" algn="ctr">
            <a:solidFill>
              <a:schemeClr val="tx1"/>
            </a:solidFill>
            <a:round/>
            <a:headEnd/>
            <a:tailEnd/>
          </a:ln>
        </p:spPr>
      </p:cxnSp>
      <p:cxnSp>
        <p:nvCxnSpPr>
          <p:cNvPr id="39952" name="Straight Connector 28">
            <a:extLst>
              <a:ext uri="{FF2B5EF4-FFF2-40B4-BE49-F238E27FC236}">
                <a16:creationId xmlns:a16="http://schemas.microsoft.com/office/drawing/2014/main" id="{BD24102A-A78D-44CE-973C-3DEBC9372AD4}"/>
              </a:ext>
            </a:extLst>
          </p:cNvPr>
          <p:cNvCxnSpPr>
            <a:cxnSpLocks noChangeShapeType="1"/>
          </p:cNvCxnSpPr>
          <p:nvPr/>
        </p:nvCxnSpPr>
        <p:spPr bwMode="auto">
          <a:xfrm>
            <a:off x="3268664" y="1500188"/>
            <a:ext cx="5260975"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9953" name="Straight Connector 38">
            <a:extLst>
              <a:ext uri="{FF2B5EF4-FFF2-40B4-BE49-F238E27FC236}">
                <a16:creationId xmlns:a16="http://schemas.microsoft.com/office/drawing/2014/main" id="{BC377B21-3D7D-44AB-99B9-EE7E51939228}"/>
              </a:ext>
            </a:extLst>
          </p:cNvPr>
          <p:cNvCxnSpPr>
            <a:cxnSpLocks noChangeShapeType="1"/>
          </p:cNvCxnSpPr>
          <p:nvPr/>
        </p:nvCxnSpPr>
        <p:spPr bwMode="auto">
          <a:xfrm>
            <a:off x="3268664" y="3184525"/>
            <a:ext cx="454025" cy="0"/>
          </a:xfrm>
          <a:prstGeom prst="line">
            <a:avLst/>
          </a:prstGeom>
          <a:noFill/>
          <a:ln w="9525" algn="ctr">
            <a:solidFill>
              <a:schemeClr val="tx1"/>
            </a:solidFill>
            <a:round/>
            <a:headEnd/>
            <a:tailEnd/>
          </a:ln>
        </p:spPr>
      </p:cxnSp>
      <p:cxnSp>
        <p:nvCxnSpPr>
          <p:cNvPr id="39954" name="Straight Connector 40">
            <a:extLst>
              <a:ext uri="{FF2B5EF4-FFF2-40B4-BE49-F238E27FC236}">
                <a16:creationId xmlns:a16="http://schemas.microsoft.com/office/drawing/2014/main" id="{9E43E26E-B662-4FD8-92BD-4E0442FE257A}"/>
              </a:ext>
            </a:extLst>
          </p:cNvPr>
          <p:cNvCxnSpPr>
            <a:cxnSpLocks noChangeShapeType="1"/>
          </p:cNvCxnSpPr>
          <p:nvPr/>
        </p:nvCxnSpPr>
        <p:spPr bwMode="auto">
          <a:xfrm rot="10800000">
            <a:off x="3268663" y="4494213"/>
            <a:ext cx="2901950" cy="0"/>
          </a:xfrm>
          <a:prstGeom prst="line">
            <a:avLst/>
          </a:prstGeom>
          <a:noFill/>
          <a:ln w="9525" algn="ctr">
            <a:solidFill>
              <a:schemeClr val="tx1"/>
            </a:solidFill>
            <a:round/>
            <a:headEnd/>
            <a:tailEnd/>
          </a:ln>
        </p:spPr>
      </p:cxnSp>
      <p:sp>
        <p:nvSpPr>
          <p:cNvPr id="39955" name="TextBox 42">
            <a:extLst>
              <a:ext uri="{FF2B5EF4-FFF2-40B4-BE49-F238E27FC236}">
                <a16:creationId xmlns:a16="http://schemas.microsoft.com/office/drawing/2014/main" id="{00EEC10C-B315-46D9-8487-3D31A6B912D2}"/>
              </a:ext>
            </a:extLst>
          </p:cNvPr>
          <p:cNvSpPr txBox="1">
            <a:spLocks noChangeArrowheads="1"/>
          </p:cNvSpPr>
          <p:nvPr/>
        </p:nvSpPr>
        <p:spPr bwMode="auto">
          <a:xfrm>
            <a:off x="2452689" y="3676651"/>
            <a:ext cx="81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CLK1</a:t>
            </a:r>
          </a:p>
        </p:txBody>
      </p:sp>
      <p:sp>
        <p:nvSpPr>
          <p:cNvPr id="39956" name="TextBox 43">
            <a:extLst>
              <a:ext uri="{FF2B5EF4-FFF2-40B4-BE49-F238E27FC236}">
                <a16:creationId xmlns:a16="http://schemas.microsoft.com/office/drawing/2014/main" id="{1941BB15-F935-4C09-8B39-F420118C08D6}"/>
              </a:ext>
            </a:extLst>
          </p:cNvPr>
          <p:cNvSpPr txBox="1">
            <a:spLocks noChangeArrowheads="1"/>
          </p:cNvSpPr>
          <p:nvPr/>
        </p:nvSpPr>
        <p:spPr bwMode="auto">
          <a:xfrm>
            <a:off x="2452689" y="4311651"/>
            <a:ext cx="81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CLK2</a:t>
            </a:r>
          </a:p>
        </p:txBody>
      </p:sp>
      <p:cxnSp>
        <p:nvCxnSpPr>
          <p:cNvPr id="39957" name="Straight Arrow Connector 46">
            <a:extLst>
              <a:ext uri="{FF2B5EF4-FFF2-40B4-BE49-F238E27FC236}">
                <a16:creationId xmlns:a16="http://schemas.microsoft.com/office/drawing/2014/main" id="{36AF33AB-4A31-431D-BFC4-15FF3F5611F4}"/>
              </a:ext>
            </a:extLst>
          </p:cNvPr>
          <p:cNvCxnSpPr>
            <a:cxnSpLocks noChangeShapeType="1"/>
          </p:cNvCxnSpPr>
          <p:nvPr/>
        </p:nvCxnSpPr>
        <p:spPr bwMode="auto">
          <a:xfrm>
            <a:off x="3449639" y="3676650"/>
            <a:ext cx="998537" cy="0"/>
          </a:xfrm>
          <a:prstGeom prst="straightConnector1">
            <a:avLst/>
          </a:prstGeom>
          <a:noFill/>
          <a:ln w="9525" algn="ctr">
            <a:solidFill>
              <a:srgbClr val="0000FF"/>
            </a:solidFill>
            <a:prstDash val="dash"/>
            <a:round/>
            <a:headEnd/>
            <a:tailEnd type="triangle" w="med" len="med"/>
          </a:ln>
          <a:extLst>
            <a:ext uri="{909E8E84-426E-40DD-AFC4-6F175D3DCCD1}">
              <a14:hiddenFill xmlns:a14="http://schemas.microsoft.com/office/drawing/2010/main">
                <a:noFill/>
              </a14:hiddenFill>
            </a:ext>
          </a:extLst>
        </p:spPr>
      </p:cxnSp>
      <p:sp>
        <p:nvSpPr>
          <p:cNvPr id="39958" name="TextBox 47">
            <a:extLst>
              <a:ext uri="{FF2B5EF4-FFF2-40B4-BE49-F238E27FC236}">
                <a16:creationId xmlns:a16="http://schemas.microsoft.com/office/drawing/2014/main" id="{6F60DFA1-880A-43E1-878D-7C7C3E1D41F6}"/>
              </a:ext>
            </a:extLst>
          </p:cNvPr>
          <p:cNvSpPr txBox="1">
            <a:spLocks noChangeArrowheads="1"/>
          </p:cNvSpPr>
          <p:nvPr/>
        </p:nvSpPr>
        <p:spPr bwMode="auto">
          <a:xfrm>
            <a:off x="3378200" y="3381376"/>
            <a:ext cx="127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CLK1  group</a:t>
            </a:r>
          </a:p>
        </p:txBody>
      </p:sp>
      <p:cxnSp>
        <p:nvCxnSpPr>
          <p:cNvPr id="39959" name="Shape 53">
            <a:extLst>
              <a:ext uri="{FF2B5EF4-FFF2-40B4-BE49-F238E27FC236}">
                <a16:creationId xmlns:a16="http://schemas.microsoft.com/office/drawing/2014/main" id="{E2B3C594-610F-46E8-9B2D-9691BFC56B4A}"/>
              </a:ext>
            </a:extLst>
          </p:cNvPr>
          <p:cNvCxnSpPr>
            <a:cxnSpLocks noChangeShapeType="1"/>
          </p:cNvCxnSpPr>
          <p:nvPr/>
        </p:nvCxnSpPr>
        <p:spPr bwMode="auto">
          <a:xfrm rot="5400000" flipH="1" flipV="1">
            <a:off x="5514182" y="2837657"/>
            <a:ext cx="271462" cy="1406525"/>
          </a:xfrm>
          <a:prstGeom prst="curvedConnector2">
            <a:avLst/>
          </a:prstGeom>
          <a:noFill/>
          <a:ln w="9525" algn="ctr">
            <a:solidFill>
              <a:srgbClr val="0000FF"/>
            </a:solidFill>
            <a:prstDash val="dash"/>
            <a:round/>
            <a:headEnd/>
            <a:tailEnd type="triangle" w="med" len="med"/>
          </a:ln>
          <a:extLst>
            <a:ext uri="{909E8E84-426E-40DD-AFC4-6F175D3DCCD1}">
              <a14:hiddenFill xmlns:a14="http://schemas.microsoft.com/office/drawing/2010/main">
                <a:noFill/>
              </a14:hiddenFill>
            </a:ext>
          </a:extLst>
        </p:spPr>
      </p:cxnSp>
      <p:cxnSp>
        <p:nvCxnSpPr>
          <p:cNvPr id="39960" name="Shape 55">
            <a:extLst>
              <a:ext uri="{FF2B5EF4-FFF2-40B4-BE49-F238E27FC236}">
                <a16:creationId xmlns:a16="http://schemas.microsoft.com/office/drawing/2014/main" id="{0C806C45-1094-49CB-9B8C-CB07020F6D31}"/>
              </a:ext>
            </a:extLst>
          </p:cNvPr>
          <p:cNvCxnSpPr>
            <a:cxnSpLocks noChangeShapeType="1"/>
          </p:cNvCxnSpPr>
          <p:nvPr/>
        </p:nvCxnSpPr>
        <p:spPr bwMode="auto">
          <a:xfrm rot="5400000" flipH="1" flipV="1">
            <a:off x="7508876" y="2838451"/>
            <a:ext cx="180975" cy="1495425"/>
          </a:xfrm>
          <a:prstGeom prst="curvedConnector2">
            <a:avLst/>
          </a:prstGeom>
          <a:noFill/>
          <a:ln w="9525" algn="ctr">
            <a:solidFill>
              <a:srgbClr val="0000FF"/>
            </a:solidFill>
            <a:prstDash val="dash"/>
            <a:round/>
            <a:headEnd/>
            <a:tailEnd type="triangle" w="med" len="med"/>
          </a:ln>
          <a:extLst>
            <a:ext uri="{909E8E84-426E-40DD-AFC4-6F175D3DCCD1}">
              <a14:hiddenFill xmlns:a14="http://schemas.microsoft.com/office/drawing/2010/main">
                <a:noFill/>
              </a14:hiddenFill>
            </a:ext>
          </a:extLst>
        </p:spPr>
      </p:cxnSp>
      <p:sp>
        <p:nvSpPr>
          <p:cNvPr id="39961" name="TextBox 56">
            <a:extLst>
              <a:ext uri="{FF2B5EF4-FFF2-40B4-BE49-F238E27FC236}">
                <a16:creationId xmlns:a16="http://schemas.microsoft.com/office/drawing/2014/main" id="{B07E3DCD-260D-4F55-BFDE-7756205BA943}"/>
              </a:ext>
            </a:extLst>
          </p:cNvPr>
          <p:cNvSpPr txBox="1">
            <a:spLocks noChangeArrowheads="1"/>
          </p:cNvSpPr>
          <p:nvPr/>
        </p:nvSpPr>
        <p:spPr bwMode="auto">
          <a:xfrm>
            <a:off x="7310439" y="3643314"/>
            <a:ext cx="1450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DEFAULT</a:t>
            </a:r>
          </a:p>
        </p:txBody>
      </p:sp>
      <p:sp>
        <p:nvSpPr>
          <p:cNvPr id="39962" name="TextBox 57">
            <a:extLst>
              <a:ext uri="{FF2B5EF4-FFF2-40B4-BE49-F238E27FC236}">
                <a16:creationId xmlns:a16="http://schemas.microsoft.com/office/drawing/2014/main" id="{881EDC8E-76A5-4F3A-8567-9D9434CAE3D1}"/>
              </a:ext>
            </a:extLst>
          </p:cNvPr>
          <p:cNvSpPr txBox="1">
            <a:spLocks noChangeArrowheads="1"/>
          </p:cNvSpPr>
          <p:nvPr/>
        </p:nvSpPr>
        <p:spPr bwMode="auto">
          <a:xfrm>
            <a:off x="5264150" y="3495676"/>
            <a:ext cx="127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CLK2 group</a:t>
            </a:r>
          </a:p>
        </p:txBody>
      </p:sp>
      <p:sp>
        <p:nvSpPr>
          <p:cNvPr id="39963" name="Rectangle 58">
            <a:extLst>
              <a:ext uri="{FF2B5EF4-FFF2-40B4-BE49-F238E27FC236}">
                <a16:creationId xmlns:a16="http://schemas.microsoft.com/office/drawing/2014/main" id="{4D296502-FC33-468C-B226-722F5C201873}"/>
              </a:ext>
            </a:extLst>
          </p:cNvPr>
          <p:cNvSpPr>
            <a:spLocks noChangeArrowheads="1"/>
          </p:cNvSpPr>
          <p:nvPr/>
        </p:nvSpPr>
        <p:spPr bwMode="auto">
          <a:xfrm>
            <a:off x="3268664" y="3132139"/>
            <a:ext cx="90487" cy="90487"/>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9964" name="Rectangle 59">
            <a:extLst>
              <a:ext uri="{FF2B5EF4-FFF2-40B4-BE49-F238E27FC236}">
                <a16:creationId xmlns:a16="http://schemas.microsoft.com/office/drawing/2014/main" id="{7DE0A223-33BB-444C-B5EC-BFDD2E6DDD6E}"/>
              </a:ext>
            </a:extLst>
          </p:cNvPr>
          <p:cNvSpPr>
            <a:spLocks noChangeArrowheads="1"/>
          </p:cNvSpPr>
          <p:nvPr/>
        </p:nvSpPr>
        <p:spPr bwMode="auto">
          <a:xfrm>
            <a:off x="3268664" y="3805239"/>
            <a:ext cx="90487" cy="920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9965" name="Rectangle 60">
            <a:extLst>
              <a:ext uri="{FF2B5EF4-FFF2-40B4-BE49-F238E27FC236}">
                <a16:creationId xmlns:a16="http://schemas.microsoft.com/office/drawing/2014/main" id="{A5CFA5E4-A167-488A-9C1E-A8B19D9508EC}"/>
              </a:ext>
            </a:extLst>
          </p:cNvPr>
          <p:cNvSpPr>
            <a:spLocks noChangeArrowheads="1"/>
          </p:cNvSpPr>
          <p:nvPr/>
        </p:nvSpPr>
        <p:spPr bwMode="auto">
          <a:xfrm>
            <a:off x="3257551" y="4448175"/>
            <a:ext cx="92075" cy="9048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9966" name="TextBox 72">
            <a:extLst>
              <a:ext uri="{FF2B5EF4-FFF2-40B4-BE49-F238E27FC236}">
                <a16:creationId xmlns:a16="http://schemas.microsoft.com/office/drawing/2014/main" id="{5E8A49C2-2145-4526-B06B-09E93E059367}"/>
              </a:ext>
            </a:extLst>
          </p:cNvPr>
          <p:cNvSpPr txBox="1">
            <a:spLocks noChangeArrowheads="1"/>
          </p:cNvSpPr>
          <p:nvPr/>
        </p:nvSpPr>
        <p:spPr bwMode="auto">
          <a:xfrm>
            <a:off x="5310189" y="1500189"/>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DEFAULT </a:t>
            </a:r>
          </a:p>
        </p:txBody>
      </p:sp>
      <p:sp>
        <p:nvSpPr>
          <p:cNvPr id="39967" name="Rectangle 73">
            <a:extLst>
              <a:ext uri="{FF2B5EF4-FFF2-40B4-BE49-F238E27FC236}">
                <a16:creationId xmlns:a16="http://schemas.microsoft.com/office/drawing/2014/main" id="{D2158732-EEA9-4ACF-A1FA-6718495E72D8}"/>
              </a:ext>
            </a:extLst>
          </p:cNvPr>
          <p:cNvSpPr>
            <a:spLocks noChangeArrowheads="1"/>
          </p:cNvSpPr>
          <p:nvPr/>
        </p:nvSpPr>
        <p:spPr bwMode="auto">
          <a:xfrm>
            <a:off x="8464550" y="3222626"/>
            <a:ext cx="90488" cy="920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9968" name="Elbow Connector 16">
            <a:extLst>
              <a:ext uri="{FF2B5EF4-FFF2-40B4-BE49-F238E27FC236}">
                <a16:creationId xmlns:a16="http://schemas.microsoft.com/office/drawing/2014/main" id="{23618645-AB40-4835-88E3-57C4BF48A1E5}"/>
              </a:ext>
            </a:extLst>
          </p:cNvPr>
          <p:cNvCxnSpPr>
            <a:cxnSpLocks noChangeShapeType="1"/>
          </p:cNvCxnSpPr>
          <p:nvPr/>
        </p:nvCxnSpPr>
        <p:spPr bwMode="auto">
          <a:xfrm rot="5400000" flipH="1" flipV="1">
            <a:off x="4266407" y="1772445"/>
            <a:ext cx="952500" cy="1404937"/>
          </a:xfrm>
          <a:prstGeom prst="bentConnector2">
            <a:avLst/>
          </a:prstGeom>
          <a:noFill/>
          <a:ln w="9525" algn="ctr">
            <a:solidFill>
              <a:schemeClr val="tx1"/>
            </a:solidFill>
            <a:round/>
            <a:headEnd/>
            <a:tailEnd type="triangle" w="med" len="med"/>
          </a:ln>
        </p:spPr>
      </p:cxnSp>
      <p:cxnSp>
        <p:nvCxnSpPr>
          <p:cNvPr id="39969" name="Elbow Connector 29">
            <a:extLst>
              <a:ext uri="{FF2B5EF4-FFF2-40B4-BE49-F238E27FC236}">
                <a16:creationId xmlns:a16="http://schemas.microsoft.com/office/drawing/2014/main" id="{547B4E72-C1CA-4E04-8603-5A0A92246922}"/>
              </a:ext>
            </a:extLst>
          </p:cNvPr>
          <p:cNvCxnSpPr>
            <a:cxnSpLocks noChangeShapeType="1"/>
          </p:cNvCxnSpPr>
          <p:nvPr/>
        </p:nvCxnSpPr>
        <p:spPr bwMode="auto">
          <a:xfrm>
            <a:off x="6080125" y="1998663"/>
            <a:ext cx="725488" cy="862012"/>
          </a:xfrm>
          <a:prstGeom prst="bentConnector2">
            <a:avLst/>
          </a:prstGeom>
          <a:noFill/>
          <a:ln w="9525" algn="ctr">
            <a:solidFill>
              <a:schemeClr val="tx1"/>
            </a:solidFill>
            <a:round/>
            <a:headEnd/>
            <a:tailEnd type="triangle" w="med" len="med"/>
          </a:ln>
        </p:spPr>
      </p:cxnSp>
      <p:grpSp>
        <p:nvGrpSpPr>
          <p:cNvPr id="39970" name="Группа 102">
            <a:extLst>
              <a:ext uri="{FF2B5EF4-FFF2-40B4-BE49-F238E27FC236}">
                <a16:creationId xmlns:a16="http://schemas.microsoft.com/office/drawing/2014/main" id="{E86FE42B-E02D-4E96-9F5C-22CB855BBD31}"/>
              </a:ext>
            </a:extLst>
          </p:cNvPr>
          <p:cNvGrpSpPr>
            <a:grpSpLocks/>
          </p:cNvGrpSpPr>
          <p:nvPr/>
        </p:nvGrpSpPr>
        <p:grpSpPr bwMode="auto">
          <a:xfrm>
            <a:off x="4548189" y="2905125"/>
            <a:ext cx="714375" cy="1238250"/>
            <a:chOff x="3024490" y="2905122"/>
            <a:chExt cx="714004" cy="1238258"/>
          </a:xfrm>
        </p:grpSpPr>
        <p:grpSp>
          <p:nvGrpSpPr>
            <p:cNvPr id="39974" name="Группа 101">
              <a:extLst>
                <a:ext uri="{FF2B5EF4-FFF2-40B4-BE49-F238E27FC236}">
                  <a16:creationId xmlns:a16="http://schemas.microsoft.com/office/drawing/2014/main" id="{9C90652D-C364-4E58-B385-AC98446C6DDD}"/>
                </a:ext>
              </a:extLst>
            </p:cNvPr>
            <p:cNvGrpSpPr>
              <a:grpSpLocks/>
            </p:cNvGrpSpPr>
            <p:nvPr/>
          </p:nvGrpSpPr>
          <p:grpSpPr bwMode="auto">
            <a:xfrm>
              <a:off x="3024490" y="2905122"/>
              <a:ext cx="714004" cy="1238258"/>
              <a:chOff x="3000364" y="3000372"/>
              <a:chExt cx="457200" cy="762000"/>
            </a:xfrm>
          </p:grpSpPr>
          <p:sp>
            <p:nvSpPr>
              <p:cNvPr id="93" name="Rectangle 41">
                <a:extLst>
                  <a:ext uri="{FF2B5EF4-FFF2-40B4-BE49-F238E27FC236}">
                    <a16:creationId xmlns:a16="http://schemas.microsoft.com/office/drawing/2014/main" id="{B8407B0A-F91F-4934-9B16-06A996FDFE92}"/>
                  </a:ext>
                </a:extLst>
              </p:cNvPr>
              <p:cNvSpPr/>
              <p:nvPr/>
            </p:nvSpPr>
            <p:spPr bwMode="auto">
              <a:xfrm>
                <a:off x="3000364" y="3000372"/>
                <a:ext cx="4572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94" name="Isosceles Triangle 42">
                <a:extLst>
                  <a:ext uri="{FF2B5EF4-FFF2-40B4-BE49-F238E27FC236}">
                    <a16:creationId xmlns:a16="http://schemas.microsoft.com/office/drawing/2014/main" id="{ACFBEB40-4001-42BE-A535-0F77CFF8F076}"/>
                  </a:ext>
                </a:extLst>
              </p:cNvPr>
              <p:cNvSpPr/>
              <p:nvPr/>
            </p:nvSpPr>
            <p:spPr bwMode="auto">
              <a:xfrm rot="5400000">
                <a:off x="2962264" y="3571872"/>
                <a:ext cx="152400" cy="76200"/>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mj-lt"/>
                  <a:cs typeface="Arial" charset="0"/>
                </a:endParaRPr>
              </a:p>
            </p:txBody>
          </p:sp>
        </p:grpSp>
        <p:sp>
          <p:nvSpPr>
            <p:cNvPr id="79" name="TextBox 78">
              <a:extLst>
                <a:ext uri="{FF2B5EF4-FFF2-40B4-BE49-F238E27FC236}">
                  <a16:creationId xmlns:a16="http://schemas.microsoft.com/office/drawing/2014/main" id="{BF5B0E89-78B3-4F40-9F36-4B3FBEC80186}"/>
                </a:ext>
              </a:extLst>
            </p:cNvPr>
            <p:cNvSpPr txBox="1"/>
            <p:nvPr/>
          </p:nvSpPr>
          <p:spPr>
            <a:xfrm>
              <a:off x="3072090" y="3071811"/>
              <a:ext cx="631497" cy="276227"/>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D     Q</a:t>
              </a:r>
            </a:p>
          </p:txBody>
        </p:sp>
        <p:sp>
          <p:nvSpPr>
            <p:cNvPr id="80" name="TextBox 79">
              <a:extLst>
                <a:ext uri="{FF2B5EF4-FFF2-40B4-BE49-F238E27FC236}">
                  <a16:creationId xmlns:a16="http://schemas.microsoft.com/office/drawing/2014/main" id="{B8060603-6174-4111-B299-6152234F6876}"/>
                </a:ext>
              </a:extLst>
            </p:cNvPr>
            <p:cNvSpPr txBox="1"/>
            <p:nvPr/>
          </p:nvSpPr>
          <p:spPr>
            <a:xfrm>
              <a:off x="3143490" y="3714752"/>
              <a:ext cx="434749" cy="307977"/>
            </a:xfrm>
            <a:prstGeom prst="rect">
              <a:avLst/>
            </a:prstGeom>
            <a:noFill/>
            <a:ln w="9525">
              <a:noFill/>
            </a:ln>
          </p:spPr>
          <p:txBody>
            <a:bodyPr wrap="none">
              <a:spAutoFit/>
            </a:bodyPr>
            <a:lstStyle/>
            <a:p>
              <a:pPr eaLnBrk="1" hangingPunct="1">
                <a:defRPr/>
              </a:pPr>
              <a:r>
                <a:rPr lang="en-US" sz="1400" dirty="0">
                  <a:solidFill>
                    <a:schemeClr val="bg1"/>
                  </a:solidFill>
                  <a:latin typeface="+mj-lt"/>
                  <a:cs typeface="Arial" charset="0"/>
                </a:rPr>
                <a:t>CK</a:t>
              </a:r>
            </a:p>
          </p:txBody>
        </p:sp>
      </p:grpSp>
      <p:sp>
        <p:nvSpPr>
          <p:cNvPr id="110" name="Cloud 48">
            <a:extLst>
              <a:ext uri="{FF2B5EF4-FFF2-40B4-BE49-F238E27FC236}">
                <a16:creationId xmlns:a16="http://schemas.microsoft.com/office/drawing/2014/main" id="{39D01C81-29D7-460A-B121-7A12DE8F9AA2}"/>
              </a:ext>
            </a:extLst>
          </p:cNvPr>
          <p:cNvSpPr/>
          <p:nvPr/>
        </p:nvSpPr>
        <p:spPr bwMode="auto">
          <a:xfrm>
            <a:off x="7442200" y="3060700"/>
            <a:ext cx="668338" cy="452438"/>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
        <p:nvSpPr>
          <p:cNvPr id="111" name="Cloud 48">
            <a:extLst>
              <a:ext uri="{FF2B5EF4-FFF2-40B4-BE49-F238E27FC236}">
                <a16:creationId xmlns:a16="http://schemas.microsoft.com/office/drawing/2014/main" id="{91171099-0BD4-4295-AE9C-303B82D9541C}"/>
              </a:ext>
            </a:extLst>
          </p:cNvPr>
          <p:cNvSpPr/>
          <p:nvPr/>
        </p:nvSpPr>
        <p:spPr bwMode="auto">
          <a:xfrm>
            <a:off x="5453064" y="1785939"/>
            <a:ext cx="668337"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
        <p:nvSpPr>
          <p:cNvPr id="112" name="Cloud 48">
            <a:extLst>
              <a:ext uri="{FF2B5EF4-FFF2-40B4-BE49-F238E27FC236}">
                <a16:creationId xmlns:a16="http://schemas.microsoft.com/office/drawing/2014/main" id="{BD80799A-EE71-4FD1-A2F8-DC378B8B4CCB}"/>
              </a:ext>
            </a:extLst>
          </p:cNvPr>
          <p:cNvSpPr/>
          <p:nvPr/>
        </p:nvSpPr>
        <p:spPr bwMode="auto">
          <a:xfrm>
            <a:off x="3690939" y="2928939"/>
            <a:ext cx="668337"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E7DD1DED-975B-49AB-9407-B76104D85495}"/>
              </a:ext>
            </a:extLst>
          </p:cNvPr>
          <p:cNvSpPr>
            <a:spLocks noGrp="1"/>
          </p:cNvSpPr>
          <p:nvPr>
            <p:ph type="title"/>
          </p:nvPr>
        </p:nvSpPr>
        <p:spPr/>
        <p:txBody>
          <a:bodyPr/>
          <a:lstStyle/>
          <a:p>
            <a:r>
              <a:rPr lang="en-US" altLang="en-US"/>
              <a:t>Design Externals</a:t>
            </a:r>
          </a:p>
        </p:txBody>
      </p:sp>
      <p:sp>
        <p:nvSpPr>
          <p:cNvPr id="3" name="Content Placeholder 2">
            <a:extLst>
              <a:ext uri="{FF2B5EF4-FFF2-40B4-BE49-F238E27FC236}">
                <a16:creationId xmlns:a16="http://schemas.microsoft.com/office/drawing/2014/main" id="{96DBACF6-5361-4A58-B992-EB6DB827100A}"/>
              </a:ext>
            </a:extLst>
          </p:cNvPr>
          <p:cNvSpPr>
            <a:spLocks noGrp="1"/>
          </p:cNvSpPr>
          <p:nvPr>
            <p:ph type="body" sz="quarter" idx="10"/>
          </p:nvPr>
        </p:nvSpPr>
        <p:spPr/>
        <p:txBody>
          <a:bodyPr/>
          <a:lstStyle/>
          <a:p>
            <a:pPr>
              <a:defRPr/>
            </a:pPr>
            <a:r>
              <a:rPr lang="en-US" sz="2000" dirty="0"/>
              <a:t>The following attributes are required to be set: </a:t>
            </a:r>
          </a:p>
          <a:p>
            <a:pPr marL="0" indent="0">
              <a:buNone/>
              <a:defRPr/>
            </a:pPr>
            <a:endParaRPr lang="en-US" sz="1800" dirty="0"/>
          </a:p>
          <a:p>
            <a:pPr marL="344487" lvl="1" indent="0">
              <a:buNone/>
              <a:defRPr/>
            </a:pPr>
            <a:r>
              <a:rPr lang="en-US" sz="1200" dirty="0"/>
              <a:t>	</a:t>
            </a:r>
            <a:endParaRPr lang="en-US" sz="1600" dirty="0"/>
          </a:p>
          <a:p>
            <a:pPr marL="344487" lvl="1" indent="0">
              <a:buNone/>
              <a:defRPr/>
            </a:pPr>
            <a:r>
              <a:rPr lang="en-US" sz="1600" dirty="0"/>
              <a:t>	</a:t>
            </a:r>
            <a:endParaRPr lang="en-US" sz="1800" dirty="0"/>
          </a:p>
          <a:p>
            <a:pPr marL="0" indent="0">
              <a:buNone/>
              <a:defRPr/>
            </a:pPr>
            <a:r>
              <a:rPr lang="en-US" sz="1800" dirty="0"/>
              <a:t>	</a:t>
            </a:r>
          </a:p>
        </p:txBody>
      </p:sp>
      <p:sp>
        <p:nvSpPr>
          <p:cNvPr id="37" name="Прямоугольник 36">
            <a:extLst>
              <a:ext uri="{FF2B5EF4-FFF2-40B4-BE49-F238E27FC236}">
                <a16:creationId xmlns:a16="http://schemas.microsoft.com/office/drawing/2014/main" id="{E59ACD65-16C3-464F-A68E-0E6781617BCA}"/>
              </a:ext>
            </a:extLst>
          </p:cNvPr>
          <p:cNvSpPr/>
          <p:nvPr/>
        </p:nvSpPr>
        <p:spPr>
          <a:xfrm>
            <a:off x="2209801" y="3302000"/>
            <a:ext cx="3019425" cy="584200"/>
          </a:xfrm>
          <a:prstGeom prst="rect">
            <a:avLst/>
          </a:prstGeom>
          <a:solidFill>
            <a:schemeClr val="accent1">
              <a:lumMod val="20000"/>
              <a:lumOff val="80000"/>
            </a:schemeClr>
          </a:solidFill>
          <a:ln w="28575">
            <a:solidFill>
              <a:schemeClr val="accent1">
                <a:lumMod val="75000"/>
              </a:schemeClr>
            </a:solidFill>
          </a:ln>
        </p:spPr>
        <p:txBody>
          <a:bodyPr>
            <a:spAutoFit/>
          </a:bodyPr>
          <a:lstStyle/>
          <a:p>
            <a:pPr marL="344487" lvl="1">
              <a:defRPr/>
            </a:pPr>
            <a:r>
              <a:rPr lang="en-US" sz="1600" dirty="0" err="1">
                <a:latin typeface="Courier New" pitchFamily="49" charset="0"/>
                <a:cs typeface="Courier New" pitchFamily="49" charset="0"/>
              </a:rPr>
              <a:t>set_driving_cell</a:t>
            </a:r>
            <a:r>
              <a:rPr lang="en-US" sz="1600" dirty="0">
                <a:latin typeface="Courier New" pitchFamily="49" charset="0"/>
                <a:cs typeface="Courier New" pitchFamily="49" charset="0"/>
              </a:rPr>
              <a:t>	</a:t>
            </a:r>
          </a:p>
          <a:p>
            <a:pPr marL="344487" lvl="1">
              <a:defRPr/>
            </a:pPr>
            <a:r>
              <a:rPr lang="en-US" sz="1600" dirty="0" err="1">
                <a:latin typeface="Courier New" pitchFamily="49" charset="0"/>
                <a:cs typeface="Courier New" pitchFamily="49" charset="0"/>
              </a:rPr>
              <a:t>set_input_transition</a:t>
            </a:r>
            <a:endParaRPr lang="en-US" sz="1600" dirty="0">
              <a:latin typeface="Courier New" pitchFamily="49" charset="0"/>
              <a:cs typeface="Courier New" pitchFamily="49" charset="0"/>
            </a:endParaRPr>
          </a:p>
        </p:txBody>
      </p:sp>
      <p:grpSp>
        <p:nvGrpSpPr>
          <p:cNvPr id="40965" name="Group 3">
            <a:extLst>
              <a:ext uri="{FF2B5EF4-FFF2-40B4-BE49-F238E27FC236}">
                <a16:creationId xmlns:a16="http://schemas.microsoft.com/office/drawing/2014/main" id="{89835619-E554-47F3-8E6E-D9BDBFFBBE70}"/>
              </a:ext>
            </a:extLst>
          </p:cNvPr>
          <p:cNvGrpSpPr>
            <a:grpSpLocks/>
          </p:cNvGrpSpPr>
          <p:nvPr/>
        </p:nvGrpSpPr>
        <p:grpSpPr bwMode="auto">
          <a:xfrm>
            <a:off x="5410201" y="2743201"/>
            <a:ext cx="4244975" cy="2405063"/>
            <a:chOff x="4214810" y="2000240"/>
            <a:chExt cx="4245065" cy="2405143"/>
          </a:xfrm>
        </p:grpSpPr>
        <p:grpSp>
          <p:nvGrpSpPr>
            <p:cNvPr id="40966" name="Group 27">
              <a:extLst>
                <a:ext uri="{FF2B5EF4-FFF2-40B4-BE49-F238E27FC236}">
                  <a16:creationId xmlns:a16="http://schemas.microsoft.com/office/drawing/2014/main" id="{C1AEA7DD-281E-4090-9A06-CBD67C1F58D5}"/>
                </a:ext>
              </a:extLst>
            </p:cNvPr>
            <p:cNvGrpSpPr>
              <a:grpSpLocks/>
            </p:cNvGrpSpPr>
            <p:nvPr/>
          </p:nvGrpSpPr>
          <p:grpSpPr bwMode="auto">
            <a:xfrm>
              <a:off x="4214810" y="3214686"/>
              <a:ext cx="1143305" cy="762000"/>
              <a:chOff x="4879094" y="2373015"/>
              <a:chExt cx="1143305" cy="762000"/>
            </a:xfrm>
          </p:grpSpPr>
          <p:cxnSp>
            <p:nvCxnSpPr>
              <p:cNvPr id="41001" name="Straight Connector 32">
                <a:extLst>
                  <a:ext uri="{FF2B5EF4-FFF2-40B4-BE49-F238E27FC236}">
                    <a16:creationId xmlns:a16="http://schemas.microsoft.com/office/drawing/2014/main" id="{74787185-AD77-4994-837F-9F896E4FC873}"/>
                  </a:ext>
                </a:extLst>
              </p:cNvPr>
              <p:cNvCxnSpPr>
                <a:cxnSpLocks noChangeShapeType="1"/>
              </p:cNvCxnSpPr>
              <p:nvPr/>
            </p:nvCxnSpPr>
            <p:spPr bwMode="auto">
              <a:xfrm>
                <a:off x="4879094" y="2982619"/>
                <a:ext cx="323972" cy="0"/>
              </a:xfrm>
              <a:prstGeom prst="line">
                <a:avLst/>
              </a:prstGeom>
              <a:noFill/>
              <a:ln w="9525" algn="ctr">
                <a:solidFill>
                  <a:schemeClr val="tx1"/>
                </a:solidFill>
                <a:round/>
                <a:headEnd/>
                <a:tailEnd/>
              </a:ln>
            </p:spPr>
          </p:cxnSp>
          <p:cxnSp>
            <p:nvCxnSpPr>
              <p:cNvPr id="41002" name="Straight Connector 33">
                <a:extLst>
                  <a:ext uri="{FF2B5EF4-FFF2-40B4-BE49-F238E27FC236}">
                    <a16:creationId xmlns:a16="http://schemas.microsoft.com/office/drawing/2014/main" id="{39029D32-A44E-4C57-9D0D-429A9FAA1657}"/>
                  </a:ext>
                </a:extLst>
              </p:cNvPr>
              <p:cNvCxnSpPr>
                <a:cxnSpLocks noChangeShapeType="1"/>
              </p:cNvCxnSpPr>
              <p:nvPr/>
            </p:nvCxnSpPr>
            <p:spPr bwMode="auto">
              <a:xfrm flipV="1">
                <a:off x="4879094" y="2581141"/>
                <a:ext cx="1143305" cy="0"/>
              </a:xfrm>
              <a:prstGeom prst="line">
                <a:avLst/>
              </a:prstGeom>
              <a:noFill/>
              <a:ln w="9525" algn="ctr">
                <a:solidFill>
                  <a:schemeClr val="tx1"/>
                </a:solidFill>
                <a:round/>
                <a:headEnd/>
                <a:tailEnd/>
              </a:ln>
            </p:spPr>
          </p:cxnSp>
          <p:sp>
            <p:nvSpPr>
              <p:cNvPr id="33" name="Rectangle 28">
                <a:extLst>
                  <a:ext uri="{FF2B5EF4-FFF2-40B4-BE49-F238E27FC236}">
                    <a16:creationId xmlns:a16="http://schemas.microsoft.com/office/drawing/2014/main" id="{5F2AC5BF-9706-4035-A152-2A6166E9A327}"/>
                  </a:ext>
                </a:extLst>
              </p:cNvPr>
              <p:cNvSpPr/>
              <p:nvPr/>
            </p:nvSpPr>
            <p:spPr bwMode="auto">
              <a:xfrm>
                <a:off x="5201364" y="2373047"/>
                <a:ext cx="457210" cy="76202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34" name="Isosceles Triangle 29">
                <a:extLst>
                  <a:ext uri="{FF2B5EF4-FFF2-40B4-BE49-F238E27FC236}">
                    <a16:creationId xmlns:a16="http://schemas.microsoft.com/office/drawing/2014/main" id="{5A20B024-6DBA-4BB7-B399-E93203E34F14}"/>
                  </a:ext>
                </a:extLst>
              </p:cNvPr>
              <p:cNvSpPr/>
              <p:nvPr/>
            </p:nvSpPr>
            <p:spPr bwMode="auto">
              <a:xfrm rot="5400000">
                <a:off x="5163262" y="2944566"/>
                <a:ext cx="152405" cy="76202"/>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35" name="TextBox 34">
                <a:extLst>
                  <a:ext uri="{FF2B5EF4-FFF2-40B4-BE49-F238E27FC236}">
                    <a16:creationId xmlns:a16="http://schemas.microsoft.com/office/drawing/2014/main" id="{E670627F-FD73-46D7-AEFC-CB05F82E55A3}"/>
                  </a:ext>
                </a:extLst>
              </p:cNvPr>
              <p:cNvSpPr txBox="1"/>
              <p:nvPr/>
            </p:nvSpPr>
            <p:spPr>
              <a:xfrm>
                <a:off x="5163263" y="2439724"/>
                <a:ext cx="554049" cy="246070"/>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D     Q</a:t>
                </a:r>
              </a:p>
            </p:txBody>
          </p:sp>
          <p:sp>
            <p:nvSpPr>
              <p:cNvPr id="36" name="TextBox 35">
                <a:extLst>
                  <a:ext uri="{FF2B5EF4-FFF2-40B4-BE49-F238E27FC236}">
                    <a16:creationId xmlns:a16="http://schemas.microsoft.com/office/drawing/2014/main" id="{E4AEB5FE-4190-4DC1-849B-AA29EB8540D8}"/>
                  </a:ext>
                </a:extLst>
              </p:cNvPr>
              <p:cNvSpPr txBox="1"/>
              <p:nvPr/>
            </p:nvSpPr>
            <p:spPr>
              <a:xfrm>
                <a:off x="5199776" y="2830262"/>
                <a:ext cx="482610" cy="276234"/>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grpSp>
        <p:grpSp>
          <p:nvGrpSpPr>
            <p:cNvPr id="40967" name="Группа 14">
              <a:extLst>
                <a:ext uri="{FF2B5EF4-FFF2-40B4-BE49-F238E27FC236}">
                  <a16:creationId xmlns:a16="http://schemas.microsoft.com/office/drawing/2014/main" id="{1FCADF4C-B982-4207-BA30-B1132A4A83E7}"/>
                </a:ext>
              </a:extLst>
            </p:cNvPr>
            <p:cNvGrpSpPr>
              <a:grpSpLocks/>
            </p:cNvGrpSpPr>
            <p:nvPr/>
          </p:nvGrpSpPr>
          <p:grpSpPr bwMode="auto">
            <a:xfrm>
              <a:off x="4215108" y="2572356"/>
              <a:ext cx="1143008" cy="285901"/>
              <a:chOff x="3388062" y="1785927"/>
              <a:chExt cx="1751382" cy="437844"/>
            </a:xfrm>
          </p:grpSpPr>
          <p:cxnSp>
            <p:nvCxnSpPr>
              <p:cNvPr id="40997" name="Прямая соединительная линия 19">
                <a:extLst>
                  <a:ext uri="{FF2B5EF4-FFF2-40B4-BE49-F238E27FC236}">
                    <a16:creationId xmlns:a16="http://schemas.microsoft.com/office/drawing/2014/main" id="{7C91BE56-1C99-433B-A480-2F8C83FA227A}"/>
                  </a:ext>
                </a:extLst>
              </p:cNvPr>
              <p:cNvCxnSpPr>
                <a:cxnSpLocks noChangeShapeType="1"/>
              </p:cNvCxnSpPr>
              <p:nvPr/>
            </p:nvCxnSpPr>
            <p:spPr bwMode="auto">
              <a:xfrm>
                <a:off x="4481755" y="2003948"/>
                <a:ext cx="657689" cy="0"/>
              </a:xfrm>
              <a:prstGeom prst="line">
                <a:avLst/>
              </a:prstGeom>
              <a:noFill/>
              <a:ln w="9525" algn="ctr">
                <a:solidFill>
                  <a:schemeClr val="tx1"/>
                </a:solidFill>
                <a:round/>
                <a:headEnd/>
                <a:tailEnd/>
              </a:ln>
            </p:spPr>
          </p:cxnSp>
          <p:cxnSp>
            <p:nvCxnSpPr>
              <p:cNvPr id="40998" name="Прямая соединительная линия 25">
                <a:extLst>
                  <a:ext uri="{FF2B5EF4-FFF2-40B4-BE49-F238E27FC236}">
                    <a16:creationId xmlns:a16="http://schemas.microsoft.com/office/drawing/2014/main" id="{E194029E-9C4D-48A8-9DC9-0BE91E464963}"/>
                  </a:ext>
                </a:extLst>
              </p:cNvPr>
              <p:cNvCxnSpPr>
                <a:cxnSpLocks noChangeShapeType="1"/>
              </p:cNvCxnSpPr>
              <p:nvPr/>
            </p:nvCxnSpPr>
            <p:spPr bwMode="auto">
              <a:xfrm>
                <a:off x="3388062" y="2006333"/>
                <a:ext cx="533242" cy="0"/>
              </a:xfrm>
              <a:prstGeom prst="line">
                <a:avLst/>
              </a:prstGeom>
              <a:noFill/>
              <a:ln w="9525" algn="ctr">
                <a:solidFill>
                  <a:schemeClr val="tx1"/>
                </a:solidFill>
                <a:round/>
                <a:headEnd/>
                <a:tailEnd/>
              </a:ln>
            </p:spPr>
          </p:cxnSp>
          <p:sp>
            <p:nvSpPr>
              <p:cNvPr id="29" name="Isosceles Triangle 77">
                <a:extLst>
                  <a:ext uri="{FF2B5EF4-FFF2-40B4-BE49-F238E27FC236}">
                    <a16:creationId xmlns:a16="http://schemas.microsoft.com/office/drawing/2014/main" id="{E6750EF6-1012-465F-887B-0EDC3415B6F1}"/>
                  </a:ext>
                </a:extLst>
              </p:cNvPr>
              <p:cNvSpPr/>
              <p:nvPr/>
            </p:nvSpPr>
            <p:spPr bwMode="auto">
              <a:xfrm rot="5400000">
                <a:off x="3931384" y="1781251"/>
                <a:ext cx="437628" cy="44515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41000" name="Oval 23">
                <a:extLst>
                  <a:ext uri="{FF2B5EF4-FFF2-40B4-BE49-F238E27FC236}">
                    <a16:creationId xmlns:a16="http://schemas.microsoft.com/office/drawing/2014/main" id="{B241532E-E414-4D0C-8B57-6F5F4CEFDD9C}"/>
                  </a:ext>
                </a:extLst>
              </p:cNvPr>
              <p:cNvSpPr>
                <a:spLocks noChangeArrowheads="1"/>
              </p:cNvSpPr>
              <p:nvPr/>
            </p:nvSpPr>
            <p:spPr bwMode="auto">
              <a:xfrm>
                <a:off x="4375477" y="1950868"/>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40968" name="Прямоугольник 6">
              <a:extLst>
                <a:ext uri="{FF2B5EF4-FFF2-40B4-BE49-F238E27FC236}">
                  <a16:creationId xmlns:a16="http://schemas.microsoft.com/office/drawing/2014/main" id="{CCA6A6C3-A7B7-4F22-8844-206C7E20ED65}"/>
                </a:ext>
              </a:extLst>
            </p:cNvPr>
            <p:cNvSpPr>
              <a:spLocks noChangeArrowheads="1"/>
            </p:cNvSpPr>
            <p:nvPr/>
          </p:nvSpPr>
          <p:spPr bwMode="auto">
            <a:xfrm>
              <a:off x="5358115" y="2428868"/>
              <a:ext cx="1500198" cy="1557348"/>
            </a:xfrm>
            <a:prstGeom prst="rect">
              <a:avLst/>
            </a:prstGeom>
            <a:solidFill>
              <a:schemeClr val="bg1"/>
            </a:solidFill>
            <a:ln w="19050" algn="ctr">
              <a:solidFill>
                <a:schemeClr val="accent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0969" name="Прямоугольник 7">
              <a:extLst>
                <a:ext uri="{FF2B5EF4-FFF2-40B4-BE49-F238E27FC236}">
                  <a16:creationId xmlns:a16="http://schemas.microsoft.com/office/drawing/2014/main" id="{7445C08D-5878-4CFD-8119-C1A95CC1EEEC}"/>
                </a:ext>
              </a:extLst>
            </p:cNvPr>
            <p:cNvSpPr>
              <a:spLocks noChangeArrowheads="1"/>
            </p:cNvSpPr>
            <p:nvPr/>
          </p:nvSpPr>
          <p:spPr bwMode="auto">
            <a:xfrm>
              <a:off x="5295905" y="264318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0970" name="Прямоугольник 8">
              <a:extLst>
                <a:ext uri="{FF2B5EF4-FFF2-40B4-BE49-F238E27FC236}">
                  <a16:creationId xmlns:a16="http://schemas.microsoft.com/office/drawing/2014/main" id="{CA98D0A3-992D-438F-AE84-CAE45B5CE071}"/>
                </a:ext>
              </a:extLst>
            </p:cNvPr>
            <p:cNvSpPr>
              <a:spLocks noChangeArrowheads="1"/>
            </p:cNvSpPr>
            <p:nvPr/>
          </p:nvSpPr>
          <p:spPr bwMode="auto">
            <a:xfrm>
              <a:off x="5286380" y="335756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0971" name="Прямоугольник 9">
              <a:extLst>
                <a:ext uri="{FF2B5EF4-FFF2-40B4-BE49-F238E27FC236}">
                  <a16:creationId xmlns:a16="http://schemas.microsoft.com/office/drawing/2014/main" id="{208248A1-D97D-4395-8F0C-419B70106B22}"/>
                </a:ext>
              </a:extLst>
            </p:cNvPr>
            <p:cNvSpPr>
              <a:spLocks noChangeArrowheads="1"/>
            </p:cNvSpPr>
            <p:nvPr/>
          </p:nvSpPr>
          <p:spPr bwMode="auto">
            <a:xfrm>
              <a:off x="6786578" y="264318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40972" name="Straight Connector 56">
              <a:extLst>
                <a:ext uri="{FF2B5EF4-FFF2-40B4-BE49-F238E27FC236}">
                  <a16:creationId xmlns:a16="http://schemas.microsoft.com/office/drawing/2014/main" id="{53CF52C4-DD56-4C35-9220-A221B9D887A9}"/>
                </a:ext>
              </a:extLst>
            </p:cNvPr>
            <p:cNvCxnSpPr>
              <a:cxnSpLocks noChangeShapeType="1"/>
              <a:stCxn id="40971" idx="3"/>
            </p:cNvCxnSpPr>
            <p:nvPr/>
          </p:nvCxnSpPr>
          <p:spPr bwMode="auto">
            <a:xfrm>
              <a:off x="6929454" y="2714620"/>
              <a:ext cx="428628" cy="1"/>
            </a:xfrm>
            <a:prstGeom prst="line">
              <a:avLst/>
            </a:prstGeom>
            <a:noFill/>
            <a:ln w="9525" algn="ctr">
              <a:solidFill>
                <a:schemeClr val="tx1"/>
              </a:solidFill>
              <a:round/>
              <a:headEnd/>
              <a:tailEnd/>
            </a:ln>
          </p:spPr>
        </p:cxnSp>
        <p:sp>
          <p:nvSpPr>
            <p:cNvPr id="40973" name="Isosceles Triangle 57">
              <a:extLst>
                <a:ext uri="{FF2B5EF4-FFF2-40B4-BE49-F238E27FC236}">
                  <a16:creationId xmlns:a16="http://schemas.microsoft.com/office/drawing/2014/main" id="{B0F57157-B86B-41DB-BA66-DBC6711E2793}"/>
                </a:ext>
              </a:extLst>
            </p:cNvPr>
            <p:cNvSpPr>
              <a:spLocks noChangeArrowheads="1"/>
            </p:cNvSpPr>
            <p:nvPr/>
          </p:nvSpPr>
          <p:spPr bwMode="auto">
            <a:xfrm rot="10800000">
              <a:off x="7313640" y="3142877"/>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0974" name="Straight Connector 58">
              <a:extLst>
                <a:ext uri="{FF2B5EF4-FFF2-40B4-BE49-F238E27FC236}">
                  <a16:creationId xmlns:a16="http://schemas.microsoft.com/office/drawing/2014/main" id="{F97EA95C-4859-44B3-8171-51F7A393F5BB}"/>
                </a:ext>
              </a:extLst>
            </p:cNvPr>
            <p:cNvCxnSpPr>
              <a:cxnSpLocks noChangeShapeType="1"/>
            </p:cNvCxnSpPr>
            <p:nvPr/>
          </p:nvCxnSpPr>
          <p:spPr bwMode="auto">
            <a:xfrm>
              <a:off x="7271012" y="2882192"/>
              <a:ext cx="170329" cy="0"/>
            </a:xfrm>
            <a:prstGeom prst="line">
              <a:avLst/>
            </a:prstGeom>
            <a:noFill/>
            <a:ln w="9525" algn="ctr">
              <a:solidFill>
                <a:schemeClr val="tx1"/>
              </a:solidFill>
              <a:round/>
              <a:headEnd/>
              <a:tailEnd/>
            </a:ln>
          </p:spPr>
        </p:cxnSp>
        <p:cxnSp>
          <p:nvCxnSpPr>
            <p:cNvPr id="40975" name="Straight Connector 59">
              <a:extLst>
                <a:ext uri="{FF2B5EF4-FFF2-40B4-BE49-F238E27FC236}">
                  <a16:creationId xmlns:a16="http://schemas.microsoft.com/office/drawing/2014/main" id="{8FD10F80-1AA7-40C3-8F13-6F4D7CB449EF}"/>
                </a:ext>
              </a:extLst>
            </p:cNvPr>
            <p:cNvCxnSpPr>
              <a:cxnSpLocks noChangeShapeType="1"/>
            </p:cNvCxnSpPr>
            <p:nvPr/>
          </p:nvCxnSpPr>
          <p:spPr bwMode="auto">
            <a:xfrm>
              <a:off x="7271012" y="2934990"/>
              <a:ext cx="170329" cy="0"/>
            </a:xfrm>
            <a:prstGeom prst="line">
              <a:avLst/>
            </a:prstGeom>
            <a:noFill/>
            <a:ln w="9525" algn="ctr">
              <a:solidFill>
                <a:schemeClr val="tx1"/>
              </a:solidFill>
              <a:round/>
              <a:headEnd/>
              <a:tailEnd/>
            </a:ln>
          </p:spPr>
        </p:cxnSp>
        <p:cxnSp>
          <p:nvCxnSpPr>
            <p:cNvPr id="40976" name="Straight Connector 60">
              <a:extLst>
                <a:ext uri="{FF2B5EF4-FFF2-40B4-BE49-F238E27FC236}">
                  <a16:creationId xmlns:a16="http://schemas.microsoft.com/office/drawing/2014/main" id="{81F33DDB-1F76-4F2B-802D-B2EE40B77DAB}"/>
                </a:ext>
              </a:extLst>
            </p:cNvPr>
            <p:cNvCxnSpPr>
              <a:cxnSpLocks noChangeShapeType="1"/>
            </p:cNvCxnSpPr>
            <p:nvPr/>
          </p:nvCxnSpPr>
          <p:spPr bwMode="auto">
            <a:xfrm flipH="1">
              <a:off x="7355931" y="2940312"/>
              <a:ext cx="246" cy="200112"/>
            </a:xfrm>
            <a:prstGeom prst="line">
              <a:avLst/>
            </a:prstGeom>
            <a:noFill/>
            <a:ln w="9525" algn="ctr">
              <a:solidFill>
                <a:schemeClr val="tx1"/>
              </a:solidFill>
              <a:round/>
              <a:headEnd/>
              <a:tailEnd/>
            </a:ln>
          </p:spPr>
        </p:cxnSp>
        <p:cxnSp>
          <p:nvCxnSpPr>
            <p:cNvPr id="40977" name="Straight Connector 61">
              <a:extLst>
                <a:ext uri="{FF2B5EF4-FFF2-40B4-BE49-F238E27FC236}">
                  <a16:creationId xmlns:a16="http://schemas.microsoft.com/office/drawing/2014/main" id="{B9099D9E-7C24-4514-B351-32D20CC5600E}"/>
                </a:ext>
              </a:extLst>
            </p:cNvPr>
            <p:cNvCxnSpPr>
              <a:cxnSpLocks noChangeShapeType="1"/>
            </p:cNvCxnSpPr>
            <p:nvPr/>
          </p:nvCxnSpPr>
          <p:spPr bwMode="auto">
            <a:xfrm rot="5400000">
              <a:off x="7271268" y="2800790"/>
              <a:ext cx="171592" cy="0"/>
            </a:xfrm>
            <a:prstGeom prst="line">
              <a:avLst/>
            </a:prstGeom>
            <a:noFill/>
            <a:ln w="9525" algn="ctr">
              <a:solidFill>
                <a:schemeClr val="tx1"/>
              </a:solidFill>
              <a:round/>
              <a:headEnd/>
              <a:tailEnd/>
            </a:ln>
          </p:spPr>
        </p:cxnSp>
        <p:sp>
          <p:nvSpPr>
            <p:cNvPr id="40978" name="Прямоугольник 16">
              <a:extLst>
                <a:ext uri="{FF2B5EF4-FFF2-40B4-BE49-F238E27FC236}">
                  <a16:creationId xmlns:a16="http://schemas.microsoft.com/office/drawing/2014/main" id="{AC4A87C0-36CF-4FCE-A903-F91EB39C035D}"/>
                </a:ext>
              </a:extLst>
            </p:cNvPr>
            <p:cNvSpPr>
              <a:spLocks noChangeArrowheads="1"/>
            </p:cNvSpPr>
            <p:nvPr/>
          </p:nvSpPr>
          <p:spPr bwMode="auto">
            <a:xfrm>
              <a:off x="6786578" y="3214686"/>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nvGrpSpPr>
            <p:cNvPr id="40979" name="Group 45">
              <a:extLst>
                <a:ext uri="{FF2B5EF4-FFF2-40B4-BE49-F238E27FC236}">
                  <a16:creationId xmlns:a16="http://schemas.microsoft.com/office/drawing/2014/main" id="{3BDCE949-B16F-49BD-A254-9F5ECE4D7A00}"/>
                </a:ext>
              </a:extLst>
            </p:cNvPr>
            <p:cNvGrpSpPr>
              <a:grpSpLocks/>
            </p:cNvGrpSpPr>
            <p:nvPr/>
          </p:nvGrpSpPr>
          <p:grpSpPr bwMode="auto">
            <a:xfrm>
              <a:off x="6929454" y="3282259"/>
              <a:ext cx="294155" cy="533480"/>
              <a:chOff x="6929454" y="3282259"/>
              <a:chExt cx="294155" cy="533480"/>
            </a:xfrm>
          </p:grpSpPr>
          <p:cxnSp>
            <p:nvCxnSpPr>
              <p:cNvPr id="40991" name="Straight Connector 56">
                <a:extLst>
                  <a:ext uri="{FF2B5EF4-FFF2-40B4-BE49-F238E27FC236}">
                    <a16:creationId xmlns:a16="http://schemas.microsoft.com/office/drawing/2014/main" id="{B74E9D56-B195-4929-ADEE-11BECFCD1F78}"/>
                  </a:ext>
                </a:extLst>
              </p:cNvPr>
              <p:cNvCxnSpPr>
                <a:cxnSpLocks noChangeShapeType="1"/>
                <a:stCxn id="40978" idx="3"/>
              </p:cNvCxnSpPr>
              <p:nvPr/>
            </p:nvCxnSpPr>
            <p:spPr bwMode="auto">
              <a:xfrm>
                <a:off x="6929454" y="3286124"/>
                <a:ext cx="214314" cy="1"/>
              </a:xfrm>
              <a:prstGeom prst="line">
                <a:avLst/>
              </a:prstGeom>
              <a:noFill/>
              <a:ln w="9525" algn="ctr">
                <a:solidFill>
                  <a:schemeClr val="tx1"/>
                </a:solidFill>
                <a:round/>
                <a:headEnd/>
                <a:tailEnd/>
              </a:ln>
            </p:spPr>
          </p:cxnSp>
          <p:sp>
            <p:nvSpPr>
              <p:cNvPr id="40992" name="Isosceles Triangle 57">
                <a:extLst>
                  <a:ext uri="{FF2B5EF4-FFF2-40B4-BE49-F238E27FC236}">
                    <a16:creationId xmlns:a16="http://schemas.microsoft.com/office/drawing/2014/main" id="{509C795E-CCDF-4164-AC10-D3F4B44E8CBA}"/>
                  </a:ext>
                </a:extLst>
              </p:cNvPr>
              <p:cNvSpPr>
                <a:spLocks noChangeArrowheads="1"/>
              </p:cNvSpPr>
              <p:nvPr/>
            </p:nvSpPr>
            <p:spPr bwMode="auto">
              <a:xfrm rot="10800000">
                <a:off x="7095908" y="371014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0993" name="Straight Connector 58">
                <a:extLst>
                  <a:ext uri="{FF2B5EF4-FFF2-40B4-BE49-F238E27FC236}">
                    <a16:creationId xmlns:a16="http://schemas.microsoft.com/office/drawing/2014/main" id="{62CAC006-6290-496D-A973-51231E144010}"/>
                  </a:ext>
                </a:extLst>
              </p:cNvPr>
              <p:cNvCxnSpPr>
                <a:cxnSpLocks noChangeShapeType="1"/>
              </p:cNvCxnSpPr>
              <p:nvPr/>
            </p:nvCxnSpPr>
            <p:spPr bwMode="auto">
              <a:xfrm>
                <a:off x="7053280" y="3449457"/>
                <a:ext cx="170329" cy="0"/>
              </a:xfrm>
              <a:prstGeom prst="line">
                <a:avLst/>
              </a:prstGeom>
              <a:noFill/>
              <a:ln w="9525" algn="ctr">
                <a:solidFill>
                  <a:schemeClr val="tx1"/>
                </a:solidFill>
                <a:round/>
                <a:headEnd/>
                <a:tailEnd/>
              </a:ln>
            </p:spPr>
          </p:cxnSp>
          <p:cxnSp>
            <p:nvCxnSpPr>
              <p:cNvPr id="40994" name="Straight Connector 59">
                <a:extLst>
                  <a:ext uri="{FF2B5EF4-FFF2-40B4-BE49-F238E27FC236}">
                    <a16:creationId xmlns:a16="http://schemas.microsoft.com/office/drawing/2014/main" id="{25A5F00B-5A00-4E86-94A8-296B8B59BF31}"/>
                  </a:ext>
                </a:extLst>
              </p:cNvPr>
              <p:cNvCxnSpPr>
                <a:cxnSpLocks noChangeShapeType="1"/>
              </p:cNvCxnSpPr>
              <p:nvPr/>
            </p:nvCxnSpPr>
            <p:spPr bwMode="auto">
              <a:xfrm>
                <a:off x="7053280" y="3502255"/>
                <a:ext cx="170329" cy="0"/>
              </a:xfrm>
              <a:prstGeom prst="line">
                <a:avLst/>
              </a:prstGeom>
              <a:noFill/>
              <a:ln w="9525" algn="ctr">
                <a:solidFill>
                  <a:schemeClr val="tx1"/>
                </a:solidFill>
                <a:round/>
                <a:headEnd/>
                <a:tailEnd/>
              </a:ln>
            </p:spPr>
          </p:cxnSp>
          <p:cxnSp>
            <p:nvCxnSpPr>
              <p:cNvPr id="40995" name="Straight Connector 60">
                <a:extLst>
                  <a:ext uri="{FF2B5EF4-FFF2-40B4-BE49-F238E27FC236}">
                    <a16:creationId xmlns:a16="http://schemas.microsoft.com/office/drawing/2014/main" id="{70D29313-2BB3-4F4A-93F1-275E0BF31DF2}"/>
                  </a:ext>
                </a:extLst>
              </p:cNvPr>
              <p:cNvCxnSpPr>
                <a:cxnSpLocks noChangeShapeType="1"/>
              </p:cNvCxnSpPr>
              <p:nvPr/>
            </p:nvCxnSpPr>
            <p:spPr bwMode="auto">
              <a:xfrm flipH="1">
                <a:off x="7138199" y="3507577"/>
                <a:ext cx="246" cy="200112"/>
              </a:xfrm>
              <a:prstGeom prst="line">
                <a:avLst/>
              </a:prstGeom>
              <a:noFill/>
              <a:ln w="9525" algn="ctr">
                <a:solidFill>
                  <a:schemeClr val="tx1"/>
                </a:solidFill>
                <a:round/>
                <a:headEnd/>
                <a:tailEnd/>
              </a:ln>
            </p:spPr>
          </p:cxnSp>
          <p:cxnSp>
            <p:nvCxnSpPr>
              <p:cNvPr id="40996" name="Straight Connector 61">
                <a:extLst>
                  <a:ext uri="{FF2B5EF4-FFF2-40B4-BE49-F238E27FC236}">
                    <a16:creationId xmlns:a16="http://schemas.microsoft.com/office/drawing/2014/main" id="{7E880478-22A0-4534-A567-6FB936F6C229}"/>
                  </a:ext>
                </a:extLst>
              </p:cNvPr>
              <p:cNvCxnSpPr>
                <a:cxnSpLocks noChangeShapeType="1"/>
              </p:cNvCxnSpPr>
              <p:nvPr/>
            </p:nvCxnSpPr>
            <p:spPr bwMode="auto">
              <a:xfrm rot="5400000">
                <a:off x="7053536" y="3368055"/>
                <a:ext cx="171592" cy="0"/>
              </a:xfrm>
              <a:prstGeom prst="line">
                <a:avLst/>
              </a:prstGeom>
              <a:noFill/>
              <a:ln w="9525" algn="ctr">
                <a:solidFill>
                  <a:schemeClr val="tx1"/>
                </a:solidFill>
                <a:round/>
                <a:headEnd/>
                <a:tailEnd/>
              </a:ln>
            </p:spPr>
          </p:cxnSp>
        </p:grpSp>
        <p:sp>
          <p:nvSpPr>
            <p:cNvPr id="40980" name="TextBox 23">
              <a:extLst>
                <a:ext uri="{FF2B5EF4-FFF2-40B4-BE49-F238E27FC236}">
                  <a16:creationId xmlns:a16="http://schemas.microsoft.com/office/drawing/2014/main" id="{15D2BADA-10CE-497B-B334-66C83E939B99}"/>
                </a:ext>
              </a:extLst>
            </p:cNvPr>
            <p:cNvSpPr txBox="1">
              <a:spLocks noChangeArrowheads="1"/>
            </p:cNvSpPr>
            <p:nvPr/>
          </p:nvSpPr>
          <p:spPr bwMode="auto">
            <a:xfrm>
              <a:off x="5500694" y="2571744"/>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IN</a:t>
              </a:r>
              <a:endParaRPr lang="ru-RU" altLang="en-US" sz="1400"/>
            </a:p>
          </p:txBody>
        </p:sp>
        <p:sp>
          <p:nvSpPr>
            <p:cNvPr id="40981" name="TextBox 24">
              <a:extLst>
                <a:ext uri="{FF2B5EF4-FFF2-40B4-BE49-F238E27FC236}">
                  <a16:creationId xmlns:a16="http://schemas.microsoft.com/office/drawing/2014/main" id="{837F7BF8-FA06-4C5F-8D73-B870A47A0080}"/>
                </a:ext>
              </a:extLst>
            </p:cNvPr>
            <p:cNvSpPr txBox="1">
              <a:spLocks noChangeArrowheads="1"/>
            </p:cNvSpPr>
            <p:nvPr/>
          </p:nvSpPr>
          <p:spPr bwMode="auto">
            <a:xfrm>
              <a:off x="6215074" y="2571744"/>
              <a:ext cx="562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OUT</a:t>
              </a:r>
              <a:endParaRPr lang="ru-RU" altLang="en-US" sz="1400"/>
            </a:p>
          </p:txBody>
        </p:sp>
        <p:sp>
          <p:nvSpPr>
            <p:cNvPr id="40982" name="TextBox 25">
              <a:extLst>
                <a:ext uri="{FF2B5EF4-FFF2-40B4-BE49-F238E27FC236}">
                  <a16:creationId xmlns:a16="http://schemas.microsoft.com/office/drawing/2014/main" id="{12715F00-FC68-47FF-8AB4-D0320D016FE5}"/>
                </a:ext>
              </a:extLst>
            </p:cNvPr>
            <p:cNvSpPr txBox="1">
              <a:spLocks noChangeArrowheads="1"/>
            </p:cNvSpPr>
            <p:nvPr/>
          </p:nvSpPr>
          <p:spPr bwMode="auto">
            <a:xfrm>
              <a:off x="5572132" y="2000240"/>
              <a:ext cx="9028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Design</a:t>
              </a:r>
              <a:endParaRPr lang="ru-RU" altLang="en-US" sz="1800"/>
            </a:p>
          </p:txBody>
        </p:sp>
        <p:sp>
          <p:nvSpPr>
            <p:cNvPr id="40983" name="Прямоугольник 37">
              <a:extLst>
                <a:ext uri="{FF2B5EF4-FFF2-40B4-BE49-F238E27FC236}">
                  <a16:creationId xmlns:a16="http://schemas.microsoft.com/office/drawing/2014/main" id="{229A762A-5FA3-44C6-BA2D-910BDAFFAB61}"/>
                </a:ext>
              </a:extLst>
            </p:cNvPr>
            <p:cNvSpPr>
              <a:spLocks noChangeArrowheads="1"/>
            </p:cNvSpPr>
            <p:nvPr/>
          </p:nvSpPr>
          <p:spPr bwMode="auto">
            <a:xfrm>
              <a:off x="7500958" y="2928934"/>
              <a:ext cx="9589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set_load</a:t>
              </a:r>
              <a:endParaRPr lang="ru-RU" altLang="en-US" sz="1600"/>
            </a:p>
          </p:txBody>
        </p:sp>
        <p:grpSp>
          <p:nvGrpSpPr>
            <p:cNvPr id="40984" name="Группа 44">
              <a:extLst>
                <a:ext uri="{FF2B5EF4-FFF2-40B4-BE49-F238E27FC236}">
                  <a16:creationId xmlns:a16="http://schemas.microsoft.com/office/drawing/2014/main" id="{9577755C-A5FA-4968-881C-A2E8C05592A3}"/>
                </a:ext>
              </a:extLst>
            </p:cNvPr>
            <p:cNvGrpSpPr>
              <a:grpSpLocks/>
            </p:cNvGrpSpPr>
            <p:nvPr/>
          </p:nvGrpSpPr>
          <p:grpSpPr bwMode="auto">
            <a:xfrm>
              <a:off x="4500562" y="4143380"/>
              <a:ext cx="785818" cy="262003"/>
              <a:chOff x="3929058" y="5143512"/>
              <a:chExt cx="1928826" cy="643098"/>
            </a:xfrm>
          </p:grpSpPr>
          <p:cxnSp>
            <p:nvCxnSpPr>
              <p:cNvPr id="40985" name="Прямая соединительная линия 38">
                <a:extLst>
                  <a:ext uri="{FF2B5EF4-FFF2-40B4-BE49-F238E27FC236}">
                    <a16:creationId xmlns:a16="http://schemas.microsoft.com/office/drawing/2014/main" id="{2CBCE5EF-3118-4A5C-8F4E-08E6C21B4379}"/>
                  </a:ext>
                </a:extLst>
              </p:cNvPr>
              <p:cNvCxnSpPr>
                <a:cxnSpLocks noChangeShapeType="1"/>
              </p:cNvCxnSpPr>
              <p:nvPr/>
            </p:nvCxnSpPr>
            <p:spPr bwMode="auto">
              <a:xfrm rot="5400000">
                <a:off x="4650585" y="5279241"/>
                <a:ext cx="485772" cy="214314"/>
              </a:xfrm>
              <a:prstGeom prst="line">
                <a:avLst/>
              </a:prstGeom>
              <a:noFill/>
              <a:ln w="19050" algn="ctr">
                <a:solidFill>
                  <a:schemeClr val="accent1"/>
                </a:solidFill>
                <a:round/>
                <a:headEnd/>
                <a:tailEnd/>
              </a:ln>
            </p:spPr>
          </p:cxnSp>
          <p:cxnSp>
            <p:nvCxnSpPr>
              <p:cNvPr id="40986" name="Прямая соединительная линия 39">
                <a:extLst>
                  <a:ext uri="{FF2B5EF4-FFF2-40B4-BE49-F238E27FC236}">
                    <a16:creationId xmlns:a16="http://schemas.microsoft.com/office/drawing/2014/main" id="{C8481B99-7441-4407-B6D1-5CD820CF3B5C}"/>
                  </a:ext>
                </a:extLst>
              </p:cNvPr>
              <p:cNvCxnSpPr>
                <a:cxnSpLocks noChangeShapeType="1"/>
              </p:cNvCxnSpPr>
              <p:nvPr/>
            </p:nvCxnSpPr>
            <p:spPr bwMode="auto">
              <a:xfrm rot="10800000" flipV="1">
                <a:off x="5000628" y="5143512"/>
                <a:ext cx="857256" cy="0"/>
              </a:xfrm>
              <a:prstGeom prst="line">
                <a:avLst/>
              </a:prstGeom>
              <a:noFill/>
              <a:ln w="19050" algn="ctr">
                <a:solidFill>
                  <a:schemeClr val="accent1"/>
                </a:solidFill>
                <a:round/>
                <a:headEnd/>
                <a:tailEnd/>
              </a:ln>
            </p:spPr>
          </p:cxnSp>
          <p:cxnSp>
            <p:nvCxnSpPr>
              <p:cNvPr id="40987" name="Прямая соединительная линия 40">
                <a:extLst>
                  <a:ext uri="{FF2B5EF4-FFF2-40B4-BE49-F238E27FC236}">
                    <a16:creationId xmlns:a16="http://schemas.microsoft.com/office/drawing/2014/main" id="{C6C34B35-9779-4D03-90C7-79940ED721A3}"/>
                  </a:ext>
                </a:extLst>
              </p:cNvPr>
              <p:cNvCxnSpPr>
                <a:cxnSpLocks noChangeShapeType="1"/>
              </p:cNvCxnSpPr>
              <p:nvPr/>
            </p:nvCxnSpPr>
            <p:spPr bwMode="auto">
              <a:xfrm rot="10800000" flipV="1">
                <a:off x="3932687" y="5632691"/>
                <a:ext cx="857256" cy="0"/>
              </a:xfrm>
              <a:prstGeom prst="line">
                <a:avLst/>
              </a:prstGeom>
              <a:noFill/>
              <a:ln w="19050" algn="ctr">
                <a:solidFill>
                  <a:schemeClr val="accent1"/>
                </a:solidFill>
                <a:round/>
                <a:headEnd/>
                <a:tailEnd/>
              </a:ln>
            </p:spPr>
          </p:cxnSp>
          <p:cxnSp>
            <p:nvCxnSpPr>
              <p:cNvPr id="40988" name="Прямая соединительная линия 41">
                <a:extLst>
                  <a:ext uri="{FF2B5EF4-FFF2-40B4-BE49-F238E27FC236}">
                    <a16:creationId xmlns:a16="http://schemas.microsoft.com/office/drawing/2014/main" id="{EA3E64F7-D6C5-4E59-8A84-26A3B344F4FE}"/>
                  </a:ext>
                </a:extLst>
              </p:cNvPr>
              <p:cNvCxnSpPr>
                <a:cxnSpLocks noChangeShapeType="1"/>
              </p:cNvCxnSpPr>
              <p:nvPr/>
            </p:nvCxnSpPr>
            <p:spPr bwMode="auto">
              <a:xfrm rot="5400000">
                <a:off x="4829179" y="5325699"/>
                <a:ext cx="485773" cy="428627"/>
              </a:xfrm>
              <a:prstGeom prst="line">
                <a:avLst/>
              </a:prstGeom>
              <a:noFill/>
              <a:ln w="19050" algn="ctr">
                <a:solidFill>
                  <a:schemeClr val="accent1"/>
                </a:solidFill>
                <a:round/>
                <a:headEnd/>
                <a:tailEnd/>
              </a:ln>
            </p:spPr>
          </p:cxnSp>
          <p:cxnSp>
            <p:nvCxnSpPr>
              <p:cNvPr id="40989" name="Прямая соединительная линия 42">
                <a:extLst>
                  <a:ext uri="{FF2B5EF4-FFF2-40B4-BE49-F238E27FC236}">
                    <a16:creationId xmlns:a16="http://schemas.microsoft.com/office/drawing/2014/main" id="{6558C201-4D4B-4E8D-9485-9E897A8703BE}"/>
                  </a:ext>
                </a:extLst>
              </p:cNvPr>
              <p:cNvCxnSpPr>
                <a:cxnSpLocks noChangeShapeType="1"/>
              </p:cNvCxnSpPr>
              <p:nvPr/>
            </p:nvCxnSpPr>
            <p:spPr bwMode="auto">
              <a:xfrm rot="10800000">
                <a:off x="5286380" y="5297117"/>
                <a:ext cx="571504" cy="0"/>
              </a:xfrm>
              <a:prstGeom prst="line">
                <a:avLst/>
              </a:prstGeom>
              <a:noFill/>
              <a:ln w="19050" algn="ctr">
                <a:solidFill>
                  <a:schemeClr val="accent1"/>
                </a:solidFill>
                <a:round/>
                <a:headEnd/>
                <a:tailEnd/>
              </a:ln>
            </p:spPr>
          </p:cxnSp>
          <p:cxnSp>
            <p:nvCxnSpPr>
              <p:cNvPr id="40990" name="Прямая соединительная линия 43">
                <a:extLst>
                  <a:ext uri="{FF2B5EF4-FFF2-40B4-BE49-F238E27FC236}">
                    <a16:creationId xmlns:a16="http://schemas.microsoft.com/office/drawing/2014/main" id="{E5FC74BA-66E7-4080-B3A4-15BE115D3423}"/>
                  </a:ext>
                </a:extLst>
              </p:cNvPr>
              <p:cNvCxnSpPr>
                <a:cxnSpLocks noChangeShapeType="1"/>
              </p:cNvCxnSpPr>
              <p:nvPr/>
            </p:nvCxnSpPr>
            <p:spPr bwMode="auto">
              <a:xfrm rot="10800000" flipV="1">
                <a:off x="3929058" y="5786610"/>
                <a:ext cx="933979" cy="0"/>
              </a:xfrm>
              <a:prstGeom prst="line">
                <a:avLst/>
              </a:prstGeom>
              <a:noFill/>
              <a:ln w="19050" algn="ctr">
                <a:solidFill>
                  <a:schemeClr val="accent1"/>
                </a:solidFill>
                <a:round/>
                <a:headEnd/>
                <a:tailEnd/>
              </a:ln>
            </p:spPr>
          </p:cxn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5F03A04B-890C-490A-A376-5D604B518A28}"/>
              </a:ext>
            </a:extLst>
          </p:cNvPr>
          <p:cNvSpPr>
            <a:spLocks noGrp="1"/>
          </p:cNvSpPr>
          <p:nvPr>
            <p:ph type="title"/>
          </p:nvPr>
        </p:nvSpPr>
        <p:spPr/>
        <p:txBody>
          <a:bodyPr/>
          <a:lstStyle/>
          <a:p>
            <a:r>
              <a:rPr lang="en-US" altLang="en-US"/>
              <a:t>Driving Cell</a:t>
            </a:r>
          </a:p>
        </p:txBody>
      </p:sp>
      <p:sp>
        <p:nvSpPr>
          <p:cNvPr id="3" name="Content Placeholder 2">
            <a:extLst>
              <a:ext uri="{FF2B5EF4-FFF2-40B4-BE49-F238E27FC236}">
                <a16:creationId xmlns:a16="http://schemas.microsoft.com/office/drawing/2014/main" id="{50C075C9-7F95-4241-AE20-C90899A397B7}"/>
              </a:ext>
            </a:extLst>
          </p:cNvPr>
          <p:cNvSpPr>
            <a:spLocks noGrp="1"/>
          </p:cNvSpPr>
          <p:nvPr>
            <p:ph type="body" sz="quarter" idx="10"/>
          </p:nvPr>
        </p:nvSpPr>
        <p:spPr>
          <a:xfrm>
            <a:off x="457200" y="1188720"/>
            <a:ext cx="11155678" cy="882104"/>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set_driving_cell</a:t>
            </a:r>
            <a:r>
              <a:rPr lang="en-US" sz="1600" dirty="0">
                <a:solidFill>
                  <a:srgbClr val="0000FF"/>
                </a:solidFill>
                <a:latin typeface="Courier New" pitchFamily="49" charset="0"/>
                <a:cs typeface="Courier New" pitchFamily="49" charset="0"/>
              </a:rPr>
              <a:t> -</a:t>
            </a:r>
            <a:r>
              <a:rPr lang="en-US" sz="1600" dirty="0" err="1">
                <a:solidFill>
                  <a:srgbClr val="0000FF"/>
                </a:solidFill>
                <a:latin typeface="Courier New" pitchFamily="49" charset="0"/>
                <a:cs typeface="Courier New" pitchFamily="49" charset="0"/>
              </a:rPr>
              <a:t>lib_cell</a:t>
            </a:r>
            <a:r>
              <a:rPr lang="en-US" sz="1600" dirty="0">
                <a:solidFill>
                  <a:srgbClr val="0000FF"/>
                </a:solidFill>
                <a:latin typeface="Courier New" pitchFamily="49" charset="0"/>
                <a:cs typeface="Courier New" pitchFamily="49" charset="0"/>
              </a:rPr>
              <a:t> </a:t>
            </a:r>
            <a:r>
              <a:rPr lang="en-US" sz="1600" dirty="0">
                <a:latin typeface="Courier New" pitchFamily="49" charset="0"/>
                <a:cs typeface="Courier New" pitchFamily="49" charset="0"/>
              </a:rPr>
              <a:t>INV -</a:t>
            </a:r>
            <a:r>
              <a:rPr lang="en-US" sz="1600" dirty="0">
                <a:solidFill>
                  <a:srgbClr val="0000FF"/>
                </a:solidFill>
                <a:latin typeface="Courier New" pitchFamily="49" charset="0"/>
                <a:cs typeface="Courier New" pitchFamily="49" charset="0"/>
              </a:rPr>
              <a:t>library</a:t>
            </a:r>
            <a:r>
              <a:rPr lang="en-US" sz="1600" dirty="0">
                <a:latin typeface="Courier New" pitchFamily="49" charset="0"/>
                <a:cs typeface="Courier New" pitchFamily="49" charset="0"/>
              </a:rPr>
              <a:t> test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IN]</a:t>
            </a:r>
          </a:p>
          <a:p>
            <a:pPr marL="0" indent="0">
              <a:buNone/>
              <a:defRPr/>
            </a:pPr>
            <a:r>
              <a:rPr lang="en-US" sz="1600" dirty="0" err="1">
                <a:solidFill>
                  <a:srgbClr val="0000FF"/>
                </a:solidFill>
                <a:latin typeface="Courier New" pitchFamily="49" charset="0"/>
                <a:cs typeface="Courier New" pitchFamily="49" charset="0"/>
              </a:rPr>
              <a:t>set_input_transition</a:t>
            </a:r>
            <a:r>
              <a:rPr lang="en-US" sz="1600" dirty="0">
                <a:latin typeface="Courier New" pitchFamily="49" charset="0"/>
                <a:cs typeface="Courier New" pitchFamily="49" charset="0"/>
              </a:rPr>
              <a:t> 0.9 [</a:t>
            </a:r>
            <a:r>
              <a:rPr lang="en-US" sz="1600" dirty="0" err="1">
                <a:solidFill>
                  <a:srgbClr val="0000FF"/>
                </a:solidFill>
                <a:latin typeface="Courier New" pitchFamily="49" charset="0"/>
                <a:cs typeface="Courier New" pitchFamily="49" charset="0"/>
              </a:rPr>
              <a:t>get_ports</a:t>
            </a:r>
            <a:r>
              <a:rPr lang="en-US" sz="1600" dirty="0">
                <a:latin typeface="Courier New" pitchFamily="49" charset="0"/>
                <a:cs typeface="Courier New" pitchFamily="49" charset="0"/>
              </a:rPr>
              <a:t> IN]</a:t>
            </a:r>
          </a:p>
        </p:txBody>
      </p:sp>
      <p:grpSp>
        <p:nvGrpSpPr>
          <p:cNvPr id="41988" name="Группа 3">
            <a:extLst>
              <a:ext uri="{FF2B5EF4-FFF2-40B4-BE49-F238E27FC236}">
                <a16:creationId xmlns:a16="http://schemas.microsoft.com/office/drawing/2014/main" id="{FDF92DF9-5110-4AF9-A712-3B37E47CC788}"/>
              </a:ext>
            </a:extLst>
          </p:cNvPr>
          <p:cNvGrpSpPr>
            <a:grpSpLocks/>
          </p:cNvGrpSpPr>
          <p:nvPr/>
        </p:nvGrpSpPr>
        <p:grpSpPr bwMode="auto">
          <a:xfrm>
            <a:off x="3601025" y="2575194"/>
            <a:ext cx="3775075" cy="2443163"/>
            <a:chOff x="2000232" y="1643050"/>
            <a:chExt cx="3226531" cy="1985976"/>
          </a:xfrm>
        </p:grpSpPr>
        <p:grpSp>
          <p:nvGrpSpPr>
            <p:cNvPr id="41998" name="Group 27">
              <a:extLst>
                <a:ext uri="{FF2B5EF4-FFF2-40B4-BE49-F238E27FC236}">
                  <a16:creationId xmlns:a16="http://schemas.microsoft.com/office/drawing/2014/main" id="{8C7C7620-E58E-473B-8463-554C23D53B6E}"/>
                </a:ext>
              </a:extLst>
            </p:cNvPr>
            <p:cNvGrpSpPr>
              <a:grpSpLocks/>
            </p:cNvGrpSpPr>
            <p:nvPr/>
          </p:nvGrpSpPr>
          <p:grpSpPr bwMode="auto">
            <a:xfrm>
              <a:off x="2000232" y="2857347"/>
              <a:ext cx="1143305" cy="762645"/>
              <a:chOff x="4879094" y="2372866"/>
              <a:chExt cx="1143305" cy="762645"/>
            </a:xfrm>
          </p:grpSpPr>
          <p:cxnSp>
            <p:nvCxnSpPr>
              <p:cNvPr id="42024" name="Straight Connector 32">
                <a:extLst>
                  <a:ext uri="{FF2B5EF4-FFF2-40B4-BE49-F238E27FC236}">
                    <a16:creationId xmlns:a16="http://schemas.microsoft.com/office/drawing/2014/main" id="{62DD4538-EAD6-4E8E-BECA-35576BAEDB85}"/>
                  </a:ext>
                </a:extLst>
              </p:cNvPr>
              <p:cNvCxnSpPr>
                <a:cxnSpLocks noChangeShapeType="1"/>
              </p:cNvCxnSpPr>
              <p:nvPr/>
            </p:nvCxnSpPr>
            <p:spPr bwMode="auto">
              <a:xfrm>
                <a:off x="4879094" y="2982619"/>
                <a:ext cx="323972" cy="0"/>
              </a:xfrm>
              <a:prstGeom prst="line">
                <a:avLst/>
              </a:prstGeom>
              <a:noFill/>
              <a:ln w="9525" algn="ctr">
                <a:solidFill>
                  <a:schemeClr val="tx1"/>
                </a:solidFill>
                <a:round/>
                <a:headEnd/>
                <a:tailEnd/>
              </a:ln>
            </p:spPr>
          </p:cxnSp>
          <p:cxnSp>
            <p:nvCxnSpPr>
              <p:cNvPr id="42025" name="Straight Connector 33">
                <a:extLst>
                  <a:ext uri="{FF2B5EF4-FFF2-40B4-BE49-F238E27FC236}">
                    <a16:creationId xmlns:a16="http://schemas.microsoft.com/office/drawing/2014/main" id="{F1BEB3F7-D645-4201-895C-6DFE4B3E40A1}"/>
                  </a:ext>
                </a:extLst>
              </p:cNvPr>
              <p:cNvCxnSpPr>
                <a:cxnSpLocks noChangeShapeType="1"/>
              </p:cNvCxnSpPr>
              <p:nvPr/>
            </p:nvCxnSpPr>
            <p:spPr bwMode="auto">
              <a:xfrm flipV="1">
                <a:off x="4879094" y="2581141"/>
                <a:ext cx="1143305" cy="0"/>
              </a:xfrm>
              <a:prstGeom prst="line">
                <a:avLst/>
              </a:prstGeom>
              <a:noFill/>
              <a:ln w="9525" algn="ctr">
                <a:solidFill>
                  <a:schemeClr val="tx1"/>
                </a:solidFill>
                <a:round/>
                <a:headEnd/>
                <a:tailEnd/>
              </a:ln>
            </p:spPr>
          </p:cxnSp>
          <p:sp>
            <p:nvSpPr>
              <p:cNvPr id="33" name="Rectangle 28">
                <a:extLst>
                  <a:ext uri="{FF2B5EF4-FFF2-40B4-BE49-F238E27FC236}">
                    <a16:creationId xmlns:a16="http://schemas.microsoft.com/office/drawing/2014/main" id="{D600390A-2B1B-4221-ABCE-C5B029EA14E2}"/>
                  </a:ext>
                </a:extLst>
              </p:cNvPr>
              <p:cNvSpPr/>
              <p:nvPr/>
            </p:nvSpPr>
            <p:spPr bwMode="auto">
              <a:xfrm>
                <a:off x="5202018" y="2372866"/>
                <a:ext cx="457251" cy="76264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34" name="Isosceles Triangle 29">
                <a:extLst>
                  <a:ext uri="{FF2B5EF4-FFF2-40B4-BE49-F238E27FC236}">
                    <a16:creationId xmlns:a16="http://schemas.microsoft.com/office/drawing/2014/main" id="{8D3CB546-17EE-4C24-825C-A44199D83EB5}"/>
                  </a:ext>
                </a:extLst>
              </p:cNvPr>
              <p:cNvSpPr/>
              <p:nvPr/>
            </p:nvSpPr>
            <p:spPr bwMode="auto">
              <a:xfrm rot="5400000">
                <a:off x="5163874" y="2945250"/>
                <a:ext cx="152271" cy="75982"/>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35" name="TextBox 34">
                <a:extLst>
                  <a:ext uri="{FF2B5EF4-FFF2-40B4-BE49-F238E27FC236}">
                    <a16:creationId xmlns:a16="http://schemas.microsoft.com/office/drawing/2014/main" id="{23E15424-0F1D-4919-92BE-FBEF21B0CB2F}"/>
                  </a:ext>
                </a:extLst>
              </p:cNvPr>
              <p:cNvSpPr txBox="1"/>
              <p:nvPr/>
            </p:nvSpPr>
            <p:spPr>
              <a:xfrm>
                <a:off x="5164027" y="2438678"/>
                <a:ext cx="472950" cy="200146"/>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D     Q</a:t>
                </a:r>
              </a:p>
            </p:txBody>
          </p:sp>
          <p:sp>
            <p:nvSpPr>
              <p:cNvPr id="36" name="TextBox 35">
                <a:extLst>
                  <a:ext uri="{FF2B5EF4-FFF2-40B4-BE49-F238E27FC236}">
                    <a16:creationId xmlns:a16="http://schemas.microsoft.com/office/drawing/2014/main" id="{0541E719-2267-4A7C-A365-2F8BEABAAE70}"/>
                  </a:ext>
                </a:extLst>
              </p:cNvPr>
              <p:cNvSpPr txBox="1"/>
              <p:nvPr/>
            </p:nvSpPr>
            <p:spPr>
              <a:xfrm>
                <a:off x="5199305" y="2830970"/>
                <a:ext cx="412666" cy="225164"/>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grpSp>
        <p:grpSp>
          <p:nvGrpSpPr>
            <p:cNvPr id="41999" name="Группа 14">
              <a:extLst>
                <a:ext uri="{FF2B5EF4-FFF2-40B4-BE49-F238E27FC236}">
                  <a16:creationId xmlns:a16="http://schemas.microsoft.com/office/drawing/2014/main" id="{1DBCC517-59CA-4AF8-A91C-195BE743502A}"/>
                </a:ext>
              </a:extLst>
            </p:cNvPr>
            <p:cNvGrpSpPr>
              <a:grpSpLocks/>
            </p:cNvGrpSpPr>
            <p:nvPr/>
          </p:nvGrpSpPr>
          <p:grpSpPr bwMode="auto">
            <a:xfrm>
              <a:off x="2000530" y="2215166"/>
              <a:ext cx="1143008" cy="285901"/>
              <a:chOff x="3388062" y="1785927"/>
              <a:chExt cx="1751382" cy="437844"/>
            </a:xfrm>
          </p:grpSpPr>
          <p:cxnSp>
            <p:nvCxnSpPr>
              <p:cNvPr id="42020" name="Прямая соединительная линия 19">
                <a:extLst>
                  <a:ext uri="{FF2B5EF4-FFF2-40B4-BE49-F238E27FC236}">
                    <a16:creationId xmlns:a16="http://schemas.microsoft.com/office/drawing/2014/main" id="{1F31427E-50FF-4846-A1EA-CB7F369E7CE9}"/>
                  </a:ext>
                </a:extLst>
              </p:cNvPr>
              <p:cNvCxnSpPr>
                <a:cxnSpLocks noChangeShapeType="1"/>
              </p:cNvCxnSpPr>
              <p:nvPr/>
            </p:nvCxnSpPr>
            <p:spPr bwMode="auto">
              <a:xfrm>
                <a:off x="4481755" y="2003946"/>
                <a:ext cx="657689" cy="0"/>
              </a:xfrm>
              <a:prstGeom prst="line">
                <a:avLst/>
              </a:prstGeom>
              <a:noFill/>
              <a:ln w="9525" algn="ctr">
                <a:solidFill>
                  <a:schemeClr val="tx1"/>
                </a:solidFill>
                <a:round/>
                <a:headEnd/>
                <a:tailEnd/>
              </a:ln>
            </p:spPr>
          </p:cxnSp>
          <p:cxnSp>
            <p:nvCxnSpPr>
              <p:cNvPr id="42021" name="Прямая соединительная линия 25">
                <a:extLst>
                  <a:ext uri="{FF2B5EF4-FFF2-40B4-BE49-F238E27FC236}">
                    <a16:creationId xmlns:a16="http://schemas.microsoft.com/office/drawing/2014/main" id="{38B2F50D-8B69-4B8E-B851-121502CC967C}"/>
                  </a:ext>
                </a:extLst>
              </p:cNvPr>
              <p:cNvCxnSpPr>
                <a:cxnSpLocks noChangeShapeType="1"/>
              </p:cNvCxnSpPr>
              <p:nvPr/>
            </p:nvCxnSpPr>
            <p:spPr bwMode="auto">
              <a:xfrm>
                <a:off x="3388062" y="2006333"/>
                <a:ext cx="533242" cy="0"/>
              </a:xfrm>
              <a:prstGeom prst="line">
                <a:avLst/>
              </a:prstGeom>
              <a:noFill/>
              <a:ln w="9525" algn="ctr">
                <a:solidFill>
                  <a:schemeClr val="tx1"/>
                </a:solidFill>
                <a:round/>
                <a:headEnd/>
                <a:tailEnd/>
              </a:ln>
            </p:spPr>
          </p:cxnSp>
          <p:sp>
            <p:nvSpPr>
              <p:cNvPr id="29" name="Isosceles Triangle 77">
                <a:extLst>
                  <a:ext uri="{FF2B5EF4-FFF2-40B4-BE49-F238E27FC236}">
                    <a16:creationId xmlns:a16="http://schemas.microsoft.com/office/drawing/2014/main" id="{F6A8FF6C-61D3-43B6-94B4-4BFB2AC3A8A1}"/>
                  </a:ext>
                </a:extLst>
              </p:cNvPr>
              <p:cNvSpPr/>
              <p:nvPr/>
            </p:nvSpPr>
            <p:spPr bwMode="auto">
              <a:xfrm rot="5400000">
                <a:off x="3931238" y="1782140"/>
                <a:ext cx="438724" cy="44490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42023" name="Oval 23">
                <a:extLst>
                  <a:ext uri="{FF2B5EF4-FFF2-40B4-BE49-F238E27FC236}">
                    <a16:creationId xmlns:a16="http://schemas.microsoft.com/office/drawing/2014/main" id="{3167D069-3970-42C5-9AB6-4111A8625E57}"/>
                  </a:ext>
                </a:extLst>
              </p:cNvPr>
              <p:cNvSpPr>
                <a:spLocks noChangeArrowheads="1"/>
              </p:cNvSpPr>
              <p:nvPr/>
            </p:nvSpPr>
            <p:spPr bwMode="auto">
              <a:xfrm>
                <a:off x="4375477" y="1950868"/>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42000" name="Прямоугольник 6">
              <a:extLst>
                <a:ext uri="{FF2B5EF4-FFF2-40B4-BE49-F238E27FC236}">
                  <a16:creationId xmlns:a16="http://schemas.microsoft.com/office/drawing/2014/main" id="{4363FF38-9957-43F7-88A7-DEAD7CB4860A}"/>
                </a:ext>
              </a:extLst>
            </p:cNvPr>
            <p:cNvSpPr>
              <a:spLocks noChangeArrowheads="1"/>
            </p:cNvSpPr>
            <p:nvPr/>
          </p:nvSpPr>
          <p:spPr bwMode="auto">
            <a:xfrm>
              <a:off x="3143537" y="2071678"/>
              <a:ext cx="1500198" cy="1557348"/>
            </a:xfrm>
            <a:prstGeom prst="rect">
              <a:avLst/>
            </a:prstGeom>
            <a:solidFill>
              <a:schemeClr val="bg1"/>
            </a:solidFill>
            <a:ln w="19050" algn="ctr">
              <a:solidFill>
                <a:schemeClr val="accent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2001" name="Прямоугольник 7">
              <a:extLst>
                <a:ext uri="{FF2B5EF4-FFF2-40B4-BE49-F238E27FC236}">
                  <a16:creationId xmlns:a16="http://schemas.microsoft.com/office/drawing/2014/main" id="{C08B5F88-9124-4B7E-8C62-01D1A75360FC}"/>
                </a:ext>
              </a:extLst>
            </p:cNvPr>
            <p:cNvSpPr>
              <a:spLocks noChangeArrowheads="1"/>
            </p:cNvSpPr>
            <p:nvPr/>
          </p:nvSpPr>
          <p:spPr bwMode="auto">
            <a:xfrm>
              <a:off x="3081327" y="228599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2002" name="Прямоугольник 8">
              <a:extLst>
                <a:ext uri="{FF2B5EF4-FFF2-40B4-BE49-F238E27FC236}">
                  <a16:creationId xmlns:a16="http://schemas.microsoft.com/office/drawing/2014/main" id="{607AB327-683A-4327-8C76-5628E9A85517}"/>
                </a:ext>
              </a:extLst>
            </p:cNvPr>
            <p:cNvSpPr>
              <a:spLocks noChangeArrowheads="1"/>
            </p:cNvSpPr>
            <p:nvPr/>
          </p:nvSpPr>
          <p:spPr bwMode="auto">
            <a:xfrm>
              <a:off x="3071802" y="300037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2003" name="Прямоугольник 9">
              <a:extLst>
                <a:ext uri="{FF2B5EF4-FFF2-40B4-BE49-F238E27FC236}">
                  <a16:creationId xmlns:a16="http://schemas.microsoft.com/office/drawing/2014/main" id="{A0DB2413-3983-4611-985A-052E82279AFD}"/>
                </a:ext>
              </a:extLst>
            </p:cNvPr>
            <p:cNvSpPr>
              <a:spLocks noChangeArrowheads="1"/>
            </p:cNvSpPr>
            <p:nvPr/>
          </p:nvSpPr>
          <p:spPr bwMode="auto">
            <a:xfrm>
              <a:off x="4572000" y="228599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42004" name="Straight Connector 56">
              <a:extLst>
                <a:ext uri="{FF2B5EF4-FFF2-40B4-BE49-F238E27FC236}">
                  <a16:creationId xmlns:a16="http://schemas.microsoft.com/office/drawing/2014/main" id="{7F4F2515-542B-4E57-BBF3-40893C096B1D}"/>
                </a:ext>
              </a:extLst>
            </p:cNvPr>
            <p:cNvCxnSpPr>
              <a:cxnSpLocks noChangeShapeType="1"/>
              <a:stCxn id="42003" idx="3"/>
            </p:cNvCxnSpPr>
            <p:nvPr/>
          </p:nvCxnSpPr>
          <p:spPr bwMode="auto">
            <a:xfrm>
              <a:off x="4714876" y="2357430"/>
              <a:ext cx="428628" cy="1"/>
            </a:xfrm>
            <a:prstGeom prst="line">
              <a:avLst/>
            </a:prstGeom>
            <a:noFill/>
            <a:ln w="9525" algn="ctr">
              <a:solidFill>
                <a:schemeClr val="tx1"/>
              </a:solidFill>
              <a:round/>
              <a:headEnd/>
              <a:tailEnd/>
            </a:ln>
          </p:spPr>
        </p:cxnSp>
        <p:sp>
          <p:nvSpPr>
            <p:cNvPr id="42005" name="Isosceles Triangle 57">
              <a:extLst>
                <a:ext uri="{FF2B5EF4-FFF2-40B4-BE49-F238E27FC236}">
                  <a16:creationId xmlns:a16="http://schemas.microsoft.com/office/drawing/2014/main" id="{E25EFE3A-7E2E-4E24-92FC-DC02BEC905A8}"/>
                </a:ext>
              </a:extLst>
            </p:cNvPr>
            <p:cNvSpPr>
              <a:spLocks noChangeArrowheads="1"/>
            </p:cNvSpPr>
            <p:nvPr/>
          </p:nvSpPr>
          <p:spPr bwMode="auto">
            <a:xfrm rot="10800000">
              <a:off x="5099062" y="2785687"/>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2006" name="Straight Connector 58">
              <a:extLst>
                <a:ext uri="{FF2B5EF4-FFF2-40B4-BE49-F238E27FC236}">
                  <a16:creationId xmlns:a16="http://schemas.microsoft.com/office/drawing/2014/main" id="{A9005C7E-8BEC-4387-8ED2-9104E2A30C0F}"/>
                </a:ext>
              </a:extLst>
            </p:cNvPr>
            <p:cNvCxnSpPr>
              <a:cxnSpLocks noChangeShapeType="1"/>
            </p:cNvCxnSpPr>
            <p:nvPr/>
          </p:nvCxnSpPr>
          <p:spPr bwMode="auto">
            <a:xfrm>
              <a:off x="5056434" y="2525002"/>
              <a:ext cx="170329" cy="0"/>
            </a:xfrm>
            <a:prstGeom prst="line">
              <a:avLst/>
            </a:prstGeom>
            <a:noFill/>
            <a:ln w="9525" algn="ctr">
              <a:solidFill>
                <a:schemeClr val="tx1"/>
              </a:solidFill>
              <a:round/>
              <a:headEnd/>
              <a:tailEnd/>
            </a:ln>
          </p:spPr>
        </p:cxnSp>
        <p:cxnSp>
          <p:nvCxnSpPr>
            <p:cNvPr id="42007" name="Straight Connector 59">
              <a:extLst>
                <a:ext uri="{FF2B5EF4-FFF2-40B4-BE49-F238E27FC236}">
                  <a16:creationId xmlns:a16="http://schemas.microsoft.com/office/drawing/2014/main" id="{9EFDE42F-E86B-4347-8621-8413D6E46F68}"/>
                </a:ext>
              </a:extLst>
            </p:cNvPr>
            <p:cNvCxnSpPr>
              <a:cxnSpLocks noChangeShapeType="1"/>
            </p:cNvCxnSpPr>
            <p:nvPr/>
          </p:nvCxnSpPr>
          <p:spPr bwMode="auto">
            <a:xfrm>
              <a:off x="5056434" y="2577800"/>
              <a:ext cx="170329" cy="0"/>
            </a:xfrm>
            <a:prstGeom prst="line">
              <a:avLst/>
            </a:prstGeom>
            <a:noFill/>
            <a:ln w="9525" algn="ctr">
              <a:solidFill>
                <a:schemeClr val="tx1"/>
              </a:solidFill>
              <a:round/>
              <a:headEnd/>
              <a:tailEnd/>
            </a:ln>
          </p:spPr>
        </p:cxnSp>
        <p:cxnSp>
          <p:nvCxnSpPr>
            <p:cNvPr id="42008" name="Straight Connector 60">
              <a:extLst>
                <a:ext uri="{FF2B5EF4-FFF2-40B4-BE49-F238E27FC236}">
                  <a16:creationId xmlns:a16="http://schemas.microsoft.com/office/drawing/2014/main" id="{B847A0E2-4232-43F7-B4F4-7CA0F7788016}"/>
                </a:ext>
              </a:extLst>
            </p:cNvPr>
            <p:cNvCxnSpPr>
              <a:cxnSpLocks noChangeShapeType="1"/>
            </p:cNvCxnSpPr>
            <p:nvPr/>
          </p:nvCxnSpPr>
          <p:spPr bwMode="auto">
            <a:xfrm flipH="1">
              <a:off x="5141353" y="2583122"/>
              <a:ext cx="246" cy="200112"/>
            </a:xfrm>
            <a:prstGeom prst="line">
              <a:avLst/>
            </a:prstGeom>
            <a:noFill/>
            <a:ln w="9525" algn="ctr">
              <a:solidFill>
                <a:schemeClr val="tx1"/>
              </a:solidFill>
              <a:round/>
              <a:headEnd/>
              <a:tailEnd/>
            </a:ln>
          </p:spPr>
        </p:cxnSp>
        <p:cxnSp>
          <p:nvCxnSpPr>
            <p:cNvPr id="42009" name="Straight Connector 61">
              <a:extLst>
                <a:ext uri="{FF2B5EF4-FFF2-40B4-BE49-F238E27FC236}">
                  <a16:creationId xmlns:a16="http://schemas.microsoft.com/office/drawing/2014/main" id="{21D3B7F3-638E-4389-A3C7-5981E78B0E0B}"/>
                </a:ext>
              </a:extLst>
            </p:cNvPr>
            <p:cNvCxnSpPr>
              <a:cxnSpLocks noChangeShapeType="1"/>
            </p:cNvCxnSpPr>
            <p:nvPr/>
          </p:nvCxnSpPr>
          <p:spPr bwMode="auto">
            <a:xfrm rot="5400000">
              <a:off x="5056690" y="2443600"/>
              <a:ext cx="171592" cy="0"/>
            </a:xfrm>
            <a:prstGeom prst="line">
              <a:avLst/>
            </a:prstGeom>
            <a:noFill/>
            <a:ln w="9525" algn="ctr">
              <a:solidFill>
                <a:schemeClr val="tx1"/>
              </a:solidFill>
              <a:round/>
              <a:headEnd/>
              <a:tailEnd/>
            </a:ln>
          </p:spPr>
        </p:cxnSp>
        <p:sp>
          <p:nvSpPr>
            <p:cNvPr id="42010" name="Прямоугольник 16">
              <a:extLst>
                <a:ext uri="{FF2B5EF4-FFF2-40B4-BE49-F238E27FC236}">
                  <a16:creationId xmlns:a16="http://schemas.microsoft.com/office/drawing/2014/main" id="{BAD6B372-9FA8-4087-97A5-26F795E05404}"/>
                </a:ext>
              </a:extLst>
            </p:cNvPr>
            <p:cNvSpPr>
              <a:spLocks noChangeArrowheads="1"/>
            </p:cNvSpPr>
            <p:nvPr/>
          </p:nvSpPr>
          <p:spPr bwMode="auto">
            <a:xfrm>
              <a:off x="4572000" y="2857496"/>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42011" name="Straight Connector 56">
              <a:extLst>
                <a:ext uri="{FF2B5EF4-FFF2-40B4-BE49-F238E27FC236}">
                  <a16:creationId xmlns:a16="http://schemas.microsoft.com/office/drawing/2014/main" id="{C292F843-8DDB-4AE0-841E-A3802CB64B58}"/>
                </a:ext>
              </a:extLst>
            </p:cNvPr>
            <p:cNvCxnSpPr>
              <a:cxnSpLocks noChangeShapeType="1"/>
              <a:stCxn id="42010" idx="3"/>
            </p:cNvCxnSpPr>
            <p:nvPr/>
          </p:nvCxnSpPr>
          <p:spPr bwMode="auto">
            <a:xfrm>
              <a:off x="4714876" y="2928934"/>
              <a:ext cx="214314" cy="1"/>
            </a:xfrm>
            <a:prstGeom prst="line">
              <a:avLst/>
            </a:prstGeom>
            <a:noFill/>
            <a:ln w="9525" algn="ctr">
              <a:solidFill>
                <a:schemeClr val="tx1"/>
              </a:solidFill>
              <a:round/>
              <a:headEnd/>
              <a:tailEnd/>
            </a:ln>
          </p:spPr>
        </p:cxnSp>
        <p:sp>
          <p:nvSpPr>
            <p:cNvPr id="42012" name="Isosceles Triangle 57">
              <a:extLst>
                <a:ext uri="{FF2B5EF4-FFF2-40B4-BE49-F238E27FC236}">
                  <a16:creationId xmlns:a16="http://schemas.microsoft.com/office/drawing/2014/main" id="{392A58FE-FAEF-44D9-925D-88072DFF9389}"/>
                </a:ext>
              </a:extLst>
            </p:cNvPr>
            <p:cNvSpPr>
              <a:spLocks noChangeArrowheads="1"/>
            </p:cNvSpPr>
            <p:nvPr/>
          </p:nvSpPr>
          <p:spPr bwMode="auto">
            <a:xfrm rot="10800000">
              <a:off x="4881330" y="335295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2013" name="Straight Connector 58">
              <a:extLst>
                <a:ext uri="{FF2B5EF4-FFF2-40B4-BE49-F238E27FC236}">
                  <a16:creationId xmlns:a16="http://schemas.microsoft.com/office/drawing/2014/main" id="{BEF5BB9A-9DFF-4CF0-B253-141222713780}"/>
                </a:ext>
              </a:extLst>
            </p:cNvPr>
            <p:cNvCxnSpPr>
              <a:cxnSpLocks noChangeShapeType="1"/>
            </p:cNvCxnSpPr>
            <p:nvPr/>
          </p:nvCxnSpPr>
          <p:spPr bwMode="auto">
            <a:xfrm>
              <a:off x="4838702" y="3092267"/>
              <a:ext cx="170329" cy="0"/>
            </a:xfrm>
            <a:prstGeom prst="line">
              <a:avLst/>
            </a:prstGeom>
            <a:noFill/>
            <a:ln w="9525" algn="ctr">
              <a:solidFill>
                <a:schemeClr val="tx1"/>
              </a:solidFill>
              <a:round/>
              <a:headEnd/>
              <a:tailEnd/>
            </a:ln>
          </p:spPr>
        </p:cxnSp>
        <p:cxnSp>
          <p:nvCxnSpPr>
            <p:cNvPr id="42014" name="Straight Connector 59">
              <a:extLst>
                <a:ext uri="{FF2B5EF4-FFF2-40B4-BE49-F238E27FC236}">
                  <a16:creationId xmlns:a16="http://schemas.microsoft.com/office/drawing/2014/main" id="{F59F46C3-96E5-4DA4-B151-C3A0CDBA1BD9}"/>
                </a:ext>
              </a:extLst>
            </p:cNvPr>
            <p:cNvCxnSpPr>
              <a:cxnSpLocks noChangeShapeType="1"/>
            </p:cNvCxnSpPr>
            <p:nvPr/>
          </p:nvCxnSpPr>
          <p:spPr bwMode="auto">
            <a:xfrm>
              <a:off x="4838702" y="3145065"/>
              <a:ext cx="170329" cy="0"/>
            </a:xfrm>
            <a:prstGeom prst="line">
              <a:avLst/>
            </a:prstGeom>
            <a:noFill/>
            <a:ln w="9525" algn="ctr">
              <a:solidFill>
                <a:schemeClr val="tx1"/>
              </a:solidFill>
              <a:round/>
              <a:headEnd/>
              <a:tailEnd/>
            </a:ln>
          </p:spPr>
        </p:cxnSp>
        <p:cxnSp>
          <p:nvCxnSpPr>
            <p:cNvPr id="42015" name="Straight Connector 60">
              <a:extLst>
                <a:ext uri="{FF2B5EF4-FFF2-40B4-BE49-F238E27FC236}">
                  <a16:creationId xmlns:a16="http://schemas.microsoft.com/office/drawing/2014/main" id="{AE87B2F7-9720-4958-AC83-687BAFE2D48C}"/>
                </a:ext>
              </a:extLst>
            </p:cNvPr>
            <p:cNvCxnSpPr>
              <a:cxnSpLocks noChangeShapeType="1"/>
            </p:cNvCxnSpPr>
            <p:nvPr/>
          </p:nvCxnSpPr>
          <p:spPr bwMode="auto">
            <a:xfrm flipH="1">
              <a:off x="4923621" y="3150387"/>
              <a:ext cx="246" cy="200112"/>
            </a:xfrm>
            <a:prstGeom prst="line">
              <a:avLst/>
            </a:prstGeom>
            <a:noFill/>
            <a:ln w="9525" algn="ctr">
              <a:solidFill>
                <a:schemeClr val="tx1"/>
              </a:solidFill>
              <a:round/>
              <a:headEnd/>
              <a:tailEnd/>
            </a:ln>
          </p:spPr>
        </p:cxnSp>
        <p:cxnSp>
          <p:nvCxnSpPr>
            <p:cNvPr id="42016" name="Straight Connector 61">
              <a:extLst>
                <a:ext uri="{FF2B5EF4-FFF2-40B4-BE49-F238E27FC236}">
                  <a16:creationId xmlns:a16="http://schemas.microsoft.com/office/drawing/2014/main" id="{A39E413A-2FE9-475F-90F6-9E9B5FD4A48C}"/>
                </a:ext>
              </a:extLst>
            </p:cNvPr>
            <p:cNvCxnSpPr>
              <a:cxnSpLocks noChangeShapeType="1"/>
            </p:cNvCxnSpPr>
            <p:nvPr/>
          </p:nvCxnSpPr>
          <p:spPr bwMode="auto">
            <a:xfrm rot="5400000">
              <a:off x="4838958" y="3010865"/>
              <a:ext cx="171592" cy="0"/>
            </a:xfrm>
            <a:prstGeom prst="line">
              <a:avLst/>
            </a:prstGeom>
            <a:noFill/>
            <a:ln w="9525" algn="ctr">
              <a:solidFill>
                <a:schemeClr val="tx1"/>
              </a:solidFill>
              <a:round/>
              <a:headEnd/>
              <a:tailEnd/>
            </a:ln>
          </p:spPr>
        </p:cxnSp>
        <p:sp>
          <p:nvSpPr>
            <p:cNvPr id="42017" name="TextBox 23">
              <a:extLst>
                <a:ext uri="{FF2B5EF4-FFF2-40B4-BE49-F238E27FC236}">
                  <a16:creationId xmlns:a16="http://schemas.microsoft.com/office/drawing/2014/main" id="{6A8FCA57-8C37-4705-B5EC-80C0593782E5}"/>
                </a:ext>
              </a:extLst>
            </p:cNvPr>
            <p:cNvSpPr txBox="1">
              <a:spLocks noChangeArrowheads="1"/>
            </p:cNvSpPr>
            <p:nvPr/>
          </p:nvSpPr>
          <p:spPr bwMode="auto">
            <a:xfrm>
              <a:off x="3286116" y="2214554"/>
              <a:ext cx="311281" cy="25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IN</a:t>
              </a:r>
              <a:endParaRPr lang="ru-RU" altLang="en-US" sz="1400"/>
            </a:p>
          </p:txBody>
        </p:sp>
        <p:sp>
          <p:nvSpPr>
            <p:cNvPr id="42018" name="TextBox 24">
              <a:extLst>
                <a:ext uri="{FF2B5EF4-FFF2-40B4-BE49-F238E27FC236}">
                  <a16:creationId xmlns:a16="http://schemas.microsoft.com/office/drawing/2014/main" id="{DB13C28B-AC01-472A-B828-BF7BDC734B06}"/>
                </a:ext>
              </a:extLst>
            </p:cNvPr>
            <p:cNvSpPr txBox="1">
              <a:spLocks noChangeArrowheads="1"/>
            </p:cNvSpPr>
            <p:nvPr/>
          </p:nvSpPr>
          <p:spPr bwMode="auto">
            <a:xfrm>
              <a:off x="4000496" y="2214554"/>
              <a:ext cx="481171" cy="25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OUT</a:t>
              </a:r>
              <a:endParaRPr lang="ru-RU" altLang="en-US" sz="1400"/>
            </a:p>
          </p:txBody>
        </p:sp>
        <p:sp>
          <p:nvSpPr>
            <p:cNvPr id="42019" name="TextBox 25">
              <a:extLst>
                <a:ext uri="{FF2B5EF4-FFF2-40B4-BE49-F238E27FC236}">
                  <a16:creationId xmlns:a16="http://schemas.microsoft.com/office/drawing/2014/main" id="{117BB3CB-AD48-49E5-A036-EEC6FBDF111F}"/>
                </a:ext>
              </a:extLst>
            </p:cNvPr>
            <p:cNvSpPr txBox="1">
              <a:spLocks noChangeArrowheads="1"/>
            </p:cNvSpPr>
            <p:nvPr/>
          </p:nvSpPr>
          <p:spPr bwMode="auto">
            <a:xfrm>
              <a:off x="3357554" y="1643050"/>
              <a:ext cx="771626" cy="3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Design</a:t>
              </a:r>
              <a:endParaRPr lang="ru-RU" altLang="en-US" sz="1800"/>
            </a:p>
          </p:txBody>
        </p:sp>
      </p:grpSp>
      <p:grpSp>
        <p:nvGrpSpPr>
          <p:cNvPr id="41989" name="Группа 36">
            <a:extLst>
              <a:ext uri="{FF2B5EF4-FFF2-40B4-BE49-F238E27FC236}">
                <a16:creationId xmlns:a16="http://schemas.microsoft.com/office/drawing/2014/main" id="{35641CD6-A610-46C2-9342-FA6123A48E1F}"/>
              </a:ext>
            </a:extLst>
          </p:cNvPr>
          <p:cNvGrpSpPr>
            <a:grpSpLocks/>
          </p:cNvGrpSpPr>
          <p:nvPr/>
        </p:nvGrpSpPr>
        <p:grpSpPr bwMode="auto">
          <a:xfrm>
            <a:off x="4172525" y="5146944"/>
            <a:ext cx="785813" cy="200025"/>
            <a:chOff x="3929058" y="5297117"/>
            <a:chExt cx="1928826" cy="489493"/>
          </a:xfrm>
        </p:grpSpPr>
        <p:cxnSp>
          <p:nvCxnSpPr>
            <p:cNvPr id="41995" name="Прямая соединительная линия 40">
              <a:extLst>
                <a:ext uri="{FF2B5EF4-FFF2-40B4-BE49-F238E27FC236}">
                  <a16:creationId xmlns:a16="http://schemas.microsoft.com/office/drawing/2014/main" id="{BC89A339-BC0B-400A-9F49-F816E3624202}"/>
                </a:ext>
              </a:extLst>
            </p:cNvPr>
            <p:cNvCxnSpPr>
              <a:cxnSpLocks noChangeShapeType="1"/>
            </p:cNvCxnSpPr>
            <p:nvPr/>
          </p:nvCxnSpPr>
          <p:spPr bwMode="auto">
            <a:xfrm rot="5400000">
              <a:off x="4829179" y="5325699"/>
              <a:ext cx="485773" cy="428627"/>
            </a:xfrm>
            <a:prstGeom prst="line">
              <a:avLst/>
            </a:prstGeom>
            <a:noFill/>
            <a:ln w="19050" algn="ctr">
              <a:solidFill>
                <a:schemeClr val="accent1"/>
              </a:solidFill>
              <a:round/>
              <a:headEnd/>
              <a:tailEnd/>
            </a:ln>
          </p:spPr>
        </p:cxnSp>
        <p:cxnSp>
          <p:nvCxnSpPr>
            <p:cNvPr id="41996" name="Прямая соединительная линия 41">
              <a:extLst>
                <a:ext uri="{FF2B5EF4-FFF2-40B4-BE49-F238E27FC236}">
                  <a16:creationId xmlns:a16="http://schemas.microsoft.com/office/drawing/2014/main" id="{61E009A1-8579-45E4-A9D5-4BA75FDE331B}"/>
                </a:ext>
              </a:extLst>
            </p:cNvPr>
            <p:cNvCxnSpPr>
              <a:cxnSpLocks noChangeShapeType="1"/>
            </p:cNvCxnSpPr>
            <p:nvPr/>
          </p:nvCxnSpPr>
          <p:spPr bwMode="auto">
            <a:xfrm rot="10800000">
              <a:off x="5286380" y="5297117"/>
              <a:ext cx="571504" cy="0"/>
            </a:xfrm>
            <a:prstGeom prst="line">
              <a:avLst/>
            </a:prstGeom>
            <a:noFill/>
            <a:ln w="19050" algn="ctr">
              <a:solidFill>
                <a:schemeClr val="accent1"/>
              </a:solidFill>
              <a:round/>
              <a:headEnd/>
              <a:tailEnd/>
            </a:ln>
          </p:spPr>
        </p:cxnSp>
        <p:cxnSp>
          <p:nvCxnSpPr>
            <p:cNvPr id="41997" name="Прямая соединительная линия 42">
              <a:extLst>
                <a:ext uri="{FF2B5EF4-FFF2-40B4-BE49-F238E27FC236}">
                  <a16:creationId xmlns:a16="http://schemas.microsoft.com/office/drawing/2014/main" id="{BEE33A32-3EB4-4A6F-AD66-25F4BA56DB91}"/>
                </a:ext>
              </a:extLst>
            </p:cNvPr>
            <p:cNvCxnSpPr>
              <a:cxnSpLocks noChangeShapeType="1"/>
            </p:cNvCxnSpPr>
            <p:nvPr/>
          </p:nvCxnSpPr>
          <p:spPr bwMode="auto">
            <a:xfrm rot="10800000" flipV="1">
              <a:off x="3929058" y="5786610"/>
              <a:ext cx="933979" cy="0"/>
            </a:xfrm>
            <a:prstGeom prst="line">
              <a:avLst/>
            </a:prstGeom>
            <a:noFill/>
            <a:ln w="19050" algn="ctr">
              <a:solidFill>
                <a:schemeClr val="accent1"/>
              </a:solidFill>
              <a:round/>
              <a:headEnd/>
              <a:tailEnd/>
            </a:ln>
          </p:spPr>
        </p:cxnSp>
      </p:grpSp>
      <p:cxnSp>
        <p:nvCxnSpPr>
          <p:cNvPr id="41990" name="Straight Connector 25">
            <a:extLst>
              <a:ext uri="{FF2B5EF4-FFF2-40B4-BE49-F238E27FC236}">
                <a16:creationId xmlns:a16="http://schemas.microsoft.com/office/drawing/2014/main" id="{5522A055-5140-47CF-BC6B-A2DE23AA7591}"/>
              </a:ext>
            </a:extLst>
          </p:cNvPr>
          <p:cNvCxnSpPr>
            <a:cxnSpLocks noChangeShapeType="1"/>
          </p:cNvCxnSpPr>
          <p:nvPr/>
        </p:nvCxnSpPr>
        <p:spPr bwMode="auto">
          <a:xfrm rot="5400000">
            <a:off x="4282062" y="5324744"/>
            <a:ext cx="498475"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1991" name="Straight Connector 25">
            <a:extLst>
              <a:ext uri="{FF2B5EF4-FFF2-40B4-BE49-F238E27FC236}">
                <a16:creationId xmlns:a16="http://schemas.microsoft.com/office/drawing/2014/main" id="{67B5C042-8A02-4F90-A2D3-69B9264669EE}"/>
              </a:ext>
            </a:extLst>
          </p:cNvPr>
          <p:cNvCxnSpPr>
            <a:cxnSpLocks noChangeShapeType="1"/>
          </p:cNvCxnSpPr>
          <p:nvPr/>
        </p:nvCxnSpPr>
        <p:spPr bwMode="auto">
          <a:xfrm rot="5400000">
            <a:off x="4473355" y="5312837"/>
            <a:ext cx="496888"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1992" name="Straight Arrow Connector 63">
            <a:extLst>
              <a:ext uri="{FF2B5EF4-FFF2-40B4-BE49-F238E27FC236}">
                <a16:creationId xmlns:a16="http://schemas.microsoft.com/office/drawing/2014/main" id="{9CF98680-CB8B-490B-A44F-993B4E9CAB8A}"/>
              </a:ext>
            </a:extLst>
          </p:cNvPr>
          <p:cNvCxnSpPr>
            <a:cxnSpLocks noChangeShapeType="1"/>
          </p:cNvCxnSpPr>
          <p:nvPr/>
        </p:nvCxnSpPr>
        <p:spPr bwMode="auto">
          <a:xfrm flipV="1">
            <a:off x="4243962" y="5504131"/>
            <a:ext cx="252412" cy="0"/>
          </a:xfrm>
          <a:prstGeom prst="straightConnector1">
            <a:avLst/>
          </a:prstGeom>
          <a:noFill/>
          <a:ln w="9525" algn="ctr">
            <a:solidFill>
              <a:srgbClr val="0000FF"/>
            </a:solidFill>
            <a:round/>
            <a:headEnd/>
            <a:tailEnd type="triangle" w="med" len="med"/>
          </a:ln>
        </p:spPr>
      </p:cxnSp>
      <p:cxnSp>
        <p:nvCxnSpPr>
          <p:cNvPr id="41993" name="Straight Arrow Connector 63">
            <a:extLst>
              <a:ext uri="{FF2B5EF4-FFF2-40B4-BE49-F238E27FC236}">
                <a16:creationId xmlns:a16="http://schemas.microsoft.com/office/drawing/2014/main" id="{E91FE4A7-BE3D-49F7-8F4C-B1B93323A46F}"/>
              </a:ext>
            </a:extLst>
          </p:cNvPr>
          <p:cNvCxnSpPr>
            <a:cxnSpLocks noChangeShapeType="1"/>
          </p:cNvCxnSpPr>
          <p:nvPr/>
        </p:nvCxnSpPr>
        <p:spPr bwMode="auto">
          <a:xfrm rot="10800000">
            <a:off x="4744024" y="5504132"/>
            <a:ext cx="285750" cy="1587"/>
          </a:xfrm>
          <a:prstGeom prst="straightConnector1">
            <a:avLst/>
          </a:prstGeom>
          <a:noFill/>
          <a:ln w="9525" algn="ctr">
            <a:solidFill>
              <a:srgbClr val="0000FF"/>
            </a:solidFill>
            <a:round/>
            <a:headEnd/>
            <a:tailEnd type="triangle" w="med" len="med"/>
          </a:ln>
        </p:spPr>
      </p:cxnSp>
      <p:sp>
        <p:nvSpPr>
          <p:cNvPr id="41994" name="TextBox 52">
            <a:extLst>
              <a:ext uri="{FF2B5EF4-FFF2-40B4-BE49-F238E27FC236}">
                <a16:creationId xmlns:a16="http://schemas.microsoft.com/office/drawing/2014/main" id="{385B398D-2562-4111-95AB-64F369E2157E}"/>
              </a:ext>
            </a:extLst>
          </p:cNvPr>
          <p:cNvSpPr txBox="1">
            <a:spLocks noChangeArrowheads="1"/>
          </p:cNvSpPr>
          <p:nvPr/>
        </p:nvSpPr>
        <p:spPr bwMode="auto">
          <a:xfrm>
            <a:off x="4445575" y="5493019"/>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200"/>
              <a:t>0,9</a:t>
            </a:r>
            <a:endParaRPr lang="ru-RU" alt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51C3F15-77A6-4C2A-A7FC-16DACAF2690B}"/>
              </a:ext>
            </a:extLst>
          </p:cNvPr>
          <p:cNvSpPr>
            <a:spLocks noGrp="1"/>
          </p:cNvSpPr>
          <p:nvPr>
            <p:ph type="title"/>
          </p:nvPr>
        </p:nvSpPr>
        <p:spPr/>
        <p:txBody>
          <a:bodyPr/>
          <a:lstStyle/>
          <a:p>
            <a:r>
              <a:rPr lang="en-US" altLang="en-US"/>
              <a:t>Capacitive Load</a:t>
            </a:r>
          </a:p>
        </p:txBody>
      </p:sp>
      <p:sp>
        <p:nvSpPr>
          <p:cNvPr id="3" name="Content Placeholder 2">
            <a:extLst>
              <a:ext uri="{FF2B5EF4-FFF2-40B4-BE49-F238E27FC236}">
                <a16:creationId xmlns:a16="http://schemas.microsoft.com/office/drawing/2014/main" id="{18B62223-0F16-476E-90BB-420A16D36607}"/>
              </a:ext>
            </a:extLst>
          </p:cNvPr>
          <p:cNvSpPr>
            <a:spLocks noGrp="1"/>
          </p:cNvSpPr>
          <p:nvPr>
            <p:ph type="body" sz="quarter" idx="10"/>
          </p:nvPr>
        </p:nvSpPr>
        <p:spPr>
          <a:xfrm>
            <a:off x="457200" y="1188720"/>
            <a:ext cx="9858020" cy="418560"/>
          </a:xfrm>
          <a:solidFill>
            <a:schemeClr val="accent1">
              <a:lumMod val="20000"/>
              <a:lumOff val="80000"/>
            </a:schemeClr>
          </a:solidFill>
          <a:ln w="28575">
            <a:solidFill>
              <a:schemeClr val="accent1">
                <a:lumMod val="75000"/>
              </a:schemeClr>
            </a:solidFill>
          </a:ln>
        </p:spPr>
        <p:txBody>
          <a:bodyPr/>
          <a:lstStyle/>
          <a:p>
            <a:pPr marL="0" indent="0">
              <a:buNone/>
              <a:defRPr/>
            </a:pPr>
            <a:r>
              <a:rPr lang="en-US" sz="1600" dirty="0" err="1">
                <a:solidFill>
                  <a:srgbClr val="0000FF"/>
                </a:solidFill>
                <a:latin typeface="Courier New" pitchFamily="49" charset="0"/>
                <a:cs typeface="Courier New" pitchFamily="49" charset="0"/>
              </a:rPr>
              <a:t>set_load</a:t>
            </a:r>
            <a:r>
              <a:rPr lang="en-US" sz="1600" b="1" dirty="0">
                <a:latin typeface="Courier New" pitchFamily="49" charset="0"/>
                <a:cs typeface="Courier New" pitchFamily="49" charset="0"/>
              </a:rPr>
              <a:t> </a:t>
            </a:r>
            <a:r>
              <a:rPr lang="en-US" sz="1600" dirty="0">
                <a:latin typeface="Courier New" pitchFamily="49" charset="0"/>
                <a:cs typeface="Courier New" pitchFamily="49" charset="0"/>
              </a:rPr>
              <a:t>20 [</a:t>
            </a:r>
            <a:r>
              <a:rPr lang="en-US" sz="1600" dirty="0" err="1">
                <a:solidFill>
                  <a:srgbClr val="0000FF"/>
                </a:solidFill>
                <a:latin typeface="Courier New" pitchFamily="49" charset="0"/>
                <a:cs typeface="Courier New" pitchFamily="49" charset="0"/>
              </a:rPr>
              <a:t>all_outputs</a:t>
            </a:r>
            <a:r>
              <a:rPr lang="en-US" sz="1600" dirty="0">
                <a:latin typeface="Courier New" pitchFamily="49" charset="0"/>
                <a:cs typeface="Courier New" pitchFamily="49" charset="0"/>
              </a:rPr>
              <a:t>]</a:t>
            </a:r>
          </a:p>
          <a:p>
            <a:pPr marL="0" indent="0">
              <a:buNone/>
              <a:defRPr/>
            </a:pPr>
            <a:endParaRPr lang="en-US" sz="2000" dirty="0">
              <a:latin typeface="Courier New" pitchFamily="49" charset="0"/>
              <a:cs typeface="Courier New" pitchFamily="49" charset="0"/>
            </a:endParaRPr>
          </a:p>
        </p:txBody>
      </p:sp>
      <p:grpSp>
        <p:nvGrpSpPr>
          <p:cNvPr id="43012" name="Группа 3">
            <a:extLst>
              <a:ext uri="{FF2B5EF4-FFF2-40B4-BE49-F238E27FC236}">
                <a16:creationId xmlns:a16="http://schemas.microsoft.com/office/drawing/2014/main" id="{A96E1303-2CCD-4B2D-975C-298BF2852F39}"/>
              </a:ext>
            </a:extLst>
          </p:cNvPr>
          <p:cNvGrpSpPr>
            <a:grpSpLocks/>
          </p:cNvGrpSpPr>
          <p:nvPr/>
        </p:nvGrpSpPr>
        <p:grpSpPr bwMode="auto">
          <a:xfrm>
            <a:off x="3555562" y="2527989"/>
            <a:ext cx="3773487" cy="2443163"/>
            <a:chOff x="2000232" y="1643050"/>
            <a:chExt cx="3226531" cy="1985976"/>
          </a:xfrm>
        </p:grpSpPr>
        <p:grpSp>
          <p:nvGrpSpPr>
            <p:cNvPr id="43015" name="Group 27">
              <a:extLst>
                <a:ext uri="{FF2B5EF4-FFF2-40B4-BE49-F238E27FC236}">
                  <a16:creationId xmlns:a16="http://schemas.microsoft.com/office/drawing/2014/main" id="{F1775638-6A6D-4857-BCA9-A422708B5F86}"/>
                </a:ext>
              </a:extLst>
            </p:cNvPr>
            <p:cNvGrpSpPr>
              <a:grpSpLocks/>
            </p:cNvGrpSpPr>
            <p:nvPr/>
          </p:nvGrpSpPr>
          <p:grpSpPr bwMode="auto">
            <a:xfrm>
              <a:off x="2000232" y="2857347"/>
              <a:ext cx="1143305" cy="762645"/>
              <a:chOff x="4879094" y="2372866"/>
              <a:chExt cx="1143305" cy="762645"/>
            </a:xfrm>
          </p:grpSpPr>
          <p:cxnSp>
            <p:nvCxnSpPr>
              <p:cNvPr id="43041" name="Straight Connector 32">
                <a:extLst>
                  <a:ext uri="{FF2B5EF4-FFF2-40B4-BE49-F238E27FC236}">
                    <a16:creationId xmlns:a16="http://schemas.microsoft.com/office/drawing/2014/main" id="{72FE2AD7-D0BF-4E93-8250-730225CAA15F}"/>
                  </a:ext>
                </a:extLst>
              </p:cNvPr>
              <p:cNvCxnSpPr>
                <a:cxnSpLocks noChangeShapeType="1"/>
              </p:cNvCxnSpPr>
              <p:nvPr/>
            </p:nvCxnSpPr>
            <p:spPr bwMode="auto">
              <a:xfrm>
                <a:off x="4879094" y="2982619"/>
                <a:ext cx="323972" cy="0"/>
              </a:xfrm>
              <a:prstGeom prst="line">
                <a:avLst/>
              </a:prstGeom>
              <a:noFill/>
              <a:ln w="9525" algn="ctr">
                <a:solidFill>
                  <a:schemeClr val="tx1"/>
                </a:solidFill>
                <a:round/>
                <a:headEnd/>
                <a:tailEnd/>
              </a:ln>
            </p:spPr>
          </p:cxnSp>
          <p:cxnSp>
            <p:nvCxnSpPr>
              <p:cNvPr id="43042" name="Straight Connector 33">
                <a:extLst>
                  <a:ext uri="{FF2B5EF4-FFF2-40B4-BE49-F238E27FC236}">
                    <a16:creationId xmlns:a16="http://schemas.microsoft.com/office/drawing/2014/main" id="{8A0179AE-231E-4C38-B757-9ED8D8AEFEBF}"/>
                  </a:ext>
                </a:extLst>
              </p:cNvPr>
              <p:cNvCxnSpPr>
                <a:cxnSpLocks noChangeShapeType="1"/>
              </p:cNvCxnSpPr>
              <p:nvPr/>
            </p:nvCxnSpPr>
            <p:spPr bwMode="auto">
              <a:xfrm flipV="1">
                <a:off x="4879094" y="2581141"/>
                <a:ext cx="1143305" cy="0"/>
              </a:xfrm>
              <a:prstGeom prst="line">
                <a:avLst/>
              </a:prstGeom>
              <a:noFill/>
              <a:ln w="9525" algn="ctr">
                <a:solidFill>
                  <a:schemeClr val="tx1"/>
                </a:solidFill>
                <a:round/>
                <a:headEnd/>
                <a:tailEnd/>
              </a:ln>
            </p:spPr>
          </p:cxnSp>
          <p:sp>
            <p:nvSpPr>
              <p:cNvPr id="33" name="Rectangle 28">
                <a:extLst>
                  <a:ext uri="{FF2B5EF4-FFF2-40B4-BE49-F238E27FC236}">
                    <a16:creationId xmlns:a16="http://schemas.microsoft.com/office/drawing/2014/main" id="{98E299E0-29F1-4711-98BA-C7936815F927}"/>
                  </a:ext>
                </a:extLst>
              </p:cNvPr>
              <p:cNvSpPr/>
              <p:nvPr/>
            </p:nvSpPr>
            <p:spPr bwMode="auto">
              <a:xfrm>
                <a:off x="5202154" y="2372866"/>
                <a:ext cx="457442" cy="76264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34" name="Isosceles Triangle 29">
                <a:extLst>
                  <a:ext uri="{FF2B5EF4-FFF2-40B4-BE49-F238E27FC236}">
                    <a16:creationId xmlns:a16="http://schemas.microsoft.com/office/drawing/2014/main" id="{BFFB8345-2168-444B-8497-272F8BF916BE}"/>
                  </a:ext>
                </a:extLst>
              </p:cNvPr>
              <p:cNvSpPr/>
              <p:nvPr/>
            </p:nvSpPr>
            <p:spPr bwMode="auto">
              <a:xfrm rot="5400000">
                <a:off x="5164026" y="2945234"/>
                <a:ext cx="152271" cy="76014"/>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35" name="TextBox 34">
                <a:extLst>
                  <a:ext uri="{FF2B5EF4-FFF2-40B4-BE49-F238E27FC236}">
                    <a16:creationId xmlns:a16="http://schemas.microsoft.com/office/drawing/2014/main" id="{43DAA680-8F26-4BE8-8998-C88FA602AEA0}"/>
                  </a:ext>
                </a:extLst>
              </p:cNvPr>
              <p:cNvSpPr txBox="1"/>
              <p:nvPr/>
            </p:nvSpPr>
            <p:spPr>
              <a:xfrm>
                <a:off x="5164147" y="2438678"/>
                <a:ext cx="473150" cy="200146"/>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D     Q</a:t>
                </a:r>
              </a:p>
            </p:txBody>
          </p:sp>
          <p:sp>
            <p:nvSpPr>
              <p:cNvPr id="36" name="TextBox 35">
                <a:extLst>
                  <a:ext uri="{FF2B5EF4-FFF2-40B4-BE49-F238E27FC236}">
                    <a16:creationId xmlns:a16="http://schemas.microsoft.com/office/drawing/2014/main" id="{C13E8687-B776-4330-89DC-1A8EA2175BFE}"/>
                  </a:ext>
                </a:extLst>
              </p:cNvPr>
              <p:cNvSpPr txBox="1"/>
              <p:nvPr/>
            </p:nvSpPr>
            <p:spPr>
              <a:xfrm>
                <a:off x="5199440" y="2830970"/>
                <a:ext cx="412840" cy="225164"/>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grpSp>
        <p:grpSp>
          <p:nvGrpSpPr>
            <p:cNvPr id="43016" name="Группа 14">
              <a:extLst>
                <a:ext uri="{FF2B5EF4-FFF2-40B4-BE49-F238E27FC236}">
                  <a16:creationId xmlns:a16="http://schemas.microsoft.com/office/drawing/2014/main" id="{2A62966A-1C1A-4932-9C37-38C895E474EF}"/>
                </a:ext>
              </a:extLst>
            </p:cNvPr>
            <p:cNvGrpSpPr>
              <a:grpSpLocks/>
            </p:cNvGrpSpPr>
            <p:nvPr/>
          </p:nvGrpSpPr>
          <p:grpSpPr bwMode="auto">
            <a:xfrm>
              <a:off x="2000530" y="2215166"/>
              <a:ext cx="1143008" cy="285901"/>
              <a:chOff x="3388062" y="1785927"/>
              <a:chExt cx="1751382" cy="437844"/>
            </a:xfrm>
          </p:grpSpPr>
          <p:cxnSp>
            <p:nvCxnSpPr>
              <p:cNvPr id="43037" name="Прямая соединительная линия 19">
                <a:extLst>
                  <a:ext uri="{FF2B5EF4-FFF2-40B4-BE49-F238E27FC236}">
                    <a16:creationId xmlns:a16="http://schemas.microsoft.com/office/drawing/2014/main" id="{0C6F2AFB-3876-435F-8EE0-4AD7046D6321}"/>
                  </a:ext>
                </a:extLst>
              </p:cNvPr>
              <p:cNvCxnSpPr>
                <a:cxnSpLocks noChangeShapeType="1"/>
              </p:cNvCxnSpPr>
              <p:nvPr/>
            </p:nvCxnSpPr>
            <p:spPr bwMode="auto">
              <a:xfrm>
                <a:off x="4481755" y="2003946"/>
                <a:ext cx="657689" cy="0"/>
              </a:xfrm>
              <a:prstGeom prst="line">
                <a:avLst/>
              </a:prstGeom>
              <a:noFill/>
              <a:ln w="9525" algn="ctr">
                <a:solidFill>
                  <a:schemeClr val="tx1"/>
                </a:solidFill>
                <a:round/>
                <a:headEnd/>
                <a:tailEnd/>
              </a:ln>
            </p:spPr>
          </p:cxnSp>
          <p:cxnSp>
            <p:nvCxnSpPr>
              <p:cNvPr id="43038" name="Прямая соединительная линия 25">
                <a:extLst>
                  <a:ext uri="{FF2B5EF4-FFF2-40B4-BE49-F238E27FC236}">
                    <a16:creationId xmlns:a16="http://schemas.microsoft.com/office/drawing/2014/main" id="{CD5AFAF6-04E3-4FCC-92B0-86D8594F3A6C}"/>
                  </a:ext>
                </a:extLst>
              </p:cNvPr>
              <p:cNvCxnSpPr>
                <a:cxnSpLocks noChangeShapeType="1"/>
              </p:cNvCxnSpPr>
              <p:nvPr/>
            </p:nvCxnSpPr>
            <p:spPr bwMode="auto">
              <a:xfrm>
                <a:off x="3388062" y="2006333"/>
                <a:ext cx="533242" cy="0"/>
              </a:xfrm>
              <a:prstGeom prst="line">
                <a:avLst/>
              </a:prstGeom>
              <a:noFill/>
              <a:ln w="9525" algn="ctr">
                <a:solidFill>
                  <a:schemeClr val="tx1"/>
                </a:solidFill>
                <a:round/>
                <a:headEnd/>
                <a:tailEnd/>
              </a:ln>
            </p:spPr>
          </p:cxnSp>
          <p:sp>
            <p:nvSpPr>
              <p:cNvPr id="29" name="Isosceles Triangle 77">
                <a:extLst>
                  <a:ext uri="{FF2B5EF4-FFF2-40B4-BE49-F238E27FC236}">
                    <a16:creationId xmlns:a16="http://schemas.microsoft.com/office/drawing/2014/main" id="{D02FEBA7-50CD-43B7-82F4-61A7416743AE}"/>
                  </a:ext>
                </a:extLst>
              </p:cNvPr>
              <p:cNvSpPr/>
              <p:nvPr/>
            </p:nvSpPr>
            <p:spPr bwMode="auto">
              <a:xfrm rot="5400000">
                <a:off x="3930518" y="1783086"/>
                <a:ext cx="438724" cy="443014"/>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43040" name="Oval 23">
                <a:extLst>
                  <a:ext uri="{FF2B5EF4-FFF2-40B4-BE49-F238E27FC236}">
                    <a16:creationId xmlns:a16="http://schemas.microsoft.com/office/drawing/2014/main" id="{49100606-D5A5-4342-84D8-7F5B64E006ED}"/>
                  </a:ext>
                </a:extLst>
              </p:cNvPr>
              <p:cNvSpPr>
                <a:spLocks noChangeArrowheads="1"/>
              </p:cNvSpPr>
              <p:nvPr/>
            </p:nvSpPr>
            <p:spPr bwMode="auto">
              <a:xfrm>
                <a:off x="4375477" y="1950868"/>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43017" name="Прямоугольник 6">
              <a:extLst>
                <a:ext uri="{FF2B5EF4-FFF2-40B4-BE49-F238E27FC236}">
                  <a16:creationId xmlns:a16="http://schemas.microsoft.com/office/drawing/2014/main" id="{8613E049-D16C-4146-892B-D83D00A09457}"/>
                </a:ext>
              </a:extLst>
            </p:cNvPr>
            <p:cNvSpPr>
              <a:spLocks noChangeArrowheads="1"/>
            </p:cNvSpPr>
            <p:nvPr/>
          </p:nvSpPr>
          <p:spPr bwMode="auto">
            <a:xfrm>
              <a:off x="3143537" y="2071678"/>
              <a:ext cx="1500198" cy="1557348"/>
            </a:xfrm>
            <a:prstGeom prst="rect">
              <a:avLst/>
            </a:prstGeom>
            <a:solidFill>
              <a:schemeClr val="bg1"/>
            </a:solidFill>
            <a:ln w="19050" algn="ctr">
              <a:solidFill>
                <a:schemeClr val="accent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3018" name="Прямоугольник 7">
              <a:extLst>
                <a:ext uri="{FF2B5EF4-FFF2-40B4-BE49-F238E27FC236}">
                  <a16:creationId xmlns:a16="http://schemas.microsoft.com/office/drawing/2014/main" id="{A8721EED-08C2-4AAC-ACE7-F17173897429}"/>
                </a:ext>
              </a:extLst>
            </p:cNvPr>
            <p:cNvSpPr>
              <a:spLocks noChangeArrowheads="1"/>
            </p:cNvSpPr>
            <p:nvPr/>
          </p:nvSpPr>
          <p:spPr bwMode="auto">
            <a:xfrm>
              <a:off x="3081327" y="228599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3019" name="Прямоугольник 8">
              <a:extLst>
                <a:ext uri="{FF2B5EF4-FFF2-40B4-BE49-F238E27FC236}">
                  <a16:creationId xmlns:a16="http://schemas.microsoft.com/office/drawing/2014/main" id="{E87623A3-45D6-4901-B1CB-9AF63FE5575A}"/>
                </a:ext>
              </a:extLst>
            </p:cNvPr>
            <p:cNvSpPr>
              <a:spLocks noChangeArrowheads="1"/>
            </p:cNvSpPr>
            <p:nvPr/>
          </p:nvSpPr>
          <p:spPr bwMode="auto">
            <a:xfrm>
              <a:off x="3071802" y="300037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3020" name="Прямоугольник 9">
              <a:extLst>
                <a:ext uri="{FF2B5EF4-FFF2-40B4-BE49-F238E27FC236}">
                  <a16:creationId xmlns:a16="http://schemas.microsoft.com/office/drawing/2014/main" id="{A392C288-D9BE-4C9B-8936-28CFA8F2508A}"/>
                </a:ext>
              </a:extLst>
            </p:cNvPr>
            <p:cNvSpPr>
              <a:spLocks noChangeArrowheads="1"/>
            </p:cNvSpPr>
            <p:nvPr/>
          </p:nvSpPr>
          <p:spPr bwMode="auto">
            <a:xfrm>
              <a:off x="4572000" y="2285992"/>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43021" name="Straight Connector 56">
              <a:extLst>
                <a:ext uri="{FF2B5EF4-FFF2-40B4-BE49-F238E27FC236}">
                  <a16:creationId xmlns:a16="http://schemas.microsoft.com/office/drawing/2014/main" id="{3E542BFD-9A18-4F8F-BB04-1702AFF85E10}"/>
                </a:ext>
              </a:extLst>
            </p:cNvPr>
            <p:cNvCxnSpPr>
              <a:cxnSpLocks noChangeShapeType="1"/>
              <a:stCxn id="43020" idx="3"/>
            </p:cNvCxnSpPr>
            <p:nvPr/>
          </p:nvCxnSpPr>
          <p:spPr bwMode="auto">
            <a:xfrm>
              <a:off x="4714876" y="2357430"/>
              <a:ext cx="428628" cy="1"/>
            </a:xfrm>
            <a:prstGeom prst="line">
              <a:avLst/>
            </a:prstGeom>
            <a:noFill/>
            <a:ln w="9525" algn="ctr">
              <a:solidFill>
                <a:schemeClr val="tx1"/>
              </a:solidFill>
              <a:round/>
              <a:headEnd/>
              <a:tailEnd/>
            </a:ln>
          </p:spPr>
        </p:cxnSp>
        <p:sp>
          <p:nvSpPr>
            <p:cNvPr id="43022" name="Isosceles Triangle 57">
              <a:extLst>
                <a:ext uri="{FF2B5EF4-FFF2-40B4-BE49-F238E27FC236}">
                  <a16:creationId xmlns:a16="http://schemas.microsoft.com/office/drawing/2014/main" id="{DA08B7AD-8CC4-4253-9842-C306580C4019}"/>
                </a:ext>
              </a:extLst>
            </p:cNvPr>
            <p:cNvSpPr>
              <a:spLocks noChangeArrowheads="1"/>
            </p:cNvSpPr>
            <p:nvPr/>
          </p:nvSpPr>
          <p:spPr bwMode="auto">
            <a:xfrm rot="10800000">
              <a:off x="5099062" y="2785687"/>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3023" name="Straight Connector 58">
              <a:extLst>
                <a:ext uri="{FF2B5EF4-FFF2-40B4-BE49-F238E27FC236}">
                  <a16:creationId xmlns:a16="http://schemas.microsoft.com/office/drawing/2014/main" id="{8A810995-5E06-47D9-A416-1D86F88BBDB6}"/>
                </a:ext>
              </a:extLst>
            </p:cNvPr>
            <p:cNvCxnSpPr>
              <a:cxnSpLocks noChangeShapeType="1"/>
            </p:cNvCxnSpPr>
            <p:nvPr/>
          </p:nvCxnSpPr>
          <p:spPr bwMode="auto">
            <a:xfrm>
              <a:off x="5056434" y="2525002"/>
              <a:ext cx="170329" cy="0"/>
            </a:xfrm>
            <a:prstGeom prst="line">
              <a:avLst/>
            </a:prstGeom>
            <a:noFill/>
            <a:ln w="9525" algn="ctr">
              <a:solidFill>
                <a:schemeClr val="tx1"/>
              </a:solidFill>
              <a:round/>
              <a:headEnd/>
              <a:tailEnd/>
            </a:ln>
          </p:spPr>
        </p:cxnSp>
        <p:cxnSp>
          <p:nvCxnSpPr>
            <p:cNvPr id="43024" name="Straight Connector 59">
              <a:extLst>
                <a:ext uri="{FF2B5EF4-FFF2-40B4-BE49-F238E27FC236}">
                  <a16:creationId xmlns:a16="http://schemas.microsoft.com/office/drawing/2014/main" id="{53042764-FF87-4790-AFAF-BEAC69802498}"/>
                </a:ext>
              </a:extLst>
            </p:cNvPr>
            <p:cNvCxnSpPr>
              <a:cxnSpLocks noChangeShapeType="1"/>
            </p:cNvCxnSpPr>
            <p:nvPr/>
          </p:nvCxnSpPr>
          <p:spPr bwMode="auto">
            <a:xfrm>
              <a:off x="5056434" y="2577800"/>
              <a:ext cx="170329" cy="0"/>
            </a:xfrm>
            <a:prstGeom prst="line">
              <a:avLst/>
            </a:prstGeom>
            <a:noFill/>
            <a:ln w="9525" algn="ctr">
              <a:solidFill>
                <a:schemeClr val="tx1"/>
              </a:solidFill>
              <a:round/>
              <a:headEnd/>
              <a:tailEnd/>
            </a:ln>
          </p:spPr>
        </p:cxnSp>
        <p:cxnSp>
          <p:nvCxnSpPr>
            <p:cNvPr id="43025" name="Straight Connector 60">
              <a:extLst>
                <a:ext uri="{FF2B5EF4-FFF2-40B4-BE49-F238E27FC236}">
                  <a16:creationId xmlns:a16="http://schemas.microsoft.com/office/drawing/2014/main" id="{62D4FFE0-D1DA-49BF-A060-894FEDB08FD4}"/>
                </a:ext>
              </a:extLst>
            </p:cNvPr>
            <p:cNvCxnSpPr>
              <a:cxnSpLocks noChangeShapeType="1"/>
            </p:cNvCxnSpPr>
            <p:nvPr/>
          </p:nvCxnSpPr>
          <p:spPr bwMode="auto">
            <a:xfrm flipH="1">
              <a:off x="5141353" y="2583122"/>
              <a:ext cx="246" cy="200112"/>
            </a:xfrm>
            <a:prstGeom prst="line">
              <a:avLst/>
            </a:prstGeom>
            <a:noFill/>
            <a:ln w="9525" algn="ctr">
              <a:solidFill>
                <a:schemeClr val="tx1"/>
              </a:solidFill>
              <a:round/>
              <a:headEnd/>
              <a:tailEnd/>
            </a:ln>
          </p:spPr>
        </p:cxnSp>
        <p:cxnSp>
          <p:nvCxnSpPr>
            <p:cNvPr id="43026" name="Straight Connector 61">
              <a:extLst>
                <a:ext uri="{FF2B5EF4-FFF2-40B4-BE49-F238E27FC236}">
                  <a16:creationId xmlns:a16="http://schemas.microsoft.com/office/drawing/2014/main" id="{14876F7E-017B-4D81-9CF0-7FCB533D6A9B}"/>
                </a:ext>
              </a:extLst>
            </p:cNvPr>
            <p:cNvCxnSpPr>
              <a:cxnSpLocks noChangeShapeType="1"/>
            </p:cNvCxnSpPr>
            <p:nvPr/>
          </p:nvCxnSpPr>
          <p:spPr bwMode="auto">
            <a:xfrm rot="5400000">
              <a:off x="5056690" y="2443600"/>
              <a:ext cx="171592" cy="0"/>
            </a:xfrm>
            <a:prstGeom prst="line">
              <a:avLst/>
            </a:prstGeom>
            <a:noFill/>
            <a:ln w="9525" algn="ctr">
              <a:solidFill>
                <a:schemeClr val="tx1"/>
              </a:solidFill>
              <a:round/>
              <a:headEnd/>
              <a:tailEnd/>
            </a:ln>
          </p:spPr>
        </p:cxnSp>
        <p:sp>
          <p:nvSpPr>
            <p:cNvPr id="43027" name="Прямоугольник 16">
              <a:extLst>
                <a:ext uri="{FF2B5EF4-FFF2-40B4-BE49-F238E27FC236}">
                  <a16:creationId xmlns:a16="http://schemas.microsoft.com/office/drawing/2014/main" id="{BC8A4FCD-97A6-4AE1-93E3-2901BCED4830}"/>
                </a:ext>
              </a:extLst>
            </p:cNvPr>
            <p:cNvSpPr>
              <a:spLocks noChangeArrowheads="1"/>
            </p:cNvSpPr>
            <p:nvPr/>
          </p:nvSpPr>
          <p:spPr bwMode="auto">
            <a:xfrm>
              <a:off x="4572000" y="2857496"/>
              <a:ext cx="142876"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43028" name="Straight Connector 56">
              <a:extLst>
                <a:ext uri="{FF2B5EF4-FFF2-40B4-BE49-F238E27FC236}">
                  <a16:creationId xmlns:a16="http://schemas.microsoft.com/office/drawing/2014/main" id="{34C90A9E-D60B-41D3-8E7B-F9BF5BC2C2D5}"/>
                </a:ext>
              </a:extLst>
            </p:cNvPr>
            <p:cNvCxnSpPr>
              <a:cxnSpLocks noChangeShapeType="1"/>
              <a:stCxn id="43027" idx="3"/>
            </p:cNvCxnSpPr>
            <p:nvPr/>
          </p:nvCxnSpPr>
          <p:spPr bwMode="auto">
            <a:xfrm>
              <a:off x="4714876" y="2928934"/>
              <a:ext cx="214314" cy="1"/>
            </a:xfrm>
            <a:prstGeom prst="line">
              <a:avLst/>
            </a:prstGeom>
            <a:noFill/>
            <a:ln w="9525" algn="ctr">
              <a:solidFill>
                <a:schemeClr val="tx1"/>
              </a:solidFill>
              <a:round/>
              <a:headEnd/>
              <a:tailEnd/>
            </a:ln>
          </p:spPr>
        </p:cxnSp>
        <p:sp>
          <p:nvSpPr>
            <p:cNvPr id="43029" name="Isosceles Triangle 57">
              <a:extLst>
                <a:ext uri="{FF2B5EF4-FFF2-40B4-BE49-F238E27FC236}">
                  <a16:creationId xmlns:a16="http://schemas.microsoft.com/office/drawing/2014/main" id="{066EA197-1A38-4CCC-AB5C-4516C9616A33}"/>
                </a:ext>
              </a:extLst>
            </p:cNvPr>
            <p:cNvSpPr>
              <a:spLocks noChangeArrowheads="1"/>
            </p:cNvSpPr>
            <p:nvPr/>
          </p:nvSpPr>
          <p:spPr bwMode="auto">
            <a:xfrm rot="10800000">
              <a:off x="4881330" y="3352952"/>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43030" name="Straight Connector 58">
              <a:extLst>
                <a:ext uri="{FF2B5EF4-FFF2-40B4-BE49-F238E27FC236}">
                  <a16:creationId xmlns:a16="http://schemas.microsoft.com/office/drawing/2014/main" id="{11071BBF-0AD6-439A-815A-7FD957C98058}"/>
                </a:ext>
              </a:extLst>
            </p:cNvPr>
            <p:cNvCxnSpPr>
              <a:cxnSpLocks noChangeShapeType="1"/>
            </p:cNvCxnSpPr>
            <p:nvPr/>
          </p:nvCxnSpPr>
          <p:spPr bwMode="auto">
            <a:xfrm>
              <a:off x="4838702" y="3092267"/>
              <a:ext cx="170329" cy="0"/>
            </a:xfrm>
            <a:prstGeom prst="line">
              <a:avLst/>
            </a:prstGeom>
            <a:noFill/>
            <a:ln w="9525" algn="ctr">
              <a:solidFill>
                <a:schemeClr val="tx1"/>
              </a:solidFill>
              <a:round/>
              <a:headEnd/>
              <a:tailEnd/>
            </a:ln>
          </p:spPr>
        </p:cxnSp>
        <p:cxnSp>
          <p:nvCxnSpPr>
            <p:cNvPr id="43031" name="Straight Connector 59">
              <a:extLst>
                <a:ext uri="{FF2B5EF4-FFF2-40B4-BE49-F238E27FC236}">
                  <a16:creationId xmlns:a16="http://schemas.microsoft.com/office/drawing/2014/main" id="{11301B17-F450-4F73-8953-FE408433D5A1}"/>
                </a:ext>
              </a:extLst>
            </p:cNvPr>
            <p:cNvCxnSpPr>
              <a:cxnSpLocks noChangeShapeType="1"/>
            </p:cNvCxnSpPr>
            <p:nvPr/>
          </p:nvCxnSpPr>
          <p:spPr bwMode="auto">
            <a:xfrm>
              <a:off x="4838702" y="3145065"/>
              <a:ext cx="170329" cy="0"/>
            </a:xfrm>
            <a:prstGeom prst="line">
              <a:avLst/>
            </a:prstGeom>
            <a:noFill/>
            <a:ln w="9525" algn="ctr">
              <a:solidFill>
                <a:schemeClr val="tx1"/>
              </a:solidFill>
              <a:round/>
              <a:headEnd/>
              <a:tailEnd/>
            </a:ln>
          </p:spPr>
        </p:cxnSp>
        <p:cxnSp>
          <p:nvCxnSpPr>
            <p:cNvPr id="43032" name="Straight Connector 60">
              <a:extLst>
                <a:ext uri="{FF2B5EF4-FFF2-40B4-BE49-F238E27FC236}">
                  <a16:creationId xmlns:a16="http://schemas.microsoft.com/office/drawing/2014/main" id="{D50A0051-743A-4A76-AC6C-480BB48046FB}"/>
                </a:ext>
              </a:extLst>
            </p:cNvPr>
            <p:cNvCxnSpPr>
              <a:cxnSpLocks noChangeShapeType="1"/>
            </p:cNvCxnSpPr>
            <p:nvPr/>
          </p:nvCxnSpPr>
          <p:spPr bwMode="auto">
            <a:xfrm flipH="1">
              <a:off x="4923621" y="3150387"/>
              <a:ext cx="246" cy="200112"/>
            </a:xfrm>
            <a:prstGeom prst="line">
              <a:avLst/>
            </a:prstGeom>
            <a:noFill/>
            <a:ln w="9525" algn="ctr">
              <a:solidFill>
                <a:schemeClr val="tx1"/>
              </a:solidFill>
              <a:round/>
              <a:headEnd/>
              <a:tailEnd/>
            </a:ln>
          </p:spPr>
        </p:cxnSp>
        <p:cxnSp>
          <p:nvCxnSpPr>
            <p:cNvPr id="43033" name="Straight Connector 61">
              <a:extLst>
                <a:ext uri="{FF2B5EF4-FFF2-40B4-BE49-F238E27FC236}">
                  <a16:creationId xmlns:a16="http://schemas.microsoft.com/office/drawing/2014/main" id="{31F6710C-9D11-41A9-B1EB-12C01A4DF9A8}"/>
                </a:ext>
              </a:extLst>
            </p:cNvPr>
            <p:cNvCxnSpPr>
              <a:cxnSpLocks noChangeShapeType="1"/>
            </p:cNvCxnSpPr>
            <p:nvPr/>
          </p:nvCxnSpPr>
          <p:spPr bwMode="auto">
            <a:xfrm rot="5400000">
              <a:off x="4838958" y="3010865"/>
              <a:ext cx="171592" cy="0"/>
            </a:xfrm>
            <a:prstGeom prst="line">
              <a:avLst/>
            </a:prstGeom>
            <a:noFill/>
            <a:ln w="9525" algn="ctr">
              <a:solidFill>
                <a:schemeClr val="tx1"/>
              </a:solidFill>
              <a:round/>
              <a:headEnd/>
              <a:tailEnd/>
            </a:ln>
          </p:spPr>
        </p:cxnSp>
        <p:sp>
          <p:nvSpPr>
            <p:cNvPr id="43034" name="TextBox 23">
              <a:extLst>
                <a:ext uri="{FF2B5EF4-FFF2-40B4-BE49-F238E27FC236}">
                  <a16:creationId xmlns:a16="http://schemas.microsoft.com/office/drawing/2014/main" id="{78341E1A-2F03-4EAB-8914-D0BD4FEC2FE9}"/>
                </a:ext>
              </a:extLst>
            </p:cNvPr>
            <p:cNvSpPr txBox="1">
              <a:spLocks noChangeArrowheads="1"/>
            </p:cNvSpPr>
            <p:nvPr/>
          </p:nvSpPr>
          <p:spPr bwMode="auto">
            <a:xfrm>
              <a:off x="3286116" y="2214554"/>
              <a:ext cx="311412" cy="25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IN</a:t>
              </a:r>
              <a:endParaRPr lang="ru-RU" altLang="en-US" sz="1400"/>
            </a:p>
          </p:txBody>
        </p:sp>
        <p:sp>
          <p:nvSpPr>
            <p:cNvPr id="43035" name="TextBox 24">
              <a:extLst>
                <a:ext uri="{FF2B5EF4-FFF2-40B4-BE49-F238E27FC236}">
                  <a16:creationId xmlns:a16="http://schemas.microsoft.com/office/drawing/2014/main" id="{8E42003A-9348-4893-BE68-3FEE78D74C23}"/>
                </a:ext>
              </a:extLst>
            </p:cNvPr>
            <p:cNvSpPr txBox="1">
              <a:spLocks noChangeArrowheads="1"/>
            </p:cNvSpPr>
            <p:nvPr/>
          </p:nvSpPr>
          <p:spPr bwMode="auto">
            <a:xfrm>
              <a:off x="4000496" y="2214554"/>
              <a:ext cx="481373" cy="25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OUT</a:t>
              </a:r>
              <a:endParaRPr lang="ru-RU" altLang="en-US" sz="1400"/>
            </a:p>
          </p:txBody>
        </p:sp>
        <p:sp>
          <p:nvSpPr>
            <p:cNvPr id="43036" name="TextBox 25">
              <a:extLst>
                <a:ext uri="{FF2B5EF4-FFF2-40B4-BE49-F238E27FC236}">
                  <a16:creationId xmlns:a16="http://schemas.microsoft.com/office/drawing/2014/main" id="{8BB5D16B-B0A5-4462-8599-8BB2FDF0DDE5}"/>
                </a:ext>
              </a:extLst>
            </p:cNvPr>
            <p:cNvSpPr txBox="1">
              <a:spLocks noChangeArrowheads="1"/>
            </p:cNvSpPr>
            <p:nvPr/>
          </p:nvSpPr>
          <p:spPr bwMode="auto">
            <a:xfrm>
              <a:off x="3357554" y="1643050"/>
              <a:ext cx="771951" cy="3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Design</a:t>
              </a:r>
              <a:endParaRPr lang="ru-RU" altLang="en-US" sz="1800"/>
            </a:p>
          </p:txBody>
        </p:sp>
      </p:grpSp>
      <p:sp>
        <p:nvSpPr>
          <p:cNvPr id="37" name="TextBox 36">
            <a:extLst>
              <a:ext uri="{FF2B5EF4-FFF2-40B4-BE49-F238E27FC236}">
                <a16:creationId xmlns:a16="http://schemas.microsoft.com/office/drawing/2014/main" id="{A6C4C796-17F6-43F6-8FC5-526229EFA9D7}"/>
              </a:ext>
            </a:extLst>
          </p:cNvPr>
          <p:cNvSpPr txBox="1"/>
          <p:nvPr/>
        </p:nvSpPr>
        <p:spPr>
          <a:xfrm>
            <a:off x="7263961" y="3563038"/>
            <a:ext cx="336550" cy="254000"/>
          </a:xfrm>
          <a:prstGeom prst="rect">
            <a:avLst/>
          </a:prstGeom>
          <a:noFill/>
        </p:spPr>
        <p:txBody>
          <a:bodyPr wrap="none">
            <a:spAutoFit/>
          </a:bodyPr>
          <a:lstStyle/>
          <a:p>
            <a:pPr eaLnBrk="1" hangingPunct="1">
              <a:defRPr/>
            </a:pPr>
            <a:r>
              <a:rPr lang="en-US" sz="1050" dirty="0">
                <a:latin typeface="Arial" charset="0"/>
                <a:cs typeface="Arial" charset="0"/>
              </a:rPr>
              <a:t>20</a:t>
            </a:r>
          </a:p>
        </p:txBody>
      </p:sp>
      <p:sp>
        <p:nvSpPr>
          <p:cNvPr id="38" name="TextBox 37">
            <a:extLst>
              <a:ext uri="{FF2B5EF4-FFF2-40B4-BE49-F238E27FC236}">
                <a16:creationId xmlns:a16="http://schemas.microsoft.com/office/drawing/2014/main" id="{3D942E15-E1D6-4376-B4F6-F00C457F3498}"/>
              </a:ext>
            </a:extLst>
          </p:cNvPr>
          <p:cNvSpPr txBox="1"/>
          <p:nvPr/>
        </p:nvSpPr>
        <p:spPr>
          <a:xfrm>
            <a:off x="7030599" y="4202801"/>
            <a:ext cx="334963" cy="254000"/>
          </a:xfrm>
          <a:prstGeom prst="rect">
            <a:avLst/>
          </a:prstGeom>
          <a:noFill/>
        </p:spPr>
        <p:txBody>
          <a:bodyPr wrap="none">
            <a:spAutoFit/>
          </a:bodyPr>
          <a:lstStyle/>
          <a:p>
            <a:pPr eaLnBrk="1" hangingPunct="1">
              <a:defRPr/>
            </a:pPr>
            <a:r>
              <a:rPr lang="en-US" sz="1050" dirty="0">
                <a:latin typeface="Arial" charset="0"/>
                <a:cs typeface="Arial" charset="0"/>
              </a:rPr>
              <a:t>20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05C57473-E519-4682-982C-4A27B7F6A3F9}"/>
              </a:ext>
            </a:extLst>
          </p:cNvPr>
          <p:cNvSpPr>
            <a:spLocks noGrp="1"/>
          </p:cNvSpPr>
          <p:nvPr>
            <p:ph type="title"/>
          </p:nvPr>
        </p:nvSpPr>
        <p:spPr/>
        <p:txBody>
          <a:bodyPr/>
          <a:lstStyle/>
          <a:p>
            <a:r>
              <a:rPr lang="en-US" altLang="en-US"/>
              <a:t>Design Rule Checks</a:t>
            </a:r>
          </a:p>
        </p:txBody>
      </p:sp>
      <p:sp>
        <p:nvSpPr>
          <p:cNvPr id="44035" name="Content Placeholder 2">
            <a:extLst>
              <a:ext uri="{FF2B5EF4-FFF2-40B4-BE49-F238E27FC236}">
                <a16:creationId xmlns:a16="http://schemas.microsoft.com/office/drawing/2014/main" id="{7F42C249-CE6B-40EC-B911-D3DDBD125A05}"/>
              </a:ext>
            </a:extLst>
          </p:cNvPr>
          <p:cNvSpPr>
            <a:spLocks noGrp="1"/>
          </p:cNvSpPr>
          <p:nvPr>
            <p:ph type="body" sz="quarter" idx="10"/>
          </p:nvPr>
        </p:nvSpPr>
        <p:spPr/>
        <p:txBody>
          <a:bodyPr/>
          <a:lstStyle/>
          <a:p>
            <a:r>
              <a:rPr lang="en-US" altLang="en-US" dirty="0"/>
              <a:t>Rules for all ports and pins in the design to meet transition time and capacitance limits:</a:t>
            </a:r>
          </a:p>
          <a:p>
            <a:pPr lvl="1"/>
            <a:r>
              <a:rPr lang="en-US" altLang="en-US" dirty="0"/>
              <a:t>Maximum transition</a:t>
            </a:r>
          </a:p>
          <a:p>
            <a:pPr lvl="1"/>
            <a:r>
              <a:rPr lang="en-US" altLang="en-US" dirty="0"/>
              <a:t>Maximum capacitance	</a:t>
            </a:r>
          </a:p>
        </p:txBody>
      </p:sp>
      <p:sp>
        <p:nvSpPr>
          <p:cNvPr id="6" name="TextBox 5">
            <a:extLst>
              <a:ext uri="{FF2B5EF4-FFF2-40B4-BE49-F238E27FC236}">
                <a16:creationId xmlns:a16="http://schemas.microsoft.com/office/drawing/2014/main" id="{61BB0989-8974-4354-86F0-E80CFE686800}"/>
              </a:ext>
            </a:extLst>
          </p:cNvPr>
          <p:cNvSpPr txBox="1"/>
          <p:nvPr/>
        </p:nvSpPr>
        <p:spPr>
          <a:xfrm>
            <a:off x="2514601" y="4019550"/>
            <a:ext cx="5699125" cy="647700"/>
          </a:xfrm>
          <a:prstGeom prst="rect">
            <a:avLst/>
          </a:prstGeom>
          <a:solidFill>
            <a:schemeClr val="accent1">
              <a:lumMod val="20000"/>
              <a:lumOff val="80000"/>
            </a:schemeClr>
          </a:solidFill>
          <a:ln w="28575">
            <a:solidFill>
              <a:schemeClr val="accent1">
                <a:lumMod val="75000"/>
              </a:schemeClr>
            </a:solidFill>
          </a:ln>
        </p:spPr>
        <p:txBody>
          <a:bodyPr wrap="none">
            <a:spAutoFit/>
          </a:bodyPr>
          <a:lstStyle/>
          <a:p>
            <a:pPr eaLnBrk="1" hangingPunct="1">
              <a:defRPr/>
            </a:pPr>
            <a:r>
              <a:rPr lang="en-US" dirty="0" err="1">
                <a:solidFill>
                  <a:srgbClr val="0000FF"/>
                </a:solidFill>
                <a:latin typeface="Courier New" pitchFamily="49" charset="0"/>
                <a:cs typeface="Courier New" pitchFamily="49" charset="0"/>
              </a:rPr>
              <a:t>set_max_transition</a:t>
            </a:r>
            <a:r>
              <a:rPr lang="en-US" dirty="0">
                <a:solidFill>
                  <a:srgbClr val="0000FF"/>
                </a:solidFill>
                <a:latin typeface="Courier New" pitchFamily="49" charset="0"/>
                <a:cs typeface="Courier New" pitchFamily="49" charset="0"/>
              </a:rPr>
              <a:t> 0.3 [</a:t>
            </a:r>
            <a:r>
              <a:rPr lang="en-US" dirty="0" err="1">
                <a:solidFill>
                  <a:srgbClr val="0000FF"/>
                </a:solidFill>
                <a:latin typeface="Courier New" pitchFamily="49" charset="0"/>
                <a:cs typeface="Courier New" pitchFamily="49" charset="0"/>
              </a:rPr>
              <a:t>current_design</a:t>
            </a:r>
            <a:r>
              <a:rPr lang="en-US" dirty="0">
                <a:solidFill>
                  <a:srgbClr val="0000FF"/>
                </a:solidFill>
                <a:latin typeface="Courier New" pitchFamily="49" charset="0"/>
                <a:cs typeface="Courier New" pitchFamily="49" charset="0"/>
              </a:rPr>
              <a:t>]</a:t>
            </a:r>
          </a:p>
          <a:p>
            <a:pPr eaLnBrk="1" hangingPunct="1">
              <a:defRPr/>
            </a:pPr>
            <a:r>
              <a:rPr lang="en-US" dirty="0" err="1">
                <a:solidFill>
                  <a:srgbClr val="0000FF"/>
                </a:solidFill>
                <a:latin typeface="Courier New" pitchFamily="49" charset="0"/>
                <a:cs typeface="Courier New" pitchFamily="49" charset="0"/>
              </a:rPr>
              <a:t>set_max_capacitance</a:t>
            </a:r>
            <a:r>
              <a:rPr lang="en-US" dirty="0">
                <a:solidFill>
                  <a:srgbClr val="0000FF"/>
                </a:solidFill>
                <a:latin typeface="Courier New" pitchFamily="49" charset="0"/>
                <a:cs typeface="Courier New" pitchFamily="49" charset="0"/>
              </a:rPr>
              <a:t> 0.7 [</a:t>
            </a:r>
            <a:r>
              <a:rPr lang="en-US" dirty="0" err="1">
                <a:solidFill>
                  <a:srgbClr val="0000FF"/>
                </a:solidFill>
                <a:latin typeface="Courier New" pitchFamily="49" charset="0"/>
                <a:cs typeface="Courier New" pitchFamily="49" charset="0"/>
              </a:rPr>
              <a:t>current_design</a:t>
            </a:r>
            <a:r>
              <a:rPr lang="en-US" dirty="0">
                <a:solidFill>
                  <a:srgbClr val="0000FF"/>
                </a:solidFill>
                <a:latin typeface="Courier New" pitchFamily="49" charset="0"/>
                <a:cs typeface="Courier New" pitchFamily="49"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4">
            <a:extLst>
              <a:ext uri="{FF2B5EF4-FFF2-40B4-BE49-F238E27FC236}">
                <a16:creationId xmlns:a16="http://schemas.microsoft.com/office/drawing/2014/main" id="{F5347CDE-02ED-477F-AA30-8552D9BCE708}"/>
              </a:ext>
            </a:extLst>
          </p:cNvPr>
          <p:cNvSpPr>
            <a:spLocks noGrp="1" noChangeArrowheads="1"/>
          </p:cNvSpPr>
          <p:nvPr>
            <p:ph type="title"/>
          </p:nvPr>
        </p:nvSpPr>
        <p:spPr/>
        <p:txBody>
          <a:bodyPr/>
          <a:lstStyle/>
          <a:p>
            <a:r>
              <a:rPr lang="en-US" altLang="en-US"/>
              <a:t>Combinational Designs</a:t>
            </a:r>
          </a:p>
        </p:txBody>
      </p:sp>
      <p:sp>
        <p:nvSpPr>
          <p:cNvPr id="45059" name="Content Placeholder 116">
            <a:extLst>
              <a:ext uri="{FF2B5EF4-FFF2-40B4-BE49-F238E27FC236}">
                <a16:creationId xmlns:a16="http://schemas.microsoft.com/office/drawing/2014/main" id="{5137ED0A-F42F-424E-8739-B24371456AAA}"/>
              </a:ext>
            </a:extLst>
          </p:cNvPr>
          <p:cNvSpPr>
            <a:spLocks noGrp="1"/>
          </p:cNvSpPr>
          <p:nvPr>
            <p:ph type="body" sz="quarter" idx="10"/>
          </p:nvPr>
        </p:nvSpPr>
        <p:spPr/>
        <p:txBody>
          <a:bodyPr/>
          <a:lstStyle/>
          <a:p>
            <a:r>
              <a:rPr lang="en-US" altLang="en-US" sz="2800"/>
              <a:t>Sometimes the design is a combinational circuit</a:t>
            </a:r>
          </a:p>
          <a:p>
            <a:r>
              <a:rPr lang="en-US" altLang="en-US" sz="2800"/>
              <a:t>No clock to constraint timing</a:t>
            </a:r>
          </a:p>
        </p:txBody>
      </p:sp>
      <p:sp>
        <p:nvSpPr>
          <p:cNvPr id="56" name="Rounded Rectangle 55">
            <a:extLst>
              <a:ext uri="{FF2B5EF4-FFF2-40B4-BE49-F238E27FC236}">
                <a16:creationId xmlns:a16="http://schemas.microsoft.com/office/drawing/2014/main" id="{D882B907-FD8D-4C47-81B7-93763FFD559B}"/>
              </a:ext>
            </a:extLst>
          </p:cNvPr>
          <p:cNvSpPr/>
          <p:nvPr/>
        </p:nvSpPr>
        <p:spPr bwMode="auto">
          <a:xfrm>
            <a:off x="3994151" y="3617914"/>
            <a:ext cx="4568825" cy="1411287"/>
          </a:xfrm>
          <a:prstGeom prst="roundRect">
            <a:avLst>
              <a:gd name="adj" fmla="val 3788"/>
            </a:avLst>
          </a:prstGeom>
          <a:solidFill>
            <a:schemeClr val="accent1">
              <a:lumMod val="20000"/>
              <a:lumOff val="80000"/>
            </a:schemeClr>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endParaRPr lang="en-US" sz="1400">
              <a:solidFill>
                <a:schemeClr val="tx1"/>
              </a:solidFill>
            </a:endParaRPr>
          </a:p>
        </p:txBody>
      </p:sp>
      <p:sp>
        <p:nvSpPr>
          <p:cNvPr id="45061" name="TextBox 825">
            <a:extLst>
              <a:ext uri="{FF2B5EF4-FFF2-40B4-BE49-F238E27FC236}">
                <a16:creationId xmlns:a16="http://schemas.microsoft.com/office/drawing/2014/main" id="{F16317DB-CBED-46C6-B42B-7DA8AEC39639}"/>
              </a:ext>
            </a:extLst>
          </p:cNvPr>
          <p:cNvSpPr txBox="1">
            <a:spLocks noChangeArrowheads="1"/>
          </p:cNvSpPr>
          <p:nvPr/>
        </p:nvSpPr>
        <p:spPr bwMode="auto">
          <a:xfrm>
            <a:off x="5357814" y="3581401"/>
            <a:ext cx="18811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Circuit under design</a:t>
            </a:r>
          </a:p>
        </p:txBody>
      </p:sp>
      <p:sp>
        <p:nvSpPr>
          <p:cNvPr id="45062" name="Rectangle 826">
            <a:extLst>
              <a:ext uri="{FF2B5EF4-FFF2-40B4-BE49-F238E27FC236}">
                <a16:creationId xmlns:a16="http://schemas.microsoft.com/office/drawing/2014/main" id="{15514B34-FA64-4D59-8450-42D253DCA2E1}"/>
              </a:ext>
            </a:extLst>
          </p:cNvPr>
          <p:cNvSpPr>
            <a:spLocks noChangeArrowheads="1"/>
          </p:cNvSpPr>
          <p:nvPr/>
        </p:nvSpPr>
        <p:spPr bwMode="auto">
          <a:xfrm>
            <a:off x="3935414" y="4302126"/>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5063" name="Rectangle 827">
            <a:extLst>
              <a:ext uri="{FF2B5EF4-FFF2-40B4-BE49-F238E27FC236}">
                <a16:creationId xmlns:a16="http://schemas.microsoft.com/office/drawing/2014/main" id="{A2E639DF-4605-4F58-999A-47C4433C32F9}"/>
              </a:ext>
            </a:extLst>
          </p:cNvPr>
          <p:cNvSpPr>
            <a:spLocks noChangeArrowheads="1"/>
          </p:cNvSpPr>
          <p:nvPr/>
        </p:nvSpPr>
        <p:spPr bwMode="auto">
          <a:xfrm>
            <a:off x="8486776" y="4267201"/>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cxnSp>
        <p:nvCxnSpPr>
          <p:cNvPr id="82" name="Straight Connector 81">
            <a:extLst>
              <a:ext uri="{FF2B5EF4-FFF2-40B4-BE49-F238E27FC236}">
                <a16:creationId xmlns:a16="http://schemas.microsoft.com/office/drawing/2014/main" id="{2237335D-2090-4CD8-A267-4483B252A247}"/>
              </a:ext>
            </a:extLst>
          </p:cNvPr>
          <p:cNvCxnSpPr>
            <a:endCxn id="45062" idx="1"/>
          </p:cNvCxnSpPr>
          <p:nvPr/>
        </p:nvCxnSpPr>
        <p:spPr bwMode="auto">
          <a:xfrm flipV="1">
            <a:off x="3700463" y="4360863"/>
            <a:ext cx="234950"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8" name="Cloud 87">
            <a:extLst>
              <a:ext uri="{FF2B5EF4-FFF2-40B4-BE49-F238E27FC236}">
                <a16:creationId xmlns:a16="http://schemas.microsoft.com/office/drawing/2014/main" id="{53F7C787-8F0D-4EBB-9C59-09FBBCC99F08}"/>
              </a:ext>
            </a:extLst>
          </p:cNvPr>
          <p:cNvSpPr/>
          <p:nvPr/>
        </p:nvSpPr>
        <p:spPr bwMode="auto">
          <a:xfrm>
            <a:off x="5029200" y="3886200"/>
            <a:ext cx="2438400" cy="914400"/>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600" dirty="0">
                <a:solidFill>
                  <a:schemeClr val="bg1"/>
                </a:solidFill>
                <a:latin typeface="Arial" charset="0"/>
                <a:cs typeface="Arial" charset="0"/>
              </a:rPr>
              <a:t>Combinational Logic</a:t>
            </a:r>
          </a:p>
        </p:txBody>
      </p:sp>
      <p:cxnSp>
        <p:nvCxnSpPr>
          <p:cNvPr id="90" name="Straight Connector 89">
            <a:extLst>
              <a:ext uri="{FF2B5EF4-FFF2-40B4-BE49-F238E27FC236}">
                <a16:creationId xmlns:a16="http://schemas.microsoft.com/office/drawing/2014/main" id="{26509626-A1F9-4CA0-A296-E86D1B5FCF1D}"/>
              </a:ext>
            </a:extLst>
          </p:cNvPr>
          <p:cNvCxnSpPr>
            <a:stCxn id="88" idx="0"/>
            <a:endCxn id="45063" idx="1"/>
          </p:cNvCxnSpPr>
          <p:nvPr/>
        </p:nvCxnSpPr>
        <p:spPr bwMode="auto">
          <a:xfrm flipV="1">
            <a:off x="7466013" y="4325938"/>
            <a:ext cx="1020762"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8E59347C-2160-425A-BB49-92B25D3B00DD}"/>
              </a:ext>
            </a:extLst>
          </p:cNvPr>
          <p:cNvCxnSpPr>
            <a:stCxn id="88" idx="2"/>
            <a:endCxn id="45062" idx="3"/>
          </p:cNvCxnSpPr>
          <p:nvPr/>
        </p:nvCxnSpPr>
        <p:spPr bwMode="auto">
          <a:xfrm rot="10800000" flipV="1">
            <a:off x="4052888" y="4360863"/>
            <a:ext cx="98425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4">
            <a:extLst>
              <a:ext uri="{FF2B5EF4-FFF2-40B4-BE49-F238E27FC236}">
                <a16:creationId xmlns:a16="http://schemas.microsoft.com/office/drawing/2014/main" id="{9391B488-F1C6-441B-9C6B-2F729B766900}"/>
              </a:ext>
            </a:extLst>
          </p:cNvPr>
          <p:cNvSpPr>
            <a:spLocks noGrp="1" noChangeArrowheads="1"/>
          </p:cNvSpPr>
          <p:nvPr>
            <p:ph type="title"/>
          </p:nvPr>
        </p:nvSpPr>
        <p:spPr/>
        <p:txBody>
          <a:bodyPr/>
          <a:lstStyle/>
          <a:p>
            <a:r>
              <a:rPr lang="en-US" altLang="en-US"/>
              <a:t>Combinational Designs</a:t>
            </a:r>
          </a:p>
        </p:txBody>
      </p:sp>
      <p:sp>
        <p:nvSpPr>
          <p:cNvPr id="47107" name="Content Placeholder 120">
            <a:extLst>
              <a:ext uri="{FF2B5EF4-FFF2-40B4-BE49-F238E27FC236}">
                <a16:creationId xmlns:a16="http://schemas.microsoft.com/office/drawing/2014/main" id="{1ED0D200-19AA-4A63-B1B7-E47C69FAC2AB}"/>
              </a:ext>
            </a:extLst>
          </p:cNvPr>
          <p:cNvSpPr>
            <a:spLocks noGrp="1"/>
          </p:cNvSpPr>
          <p:nvPr>
            <p:ph type="body" sz="quarter" idx="10"/>
          </p:nvPr>
        </p:nvSpPr>
        <p:spPr/>
        <p:txBody>
          <a:bodyPr/>
          <a:lstStyle/>
          <a:p>
            <a:r>
              <a:rPr lang="en-US" altLang="en-US" sz="1800"/>
              <a:t>Combinational circuit is put in the same clocked environment as the clocked one</a:t>
            </a:r>
          </a:p>
          <a:p>
            <a:r>
              <a:rPr lang="en-US" altLang="en-US" sz="1800"/>
              <a:t>An abstract clock called </a:t>
            </a:r>
            <a:r>
              <a:rPr lang="en-US" altLang="en-US" sz="1800">
                <a:solidFill>
                  <a:srgbClr val="0000FF"/>
                </a:solidFill>
              </a:rPr>
              <a:t>“Virtual clock” </a:t>
            </a:r>
            <a:r>
              <a:rPr lang="en-US" altLang="en-US" sz="1800"/>
              <a:t>is defined for this environment</a:t>
            </a:r>
          </a:p>
          <a:p>
            <a:r>
              <a:rPr lang="en-US" altLang="en-US" sz="1800"/>
              <a:t>By setting correct clock period, input/output delays of the combinational logic can be controlled </a:t>
            </a:r>
          </a:p>
        </p:txBody>
      </p:sp>
      <p:grpSp>
        <p:nvGrpSpPr>
          <p:cNvPr id="2" name="Group 327">
            <a:extLst>
              <a:ext uri="{FF2B5EF4-FFF2-40B4-BE49-F238E27FC236}">
                <a16:creationId xmlns:a16="http://schemas.microsoft.com/office/drawing/2014/main" id="{4FC71F13-6E73-4044-BAB6-48B4361A800E}"/>
              </a:ext>
            </a:extLst>
          </p:cNvPr>
          <p:cNvGrpSpPr/>
          <p:nvPr/>
        </p:nvGrpSpPr>
        <p:grpSpPr>
          <a:xfrm>
            <a:off x="2279476" y="3687525"/>
            <a:ext cx="539479" cy="803841"/>
            <a:chOff x="3352800" y="3429000"/>
            <a:chExt cx="914400" cy="1362489"/>
          </a:xfrm>
          <a:noFill/>
        </p:grpSpPr>
        <p:sp>
          <p:nvSpPr>
            <p:cNvPr id="69" name="Rectangle 68">
              <a:extLst>
                <a:ext uri="{FF2B5EF4-FFF2-40B4-BE49-F238E27FC236}">
                  <a16:creationId xmlns:a16="http://schemas.microsoft.com/office/drawing/2014/main" id="{8EB0E3AF-354C-4F2A-B813-BE99C535CEE8}"/>
                </a:ext>
              </a:extLst>
            </p:cNvPr>
            <p:cNvSpPr/>
            <p:nvPr/>
          </p:nvSpPr>
          <p:spPr bwMode="auto">
            <a:xfrm>
              <a:off x="3352800" y="3429000"/>
              <a:ext cx="914400" cy="1295400"/>
            </a:xfrm>
            <a:prstGeom prst="rect">
              <a:avLst/>
            </a:prstGeom>
            <a:grpFill/>
            <a:ln w="9525" cap="flat" cmpd="sng" algn="ctr">
              <a:solidFill>
                <a:schemeClr val="tx1"/>
              </a:solidFill>
              <a:prstDash val="dash"/>
              <a:round/>
              <a:headEnd type="none" w="med" len="med"/>
              <a:tailEnd type="none" w="med" len="med"/>
            </a:ln>
            <a:effectLst/>
          </p:spPr>
          <p:txBody>
            <a:bodyPr anchor="ctr"/>
            <a:lstStyle/>
            <a:p>
              <a:pPr eaLnBrk="1" hangingPunct="1">
                <a:defRPr/>
              </a:pPr>
              <a:endParaRPr lang="en-US" sz="1200">
                <a:latin typeface="Arial" charset="0"/>
                <a:cs typeface="Arial" charset="0"/>
              </a:endParaRPr>
            </a:p>
          </p:txBody>
        </p:sp>
        <p:sp>
          <p:nvSpPr>
            <p:cNvPr id="70" name="Isosceles Triangle 69">
              <a:extLst>
                <a:ext uri="{FF2B5EF4-FFF2-40B4-BE49-F238E27FC236}">
                  <a16:creationId xmlns:a16="http://schemas.microsoft.com/office/drawing/2014/main" id="{AD74ABEB-528F-4A2E-BD68-91302F3D4DA5}"/>
                </a:ext>
              </a:extLst>
            </p:cNvPr>
            <p:cNvSpPr/>
            <p:nvPr/>
          </p:nvSpPr>
          <p:spPr bwMode="auto">
            <a:xfrm rot="5400000">
              <a:off x="3390900" y="4381500"/>
              <a:ext cx="152400" cy="2286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200" dirty="0">
                <a:latin typeface="Arial" charset="0"/>
                <a:cs typeface="Arial" charset="0"/>
              </a:endParaRPr>
            </a:p>
          </p:txBody>
        </p:sp>
        <p:sp>
          <p:nvSpPr>
            <p:cNvPr id="71" name="TextBox 70">
              <a:extLst>
                <a:ext uri="{FF2B5EF4-FFF2-40B4-BE49-F238E27FC236}">
                  <a16:creationId xmlns:a16="http://schemas.microsoft.com/office/drawing/2014/main" id="{4295713B-EA48-40FA-BCF3-0A35C9716FE4}"/>
                </a:ext>
              </a:extLst>
            </p:cNvPr>
            <p:cNvSpPr txBox="1"/>
            <p:nvPr/>
          </p:nvSpPr>
          <p:spPr>
            <a:xfrm>
              <a:off x="3352801" y="3581400"/>
              <a:ext cx="228601" cy="430381"/>
            </a:xfrm>
            <a:prstGeom prst="rect">
              <a:avLst/>
            </a:prstGeom>
            <a:grpFill/>
          </p:spPr>
          <p:txBody>
            <a:bodyPr>
              <a:spAutoFit/>
            </a:bodyPr>
            <a:lstStyle/>
            <a:p>
              <a:pPr algn="ctr" eaLnBrk="1" hangingPunct="1">
                <a:defRPr/>
              </a:pPr>
              <a:r>
                <a:rPr lang="en-US" sz="1000" dirty="0">
                  <a:latin typeface="Arial" charset="0"/>
                  <a:cs typeface="Arial" charset="0"/>
                </a:rPr>
                <a:t>D</a:t>
              </a:r>
            </a:p>
          </p:txBody>
        </p:sp>
        <p:sp>
          <p:nvSpPr>
            <p:cNvPr id="72" name="TextBox 71">
              <a:extLst>
                <a:ext uri="{FF2B5EF4-FFF2-40B4-BE49-F238E27FC236}">
                  <a16:creationId xmlns:a16="http://schemas.microsoft.com/office/drawing/2014/main" id="{043C1253-8F97-40FA-B075-B6C4CCE8AB0F}"/>
                </a:ext>
              </a:extLst>
            </p:cNvPr>
            <p:cNvSpPr txBox="1"/>
            <p:nvPr/>
          </p:nvSpPr>
          <p:spPr>
            <a:xfrm>
              <a:off x="3974018" y="3565259"/>
              <a:ext cx="228600" cy="430381"/>
            </a:xfrm>
            <a:prstGeom prst="rect">
              <a:avLst/>
            </a:prstGeom>
            <a:grpFill/>
          </p:spPr>
          <p:txBody>
            <a:bodyPr>
              <a:spAutoFit/>
            </a:bodyPr>
            <a:lstStyle/>
            <a:p>
              <a:pPr eaLnBrk="1" hangingPunct="1">
                <a:defRPr/>
              </a:pPr>
              <a:r>
                <a:rPr lang="en-US" sz="1000" dirty="0">
                  <a:latin typeface="Arial" charset="0"/>
                  <a:cs typeface="Arial" charset="0"/>
                </a:rPr>
                <a:t>Q</a:t>
              </a:r>
            </a:p>
          </p:txBody>
        </p:sp>
        <p:sp>
          <p:nvSpPr>
            <p:cNvPr id="73" name="TextBox 72">
              <a:extLst>
                <a:ext uri="{FF2B5EF4-FFF2-40B4-BE49-F238E27FC236}">
                  <a16:creationId xmlns:a16="http://schemas.microsoft.com/office/drawing/2014/main" id="{3F247182-BADC-427F-87F9-AA6228F090DC}"/>
                </a:ext>
              </a:extLst>
            </p:cNvPr>
            <p:cNvSpPr txBox="1"/>
            <p:nvPr/>
          </p:nvSpPr>
          <p:spPr>
            <a:xfrm>
              <a:off x="3412029" y="4361108"/>
              <a:ext cx="851547" cy="430381"/>
            </a:xfrm>
            <a:prstGeom prst="rect">
              <a:avLst/>
            </a:prstGeom>
            <a:grpFill/>
          </p:spPr>
          <p:txBody>
            <a:bodyPr>
              <a:spAutoFit/>
            </a:bodyPr>
            <a:lstStyle/>
            <a:p>
              <a:pPr eaLnBrk="1" hangingPunct="1">
                <a:defRPr/>
              </a:pPr>
              <a:r>
                <a:rPr lang="en-US" sz="1000" dirty="0">
                  <a:latin typeface="Arial" charset="0"/>
                  <a:cs typeface="Arial" charset="0"/>
                </a:rPr>
                <a:t>CLK</a:t>
              </a:r>
            </a:p>
          </p:txBody>
        </p:sp>
        <p:sp>
          <p:nvSpPr>
            <p:cNvPr id="74" name="TextBox 73">
              <a:extLst>
                <a:ext uri="{FF2B5EF4-FFF2-40B4-BE49-F238E27FC236}">
                  <a16:creationId xmlns:a16="http://schemas.microsoft.com/office/drawing/2014/main" id="{39C24B1D-1679-4413-8745-01D13A32E1EF}"/>
                </a:ext>
              </a:extLst>
            </p:cNvPr>
            <p:cNvSpPr txBox="1"/>
            <p:nvPr/>
          </p:nvSpPr>
          <p:spPr>
            <a:xfrm>
              <a:off x="3455088" y="3867986"/>
              <a:ext cx="766394" cy="430381"/>
            </a:xfrm>
            <a:prstGeom prst="rect">
              <a:avLst/>
            </a:prstGeom>
            <a:grpFill/>
          </p:spPr>
          <p:txBody>
            <a:bodyPr>
              <a:spAutoFit/>
            </a:bodyPr>
            <a:lstStyle/>
            <a:p>
              <a:pPr eaLnBrk="1" hangingPunct="1">
                <a:defRPr/>
              </a:pPr>
              <a:r>
                <a:rPr lang="en-US" sz="1050" dirty="0">
                  <a:latin typeface="Arial" charset="0"/>
                  <a:cs typeface="Arial" charset="0"/>
                </a:rPr>
                <a:t>DFF</a:t>
              </a:r>
            </a:p>
          </p:txBody>
        </p:sp>
      </p:grpSp>
      <p:sp>
        <p:nvSpPr>
          <p:cNvPr id="75" name="Cloud 74">
            <a:extLst>
              <a:ext uri="{FF2B5EF4-FFF2-40B4-BE49-F238E27FC236}">
                <a16:creationId xmlns:a16="http://schemas.microsoft.com/office/drawing/2014/main" id="{0CE78A2B-4173-44BF-98B4-77007AFFBDED}"/>
              </a:ext>
            </a:extLst>
          </p:cNvPr>
          <p:cNvSpPr/>
          <p:nvPr/>
        </p:nvSpPr>
        <p:spPr bwMode="auto">
          <a:xfrm>
            <a:off x="3054351" y="3581400"/>
            <a:ext cx="646113" cy="452438"/>
          </a:xfrm>
          <a:prstGeom prst="cloud">
            <a:avLst/>
          </a:prstGeom>
          <a:noFill/>
          <a:ln w="9525" cap="flat" cmpd="sng" algn="ctr">
            <a:solidFill>
              <a:schemeClr val="tx1"/>
            </a:solidFill>
            <a:prstDash val="dash"/>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cxnSp>
        <p:nvCxnSpPr>
          <p:cNvPr id="76" name="Straight Connector 75">
            <a:extLst>
              <a:ext uri="{FF2B5EF4-FFF2-40B4-BE49-F238E27FC236}">
                <a16:creationId xmlns:a16="http://schemas.microsoft.com/office/drawing/2014/main" id="{8009763A-8363-444A-8DBC-75CCB54B7B31}"/>
              </a:ext>
            </a:extLst>
          </p:cNvPr>
          <p:cNvCxnSpPr>
            <a:endCxn id="75" idx="2"/>
          </p:cNvCxnSpPr>
          <p:nvPr/>
        </p:nvCxnSpPr>
        <p:spPr bwMode="auto">
          <a:xfrm flipV="1">
            <a:off x="2819400" y="3808413"/>
            <a:ext cx="236538"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7111" name="Right Bracket 829">
            <a:extLst>
              <a:ext uri="{FF2B5EF4-FFF2-40B4-BE49-F238E27FC236}">
                <a16:creationId xmlns:a16="http://schemas.microsoft.com/office/drawing/2014/main" id="{96F70BA7-760E-417F-97F9-5020C96F3486}"/>
              </a:ext>
            </a:extLst>
          </p:cNvPr>
          <p:cNvSpPr>
            <a:spLocks/>
          </p:cNvSpPr>
          <p:nvPr/>
        </p:nvSpPr>
        <p:spPr bwMode="auto">
          <a:xfrm>
            <a:off x="2085976" y="3200400"/>
            <a:ext cx="1704975" cy="1436688"/>
          </a:xfrm>
          <a:prstGeom prst="rightBracket">
            <a:avLst>
              <a:gd name="adj" fmla="val 1000"/>
            </a:avLst>
          </a:prstGeom>
          <a:noFill/>
          <a:ln w="9525" algn="ctr">
            <a:solidFill>
              <a:srgbClr val="0000FF"/>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cxnSp>
        <p:nvCxnSpPr>
          <p:cNvPr id="82" name="Straight Connector 81">
            <a:extLst>
              <a:ext uri="{FF2B5EF4-FFF2-40B4-BE49-F238E27FC236}">
                <a16:creationId xmlns:a16="http://schemas.microsoft.com/office/drawing/2014/main" id="{27D015EA-B412-4AA9-9C71-68858AF73BB3}"/>
              </a:ext>
            </a:extLst>
          </p:cNvPr>
          <p:cNvCxnSpPr>
            <a:stCxn id="75" idx="0"/>
            <a:endCxn id="47122" idx="1"/>
          </p:cNvCxnSpPr>
          <p:nvPr/>
        </p:nvCxnSpPr>
        <p:spPr bwMode="auto">
          <a:xfrm>
            <a:off x="3700463" y="3808413"/>
            <a:ext cx="234950"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hape 68">
            <a:extLst>
              <a:ext uri="{FF2B5EF4-FFF2-40B4-BE49-F238E27FC236}">
                <a16:creationId xmlns:a16="http://schemas.microsoft.com/office/drawing/2014/main" id="{B824A60A-60DF-4093-B9F8-4DEC17B56BA1}"/>
              </a:ext>
            </a:extLst>
          </p:cNvPr>
          <p:cNvCxnSpPr/>
          <p:nvPr/>
        </p:nvCxnSpPr>
        <p:spPr bwMode="auto">
          <a:xfrm flipV="1">
            <a:off x="1631950" y="4316413"/>
            <a:ext cx="647700" cy="690562"/>
          </a:xfrm>
          <a:prstGeom prst="bentConnector3">
            <a:avLst>
              <a:gd name="adj1" fmla="val 50000"/>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85" name="Cloud 84">
            <a:extLst>
              <a:ext uri="{FF2B5EF4-FFF2-40B4-BE49-F238E27FC236}">
                <a16:creationId xmlns:a16="http://schemas.microsoft.com/office/drawing/2014/main" id="{DD0D5434-72D8-431A-B51D-093443834501}"/>
              </a:ext>
            </a:extLst>
          </p:cNvPr>
          <p:cNvSpPr/>
          <p:nvPr/>
        </p:nvSpPr>
        <p:spPr bwMode="auto">
          <a:xfrm>
            <a:off x="8932863" y="3576639"/>
            <a:ext cx="646112" cy="454025"/>
          </a:xfrm>
          <a:prstGeom prst="cloud">
            <a:avLst/>
          </a:prstGeom>
          <a:noFill/>
          <a:ln w="9525" cap="flat" cmpd="sng" algn="ctr">
            <a:solidFill>
              <a:schemeClr val="tx1"/>
            </a:solidFill>
            <a:prstDash val="dash"/>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sp>
        <p:nvSpPr>
          <p:cNvPr id="47115" name="Right Bracket 837">
            <a:extLst>
              <a:ext uri="{FF2B5EF4-FFF2-40B4-BE49-F238E27FC236}">
                <a16:creationId xmlns:a16="http://schemas.microsoft.com/office/drawing/2014/main" id="{B5615195-F1EF-4D78-9D7B-EAD491871452}"/>
              </a:ext>
            </a:extLst>
          </p:cNvPr>
          <p:cNvSpPr>
            <a:spLocks/>
          </p:cNvSpPr>
          <p:nvPr/>
        </p:nvSpPr>
        <p:spPr bwMode="auto">
          <a:xfrm flipH="1">
            <a:off x="8715376" y="3276600"/>
            <a:ext cx="1647825" cy="1360488"/>
          </a:xfrm>
          <a:prstGeom prst="rightBracket">
            <a:avLst>
              <a:gd name="adj" fmla="val 1000"/>
            </a:avLst>
          </a:prstGeom>
          <a:noFill/>
          <a:ln w="9525" algn="ctr">
            <a:solidFill>
              <a:srgbClr val="0000FF"/>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nvGrpSpPr>
          <p:cNvPr id="3" name="Group 760">
            <a:extLst>
              <a:ext uri="{FF2B5EF4-FFF2-40B4-BE49-F238E27FC236}">
                <a16:creationId xmlns:a16="http://schemas.microsoft.com/office/drawing/2014/main" id="{CEB7675C-E111-420A-9FB0-A138AE69A6CD}"/>
              </a:ext>
            </a:extLst>
          </p:cNvPr>
          <p:cNvGrpSpPr/>
          <p:nvPr/>
        </p:nvGrpSpPr>
        <p:grpSpPr>
          <a:xfrm>
            <a:off x="9807421" y="3582750"/>
            <a:ext cx="539479" cy="803841"/>
            <a:chOff x="3352800" y="3429000"/>
            <a:chExt cx="914400" cy="1362489"/>
          </a:xfrm>
          <a:noFill/>
        </p:grpSpPr>
        <p:sp>
          <p:nvSpPr>
            <p:cNvPr id="100" name="Rectangle 99">
              <a:extLst>
                <a:ext uri="{FF2B5EF4-FFF2-40B4-BE49-F238E27FC236}">
                  <a16:creationId xmlns:a16="http://schemas.microsoft.com/office/drawing/2014/main" id="{E48F88F2-6206-411A-9115-DA51F4530B64}"/>
                </a:ext>
              </a:extLst>
            </p:cNvPr>
            <p:cNvSpPr/>
            <p:nvPr/>
          </p:nvSpPr>
          <p:spPr bwMode="auto">
            <a:xfrm>
              <a:off x="3352800" y="3429000"/>
              <a:ext cx="914400" cy="1295400"/>
            </a:xfrm>
            <a:prstGeom prst="rect">
              <a:avLst/>
            </a:prstGeom>
            <a:grpFill/>
            <a:ln w="9525" cap="flat" cmpd="sng" algn="ctr">
              <a:solidFill>
                <a:schemeClr val="tx1"/>
              </a:solidFill>
              <a:prstDash val="dash"/>
              <a:round/>
              <a:headEnd type="none" w="med" len="med"/>
              <a:tailEnd type="none" w="med" len="med"/>
            </a:ln>
            <a:effectLst/>
          </p:spPr>
          <p:txBody>
            <a:bodyPr anchor="ctr"/>
            <a:lstStyle/>
            <a:p>
              <a:pPr eaLnBrk="1" hangingPunct="1">
                <a:defRPr/>
              </a:pPr>
              <a:endParaRPr lang="en-US" sz="1200">
                <a:latin typeface="Arial" charset="0"/>
                <a:cs typeface="Arial" charset="0"/>
              </a:endParaRPr>
            </a:p>
          </p:txBody>
        </p:sp>
        <p:sp>
          <p:nvSpPr>
            <p:cNvPr id="101" name="Isosceles Triangle 100">
              <a:extLst>
                <a:ext uri="{FF2B5EF4-FFF2-40B4-BE49-F238E27FC236}">
                  <a16:creationId xmlns:a16="http://schemas.microsoft.com/office/drawing/2014/main" id="{210D13D9-CDD0-4725-81A7-B334E5A12FA9}"/>
                </a:ext>
              </a:extLst>
            </p:cNvPr>
            <p:cNvSpPr/>
            <p:nvPr/>
          </p:nvSpPr>
          <p:spPr bwMode="auto">
            <a:xfrm rot="5400000">
              <a:off x="3390900" y="4381500"/>
              <a:ext cx="152400" cy="2286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200" dirty="0">
                <a:latin typeface="Arial" charset="0"/>
                <a:cs typeface="Arial" charset="0"/>
              </a:endParaRPr>
            </a:p>
          </p:txBody>
        </p:sp>
        <p:sp>
          <p:nvSpPr>
            <p:cNvPr id="102" name="TextBox 101">
              <a:extLst>
                <a:ext uri="{FF2B5EF4-FFF2-40B4-BE49-F238E27FC236}">
                  <a16:creationId xmlns:a16="http://schemas.microsoft.com/office/drawing/2014/main" id="{76A4DBB7-3F82-4A8F-871F-DC4593D8B388}"/>
                </a:ext>
              </a:extLst>
            </p:cNvPr>
            <p:cNvSpPr txBox="1"/>
            <p:nvPr/>
          </p:nvSpPr>
          <p:spPr>
            <a:xfrm>
              <a:off x="3352801" y="3581400"/>
              <a:ext cx="228601" cy="430381"/>
            </a:xfrm>
            <a:prstGeom prst="rect">
              <a:avLst/>
            </a:prstGeom>
            <a:grpFill/>
          </p:spPr>
          <p:txBody>
            <a:bodyPr>
              <a:spAutoFit/>
            </a:bodyPr>
            <a:lstStyle/>
            <a:p>
              <a:pPr algn="ctr" eaLnBrk="1" hangingPunct="1">
                <a:defRPr/>
              </a:pPr>
              <a:r>
                <a:rPr lang="en-US" sz="1000" dirty="0">
                  <a:latin typeface="Arial" charset="0"/>
                  <a:cs typeface="Arial" charset="0"/>
                </a:rPr>
                <a:t>D</a:t>
              </a:r>
            </a:p>
          </p:txBody>
        </p:sp>
        <p:sp>
          <p:nvSpPr>
            <p:cNvPr id="103" name="TextBox 102">
              <a:extLst>
                <a:ext uri="{FF2B5EF4-FFF2-40B4-BE49-F238E27FC236}">
                  <a16:creationId xmlns:a16="http://schemas.microsoft.com/office/drawing/2014/main" id="{969E14BD-0617-49E5-B6E8-860AA0DB78F8}"/>
                </a:ext>
              </a:extLst>
            </p:cNvPr>
            <p:cNvSpPr txBox="1"/>
            <p:nvPr/>
          </p:nvSpPr>
          <p:spPr>
            <a:xfrm>
              <a:off x="3974018" y="3565259"/>
              <a:ext cx="228600" cy="430381"/>
            </a:xfrm>
            <a:prstGeom prst="rect">
              <a:avLst/>
            </a:prstGeom>
            <a:grpFill/>
          </p:spPr>
          <p:txBody>
            <a:bodyPr>
              <a:spAutoFit/>
            </a:bodyPr>
            <a:lstStyle/>
            <a:p>
              <a:pPr eaLnBrk="1" hangingPunct="1">
                <a:defRPr/>
              </a:pPr>
              <a:r>
                <a:rPr lang="en-US" sz="1000" dirty="0">
                  <a:latin typeface="Arial" charset="0"/>
                  <a:cs typeface="Arial" charset="0"/>
                </a:rPr>
                <a:t>Q</a:t>
              </a:r>
            </a:p>
          </p:txBody>
        </p:sp>
        <p:sp>
          <p:nvSpPr>
            <p:cNvPr id="104" name="TextBox 103">
              <a:extLst>
                <a:ext uri="{FF2B5EF4-FFF2-40B4-BE49-F238E27FC236}">
                  <a16:creationId xmlns:a16="http://schemas.microsoft.com/office/drawing/2014/main" id="{995326C8-2BB5-4E61-80D6-8F8DF944A1AF}"/>
                </a:ext>
              </a:extLst>
            </p:cNvPr>
            <p:cNvSpPr txBox="1"/>
            <p:nvPr/>
          </p:nvSpPr>
          <p:spPr>
            <a:xfrm>
              <a:off x="3412029" y="4361108"/>
              <a:ext cx="851547" cy="430381"/>
            </a:xfrm>
            <a:prstGeom prst="rect">
              <a:avLst/>
            </a:prstGeom>
            <a:grpFill/>
          </p:spPr>
          <p:txBody>
            <a:bodyPr>
              <a:spAutoFit/>
            </a:bodyPr>
            <a:lstStyle/>
            <a:p>
              <a:pPr eaLnBrk="1" hangingPunct="1">
                <a:defRPr/>
              </a:pPr>
              <a:r>
                <a:rPr lang="en-US" sz="1000" dirty="0">
                  <a:latin typeface="Arial" charset="0"/>
                  <a:cs typeface="Arial" charset="0"/>
                </a:rPr>
                <a:t>CLK</a:t>
              </a:r>
            </a:p>
          </p:txBody>
        </p:sp>
        <p:sp>
          <p:nvSpPr>
            <p:cNvPr id="105" name="TextBox 104">
              <a:extLst>
                <a:ext uri="{FF2B5EF4-FFF2-40B4-BE49-F238E27FC236}">
                  <a16:creationId xmlns:a16="http://schemas.microsoft.com/office/drawing/2014/main" id="{5ECA54F7-C2BC-463B-980D-2E8D26192007}"/>
                </a:ext>
              </a:extLst>
            </p:cNvPr>
            <p:cNvSpPr txBox="1"/>
            <p:nvPr/>
          </p:nvSpPr>
          <p:spPr>
            <a:xfrm>
              <a:off x="3455088" y="3867986"/>
              <a:ext cx="766394" cy="430381"/>
            </a:xfrm>
            <a:prstGeom prst="rect">
              <a:avLst/>
            </a:prstGeom>
            <a:grpFill/>
          </p:spPr>
          <p:txBody>
            <a:bodyPr>
              <a:spAutoFit/>
            </a:bodyPr>
            <a:lstStyle/>
            <a:p>
              <a:pPr eaLnBrk="1" hangingPunct="1">
                <a:defRPr/>
              </a:pPr>
              <a:r>
                <a:rPr lang="en-US" sz="1050" dirty="0">
                  <a:latin typeface="Arial" charset="0"/>
                  <a:cs typeface="Arial" charset="0"/>
                </a:rPr>
                <a:t>DFF</a:t>
              </a:r>
            </a:p>
          </p:txBody>
        </p:sp>
      </p:grpSp>
      <p:cxnSp>
        <p:nvCxnSpPr>
          <p:cNvPr id="106" name="Straight Connector 105">
            <a:extLst>
              <a:ext uri="{FF2B5EF4-FFF2-40B4-BE49-F238E27FC236}">
                <a16:creationId xmlns:a16="http://schemas.microsoft.com/office/drawing/2014/main" id="{2DAE05F1-C409-4763-8061-ECEB09DBC061}"/>
              </a:ext>
            </a:extLst>
          </p:cNvPr>
          <p:cNvCxnSpPr>
            <a:stCxn id="47123" idx="3"/>
            <a:endCxn id="85" idx="2"/>
          </p:cNvCxnSpPr>
          <p:nvPr/>
        </p:nvCxnSpPr>
        <p:spPr bwMode="auto">
          <a:xfrm>
            <a:off x="8604250" y="3792538"/>
            <a:ext cx="330200"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7" name="Straight Connector 106">
            <a:extLst>
              <a:ext uri="{FF2B5EF4-FFF2-40B4-BE49-F238E27FC236}">
                <a16:creationId xmlns:a16="http://schemas.microsoft.com/office/drawing/2014/main" id="{F62263AC-F0BC-4927-9F00-6512761C2463}"/>
              </a:ext>
            </a:extLst>
          </p:cNvPr>
          <p:cNvCxnSpPr>
            <a:stCxn id="85" idx="0"/>
          </p:cNvCxnSpPr>
          <p:nvPr/>
        </p:nvCxnSpPr>
        <p:spPr bwMode="auto">
          <a:xfrm flipV="1">
            <a:off x="9578975" y="3798888"/>
            <a:ext cx="228600" cy="0"/>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Shape 68">
            <a:extLst>
              <a:ext uri="{FF2B5EF4-FFF2-40B4-BE49-F238E27FC236}">
                <a16:creationId xmlns:a16="http://schemas.microsoft.com/office/drawing/2014/main" id="{0F2FB598-3683-4FFC-B9AB-DE09EFA79FF4}"/>
              </a:ext>
            </a:extLst>
          </p:cNvPr>
          <p:cNvCxnSpPr/>
          <p:nvPr/>
        </p:nvCxnSpPr>
        <p:spPr bwMode="auto">
          <a:xfrm flipV="1">
            <a:off x="1631951" y="4211639"/>
            <a:ext cx="8175625" cy="795337"/>
          </a:xfrm>
          <a:prstGeom prst="bentConnector3">
            <a:avLst>
              <a:gd name="adj1" fmla="val 95806"/>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109" name="TextBox 108">
            <a:extLst>
              <a:ext uri="{FF2B5EF4-FFF2-40B4-BE49-F238E27FC236}">
                <a16:creationId xmlns:a16="http://schemas.microsoft.com/office/drawing/2014/main" id="{AA947233-C7A9-4C25-90D5-86D0A5BC944E}"/>
              </a:ext>
            </a:extLst>
          </p:cNvPr>
          <p:cNvSpPr txBox="1"/>
          <p:nvPr/>
        </p:nvSpPr>
        <p:spPr>
          <a:xfrm>
            <a:off x="1882776" y="5072064"/>
            <a:ext cx="587375" cy="261937"/>
          </a:xfrm>
          <a:prstGeom prst="rect">
            <a:avLst/>
          </a:prstGeom>
          <a:noFill/>
        </p:spPr>
        <p:txBody>
          <a:bodyPr>
            <a:spAutoFit/>
          </a:bodyPr>
          <a:lstStyle/>
          <a:p>
            <a:pPr algn="r" eaLnBrk="1" hangingPunct="1">
              <a:defRPr/>
            </a:pPr>
            <a:r>
              <a:rPr lang="en-US" sz="1050" dirty="0">
                <a:latin typeface="Arial" charset="0"/>
                <a:cs typeface="Arial" charset="0"/>
              </a:rPr>
              <a:t>Clock</a:t>
            </a:r>
          </a:p>
        </p:txBody>
      </p:sp>
      <p:sp>
        <p:nvSpPr>
          <p:cNvPr id="61" name="Rounded Rectangle 60">
            <a:extLst>
              <a:ext uri="{FF2B5EF4-FFF2-40B4-BE49-F238E27FC236}">
                <a16:creationId xmlns:a16="http://schemas.microsoft.com/office/drawing/2014/main" id="{032CC4B4-A54C-4002-BE6C-28D047541A8F}"/>
              </a:ext>
            </a:extLst>
          </p:cNvPr>
          <p:cNvSpPr/>
          <p:nvPr/>
        </p:nvSpPr>
        <p:spPr bwMode="auto">
          <a:xfrm>
            <a:off x="3994151" y="3236914"/>
            <a:ext cx="4568825" cy="1411287"/>
          </a:xfrm>
          <a:prstGeom prst="roundRect">
            <a:avLst>
              <a:gd name="adj" fmla="val 3788"/>
            </a:avLst>
          </a:prstGeom>
          <a:solidFill>
            <a:schemeClr val="accent1">
              <a:lumMod val="20000"/>
              <a:lumOff val="80000"/>
            </a:schemeClr>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endParaRPr lang="en-US" sz="1400">
              <a:solidFill>
                <a:schemeClr val="tx1"/>
              </a:solidFill>
            </a:endParaRPr>
          </a:p>
        </p:txBody>
      </p:sp>
      <p:sp>
        <p:nvSpPr>
          <p:cNvPr id="47122" name="Rectangle 826">
            <a:extLst>
              <a:ext uri="{FF2B5EF4-FFF2-40B4-BE49-F238E27FC236}">
                <a16:creationId xmlns:a16="http://schemas.microsoft.com/office/drawing/2014/main" id="{5CF46C1D-6D93-4878-A4CA-627B35B08058}"/>
              </a:ext>
            </a:extLst>
          </p:cNvPr>
          <p:cNvSpPr>
            <a:spLocks noChangeArrowheads="1"/>
          </p:cNvSpPr>
          <p:nvPr/>
        </p:nvSpPr>
        <p:spPr bwMode="auto">
          <a:xfrm>
            <a:off x="3935414" y="3768726"/>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7123" name="Rectangle 827">
            <a:extLst>
              <a:ext uri="{FF2B5EF4-FFF2-40B4-BE49-F238E27FC236}">
                <a16:creationId xmlns:a16="http://schemas.microsoft.com/office/drawing/2014/main" id="{E601B876-FFB0-469A-8E2D-99883A1A2387}"/>
              </a:ext>
            </a:extLst>
          </p:cNvPr>
          <p:cNvSpPr>
            <a:spLocks noChangeArrowheads="1"/>
          </p:cNvSpPr>
          <p:nvPr/>
        </p:nvSpPr>
        <p:spPr bwMode="auto">
          <a:xfrm>
            <a:off x="8486776" y="3733801"/>
            <a:ext cx="117475" cy="1174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11" name="Cloud 110">
            <a:extLst>
              <a:ext uri="{FF2B5EF4-FFF2-40B4-BE49-F238E27FC236}">
                <a16:creationId xmlns:a16="http://schemas.microsoft.com/office/drawing/2014/main" id="{C22F6E9B-F05F-4EEC-BF8A-D21CE228D9B1}"/>
              </a:ext>
            </a:extLst>
          </p:cNvPr>
          <p:cNvSpPr/>
          <p:nvPr/>
        </p:nvSpPr>
        <p:spPr bwMode="auto">
          <a:xfrm>
            <a:off x="5029200" y="3352800"/>
            <a:ext cx="2438400" cy="914400"/>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600" dirty="0">
                <a:solidFill>
                  <a:schemeClr val="bg1"/>
                </a:solidFill>
                <a:latin typeface="Arial" charset="0"/>
                <a:cs typeface="Arial" charset="0"/>
              </a:rPr>
              <a:t>Combinational Logic</a:t>
            </a:r>
          </a:p>
        </p:txBody>
      </p:sp>
      <p:cxnSp>
        <p:nvCxnSpPr>
          <p:cNvPr id="112" name="Straight Connector 111">
            <a:extLst>
              <a:ext uri="{FF2B5EF4-FFF2-40B4-BE49-F238E27FC236}">
                <a16:creationId xmlns:a16="http://schemas.microsoft.com/office/drawing/2014/main" id="{83596B4F-1308-427D-A0D3-5A05C7836662}"/>
              </a:ext>
            </a:extLst>
          </p:cNvPr>
          <p:cNvCxnSpPr>
            <a:stCxn id="111" idx="0"/>
            <a:endCxn id="47123" idx="1"/>
          </p:cNvCxnSpPr>
          <p:nvPr/>
        </p:nvCxnSpPr>
        <p:spPr bwMode="auto">
          <a:xfrm flipV="1">
            <a:off x="7466013" y="3792538"/>
            <a:ext cx="1020762"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1E7A1776-9F6D-42BF-A791-C925765F3278}"/>
              </a:ext>
            </a:extLst>
          </p:cNvPr>
          <p:cNvCxnSpPr>
            <a:stCxn id="111" idx="2"/>
            <a:endCxn id="47122" idx="3"/>
          </p:cNvCxnSpPr>
          <p:nvPr/>
        </p:nvCxnSpPr>
        <p:spPr bwMode="auto">
          <a:xfrm rot="10800000" flipV="1">
            <a:off x="4052888" y="3827463"/>
            <a:ext cx="98425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7127" name="Group 780">
            <a:extLst>
              <a:ext uri="{FF2B5EF4-FFF2-40B4-BE49-F238E27FC236}">
                <a16:creationId xmlns:a16="http://schemas.microsoft.com/office/drawing/2014/main" id="{3D1BF11F-2D0E-499A-BFD0-F34F369AA715}"/>
              </a:ext>
            </a:extLst>
          </p:cNvPr>
          <p:cNvGrpSpPr>
            <a:grpSpLocks/>
          </p:cNvGrpSpPr>
          <p:nvPr/>
        </p:nvGrpSpPr>
        <p:grpSpPr bwMode="auto">
          <a:xfrm>
            <a:off x="4191000" y="4267200"/>
            <a:ext cx="4191000" cy="304800"/>
            <a:chOff x="2868594" y="1513126"/>
            <a:chExt cx="1707339" cy="529103"/>
          </a:xfrm>
        </p:grpSpPr>
        <p:cxnSp>
          <p:nvCxnSpPr>
            <p:cNvPr id="47138" name="Straight Connector 79">
              <a:extLst>
                <a:ext uri="{FF2B5EF4-FFF2-40B4-BE49-F238E27FC236}">
                  <a16:creationId xmlns:a16="http://schemas.microsoft.com/office/drawing/2014/main" id="{6AFAFAE7-3DA6-4880-A805-C0394762F33D}"/>
                </a:ext>
              </a:extLst>
            </p:cNvPr>
            <p:cNvCxnSpPr>
              <a:cxnSpLocks noChangeShapeType="1"/>
            </p:cNvCxnSpPr>
            <p:nvPr/>
          </p:nvCxnSpPr>
          <p:spPr bwMode="auto">
            <a:xfrm rot="5400000">
              <a:off x="2604655"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7139" name="Straight Connector 80">
              <a:extLst>
                <a:ext uri="{FF2B5EF4-FFF2-40B4-BE49-F238E27FC236}">
                  <a16:creationId xmlns:a16="http://schemas.microsoft.com/office/drawing/2014/main" id="{95009E7C-674B-4D4C-A0D5-BBA4B97A5685}"/>
                </a:ext>
              </a:extLst>
            </p:cNvPr>
            <p:cNvCxnSpPr>
              <a:cxnSpLocks noChangeShapeType="1"/>
            </p:cNvCxnSpPr>
            <p:nvPr/>
          </p:nvCxnSpPr>
          <p:spPr bwMode="auto">
            <a:xfrm rot="5400000">
              <a:off x="4310769"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7140" name="Straight Arrow Connector 81">
              <a:extLst>
                <a:ext uri="{FF2B5EF4-FFF2-40B4-BE49-F238E27FC236}">
                  <a16:creationId xmlns:a16="http://schemas.microsoft.com/office/drawing/2014/main" id="{ECD93660-4482-45CE-A62D-A87A0115FE71}"/>
                </a:ext>
              </a:extLst>
            </p:cNvPr>
            <p:cNvCxnSpPr>
              <a:cxnSpLocks noChangeShapeType="1"/>
            </p:cNvCxnSpPr>
            <p:nvPr/>
          </p:nvCxnSpPr>
          <p:spPr bwMode="auto">
            <a:xfrm>
              <a:off x="2869820" y="1688881"/>
              <a:ext cx="1704888"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127" name="TextBox 126">
            <a:extLst>
              <a:ext uri="{FF2B5EF4-FFF2-40B4-BE49-F238E27FC236}">
                <a16:creationId xmlns:a16="http://schemas.microsoft.com/office/drawing/2014/main" id="{64487593-57BD-4E95-BCD7-C0F9B19285ED}"/>
              </a:ext>
            </a:extLst>
          </p:cNvPr>
          <p:cNvSpPr txBox="1"/>
          <p:nvPr/>
        </p:nvSpPr>
        <p:spPr>
          <a:xfrm>
            <a:off x="1905000" y="5334000"/>
            <a:ext cx="1371600" cy="338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eaLnBrk="1" hangingPunct="1">
              <a:defRPr/>
            </a:pPr>
            <a:r>
              <a:rPr lang="en-US" sz="1600" dirty="0" err="1">
                <a:solidFill>
                  <a:schemeClr val="bg1"/>
                </a:solidFill>
              </a:rPr>
              <a:t>Delay</a:t>
            </a:r>
            <a:r>
              <a:rPr lang="en-US" sz="1600" baseline="-25000" dirty="0" err="1">
                <a:solidFill>
                  <a:schemeClr val="bg1"/>
                </a:solidFill>
              </a:rPr>
              <a:t>in</a:t>
            </a:r>
            <a:r>
              <a:rPr lang="en-US" sz="1600" dirty="0">
                <a:solidFill>
                  <a:schemeClr val="bg1"/>
                </a:solidFill>
              </a:rPr>
              <a:t>=1ns</a:t>
            </a:r>
            <a:endParaRPr lang="en-US" sz="1600" baseline="-25000" dirty="0">
              <a:solidFill>
                <a:schemeClr val="bg1"/>
              </a:solidFill>
            </a:endParaRPr>
          </a:p>
        </p:txBody>
      </p:sp>
      <p:sp>
        <p:nvSpPr>
          <p:cNvPr id="128" name="TextBox 127">
            <a:extLst>
              <a:ext uri="{FF2B5EF4-FFF2-40B4-BE49-F238E27FC236}">
                <a16:creationId xmlns:a16="http://schemas.microsoft.com/office/drawing/2014/main" id="{EDE12079-CA51-47C5-8CDA-8A4093DB7D7D}"/>
              </a:ext>
            </a:extLst>
          </p:cNvPr>
          <p:cNvSpPr txBox="1"/>
          <p:nvPr/>
        </p:nvSpPr>
        <p:spPr>
          <a:xfrm>
            <a:off x="8991600" y="5181600"/>
            <a:ext cx="1447800" cy="338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eaLnBrk="1" hangingPunct="1">
              <a:defRPr/>
            </a:pPr>
            <a:r>
              <a:rPr lang="en-US" sz="1600" dirty="0" err="1">
                <a:solidFill>
                  <a:schemeClr val="bg1"/>
                </a:solidFill>
              </a:rPr>
              <a:t>Delay</a:t>
            </a:r>
            <a:r>
              <a:rPr lang="en-US" sz="1600" baseline="-25000" dirty="0" err="1">
                <a:solidFill>
                  <a:schemeClr val="bg1"/>
                </a:solidFill>
              </a:rPr>
              <a:t>out</a:t>
            </a:r>
            <a:r>
              <a:rPr lang="en-US" sz="1600" dirty="0">
                <a:solidFill>
                  <a:schemeClr val="bg1"/>
                </a:solidFill>
              </a:rPr>
              <a:t>=3ns</a:t>
            </a:r>
            <a:endParaRPr lang="en-US" sz="1600" baseline="-25000" dirty="0">
              <a:solidFill>
                <a:schemeClr val="bg1"/>
              </a:solidFill>
            </a:endParaRPr>
          </a:p>
        </p:txBody>
      </p:sp>
      <p:cxnSp>
        <p:nvCxnSpPr>
          <p:cNvPr id="129" name="Straight Arrow Connector 128">
            <a:extLst>
              <a:ext uri="{FF2B5EF4-FFF2-40B4-BE49-F238E27FC236}">
                <a16:creationId xmlns:a16="http://schemas.microsoft.com/office/drawing/2014/main" id="{C9AEA561-6F86-4423-9000-6E3F0B3AF104}"/>
              </a:ext>
            </a:extLst>
          </p:cNvPr>
          <p:cNvCxnSpPr>
            <a:stCxn id="128" idx="0"/>
          </p:cNvCxnSpPr>
          <p:nvPr/>
        </p:nvCxnSpPr>
        <p:spPr bwMode="auto">
          <a:xfrm rot="16200000" flipV="1">
            <a:off x="8934450" y="4400550"/>
            <a:ext cx="1066800" cy="49530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DCC6D864-42D4-40F2-96BB-78126039DAEC}"/>
              </a:ext>
            </a:extLst>
          </p:cNvPr>
          <p:cNvCxnSpPr>
            <a:stCxn id="127" idx="0"/>
          </p:cNvCxnSpPr>
          <p:nvPr/>
        </p:nvCxnSpPr>
        <p:spPr bwMode="auto">
          <a:xfrm rot="5400000" flipH="1" flipV="1">
            <a:off x="2362200" y="4419600"/>
            <a:ext cx="1143000" cy="68580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F6ADB196-6B18-42C3-9AA4-CA9EF20FCA13}"/>
              </a:ext>
            </a:extLst>
          </p:cNvPr>
          <p:cNvSpPr txBox="1"/>
          <p:nvPr/>
        </p:nvSpPr>
        <p:spPr>
          <a:xfrm>
            <a:off x="4267200" y="5257800"/>
            <a:ext cx="3581400" cy="338138"/>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a:spAutoFit/>
          </a:bodyPr>
          <a:lstStyle/>
          <a:p>
            <a:pPr eaLnBrk="1" hangingPunct="1">
              <a:defRPr/>
            </a:pPr>
            <a:r>
              <a:rPr lang="en-US" sz="1600" dirty="0" err="1"/>
              <a:t>Delay</a:t>
            </a:r>
            <a:r>
              <a:rPr lang="en-US" sz="1600" baseline="-25000" dirty="0" err="1"/>
              <a:t>max</a:t>
            </a:r>
            <a:r>
              <a:rPr lang="en-US" sz="1600" dirty="0"/>
              <a:t>= </a:t>
            </a:r>
            <a:r>
              <a:rPr lang="en-US" sz="1600" dirty="0" err="1"/>
              <a:t>T</a:t>
            </a:r>
            <a:r>
              <a:rPr lang="en-US" sz="1600" baseline="-25000" dirty="0" err="1"/>
              <a:t>clk</a:t>
            </a:r>
            <a:r>
              <a:rPr lang="en-US" sz="1600" dirty="0"/>
              <a:t>– </a:t>
            </a:r>
            <a:r>
              <a:rPr lang="en-US" sz="1600" dirty="0" err="1"/>
              <a:t>Delay</a:t>
            </a:r>
            <a:r>
              <a:rPr lang="en-US" sz="1600" baseline="-25000" dirty="0" err="1"/>
              <a:t>in</a:t>
            </a:r>
            <a:r>
              <a:rPr lang="en-US" sz="1600" dirty="0"/>
              <a:t> – </a:t>
            </a:r>
            <a:r>
              <a:rPr lang="en-US" sz="1600" dirty="0" err="1"/>
              <a:t>Delay</a:t>
            </a:r>
            <a:r>
              <a:rPr lang="en-US" sz="1600" baseline="-25000" dirty="0" err="1"/>
              <a:t>out</a:t>
            </a:r>
            <a:r>
              <a:rPr lang="en-US" sz="1600" dirty="0"/>
              <a:t>=7ns</a:t>
            </a:r>
            <a:r>
              <a:rPr lang="en-US" sz="1600" baseline="-25000" dirty="0"/>
              <a:t> </a:t>
            </a:r>
          </a:p>
        </p:txBody>
      </p:sp>
      <p:cxnSp>
        <p:nvCxnSpPr>
          <p:cNvPr id="132" name="Straight Arrow Connector 131">
            <a:extLst>
              <a:ext uri="{FF2B5EF4-FFF2-40B4-BE49-F238E27FC236}">
                <a16:creationId xmlns:a16="http://schemas.microsoft.com/office/drawing/2014/main" id="{0758E91A-ACBE-4291-80AF-9A8E1321827B}"/>
              </a:ext>
            </a:extLst>
          </p:cNvPr>
          <p:cNvCxnSpPr>
            <a:stCxn id="131" idx="0"/>
          </p:cNvCxnSpPr>
          <p:nvPr/>
        </p:nvCxnSpPr>
        <p:spPr bwMode="auto">
          <a:xfrm rot="5400000" flipH="1" flipV="1">
            <a:off x="5695950" y="4781550"/>
            <a:ext cx="838200" cy="114300"/>
          </a:xfrm>
          <a:prstGeom prst="straightConnector1">
            <a:avLst/>
          </a:prstGeom>
          <a:ln>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nvGrpSpPr>
          <p:cNvPr id="47134" name="Group 780">
            <a:extLst>
              <a:ext uri="{FF2B5EF4-FFF2-40B4-BE49-F238E27FC236}">
                <a16:creationId xmlns:a16="http://schemas.microsoft.com/office/drawing/2014/main" id="{ACED5452-A278-4428-A654-5787B4666627}"/>
              </a:ext>
            </a:extLst>
          </p:cNvPr>
          <p:cNvGrpSpPr>
            <a:grpSpLocks/>
          </p:cNvGrpSpPr>
          <p:nvPr/>
        </p:nvGrpSpPr>
        <p:grpSpPr bwMode="auto">
          <a:xfrm>
            <a:off x="2971800" y="4114800"/>
            <a:ext cx="762000" cy="152400"/>
            <a:chOff x="2868594" y="1513126"/>
            <a:chExt cx="1707339" cy="529103"/>
          </a:xfrm>
        </p:grpSpPr>
        <p:cxnSp>
          <p:nvCxnSpPr>
            <p:cNvPr id="47135" name="Straight Connector 129">
              <a:extLst>
                <a:ext uri="{FF2B5EF4-FFF2-40B4-BE49-F238E27FC236}">
                  <a16:creationId xmlns:a16="http://schemas.microsoft.com/office/drawing/2014/main" id="{A86A2F44-4D20-42C6-9DA6-CC762801AD6F}"/>
                </a:ext>
              </a:extLst>
            </p:cNvPr>
            <p:cNvCxnSpPr>
              <a:cxnSpLocks noChangeShapeType="1"/>
            </p:cNvCxnSpPr>
            <p:nvPr/>
          </p:nvCxnSpPr>
          <p:spPr bwMode="auto">
            <a:xfrm rot="5400000">
              <a:off x="2604655"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7136" name="Straight Connector 130">
              <a:extLst>
                <a:ext uri="{FF2B5EF4-FFF2-40B4-BE49-F238E27FC236}">
                  <a16:creationId xmlns:a16="http://schemas.microsoft.com/office/drawing/2014/main" id="{CA5B5625-AFAD-47E7-8D78-1C14100554A4}"/>
                </a:ext>
              </a:extLst>
            </p:cNvPr>
            <p:cNvCxnSpPr>
              <a:cxnSpLocks noChangeShapeType="1"/>
            </p:cNvCxnSpPr>
            <p:nvPr/>
          </p:nvCxnSpPr>
          <p:spPr bwMode="auto">
            <a:xfrm rot="5400000">
              <a:off x="4310769" y="1777065"/>
              <a:ext cx="529103" cy="12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47137" name="Straight Arrow Connector 131">
              <a:extLst>
                <a:ext uri="{FF2B5EF4-FFF2-40B4-BE49-F238E27FC236}">
                  <a16:creationId xmlns:a16="http://schemas.microsoft.com/office/drawing/2014/main" id="{01DEA750-4AD8-4D55-B7C8-BBC892C637F3}"/>
                </a:ext>
              </a:extLst>
            </p:cNvPr>
            <p:cNvCxnSpPr>
              <a:cxnSpLocks noChangeShapeType="1"/>
            </p:cNvCxnSpPr>
            <p:nvPr/>
          </p:nvCxnSpPr>
          <p:spPr bwMode="auto">
            <a:xfrm>
              <a:off x="2869820" y="1688883"/>
              <a:ext cx="1704888"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6F939CBD-36A0-488F-81DA-80C8F18C0F91}"/>
              </a:ext>
            </a:extLst>
          </p:cNvPr>
          <p:cNvSpPr>
            <a:spLocks noGrp="1"/>
          </p:cNvSpPr>
          <p:nvPr>
            <p:ph type="title"/>
          </p:nvPr>
        </p:nvSpPr>
        <p:spPr/>
        <p:txBody>
          <a:bodyPr/>
          <a:lstStyle/>
          <a:p>
            <a:r>
              <a:rPr lang="en-US" altLang="en-US"/>
              <a:t>Refining</a:t>
            </a:r>
          </a:p>
        </p:txBody>
      </p:sp>
      <p:sp>
        <p:nvSpPr>
          <p:cNvPr id="49155" name="Content Placeholder 2">
            <a:extLst>
              <a:ext uri="{FF2B5EF4-FFF2-40B4-BE49-F238E27FC236}">
                <a16:creationId xmlns:a16="http://schemas.microsoft.com/office/drawing/2014/main" id="{AD432FA9-B5CB-4900-BBD8-B7CF1BF8799C}"/>
              </a:ext>
            </a:extLst>
          </p:cNvPr>
          <p:cNvSpPr>
            <a:spLocks noGrp="1"/>
          </p:cNvSpPr>
          <p:nvPr>
            <p:ph type="body" sz="quarter" idx="10"/>
          </p:nvPr>
        </p:nvSpPr>
        <p:spPr/>
        <p:txBody>
          <a:bodyPr/>
          <a:lstStyle/>
          <a:p>
            <a:r>
              <a:rPr lang="en-US" altLang="en-US" sz="1800"/>
              <a:t>set_case_analysis</a:t>
            </a:r>
          </a:p>
          <a:p>
            <a:pPr lvl="1"/>
            <a:r>
              <a:rPr lang="en-US" altLang="en-US" sz="1800"/>
              <a:t>Constant value on a pin of a cell or input port</a:t>
            </a:r>
          </a:p>
          <a:p>
            <a:r>
              <a:rPr lang="en-US" altLang="en-US" sz="1800"/>
              <a:t>set_disable_timing</a:t>
            </a:r>
          </a:p>
          <a:p>
            <a:pPr lvl="1"/>
            <a:r>
              <a:rPr lang="en-US" altLang="en-US" sz="1800"/>
              <a:t>Breaks a timing arc</a:t>
            </a:r>
          </a:p>
          <a:p>
            <a:r>
              <a:rPr lang="en-US" altLang="en-US" sz="1800"/>
              <a:t>set_false_path</a:t>
            </a:r>
          </a:p>
          <a:p>
            <a:pPr lvl="1"/>
            <a:r>
              <a:rPr lang="en-US" altLang="en-US" sz="1800"/>
              <a:t> Specifies false path not real which implies that these paths are not checked in STA</a:t>
            </a:r>
          </a:p>
          <a:p>
            <a:r>
              <a:rPr lang="en-US" altLang="en-US" sz="1800"/>
              <a:t>set_multicycle_path</a:t>
            </a:r>
          </a:p>
          <a:p>
            <a:pPr lvl="1"/>
            <a:r>
              <a:rPr lang="en-US" altLang="en-US" sz="1800"/>
              <a:t> Specifies multi-cycle paths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76F77676-ED23-40C5-B890-18F547F0D983}"/>
              </a:ext>
            </a:extLst>
          </p:cNvPr>
          <p:cNvSpPr>
            <a:spLocks noGrp="1"/>
          </p:cNvSpPr>
          <p:nvPr>
            <p:ph type="title"/>
          </p:nvPr>
        </p:nvSpPr>
        <p:spPr/>
        <p:txBody>
          <a:bodyPr/>
          <a:lstStyle/>
          <a:p>
            <a:r>
              <a:rPr lang="en-US" altLang="en-US"/>
              <a:t>Point-to-point Specification</a:t>
            </a:r>
          </a:p>
        </p:txBody>
      </p:sp>
      <p:sp>
        <p:nvSpPr>
          <p:cNvPr id="3" name="Content Placeholder 2">
            <a:extLst>
              <a:ext uri="{FF2B5EF4-FFF2-40B4-BE49-F238E27FC236}">
                <a16:creationId xmlns:a16="http://schemas.microsoft.com/office/drawing/2014/main" id="{765C9ED0-927E-49D4-A9BC-0D84F9A2AEE4}"/>
              </a:ext>
            </a:extLst>
          </p:cNvPr>
          <p:cNvSpPr>
            <a:spLocks noGrp="1"/>
          </p:cNvSpPr>
          <p:nvPr>
            <p:ph type="body" sz="quarter" idx="10"/>
          </p:nvPr>
        </p:nvSpPr>
        <p:spPr>
          <a:xfrm>
            <a:off x="457200" y="1188720"/>
            <a:ext cx="9766453" cy="2545998"/>
          </a:xfrm>
          <a:solidFill>
            <a:schemeClr val="accent1">
              <a:lumMod val="20000"/>
              <a:lumOff val="80000"/>
            </a:schemeClr>
          </a:solidFill>
          <a:ln w="28575">
            <a:solidFill>
              <a:schemeClr val="accent1">
                <a:lumMod val="75000"/>
              </a:schemeClr>
            </a:solidFill>
          </a:ln>
        </p:spPr>
        <p:txBody>
          <a:bodyPr/>
          <a:lstStyle/>
          <a:p>
            <a:pPr marL="0" indent="0">
              <a:buNone/>
              <a:defRPr/>
            </a:pPr>
            <a:r>
              <a:rPr lang="en-US" sz="2000" dirty="0" err="1">
                <a:solidFill>
                  <a:srgbClr val="0000FF"/>
                </a:solidFill>
                <a:latin typeface="Courier New" pitchFamily="49" charset="0"/>
                <a:cs typeface="Courier New" pitchFamily="49" charset="0"/>
              </a:rPr>
              <a:t>set_max_delay</a:t>
            </a:r>
            <a:r>
              <a:rPr lang="en-US" sz="2000" dirty="0">
                <a:solidFill>
                  <a:srgbClr val="0000FF"/>
                </a:solidFill>
                <a:latin typeface="Courier New" pitchFamily="49" charset="0"/>
                <a:cs typeface="Courier New" pitchFamily="49" charset="0"/>
              </a:rPr>
              <a:t> </a:t>
            </a:r>
            <a:r>
              <a:rPr lang="en-US" sz="2000" dirty="0">
                <a:latin typeface="Courier New" pitchFamily="49" charset="0"/>
                <a:cs typeface="Courier New" pitchFamily="49" charset="0"/>
              </a:rPr>
              <a:t>4 -</a:t>
            </a:r>
            <a:r>
              <a:rPr lang="en-US" sz="2000" dirty="0">
                <a:solidFill>
                  <a:srgbClr val="0000FF"/>
                </a:solidFill>
                <a:latin typeface="Courier New" pitchFamily="49" charset="0"/>
                <a:cs typeface="Courier New" pitchFamily="49" charset="0"/>
              </a:rPr>
              <a:t>to</a:t>
            </a:r>
            <a:r>
              <a:rPr lang="en-US" sz="2000" dirty="0">
                <a:latin typeface="Courier New" pitchFamily="49" charset="0"/>
                <a:cs typeface="Courier New" pitchFamily="49" charset="0"/>
              </a:rPr>
              <a:t> G1</a:t>
            </a:r>
          </a:p>
          <a:p>
            <a:pPr marL="0" indent="0">
              <a:buNone/>
              <a:defRPr/>
            </a:pPr>
            <a:r>
              <a:rPr lang="en-US" sz="2000" dirty="0" err="1">
                <a:solidFill>
                  <a:srgbClr val="0000FF"/>
                </a:solidFill>
                <a:latin typeface="Courier New" pitchFamily="49" charset="0"/>
                <a:cs typeface="Courier New" pitchFamily="49" charset="0"/>
              </a:rPr>
              <a:t>set_max_delay</a:t>
            </a:r>
            <a:r>
              <a:rPr lang="en-US" sz="2000" dirty="0">
                <a:latin typeface="Courier New" pitchFamily="49" charset="0"/>
                <a:cs typeface="Courier New" pitchFamily="49" charset="0"/>
              </a:rPr>
              <a:t> 1 -</a:t>
            </a:r>
            <a:r>
              <a:rPr lang="en-US" sz="2000" dirty="0">
                <a:solidFill>
                  <a:srgbClr val="0000FF"/>
                </a:solidFill>
                <a:latin typeface="Courier New" pitchFamily="49" charset="0"/>
                <a:cs typeface="Courier New" pitchFamily="49" charset="0"/>
              </a:rPr>
              <a:t>from</a:t>
            </a:r>
            <a:r>
              <a:rPr lang="en-US" sz="2000" dirty="0">
                <a:latin typeface="Courier New" pitchFamily="49" charset="0"/>
                <a:cs typeface="Courier New" pitchFamily="49" charset="0"/>
              </a:rPr>
              <a:t> G1 -</a:t>
            </a:r>
            <a:r>
              <a:rPr lang="en-US" sz="2000" dirty="0">
                <a:solidFill>
                  <a:srgbClr val="0000FF"/>
                </a:solidFill>
                <a:latin typeface="Courier New" pitchFamily="49" charset="0"/>
                <a:cs typeface="Courier New" pitchFamily="49" charset="0"/>
              </a:rPr>
              <a:t>to G2</a:t>
            </a:r>
          </a:p>
          <a:p>
            <a:pPr marL="0" indent="0">
              <a:buNone/>
              <a:defRPr/>
            </a:pPr>
            <a:r>
              <a:rPr lang="en-US" sz="2000" dirty="0" err="1">
                <a:solidFill>
                  <a:srgbClr val="0000FF"/>
                </a:solidFill>
                <a:latin typeface="Courier New" pitchFamily="49" charset="0"/>
                <a:cs typeface="Courier New" pitchFamily="49" charset="0"/>
              </a:rPr>
              <a:t>set_max_delay</a:t>
            </a:r>
            <a:r>
              <a:rPr lang="en-US" sz="2000" dirty="0">
                <a:latin typeface="Courier New" pitchFamily="49" charset="0"/>
                <a:cs typeface="Courier New" pitchFamily="49" charset="0"/>
              </a:rPr>
              <a:t> 3 -</a:t>
            </a:r>
            <a:r>
              <a:rPr lang="en-US" sz="2000" dirty="0">
                <a:solidFill>
                  <a:srgbClr val="0000FF"/>
                </a:solidFill>
                <a:latin typeface="Courier New" pitchFamily="49" charset="0"/>
                <a:cs typeface="Courier New" pitchFamily="49" charset="0"/>
              </a:rPr>
              <a:t>from</a:t>
            </a:r>
            <a:r>
              <a:rPr lang="en-US" sz="2000" dirty="0">
                <a:latin typeface="Courier New" pitchFamily="49" charset="0"/>
                <a:cs typeface="Courier New" pitchFamily="49" charset="0"/>
              </a:rPr>
              <a:t> G1 -</a:t>
            </a:r>
            <a:r>
              <a:rPr lang="en-US" sz="2000" dirty="0">
                <a:solidFill>
                  <a:srgbClr val="0000FF"/>
                </a:solidFill>
                <a:latin typeface="Courier New" pitchFamily="49" charset="0"/>
                <a:cs typeface="Courier New" pitchFamily="49" charset="0"/>
              </a:rPr>
              <a:t>through</a:t>
            </a:r>
            <a:r>
              <a:rPr lang="en-US" sz="2000" dirty="0">
                <a:latin typeface="Courier New" pitchFamily="49" charset="0"/>
                <a:cs typeface="Courier New" pitchFamily="49" charset="0"/>
              </a:rPr>
              <a:t> G2 -</a:t>
            </a:r>
            <a:r>
              <a:rPr lang="en-US" sz="2000" dirty="0">
                <a:solidFill>
                  <a:srgbClr val="0000FF"/>
                </a:solidFill>
                <a:latin typeface="Courier New" pitchFamily="49" charset="0"/>
                <a:cs typeface="Courier New" pitchFamily="49" charset="0"/>
              </a:rPr>
              <a:t>to</a:t>
            </a:r>
            <a:r>
              <a:rPr lang="en-US" sz="2000" dirty="0">
                <a:latin typeface="Courier New" pitchFamily="49" charset="0"/>
                <a:cs typeface="Courier New" pitchFamily="49" charset="0"/>
              </a:rPr>
              <a:t> G3</a:t>
            </a:r>
          </a:p>
          <a:p>
            <a:pPr marL="0" indent="0">
              <a:buNone/>
              <a:defRPr/>
            </a:pPr>
            <a:endParaRPr lang="en-US" sz="2000" dirty="0">
              <a:latin typeface="Courier New" pitchFamily="49" charset="0"/>
              <a:cs typeface="Courier New" pitchFamily="49" charset="0"/>
            </a:endParaRPr>
          </a:p>
          <a:p>
            <a:pPr marL="0" indent="0">
              <a:buNone/>
              <a:defRPr/>
            </a:pPr>
            <a:r>
              <a:rPr lang="en-US" sz="2000" dirty="0" err="1">
                <a:solidFill>
                  <a:srgbClr val="0000FF"/>
                </a:solidFill>
                <a:latin typeface="Courier New" pitchFamily="49" charset="0"/>
                <a:cs typeface="Courier New" pitchFamily="49" charset="0"/>
              </a:rPr>
              <a:t>set_min_delay</a:t>
            </a:r>
            <a:r>
              <a:rPr lang="en-US" sz="2000" dirty="0">
                <a:latin typeface="Courier New" pitchFamily="49" charset="0"/>
                <a:cs typeface="Courier New" pitchFamily="49" charset="0"/>
              </a:rPr>
              <a:t> 3 -</a:t>
            </a:r>
            <a:r>
              <a:rPr lang="en-US" sz="2000" dirty="0">
                <a:solidFill>
                  <a:srgbClr val="0000FF"/>
                </a:solidFill>
                <a:latin typeface="Courier New" pitchFamily="49" charset="0"/>
                <a:cs typeface="Courier New" pitchFamily="49" charset="0"/>
              </a:rPr>
              <a:t>from</a:t>
            </a:r>
            <a:r>
              <a:rPr lang="en-US" sz="2000" dirty="0">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get_clocks</a:t>
            </a:r>
            <a:r>
              <a:rPr lang="en-US" sz="2000" dirty="0">
                <a:latin typeface="Courier New" pitchFamily="49" charset="0"/>
                <a:cs typeface="Courier New" pitchFamily="49" charset="0"/>
              </a:rPr>
              <a:t> CLK1] -</a:t>
            </a:r>
            <a:r>
              <a:rPr lang="en-US" sz="2000" dirty="0">
                <a:solidFill>
                  <a:srgbClr val="0000FF"/>
                </a:solidFill>
                <a:latin typeface="Courier New" pitchFamily="49" charset="0"/>
                <a:cs typeface="Courier New" pitchFamily="49" charset="0"/>
              </a:rPr>
              <a:t>to</a:t>
            </a:r>
            <a:r>
              <a:rPr lang="en-US" sz="2000" dirty="0">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get_clocks</a:t>
            </a:r>
            <a:r>
              <a:rPr lang="en-US" sz="2000" dirty="0">
                <a:latin typeface="Courier New" pitchFamily="49" charset="0"/>
                <a:cs typeface="Courier New" pitchFamily="49" charset="0"/>
              </a:rPr>
              <a:t> CLK2]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4417</TotalTime>
  <Words>2010</Words>
  <Application>Microsoft Office PowerPoint</Application>
  <PresentationFormat>Widescreen</PresentationFormat>
  <Paragraphs>508</Paragraphs>
  <Slides>42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SimSun</vt:lpstr>
      <vt:lpstr>.Lucida Grande UI Regular</vt:lpstr>
      <vt:lpstr>Arial</vt:lpstr>
      <vt:lpstr>Courier New</vt:lpstr>
      <vt:lpstr>System Font Regular</vt:lpstr>
      <vt:lpstr>Times New Roman</vt:lpstr>
      <vt:lpstr>Wingdings</vt:lpstr>
      <vt:lpstr>2_Synopsys_2019</vt:lpstr>
      <vt:lpstr>Static Timing Analysis</vt:lpstr>
      <vt:lpstr>PowerPoint Presentation</vt:lpstr>
      <vt:lpstr>Course Overview</vt:lpstr>
      <vt:lpstr> </vt:lpstr>
      <vt:lpstr>Getting Ready for STA Tool Usage</vt:lpstr>
      <vt:lpstr>Setting Design Environment</vt:lpstr>
      <vt:lpstr>Basic Clock Details </vt:lpstr>
      <vt:lpstr>Clock Definition</vt:lpstr>
      <vt:lpstr>Clock Waveform  </vt:lpstr>
      <vt:lpstr>Clock Uncertainty</vt:lpstr>
      <vt:lpstr>Clock Skew Types</vt:lpstr>
      <vt:lpstr>Clock Jitter</vt:lpstr>
      <vt:lpstr>Clock Uncertainty Modeling Example</vt:lpstr>
      <vt:lpstr>Inter-Clock Uncertainty</vt:lpstr>
      <vt:lpstr>Modeling Clock Latency</vt:lpstr>
      <vt:lpstr>Clock Latency</vt:lpstr>
      <vt:lpstr>Divided Clock (Generated)</vt:lpstr>
      <vt:lpstr>Multiplied Clock (Generated)</vt:lpstr>
      <vt:lpstr>Gated Clock (Generated)</vt:lpstr>
      <vt:lpstr>Inverted Clock (Generated)</vt:lpstr>
      <vt:lpstr>Generated by Edges</vt:lpstr>
      <vt:lpstr>Latency of Generated Clock </vt:lpstr>
      <vt:lpstr>Input Delay</vt:lpstr>
      <vt:lpstr>Output Delay</vt:lpstr>
      <vt:lpstr>Input Path with Virtual Clock</vt:lpstr>
      <vt:lpstr>3-cycle Setup Clock</vt:lpstr>
      <vt:lpstr>2-cycle Hold Check</vt:lpstr>
      <vt:lpstr>Half-Cycle Path</vt:lpstr>
      <vt:lpstr>Slow to Fast Clock Domain</vt:lpstr>
      <vt:lpstr>Fast to Slow Clock Domain</vt:lpstr>
      <vt:lpstr>Phase Shifted Multiple Clocks</vt:lpstr>
      <vt:lpstr>Path Groups</vt:lpstr>
      <vt:lpstr>Path Groups (2)</vt:lpstr>
      <vt:lpstr>Design Externals</vt:lpstr>
      <vt:lpstr>Driving Cell</vt:lpstr>
      <vt:lpstr>Capacitive Load</vt:lpstr>
      <vt:lpstr>Design Rule Checks</vt:lpstr>
      <vt:lpstr>Combinational Designs</vt:lpstr>
      <vt:lpstr>Combinational Designs</vt:lpstr>
      <vt:lpstr>Refining</vt:lpstr>
      <vt:lpstr>Point-to-point Specification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336</cp:revision>
  <dcterms:created xsi:type="dcterms:W3CDTF">2020-07-20T16:18:49Z</dcterms:created>
  <dcterms:modified xsi:type="dcterms:W3CDTF">2025-07-31T12:30:12Z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